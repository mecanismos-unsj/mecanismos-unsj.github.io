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29"/>
  </p:notesMasterIdLst>
  <p:sldIdLst>
    <p:sldId id="256" r:id="rId2"/>
    <p:sldId id="288" r:id="rId3"/>
    <p:sldId id="329" r:id="rId4"/>
    <p:sldId id="330" r:id="rId5"/>
    <p:sldId id="356" r:id="rId6"/>
    <p:sldId id="357" r:id="rId7"/>
    <p:sldId id="271" r:id="rId8"/>
    <p:sldId id="290" r:id="rId9"/>
    <p:sldId id="327" r:id="rId10"/>
    <p:sldId id="328" r:id="rId11"/>
    <p:sldId id="358" r:id="rId12"/>
    <p:sldId id="359" r:id="rId13"/>
    <p:sldId id="360" r:id="rId14"/>
    <p:sldId id="361" r:id="rId15"/>
    <p:sldId id="362" r:id="rId16"/>
    <p:sldId id="363" r:id="rId17"/>
    <p:sldId id="364" r:id="rId18"/>
    <p:sldId id="365" r:id="rId19"/>
    <p:sldId id="366" r:id="rId20"/>
    <p:sldId id="367" r:id="rId21"/>
    <p:sldId id="368" r:id="rId22"/>
    <p:sldId id="369" r:id="rId23"/>
    <p:sldId id="370" r:id="rId24"/>
    <p:sldId id="371" r:id="rId25"/>
    <p:sldId id="372" r:id="rId26"/>
    <p:sldId id="373" r:id="rId27"/>
    <p:sldId id="37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u galdeano" initials="mg" lastIdx="1" clrIdx="0">
    <p:extLst>
      <p:ext uri="{19B8F6BF-5375-455C-9EA6-DF929625EA0E}">
        <p15:presenceInfo xmlns:p15="http://schemas.microsoft.com/office/powerpoint/2012/main" userId="e767bd7cd65f28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2B24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64" autoAdjust="0"/>
    <p:restoredTop sz="94660"/>
  </p:normalViewPr>
  <p:slideViewPr>
    <p:cSldViewPr snapToGrid="0">
      <p:cViewPr varScale="1">
        <p:scale>
          <a:sx n="85" d="100"/>
          <a:sy n="85" d="100"/>
        </p:scale>
        <p:origin x="28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61A7B-FE5B-4CFE-8452-3D5059D5AE1A}" type="datetimeFigureOut">
              <a:rPr lang="es-AR" smtClean="0"/>
              <a:t>26/9/2023</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89FA8-BAFC-4E1B-BDC2-F40DD6DB0DD2}" type="slidenum">
              <a:rPr lang="es-AR" smtClean="0"/>
              <a:t>‹Nº›</a:t>
            </a:fld>
            <a:endParaRPr lang="es-AR"/>
          </a:p>
        </p:txBody>
      </p:sp>
    </p:spTree>
    <p:extLst>
      <p:ext uri="{BB962C8B-B14F-4D97-AF65-F5344CB8AC3E}">
        <p14:creationId xmlns:p14="http://schemas.microsoft.com/office/powerpoint/2010/main" val="2246777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8EEFF92-79CB-4BA1-B3A4-284FF307DF2C}" type="datetimeFigureOut">
              <a:rPr lang="es-AR" smtClean="0"/>
              <a:t>26/9/2023</a:t>
            </a:fld>
            <a:endParaRPr lang="es-A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s-A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79AB5C1-8AA1-4BAC-ABA1-BC534518852E}" type="slidenum">
              <a:rPr lang="es-AR" smtClean="0"/>
              <a:t>‹Nº›</a:t>
            </a:fld>
            <a:endParaRPr lang="es-A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0955033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8EEFF92-79CB-4BA1-B3A4-284FF307DF2C}" type="datetimeFigureOut">
              <a:rPr lang="es-AR" smtClean="0"/>
              <a:t>26/9/2023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1338815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8EEFF92-79CB-4BA1-B3A4-284FF307DF2C}" type="datetimeFigureOut">
              <a:rPr lang="es-AR" smtClean="0"/>
              <a:t>26/9/2023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23183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8EEFF92-79CB-4BA1-B3A4-284FF307DF2C}" type="datetimeFigureOut">
              <a:rPr lang="es-AR" smtClean="0"/>
              <a:t>26/9/2023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350353619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s-ES"/>
              <a:t>Haga clic para modificar los estilos de texto del patrón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8EEFF92-79CB-4BA1-B3A4-284FF307DF2C}" type="datetimeFigureOut">
              <a:rPr lang="es-AR" smtClean="0"/>
              <a:t>26/9/2023</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93525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8EEFF92-79CB-4BA1-B3A4-284FF307DF2C}" type="datetimeFigureOut">
              <a:rPr lang="es-AR" smtClean="0"/>
              <a:t>26/9/2023</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1405408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EEFF92-79CB-4BA1-B3A4-284FF307DF2C}" type="datetimeFigureOut">
              <a:rPr lang="es-AR" smtClean="0"/>
              <a:t>26/9/2023</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690154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8EEFF92-79CB-4BA1-B3A4-284FF307DF2C}" type="datetimeFigureOut">
              <a:rPr lang="es-AR" smtClean="0"/>
              <a:t>26/9/2023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28413660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8EEFF92-79CB-4BA1-B3A4-284FF307DF2C}" type="datetimeFigureOut">
              <a:rPr lang="es-AR" smtClean="0"/>
              <a:t>26/9/2023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3396566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8EEFF92-79CB-4BA1-B3A4-284FF307DF2C}" type="datetimeFigureOut">
              <a:rPr lang="es-AR" smtClean="0"/>
              <a:t>26/9/2023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1302752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8EEFF92-79CB-4BA1-B3A4-284FF307DF2C}" type="datetimeFigureOut">
              <a:rPr lang="es-AR" smtClean="0"/>
              <a:t>26/9/2023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79AB5C1-8AA1-4BAC-ABA1-BC534518852E}" type="slidenum">
              <a:rPr lang="es-AR" smtClean="0"/>
              <a:t>‹Nº›</a:t>
            </a:fld>
            <a:endParaRPr lang="es-AR"/>
          </a:p>
        </p:txBody>
      </p:sp>
    </p:spTree>
    <p:extLst>
      <p:ext uri="{BB962C8B-B14F-4D97-AF65-F5344CB8AC3E}">
        <p14:creationId xmlns:p14="http://schemas.microsoft.com/office/powerpoint/2010/main" val="2246545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8EEFF92-79CB-4BA1-B3A4-284FF307DF2C}" type="datetimeFigureOut">
              <a:rPr lang="es-AR" smtClean="0"/>
              <a:t>26/9/2023</a:t>
            </a:fld>
            <a:endParaRPr lang="es-A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s-A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79AB5C1-8AA1-4BAC-ABA1-BC534518852E}" type="slidenum">
              <a:rPr lang="es-AR" smtClean="0"/>
              <a:t>‹Nº›</a:t>
            </a:fld>
            <a:endParaRPr lang="es-AR"/>
          </a:p>
        </p:txBody>
      </p:sp>
    </p:spTree>
    <p:extLst>
      <p:ext uri="{BB962C8B-B14F-4D97-AF65-F5344CB8AC3E}">
        <p14:creationId xmlns:p14="http://schemas.microsoft.com/office/powerpoint/2010/main" val="3390336969"/>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27.jpg"/><Relationship Id="rId13" Type="http://schemas.openxmlformats.org/officeDocument/2006/relationships/image" Target="../media/image29.png"/><Relationship Id="rId3" Type="http://schemas.openxmlformats.org/officeDocument/2006/relationships/image" Target="../media/image28.png"/><Relationship Id="rId7" Type="http://schemas.openxmlformats.org/officeDocument/2006/relationships/image" Target="../media/image26.jpg"/><Relationship Id="rId12" Type="http://schemas.openxmlformats.org/officeDocument/2006/relationships/image" Target="../media/image35.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5.jpg"/><Relationship Id="rId11" Type="http://schemas.openxmlformats.org/officeDocument/2006/relationships/image" Target="../media/image36.png"/><Relationship Id="rId5" Type="http://schemas.openxmlformats.org/officeDocument/2006/relationships/image" Target="../media/image24.jpg"/><Relationship Id="rId4" Type="http://schemas.openxmlformats.org/officeDocument/2006/relationships/image" Target="../media/image23.jpg"/><Relationship Id="rId9" Type="http://schemas.openxmlformats.org/officeDocument/2006/relationships/image" Target="../media/image28.jpg"/></Relationships>
</file>

<file path=ppt/slides/_rels/slide7.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410.PNG"/></Relationships>
</file>

<file path=ppt/slides/_rels/slide12.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0.png"/><Relationship Id="rId7"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58.png"/><Relationship Id="rId7" Type="http://schemas.openxmlformats.org/officeDocument/2006/relationships/image" Target="../media/image4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14.png"/><Relationship Id="rId10" Type="http://schemas.openxmlformats.org/officeDocument/2006/relationships/image" Target="../media/image63.png"/><Relationship Id="rId4" Type="http://schemas.openxmlformats.org/officeDocument/2006/relationships/image" Target="../media/image11.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11.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2.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7.png"/><Relationship Id="rId7" Type="http://schemas.openxmlformats.org/officeDocument/2006/relationships/image" Target="../media/image70.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4.png"/><Relationship Id="rId7" Type="http://schemas.openxmlformats.org/officeDocument/2006/relationships/image" Target="../media/image77.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66.png"/><Relationship Id="rId4" Type="http://schemas.openxmlformats.org/officeDocument/2006/relationships/image" Target="../media/image75.png"/><Relationship Id="rId9" Type="http://schemas.openxmlformats.org/officeDocument/2006/relationships/image" Target="../media/image79.png"/></Relationships>
</file>

<file path=ppt/slides/_rels/slide2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87.png"/></Relationships>
</file>

<file path=ppt/slides/_rels/slide2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72.png"/><Relationship Id="rId4" Type="http://schemas.openxmlformats.org/officeDocument/2006/relationships/image" Target="../media/image92.png"/></Relationships>
</file>

<file path=ppt/slides/_rels/slide25.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s>
</file>

<file path=ppt/slides/_rels/slide26.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800.png"/></Relationships>
</file>

<file path=ppt/slides/_rels/slide27.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image" Target="../media/image820.png"/><Relationship Id="rId1" Type="http://schemas.openxmlformats.org/officeDocument/2006/relationships/slideLayout" Target="../slideLayouts/slideLayout2.xml"/><Relationship Id="rId6" Type="http://schemas.openxmlformats.org/officeDocument/2006/relationships/image" Target="../media/image860.png"/><Relationship Id="rId5" Type="http://schemas.openxmlformats.org/officeDocument/2006/relationships/image" Target="../media/image8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514905" y="5291090"/>
            <a:ext cx="11677095" cy="1566909"/>
          </a:xfrm>
        </p:spPr>
        <p:txBody>
          <a:bodyPr>
            <a:noAutofit/>
          </a:bodyPr>
          <a:lstStyle/>
          <a:p>
            <a:r>
              <a:rPr lang="es-AR" sz="5400" b="1" dirty="0">
                <a:latin typeface="Bahnschrift" panose="020B0502040204020203" pitchFamily="34" charset="0"/>
              </a:rPr>
              <a:t>ANÁLISIS DE VELOCIDAD</a:t>
            </a:r>
          </a:p>
        </p:txBody>
      </p:sp>
    </p:spTree>
    <p:extLst>
      <p:ext uri="{BB962C8B-B14F-4D97-AF65-F5344CB8AC3E}">
        <p14:creationId xmlns:p14="http://schemas.microsoft.com/office/powerpoint/2010/main" val="1925257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ángulo 63">
            <a:extLst>
              <a:ext uri="{FF2B5EF4-FFF2-40B4-BE49-F238E27FC236}">
                <a16:creationId xmlns:a16="http://schemas.microsoft.com/office/drawing/2014/main" id="{725B28B5-2D93-4494-BEC2-6BE7F89F1352}"/>
              </a:ext>
            </a:extLst>
          </p:cNvPr>
          <p:cNvSpPr/>
          <p:nvPr/>
        </p:nvSpPr>
        <p:spPr>
          <a:xfrm>
            <a:off x="0" y="853440"/>
            <a:ext cx="251968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3" name="Marcador de contenido 2"/>
          <p:cNvSpPr>
            <a:spLocks noGrp="1"/>
          </p:cNvSpPr>
          <p:nvPr>
            <p:ph idx="1"/>
          </p:nvPr>
        </p:nvSpPr>
        <p:spPr>
          <a:xfrm>
            <a:off x="116312" y="830016"/>
            <a:ext cx="5081713" cy="466124"/>
          </a:xfrm>
        </p:spPr>
        <p:txBody>
          <a:bodyPr>
            <a:normAutofit/>
          </a:bodyPr>
          <a:lstStyle/>
          <a:p>
            <a:pPr marL="0" indent="0">
              <a:buNone/>
            </a:pPr>
            <a:r>
              <a:rPr lang="es-AR" sz="2400" b="1" dirty="0">
                <a:latin typeface="Bahnschrift" panose="020B0502040204020203" pitchFamily="34" charset="0"/>
              </a:rPr>
              <a:t>INTRODUCCIÓN</a:t>
            </a:r>
          </a:p>
        </p:txBody>
      </p:sp>
      <p:sp>
        <p:nvSpPr>
          <p:cNvPr id="36" name="Marcador de pie de página 2">
            <a:extLst>
              <a:ext uri="{FF2B5EF4-FFF2-40B4-BE49-F238E27FC236}">
                <a16:creationId xmlns:a16="http://schemas.microsoft.com/office/drawing/2014/main" id="{FA38546B-FC4B-44C8-AFEF-02928070D436}"/>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7" name="Marcador de contenido 2">
            <a:extLst>
              <a:ext uri="{FF2B5EF4-FFF2-40B4-BE49-F238E27FC236}">
                <a16:creationId xmlns:a16="http://schemas.microsoft.com/office/drawing/2014/main" id="{E4DFA728-08F7-4DAD-B29E-27537E19DAAC}"/>
              </a:ext>
            </a:extLst>
          </p:cNvPr>
          <p:cNvSpPr txBox="1">
            <a:spLocks/>
          </p:cNvSpPr>
          <p:nvPr/>
        </p:nvSpPr>
        <p:spPr>
          <a:xfrm>
            <a:off x="1837602" y="4355889"/>
            <a:ext cx="2074047"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highlight>
                  <a:srgbClr val="FFC000"/>
                </a:highlight>
                <a:latin typeface="Bahnschrift" panose="020B0502040204020203" pitchFamily="34" charset="0"/>
              </a:rPr>
              <a:t>VELOCIDAD</a:t>
            </a:r>
          </a:p>
        </p:txBody>
      </p:sp>
      <p:sp>
        <p:nvSpPr>
          <p:cNvPr id="5" name="Marcador de contenido 2">
            <a:extLst>
              <a:ext uri="{FF2B5EF4-FFF2-40B4-BE49-F238E27FC236}">
                <a16:creationId xmlns:a16="http://schemas.microsoft.com/office/drawing/2014/main" id="{24E7D85E-379E-400C-A46C-FA08A4F88B7C}"/>
              </a:ext>
            </a:extLst>
          </p:cNvPr>
          <p:cNvSpPr txBox="1">
            <a:spLocks/>
          </p:cNvSpPr>
          <p:nvPr/>
        </p:nvSpPr>
        <p:spPr>
          <a:xfrm>
            <a:off x="3483007" y="5482205"/>
            <a:ext cx="2506088" cy="100899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dirty="0">
                <a:latin typeface="Bahnschrift" panose="020B0502040204020203" pitchFamily="34" charset="0"/>
              </a:rPr>
              <a:t>FUERZAS DINÁMICAS</a:t>
            </a:r>
          </a:p>
        </p:txBody>
      </p:sp>
      <p:sp>
        <p:nvSpPr>
          <p:cNvPr id="6" name="Marcador de contenido 2">
            <a:extLst>
              <a:ext uri="{FF2B5EF4-FFF2-40B4-BE49-F238E27FC236}">
                <a16:creationId xmlns:a16="http://schemas.microsoft.com/office/drawing/2014/main" id="{C5DBCBD5-2266-469F-BE58-75FC5CB32D1D}"/>
              </a:ext>
            </a:extLst>
          </p:cNvPr>
          <p:cNvSpPr txBox="1">
            <a:spLocks/>
          </p:cNvSpPr>
          <p:nvPr/>
        </p:nvSpPr>
        <p:spPr>
          <a:xfrm>
            <a:off x="1837602" y="4919047"/>
            <a:ext cx="2372149"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ACELERACIÓN</a:t>
            </a:r>
          </a:p>
        </p:txBody>
      </p:sp>
      <p:sp>
        <p:nvSpPr>
          <p:cNvPr id="35" name="Marcador de contenido 2">
            <a:extLst>
              <a:ext uri="{FF2B5EF4-FFF2-40B4-BE49-F238E27FC236}">
                <a16:creationId xmlns:a16="http://schemas.microsoft.com/office/drawing/2014/main" id="{D6B7EB20-5CB9-4A7E-8FA9-88BB9BEAD09A}"/>
              </a:ext>
            </a:extLst>
          </p:cNvPr>
          <p:cNvSpPr txBox="1">
            <a:spLocks/>
          </p:cNvSpPr>
          <p:nvPr/>
        </p:nvSpPr>
        <p:spPr>
          <a:xfrm>
            <a:off x="625762" y="1930391"/>
            <a:ext cx="2074047"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s-AR" sz="3200" b="1" dirty="0">
                <a:solidFill>
                  <a:srgbClr val="FFC000"/>
                </a:solidFill>
                <a:latin typeface="Bahnschrift" panose="020B0502040204020203" pitchFamily="34" charset="0"/>
              </a:rPr>
              <a:t>POSICIÓN</a:t>
            </a:r>
          </a:p>
        </p:txBody>
      </p:sp>
      <p:pic>
        <p:nvPicPr>
          <p:cNvPr id="43" name="Imagen 42">
            <a:extLst>
              <a:ext uri="{FF2B5EF4-FFF2-40B4-BE49-F238E27FC236}">
                <a16:creationId xmlns:a16="http://schemas.microsoft.com/office/drawing/2014/main" id="{75786E2E-A65F-4ADA-9A2B-B9D7F90CECB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8071"/>
          <a:stretch/>
        </p:blipFill>
        <p:spPr>
          <a:xfrm>
            <a:off x="1719681" y="4279171"/>
            <a:ext cx="218603" cy="1106000"/>
          </a:xfrm>
          <a:prstGeom prst="rect">
            <a:avLst/>
          </a:prstGeom>
        </p:spPr>
      </p:pic>
      <p:sp>
        <p:nvSpPr>
          <p:cNvPr id="44" name="Marcador de contenido 2">
            <a:extLst>
              <a:ext uri="{FF2B5EF4-FFF2-40B4-BE49-F238E27FC236}">
                <a16:creationId xmlns:a16="http://schemas.microsoft.com/office/drawing/2014/main" id="{92FEFC25-03EB-40A2-BA05-2890EBAC499C}"/>
              </a:ext>
            </a:extLst>
          </p:cNvPr>
          <p:cNvSpPr txBox="1">
            <a:spLocks/>
          </p:cNvSpPr>
          <p:nvPr/>
        </p:nvSpPr>
        <p:spPr>
          <a:xfrm>
            <a:off x="654907" y="3195149"/>
            <a:ext cx="1955590" cy="101884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s-AR" sz="2400" b="1" dirty="0">
                <a:latin typeface="Bahnschrift" panose="020B0502040204020203" pitchFamily="34" charset="0"/>
              </a:rPr>
              <a:t>ANÁLISIS CINEMÁTICO</a:t>
            </a:r>
          </a:p>
        </p:txBody>
      </p:sp>
      <p:pic>
        <p:nvPicPr>
          <p:cNvPr id="59" name="Imagen 58" descr="Imagen que contiene reloj&#10;&#10;Descripción generada automáticamente">
            <a:extLst>
              <a:ext uri="{FF2B5EF4-FFF2-40B4-BE49-F238E27FC236}">
                <a16:creationId xmlns:a16="http://schemas.microsoft.com/office/drawing/2014/main" id="{FD4F7EFA-27E5-49EF-9B29-A113D49A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5728099" flipV="1">
            <a:off x="3315439" y="3516371"/>
            <a:ext cx="762665" cy="466124"/>
          </a:xfrm>
          <a:prstGeom prst="rect">
            <a:avLst/>
          </a:prstGeom>
        </p:spPr>
      </p:pic>
      <p:sp>
        <p:nvSpPr>
          <p:cNvPr id="61" name="Marcador de contenido 2">
            <a:extLst>
              <a:ext uri="{FF2B5EF4-FFF2-40B4-BE49-F238E27FC236}">
                <a16:creationId xmlns:a16="http://schemas.microsoft.com/office/drawing/2014/main" id="{0F584C05-DB3E-4CE2-A6CD-75A72893AA13}"/>
              </a:ext>
            </a:extLst>
          </p:cNvPr>
          <p:cNvSpPr txBox="1">
            <a:spLocks/>
          </p:cNvSpPr>
          <p:nvPr/>
        </p:nvSpPr>
        <p:spPr>
          <a:xfrm>
            <a:off x="3014857" y="2432680"/>
            <a:ext cx="2974238"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s-AR" sz="2400" b="1" dirty="0">
                <a:latin typeface="Bahnschrift" panose="020B0502040204020203" pitchFamily="34" charset="0"/>
              </a:rPr>
              <a:t>ENERGÍA CINÉTICA ALMACENADA</a:t>
            </a:r>
          </a:p>
        </p:txBody>
      </p:sp>
      <p:sp>
        <p:nvSpPr>
          <p:cNvPr id="11" name="Marcador de contenido 2">
            <a:extLst>
              <a:ext uri="{FF2B5EF4-FFF2-40B4-BE49-F238E27FC236}">
                <a16:creationId xmlns:a16="http://schemas.microsoft.com/office/drawing/2014/main" id="{1E0E2434-9733-420C-B6C3-605D519BBF04}"/>
              </a:ext>
            </a:extLst>
          </p:cNvPr>
          <p:cNvSpPr txBox="1">
            <a:spLocks/>
          </p:cNvSpPr>
          <p:nvPr/>
        </p:nvSpPr>
        <p:spPr>
          <a:xfrm>
            <a:off x="823681" y="1729870"/>
            <a:ext cx="1588893" cy="32881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s-AR" sz="1600" b="1" dirty="0">
                <a:latin typeface="Bahnschrift" panose="020B0502040204020203" pitchFamily="34" charset="0"/>
              </a:rPr>
              <a:t>YA CONOCIDA</a:t>
            </a:r>
          </a:p>
        </p:txBody>
      </p:sp>
      <p:pic>
        <p:nvPicPr>
          <p:cNvPr id="15" name="Imagen 14" descr="Imagen que contiene cuchillo, dibujo&#10;&#10;Descripción generada automáticamente">
            <a:extLst>
              <a:ext uri="{FF2B5EF4-FFF2-40B4-BE49-F238E27FC236}">
                <a16:creationId xmlns:a16="http://schemas.microsoft.com/office/drawing/2014/main" id="{6703D55B-2673-4C04-A36D-D0F82A36A8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1289151" y="2659434"/>
            <a:ext cx="588264" cy="272796"/>
          </a:xfrm>
          <a:prstGeom prst="rect">
            <a:avLst/>
          </a:prstGeom>
        </p:spPr>
      </p:pic>
      <p:pic>
        <p:nvPicPr>
          <p:cNvPr id="18" name="Imagen 17" descr="Imagen que contiene dibujo&#10;&#10;Descripción generada automáticamente">
            <a:extLst>
              <a:ext uri="{FF2B5EF4-FFF2-40B4-BE49-F238E27FC236}">
                <a16:creationId xmlns:a16="http://schemas.microsoft.com/office/drawing/2014/main" id="{9FEEB3A9-50CB-4F37-8AD1-4F335E0307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0800000" flipH="1" flipV="1">
            <a:off x="1039386" y="4031303"/>
            <a:ext cx="578741" cy="732933"/>
          </a:xfrm>
          <a:prstGeom prst="rect">
            <a:avLst/>
          </a:prstGeom>
        </p:spPr>
      </p:pic>
      <p:pic>
        <p:nvPicPr>
          <p:cNvPr id="19" name="Imagen 18" descr="Imagen que contiene dibujo&#10;&#10;Descripción generada automáticamente">
            <a:extLst>
              <a:ext uri="{FF2B5EF4-FFF2-40B4-BE49-F238E27FC236}">
                <a16:creationId xmlns:a16="http://schemas.microsoft.com/office/drawing/2014/main" id="{B82FC284-8FF5-4179-BFBD-D0BE0D7FA5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0800000" flipH="1" flipV="1">
            <a:off x="2784647" y="5385171"/>
            <a:ext cx="578741" cy="732933"/>
          </a:xfrm>
          <a:prstGeom prst="rect">
            <a:avLst/>
          </a:prstGeom>
        </p:spPr>
      </p:pic>
      <p:sp>
        <p:nvSpPr>
          <p:cNvPr id="23" name="Marcador de contenido 2">
            <a:extLst>
              <a:ext uri="{FF2B5EF4-FFF2-40B4-BE49-F238E27FC236}">
                <a16:creationId xmlns:a16="http://schemas.microsoft.com/office/drawing/2014/main" id="{53B1A32D-8F18-438E-A02A-DE5BD5A039B2}"/>
              </a:ext>
            </a:extLst>
          </p:cNvPr>
          <p:cNvSpPr txBox="1">
            <a:spLocks/>
          </p:cNvSpPr>
          <p:nvPr/>
        </p:nvSpPr>
        <p:spPr>
          <a:xfrm>
            <a:off x="5934827" y="3429000"/>
            <a:ext cx="2493429" cy="53514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000" dirty="0">
                <a:latin typeface="Bahnschrift" panose="020B0502040204020203" pitchFamily="34" charset="0"/>
              </a:rPr>
              <a:t>Método Gráfico</a:t>
            </a:r>
          </a:p>
        </p:txBody>
      </p:sp>
      <p:sp>
        <p:nvSpPr>
          <p:cNvPr id="24" name="Marcador de contenido 2">
            <a:extLst>
              <a:ext uri="{FF2B5EF4-FFF2-40B4-BE49-F238E27FC236}">
                <a16:creationId xmlns:a16="http://schemas.microsoft.com/office/drawing/2014/main" id="{349BC284-1BD2-45D6-B852-7C593E8B2E0C}"/>
              </a:ext>
            </a:extLst>
          </p:cNvPr>
          <p:cNvSpPr txBox="1">
            <a:spLocks/>
          </p:cNvSpPr>
          <p:nvPr/>
        </p:nvSpPr>
        <p:spPr>
          <a:xfrm>
            <a:off x="5934827" y="4311806"/>
            <a:ext cx="4746970" cy="53514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000" dirty="0">
                <a:latin typeface="Bahnschrift" panose="020B0502040204020203" pitchFamily="34" charset="0"/>
              </a:rPr>
              <a:t>Centro Instantáneo de Velocidad</a:t>
            </a:r>
          </a:p>
        </p:txBody>
      </p:sp>
      <p:sp>
        <p:nvSpPr>
          <p:cNvPr id="25" name="Marcador de contenido 2">
            <a:extLst>
              <a:ext uri="{FF2B5EF4-FFF2-40B4-BE49-F238E27FC236}">
                <a16:creationId xmlns:a16="http://schemas.microsoft.com/office/drawing/2014/main" id="{364CCB91-87CA-425C-97BF-A284422FB8D2}"/>
              </a:ext>
            </a:extLst>
          </p:cNvPr>
          <p:cNvSpPr txBox="1">
            <a:spLocks/>
          </p:cNvSpPr>
          <p:nvPr/>
        </p:nvSpPr>
        <p:spPr>
          <a:xfrm>
            <a:off x="5934827" y="5219994"/>
            <a:ext cx="4746970" cy="53514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000" dirty="0">
                <a:latin typeface="Bahnschrift" panose="020B0502040204020203" pitchFamily="34" charset="0"/>
              </a:rPr>
              <a:t>Método Analítico / Ecuación de Lazo Vectorial</a:t>
            </a:r>
          </a:p>
        </p:txBody>
      </p:sp>
      <p:grpSp>
        <p:nvGrpSpPr>
          <p:cNvPr id="8" name="Grupo 7">
            <a:extLst>
              <a:ext uri="{FF2B5EF4-FFF2-40B4-BE49-F238E27FC236}">
                <a16:creationId xmlns:a16="http://schemas.microsoft.com/office/drawing/2014/main" id="{C4B4C4B1-A68B-4D69-9C85-6F0204DDC25B}"/>
              </a:ext>
            </a:extLst>
          </p:cNvPr>
          <p:cNvGrpSpPr/>
          <p:nvPr/>
        </p:nvGrpSpPr>
        <p:grpSpPr>
          <a:xfrm>
            <a:off x="3733948" y="3580141"/>
            <a:ext cx="2227182" cy="1998469"/>
            <a:chOff x="4565101" y="2270425"/>
            <a:chExt cx="2227182" cy="1998469"/>
          </a:xfrm>
        </p:grpSpPr>
        <p:pic>
          <p:nvPicPr>
            <p:cNvPr id="20" name="Imagen 19">
              <a:extLst>
                <a:ext uri="{FF2B5EF4-FFF2-40B4-BE49-F238E27FC236}">
                  <a16:creationId xmlns:a16="http://schemas.microsoft.com/office/drawing/2014/main" id="{D5AC81C7-FB02-4091-A94E-DF107017FF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flipH="1">
              <a:off x="5456561" y="2983813"/>
              <a:ext cx="1998469" cy="571694"/>
            </a:xfrm>
            <a:prstGeom prst="rect">
              <a:avLst/>
            </a:prstGeom>
          </p:spPr>
        </p:pic>
        <p:pic>
          <p:nvPicPr>
            <p:cNvPr id="7" name="Imagen 6">
              <a:extLst>
                <a:ext uri="{FF2B5EF4-FFF2-40B4-BE49-F238E27FC236}">
                  <a16:creationId xmlns:a16="http://schemas.microsoft.com/office/drawing/2014/main" id="{F71A7EE0-06AC-463F-8A96-65E8E6EC7DB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65101" y="3134682"/>
              <a:ext cx="2227182" cy="241060"/>
            </a:xfrm>
            <a:prstGeom prst="rect">
              <a:avLst/>
            </a:prstGeom>
          </p:spPr>
        </p:pic>
      </p:grpSp>
    </p:spTree>
    <p:extLst>
      <p:ext uri="{BB962C8B-B14F-4D97-AF65-F5344CB8AC3E}">
        <p14:creationId xmlns:p14="http://schemas.microsoft.com/office/powerpoint/2010/main" val="266674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ángulo: esquinas redondeadas 54">
            <a:extLst>
              <a:ext uri="{FF2B5EF4-FFF2-40B4-BE49-F238E27FC236}">
                <a16:creationId xmlns:a16="http://schemas.microsoft.com/office/drawing/2014/main" id="{02BEC71A-6B7E-47CE-82FF-E30056479E72}"/>
              </a:ext>
            </a:extLst>
          </p:cNvPr>
          <p:cNvSpPr/>
          <p:nvPr/>
        </p:nvSpPr>
        <p:spPr>
          <a:xfrm>
            <a:off x="7536277" y="2837677"/>
            <a:ext cx="3710513" cy="1799213"/>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48" name="Rectángulo: esquinas redondeadas 47">
            <a:extLst>
              <a:ext uri="{FF2B5EF4-FFF2-40B4-BE49-F238E27FC236}">
                <a16:creationId xmlns:a16="http://schemas.microsoft.com/office/drawing/2014/main" id="{89B76611-507B-4EBB-A15A-155B372A9AEF}"/>
              </a:ext>
            </a:extLst>
          </p:cNvPr>
          <p:cNvSpPr/>
          <p:nvPr/>
        </p:nvSpPr>
        <p:spPr>
          <a:xfrm>
            <a:off x="6200046" y="5050246"/>
            <a:ext cx="822188" cy="645103"/>
          </a:xfrm>
          <a:prstGeom prst="round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41" name="Rectángulo 40">
            <a:extLst>
              <a:ext uri="{FF2B5EF4-FFF2-40B4-BE49-F238E27FC236}">
                <a16:creationId xmlns:a16="http://schemas.microsoft.com/office/drawing/2014/main" id="{B743C3E4-B138-4C3C-B69D-DF89993E7FC2}"/>
              </a:ext>
            </a:extLst>
          </p:cNvPr>
          <p:cNvSpPr/>
          <p:nvPr/>
        </p:nvSpPr>
        <p:spPr>
          <a:xfrm>
            <a:off x="0" y="853440"/>
            <a:ext cx="4891596"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3" name="Marcador de contenido 2"/>
          <p:cNvSpPr>
            <a:spLocks noGrp="1"/>
          </p:cNvSpPr>
          <p:nvPr>
            <p:ph idx="1"/>
          </p:nvPr>
        </p:nvSpPr>
        <p:spPr>
          <a:xfrm>
            <a:off x="116312" y="830016"/>
            <a:ext cx="5081713" cy="466124"/>
          </a:xfrm>
        </p:spPr>
        <p:txBody>
          <a:bodyPr>
            <a:normAutofit/>
          </a:bodyPr>
          <a:lstStyle/>
          <a:p>
            <a:pPr marL="0" indent="0">
              <a:buNone/>
            </a:pPr>
            <a:r>
              <a:rPr lang="es-AR" sz="2400" b="1" dirty="0">
                <a:latin typeface="Bahnschrift" panose="020B0502040204020203" pitchFamily="34" charset="0"/>
              </a:rPr>
              <a:t>DETERMINACIÓN DE VELOCIDAD</a:t>
            </a: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pic>
        <p:nvPicPr>
          <p:cNvPr id="5" name="Imagen 4">
            <a:extLst>
              <a:ext uri="{FF2B5EF4-FFF2-40B4-BE49-F238E27FC236}">
                <a16:creationId xmlns:a16="http://schemas.microsoft.com/office/drawing/2014/main" id="{A7083471-4F1A-4F16-B7AA-1A3443704B55}"/>
              </a:ext>
            </a:extLst>
          </p:cNvPr>
          <p:cNvPicPr>
            <a:picLocks noChangeAspect="1"/>
          </p:cNvPicPr>
          <p:nvPr/>
        </p:nvPicPr>
        <p:blipFill rotWithShape="1">
          <a:blip r:embed="rId2"/>
          <a:srcRect b="5590"/>
          <a:stretch/>
        </p:blipFill>
        <p:spPr>
          <a:xfrm>
            <a:off x="268824" y="4279246"/>
            <a:ext cx="2994354" cy="2323819"/>
          </a:xfrm>
          <a:prstGeom prst="rect">
            <a:avLst/>
          </a:prstGeom>
        </p:spPr>
      </p:pic>
      <p:sp>
        <p:nvSpPr>
          <p:cNvPr id="7" name="Marcador de contenido 2">
            <a:extLst>
              <a:ext uri="{FF2B5EF4-FFF2-40B4-BE49-F238E27FC236}">
                <a16:creationId xmlns:a16="http://schemas.microsoft.com/office/drawing/2014/main" id="{64316D64-53E4-4F7D-AFFF-3C0996C701C4}"/>
              </a:ext>
            </a:extLst>
          </p:cNvPr>
          <p:cNvSpPr txBox="1">
            <a:spLocks/>
          </p:cNvSpPr>
          <p:nvPr/>
        </p:nvSpPr>
        <p:spPr>
          <a:xfrm>
            <a:off x="71943" y="1332092"/>
            <a:ext cx="6488119" cy="106425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La velocidad se define como la </a:t>
            </a:r>
            <a:r>
              <a:rPr lang="es-AR" sz="1400" b="1" dirty="0">
                <a:latin typeface="Bahnschrift" panose="020B0502040204020203" pitchFamily="34" charset="0"/>
              </a:rPr>
              <a:t>tasa de cambio de posición con respecto al tiempo</a:t>
            </a:r>
            <a:r>
              <a:rPr lang="es-AR" sz="1400" dirty="0">
                <a:latin typeface="Bahnschrift" panose="020B0502040204020203" pitchFamily="34" charset="0"/>
              </a:rPr>
              <a:t>. </a:t>
            </a:r>
          </a:p>
          <a:p>
            <a:pPr algn="just">
              <a:buFontTx/>
              <a:buChar char="-"/>
            </a:pPr>
            <a:r>
              <a:rPr lang="es-AR" sz="1400" dirty="0">
                <a:latin typeface="Bahnschrift" panose="020B0502040204020203" pitchFamily="34" charset="0"/>
              </a:rPr>
              <a:t>La posición (R) es una cantidad vectorial como lo es la velocidad. La velocidad puede ser </a:t>
            </a:r>
            <a:r>
              <a:rPr lang="es-AR" sz="1400" b="1" dirty="0">
                <a:solidFill>
                  <a:srgbClr val="C00000"/>
                </a:solidFill>
                <a:latin typeface="Bahnschrift" panose="020B0502040204020203" pitchFamily="34" charset="0"/>
              </a:rPr>
              <a:t>angular o lineal</a:t>
            </a:r>
            <a:r>
              <a:rPr lang="es-AR" sz="1400" dirty="0">
                <a:latin typeface="Bahnschrift" panose="020B0502040204020203" pitchFamily="34" charset="0"/>
              </a:rPr>
              <a:t>. La velocidad </a:t>
            </a:r>
            <a:r>
              <a:rPr lang="es-AR" sz="1400" b="1" dirty="0">
                <a:latin typeface="Bahnschrift" panose="020B0502040204020203" pitchFamily="34" charset="0"/>
              </a:rPr>
              <a:t>angular</a:t>
            </a:r>
            <a:r>
              <a:rPr lang="es-AR" sz="1400" dirty="0">
                <a:latin typeface="Bahnschrift" panose="020B0502040204020203" pitchFamily="34" charset="0"/>
              </a:rPr>
              <a:t> será denotada como </a:t>
            </a:r>
            <a:r>
              <a:rPr lang="el-GR" sz="1400" dirty="0">
                <a:latin typeface="Bahnschrift" panose="020B0502040204020203" pitchFamily="34" charset="0"/>
              </a:rPr>
              <a:t>ω</a:t>
            </a:r>
            <a:r>
              <a:rPr lang="es-AR" sz="1400" dirty="0">
                <a:latin typeface="Bahnschrift" panose="020B0502040204020203" pitchFamily="34" charset="0"/>
              </a:rPr>
              <a:t> y la velocidad lineal como v.</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873773F-9373-4A67-96F1-7BA0A862DEDA}"/>
                  </a:ext>
                </a:extLst>
              </p:cNvPr>
              <p:cNvSpPr txBox="1"/>
              <p:nvPr/>
            </p:nvSpPr>
            <p:spPr>
              <a:xfrm>
                <a:off x="7022234" y="1402107"/>
                <a:ext cx="1615442" cy="10518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3600" i="1" smtClean="0">
                          <a:latin typeface="Cambria Math" panose="02040503050406030204" pitchFamily="18" charset="0"/>
                          <a:ea typeface="Cambria Math" panose="02040503050406030204" pitchFamily="18" charset="0"/>
                        </a:rPr>
                        <m:t>𝜔</m:t>
                      </m:r>
                      <m:r>
                        <a:rPr lang="en-US" sz="3600" b="0" i="1" smtClean="0">
                          <a:latin typeface="Cambria Math" panose="02040503050406030204" pitchFamily="18" charset="0"/>
                          <a:ea typeface="Cambria Math" panose="02040503050406030204" pitchFamily="18" charset="0"/>
                        </a:rPr>
                        <m:t>=</m:t>
                      </m:r>
                      <m:f>
                        <m:fPr>
                          <m:ctrlPr>
                            <a:rPr lang="en-US" sz="3600" b="0" i="1" smtClean="0">
                              <a:latin typeface="Cambria Math" panose="02040503050406030204" pitchFamily="18" charset="0"/>
                              <a:ea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𝑑</m:t>
                          </m:r>
                          <m:r>
                            <a:rPr lang="en-US" sz="3600" b="0" i="1" smtClean="0">
                              <a:latin typeface="Cambria Math" panose="02040503050406030204" pitchFamily="18" charset="0"/>
                              <a:ea typeface="Cambria Math" panose="02040503050406030204" pitchFamily="18" charset="0"/>
                            </a:rPr>
                            <m:t>𝜃</m:t>
                          </m:r>
                        </m:num>
                        <m:den>
                          <m:r>
                            <a:rPr lang="en-US" sz="3600" b="0" i="1" smtClean="0">
                              <a:latin typeface="Cambria Math" panose="02040503050406030204" pitchFamily="18" charset="0"/>
                              <a:ea typeface="Cambria Math" panose="02040503050406030204" pitchFamily="18" charset="0"/>
                            </a:rPr>
                            <m:t>𝑑𝑡</m:t>
                          </m:r>
                        </m:den>
                      </m:f>
                    </m:oMath>
                  </m:oMathPara>
                </a14:m>
                <a:endParaRPr lang="es-AR" sz="3600" dirty="0"/>
              </a:p>
            </p:txBody>
          </p:sp>
        </mc:Choice>
        <mc:Fallback xmlns="">
          <p:sp>
            <p:nvSpPr>
              <p:cNvPr id="10" name="CuadroTexto 9">
                <a:extLst>
                  <a:ext uri="{FF2B5EF4-FFF2-40B4-BE49-F238E27FC236}">
                    <a16:creationId xmlns:a16="http://schemas.microsoft.com/office/drawing/2014/main" id="{C873773F-9373-4A67-96F1-7BA0A862DEDA}"/>
                  </a:ext>
                </a:extLst>
              </p:cNvPr>
              <p:cNvSpPr txBox="1">
                <a:spLocks noRot="1" noChangeAspect="1" noMove="1" noResize="1" noEditPoints="1" noAdjustHandles="1" noChangeArrowheads="1" noChangeShapeType="1" noTextEdit="1"/>
              </p:cNvSpPr>
              <p:nvPr/>
            </p:nvSpPr>
            <p:spPr>
              <a:xfrm>
                <a:off x="7022234" y="1402107"/>
                <a:ext cx="1615442" cy="1051826"/>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1F0E6F4-ACA0-417B-B29C-FFF4FF60B00E}"/>
                  </a:ext>
                </a:extLst>
              </p:cNvPr>
              <p:cNvSpPr txBox="1"/>
              <p:nvPr/>
            </p:nvSpPr>
            <p:spPr>
              <a:xfrm>
                <a:off x="8955879" y="1428754"/>
                <a:ext cx="1608774" cy="10518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ea typeface="Cambria Math" panose="02040503050406030204" pitchFamily="18" charset="0"/>
                        </a:rPr>
                        <m:t>𝑉</m:t>
                      </m:r>
                      <m:r>
                        <a:rPr lang="en-US" sz="3600" b="0" i="1" smtClean="0">
                          <a:latin typeface="Cambria Math" panose="02040503050406030204" pitchFamily="18" charset="0"/>
                          <a:ea typeface="Cambria Math" panose="02040503050406030204" pitchFamily="18" charset="0"/>
                        </a:rPr>
                        <m:t>=</m:t>
                      </m:r>
                      <m:f>
                        <m:fPr>
                          <m:ctrlPr>
                            <a:rPr lang="en-US" sz="3600" b="0" i="1" smtClean="0">
                              <a:latin typeface="Cambria Math" panose="02040503050406030204" pitchFamily="18" charset="0"/>
                              <a:ea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𝑑𝑅</m:t>
                          </m:r>
                        </m:num>
                        <m:den>
                          <m:r>
                            <a:rPr lang="en-US" sz="3600" b="0" i="1" smtClean="0">
                              <a:latin typeface="Cambria Math" panose="02040503050406030204" pitchFamily="18" charset="0"/>
                              <a:ea typeface="Cambria Math" panose="02040503050406030204" pitchFamily="18" charset="0"/>
                            </a:rPr>
                            <m:t>𝑑𝑡</m:t>
                          </m:r>
                        </m:den>
                      </m:f>
                    </m:oMath>
                  </m:oMathPara>
                </a14:m>
                <a:endParaRPr lang="es-AR" sz="3600" dirty="0"/>
              </a:p>
            </p:txBody>
          </p:sp>
        </mc:Choice>
        <mc:Fallback xmlns="">
          <p:sp>
            <p:nvSpPr>
              <p:cNvPr id="11" name="CuadroTexto 10">
                <a:extLst>
                  <a:ext uri="{FF2B5EF4-FFF2-40B4-BE49-F238E27FC236}">
                    <a16:creationId xmlns:a16="http://schemas.microsoft.com/office/drawing/2014/main" id="{F1F0E6F4-ACA0-417B-B29C-FFF4FF60B00E}"/>
                  </a:ext>
                </a:extLst>
              </p:cNvPr>
              <p:cNvSpPr txBox="1">
                <a:spLocks noRot="1" noChangeAspect="1" noMove="1" noResize="1" noEditPoints="1" noAdjustHandles="1" noChangeArrowheads="1" noChangeShapeType="1" noTextEdit="1"/>
              </p:cNvSpPr>
              <p:nvPr/>
            </p:nvSpPr>
            <p:spPr>
              <a:xfrm>
                <a:off x="8955879" y="1428754"/>
                <a:ext cx="1608774" cy="1051826"/>
              </a:xfrm>
              <a:prstGeom prst="rect">
                <a:avLst/>
              </a:prstGeom>
              <a:blipFill>
                <a:blip r:embed="rId4"/>
                <a:stretch>
                  <a:fillRect/>
                </a:stretch>
              </a:blipFill>
            </p:spPr>
            <p:txBody>
              <a:bodyPr/>
              <a:lstStyle/>
              <a:p>
                <a:r>
                  <a:rPr lang="es-AR">
                    <a:noFill/>
                  </a:rPr>
                  <a:t> </a:t>
                </a:r>
              </a:p>
            </p:txBody>
          </p:sp>
        </mc:Fallback>
      </mc:AlternateContent>
      <p:sp>
        <p:nvSpPr>
          <p:cNvPr id="12" name="Marcador de contenido 2">
            <a:extLst>
              <a:ext uri="{FF2B5EF4-FFF2-40B4-BE49-F238E27FC236}">
                <a16:creationId xmlns:a16="http://schemas.microsoft.com/office/drawing/2014/main" id="{79D66510-BFAA-4FA2-97F9-84E6A0F1EA9E}"/>
              </a:ext>
            </a:extLst>
          </p:cNvPr>
          <p:cNvSpPr txBox="1">
            <a:spLocks/>
          </p:cNvSpPr>
          <p:nvPr/>
        </p:nvSpPr>
        <p:spPr>
          <a:xfrm>
            <a:off x="116312" y="3080450"/>
            <a:ext cx="6955455" cy="127515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Analizamos la rotación pura de un eslabón representado por un vector R</a:t>
            </a:r>
            <a:r>
              <a:rPr lang="es-AR" sz="1400" baseline="-25000" dirty="0">
                <a:latin typeface="Bahnschrift" panose="020B0502040204020203" pitchFamily="34" charset="0"/>
              </a:rPr>
              <a:t>PA</a:t>
            </a:r>
            <a:r>
              <a:rPr lang="es-AR" sz="1400" dirty="0">
                <a:latin typeface="Bahnschrift" panose="020B0502040204020203" pitchFamily="34" charset="0"/>
              </a:rPr>
              <a:t> cuyo punto de aplicación coincide con el origen del sistema XY, y tiene una velocidad angular ω. </a:t>
            </a:r>
          </a:p>
          <a:p>
            <a:pPr algn="just">
              <a:buFontTx/>
              <a:buChar char="-"/>
            </a:pPr>
            <a:r>
              <a:rPr lang="es-AR" sz="1400" dirty="0">
                <a:latin typeface="Bahnschrift" panose="020B0502040204020203" pitchFamily="34" charset="0"/>
              </a:rPr>
              <a:t>Si expresamos el vector posición R</a:t>
            </a:r>
            <a:r>
              <a:rPr lang="es-AR" sz="1400" baseline="-25000" dirty="0">
                <a:latin typeface="Bahnschrift" panose="020B0502040204020203" pitchFamily="34" charset="0"/>
              </a:rPr>
              <a:t>PA</a:t>
            </a:r>
            <a:r>
              <a:rPr lang="es-AR" sz="1400" dirty="0">
                <a:latin typeface="Bahnschrift" panose="020B0502040204020203" pitchFamily="34" charset="0"/>
              </a:rPr>
              <a:t> según la notación polar compleja, tenemos:</a:t>
            </a:r>
          </a:p>
        </p:txBody>
      </p:sp>
      <p:pic>
        <p:nvPicPr>
          <p:cNvPr id="13" name="Imagen 12" descr="Imagen que contiene cuchillo, dibujo&#10;&#10;Descripción generada automáticamente">
            <a:extLst>
              <a:ext uri="{FF2B5EF4-FFF2-40B4-BE49-F238E27FC236}">
                <a16:creationId xmlns:a16="http://schemas.microsoft.com/office/drawing/2014/main" id="{3FF625A9-8846-4736-8586-3240050900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3147551" y="2754346"/>
            <a:ext cx="404239" cy="187458"/>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CE3A73DB-C714-4215-B3D6-7D47506A2C05}"/>
                  </a:ext>
                </a:extLst>
              </p:cNvPr>
              <p:cNvSpPr txBox="1"/>
              <p:nvPr/>
            </p:nvSpPr>
            <p:spPr>
              <a:xfrm>
                <a:off x="3657455" y="4462335"/>
                <a:ext cx="1197123" cy="289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oMath>
                  </m:oMathPara>
                </a14:m>
                <a:endParaRPr lang="es-AR" dirty="0"/>
              </a:p>
            </p:txBody>
          </p:sp>
        </mc:Choice>
        <mc:Fallback xmlns="">
          <p:sp>
            <p:nvSpPr>
              <p:cNvPr id="14" name="CuadroTexto 13">
                <a:extLst>
                  <a:ext uri="{FF2B5EF4-FFF2-40B4-BE49-F238E27FC236}">
                    <a16:creationId xmlns:a16="http://schemas.microsoft.com/office/drawing/2014/main" id="{CE3A73DB-C714-4215-B3D6-7D47506A2C05}"/>
                  </a:ext>
                </a:extLst>
              </p:cNvPr>
              <p:cNvSpPr txBox="1">
                <a:spLocks noRot="1" noChangeAspect="1" noMove="1" noResize="1" noEditPoints="1" noAdjustHandles="1" noChangeArrowheads="1" noChangeShapeType="1" noTextEdit="1"/>
              </p:cNvSpPr>
              <p:nvPr/>
            </p:nvSpPr>
            <p:spPr>
              <a:xfrm>
                <a:off x="3657455" y="4462335"/>
                <a:ext cx="1197123" cy="289118"/>
              </a:xfrm>
              <a:prstGeom prst="rect">
                <a:avLst/>
              </a:prstGeom>
              <a:blipFill>
                <a:blip r:embed="rId6"/>
                <a:stretch>
                  <a:fillRect l="-4082" t="-6383" r="-3061" b="-27660"/>
                </a:stretch>
              </a:blipFill>
            </p:spPr>
            <p:txBody>
              <a:bodyPr/>
              <a:lstStyle/>
              <a:p>
                <a:r>
                  <a:rPr lang="es-AR">
                    <a:noFill/>
                  </a:rPr>
                  <a:t> </a:t>
                </a:r>
              </a:p>
            </p:txBody>
          </p:sp>
        </mc:Fallback>
      </mc:AlternateContent>
      <p:sp>
        <p:nvSpPr>
          <p:cNvPr id="29" name="Marcador de contenido 2">
            <a:extLst>
              <a:ext uri="{FF2B5EF4-FFF2-40B4-BE49-F238E27FC236}">
                <a16:creationId xmlns:a16="http://schemas.microsoft.com/office/drawing/2014/main" id="{205A3EFC-9A38-4E78-92C5-DD05A19E4442}"/>
              </a:ext>
            </a:extLst>
          </p:cNvPr>
          <p:cNvSpPr txBox="1">
            <a:spLocks/>
          </p:cNvSpPr>
          <p:nvPr/>
        </p:nvSpPr>
        <p:spPr>
          <a:xfrm>
            <a:off x="5001477" y="4417153"/>
            <a:ext cx="1916438" cy="52591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n-US" sz="1200" dirty="0">
                <a:latin typeface="Bahnschrift" panose="020B0502040204020203" pitchFamily="34" charset="0"/>
              </a:rPr>
              <a:t>p</a:t>
            </a:r>
            <a:r>
              <a:rPr lang="es-AR" sz="1200" dirty="0">
                <a:latin typeface="Bahnschrift" panose="020B0502040204020203" pitchFamily="34" charset="0"/>
              </a:rPr>
              <a:t> </a:t>
            </a:r>
            <a:r>
              <a:rPr lang="es-AR" sz="1200" dirty="0">
                <a:latin typeface="Bahnschrift" panose="020B0502040204020203" pitchFamily="34" charset="0"/>
                <a:sym typeface="Wingdings" panose="05000000000000000000" pitchFamily="2" charset="2"/>
              </a:rPr>
              <a:t> longitud o magnitud del vector</a:t>
            </a:r>
            <a:endParaRPr lang="es-AR" sz="12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FB7B9E4A-E7A3-4EA5-8B49-B248D17AFC39}"/>
                  </a:ext>
                </a:extLst>
              </p:cNvPr>
              <p:cNvSpPr txBox="1"/>
              <p:nvPr/>
            </p:nvSpPr>
            <p:spPr>
              <a:xfrm>
                <a:off x="3657455" y="5063336"/>
                <a:ext cx="3385799"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𝑃𝐴</m:t>
                              </m:r>
                            </m:sub>
                          </m:sSub>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𝑝𝑗</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𝜃</m:t>
                          </m:r>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𝑗</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oMath>
                  </m:oMathPara>
                </a14:m>
                <a:endParaRPr lang="es-AR" dirty="0"/>
              </a:p>
            </p:txBody>
          </p:sp>
        </mc:Choice>
        <mc:Fallback xmlns="">
          <p:sp>
            <p:nvSpPr>
              <p:cNvPr id="43" name="CuadroTexto 42">
                <a:extLst>
                  <a:ext uri="{FF2B5EF4-FFF2-40B4-BE49-F238E27FC236}">
                    <a16:creationId xmlns:a16="http://schemas.microsoft.com/office/drawing/2014/main" id="{FB7B9E4A-E7A3-4EA5-8B49-B248D17AFC39}"/>
                  </a:ext>
                </a:extLst>
              </p:cNvPr>
              <p:cNvSpPr txBox="1">
                <a:spLocks noRot="1" noChangeAspect="1" noMove="1" noResize="1" noEditPoints="1" noAdjustHandles="1" noChangeArrowheads="1" noChangeShapeType="1" noTextEdit="1"/>
              </p:cNvSpPr>
              <p:nvPr/>
            </p:nvSpPr>
            <p:spPr>
              <a:xfrm>
                <a:off x="3657455" y="5063336"/>
                <a:ext cx="3385799" cy="525913"/>
              </a:xfrm>
              <a:prstGeom prst="rect">
                <a:avLst/>
              </a:prstGeom>
              <a:blipFill>
                <a:blip r:embed="rId7"/>
                <a:stretch>
                  <a:fillRect/>
                </a:stretch>
              </a:blipFill>
            </p:spPr>
            <p:txBody>
              <a:bodyPr/>
              <a:lstStyle/>
              <a:p>
                <a:r>
                  <a:rPr lang="es-AR">
                    <a:noFill/>
                  </a:rPr>
                  <a:t> </a:t>
                </a:r>
              </a:p>
            </p:txBody>
          </p:sp>
        </mc:Fallback>
      </mc:AlternateContent>
      <p:pic>
        <p:nvPicPr>
          <p:cNvPr id="45" name="Imagen 44" descr="Imagen que contiene dibujo&#10;&#10;Descripción generada automáticamente">
            <a:extLst>
              <a:ext uri="{FF2B5EF4-FFF2-40B4-BE49-F238E27FC236}">
                <a16:creationId xmlns:a16="http://schemas.microsoft.com/office/drawing/2014/main" id="{78936E91-5DDC-4302-AD87-38C855F7F99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2814061" flipH="1" flipV="1">
            <a:off x="3422686" y="4806579"/>
            <a:ext cx="322639" cy="408598"/>
          </a:xfrm>
          <a:prstGeom prst="rect">
            <a:avLst/>
          </a:prstGeom>
        </p:spPr>
      </p:pic>
      <p:pic>
        <p:nvPicPr>
          <p:cNvPr id="49" name="Imagen 48" descr="Imagen que contiene reloj&#10;&#10;Descripción generada automáticamente">
            <a:extLst>
              <a:ext uri="{FF2B5EF4-FFF2-40B4-BE49-F238E27FC236}">
                <a16:creationId xmlns:a16="http://schemas.microsoft.com/office/drawing/2014/main" id="{84C45BB0-92B3-46B7-8BAD-F44F7113CB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rot="17667647" flipV="1">
            <a:off x="6992301" y="4740061"/>
            <a:ext cx="490548" cy="299812"/>
          </a:xfrm>
          <a:prstGeom prst="rect">
            <a:avLst/>
          </a:prstGeom>
        </p:spPr>
      </p:pic>
      <mc:AlternateContent xmlns:mc="http://schemas.openxmlformats.org/markup-compatibility/2006" xmlns:a14="http://schemas.microsoft.com/office/drawing/2010/main">
        <mc:Choice Requires="a14">
          <p:sp>
            <p:nvSpPr>
              <p:cNvPr id="51" name="Marcador de contenido 2">
                <a:extLst>
                  <a:ext uri="{FF2B5EF4-FFF2-40B4-BE49-F238E27FC236}">
                    <a16:creationId xmlns:a16="http://schemas.microsoft.com/office/drawing/2014/main" id="{0298B8D9-5C49-44DC-9A34-94650A5EF7CE}"/>
                  </a:ext>
                </a:extLst>
              </p:cNvPr>
              <p:cNvSpPr txBox="1">
                <a:spLocks/>
              </p:cNvSpPr>
              <p:nvPr/>
            </p:nvSpPr>
            <p:spPr>
              <a:xfrm>
                <a:off x="7536278" y="2916877"/>
                <a:ext cx="3710513" cy="16006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14:m>
                  <m:oMath xmlns:m="http://schemas.openxmlformats.org/officeDocument/2006/math">
                    <m:r>
                      <a:rPr lang="es-AR" b="1" i="1" smtClean="0">
                        <a:latin typeface="Cambria Math" panose="02040503050406030204" pitchFamily="18" charset="0"/>
                        <a:ea typeface="Cambria Math" panose="02040503050406030204" pitchFamily="18" charset="0"/>
                      </a:rPr>
                      <m:t>𝒋</m:t>
                    </m:r>
                  </m:oMath>
                </a14:m>
                <a:r>
                  <a:rPr lang="es-AR" sz="1400" dirty="0">
                    <a:latin typeface="Bahnschrift" panose="020B0502040204020203" pitchFamily="34" charset="0"/>
                  </a:rPr>
                  <a:t> </a:t>
                </a:r>
                <a:r>
                  <a:rPr lang="es-AR" sz="1400" dirty="0">
                    <a:latin typeface="Bahnschrift" panose="020B0502040204020203" pitchFamily="34" charset="0"/>
                    <a:sym typeface="Wingdings" panose="05000000000000000000" pitchFamily="2" charset="2"/>
                  </a:rPr>
                  <a:t> Su presencia ocasiona el giro del vector 90° en sentido antihorario respecto del vector posición. </a:t>
                </a:r>
              </a:p>
              <a:p>
                <a:pPr marL="0" indent="0" algn="just">
                  <a:buNone/>
                </a:pPr>
                <a14:m>
                  <m:oMath xmlns:m="http://schemas.openxmlformats.org/officeDocument/2006/math">
                    <m:r>
                      <a:rPr lang="es-AR" b="1" i="1" smtClean="0">
                        <a:latin typeface="Cambria Math" panose="02040503050406030204" pitchFamily="18" charset="0"/>
                        <a:ea typeface="Cambria Math" panose="02040503050406030204" pitchFamily="18" charset="0"/>
                      </a:rPr>
                      <m:t>𝝎</m:t>
                    </m:r>
                  </m:oMath>
                </a14:m>
                <a:r>
                  <a:rPr lang="es-AR" sz="1400" dirty="0">
                    <a:latin typeface="Bahnschrift" panose="020B0502040204020203" pitchFamily="34" charset="0"/>
                  </a:rPr>
                  <a:t> </a:t>
                </a:r>
                <a:r>
                  <a:rPr lang="es-AR" sz="1400" dirty="0">
                    <a:latin typeface="Bahnschrift" panose="020B0502040204020203" pitchFamily="34" charset="0"/>
                    <a:sym typeface="Wingdings" panose="05000000000000000000" pitchFamily="2" charset="2"/>
                  </a:rPr>
                  <a:t> Según si posee signo positivo o negativo, definirá el sentido del vector velocidad V</a:t>
                </a:r>
                <a:r>
                  <a:rPr lang="es-AR" sz="1400" baseline="-25000" dirty="0">
                    <a:latin typeface="Bahnschrift" panose="020B0502040204020203" pitchFamily="34" charset="0"/>
                    <a:sym typeface="Wingdings" panose="05000000000000000000" pitchFamily="2" charset="2"/>
                  </a:rPr>
                  <a:t>PA</a:t>
                </a:r>
                <a:r>
                  <a:rPr lang="es-AR" sz="1400" dirty="0">
                    <a:latin typeface="Bahnschrift" panose="020B0502040204020203" pitchFamily="34" charset="0"/>
                    <a:sym typeface="Wingdings" panose="05000000000000000000" pitchFamily="2" charset="2"/>
                  </a:rPr>
                  <a:t>.</a:t>
                </a:r>
                <a:endParaRPr lang="es-AR" sz="1400" dirty="0">
                  <a:latin typeface="Bahnschrift" panose="020B0502040204020203" pitchFamily="34" charset="0"/>
                </a:endParaRPr>
              </a:p>
            </p:txBody>
          </p:sp>
        </mc:Choice>
        <mc:Fallback xmlns="">
          <p:sp>
            <p:nvSpPr>
              <p:cNvPr id="51" name="Marcador de contenido 2">
                <a:extLst>
                  <a:ext uri="{FF2B5EF4-FFF2-40B4-BE49-F238E27FC236}">
                    <a16:creationId xmlns:a16="http://schemas.microsoft.com/office/drawing/2014/main" id="{0298B8D9-5C49-44DC-9A34-94650A5EF7CE}"/>
                  </a:ext>
                </a:extLst>
              </p:cNvPr>
              <p:cNvSpPr txBox="1">
                <a:spLocks noRot="1" noChangeAspect="1" noMove="1" noResize="1" noEditPoints="1" noAdjustHandles="1" noChangeArrowheads="1" noChangeShapeType="1" noTextEdit="1"/>
              </p:cNvSpPr>
              <p:nvPr/>
            </p:nvSpPr>
            <p:spPr>
              <a:xfrm>
                <a:off x="7536278" y="2916877"/>
                <a:ext cx="3710513" cy="1600651"/>
              </a:xfrm>
              <a:prstGeom prst="rect">
                <a:avLst/>
              </a:prstGeom>
              <a:blipFill>
                <a:blip r:embed="rId10"/>
                <a:stretch>
                  <a:fillRect l="-493" r="-493" b="-4943"/>
                </a:stretch>
              </a:blipFill>
            </p:spPr>
            <p:txBody>
              <a:bodyPr/>
              <a:lstStyle/>
              <a:p>
                <a:r>
                  <a:rPr lang="es-AR">
                    <a:noFill/>
                  </a:rPr>
                  <a:t> </a:t>
                </a:r>
              </a:p>
            </p:txBody>
          </p:sp>
        </mc:Fallback>
      </mc:AlternateContent>
      <p:sp>
        <p:nvSpPr>
          <p:cNvPr id="53" name="CuadroTexto 52">
            <a:extLst>
              <a:ext uri="{FF2B5EF4-FFF2-40B4-BE49-F238E27FC236}">
                <a16:creationId xmlns:a16="http://schemas.microsoft.com/office/drawing/2014/main" id="{A1462151-B164-4863-AD4D-E9D26398CA45}"/>
              </a:ext>
            </a:extLst>
          </p:cNvPr>
          <p:cNvSpPr txBox="1"/>
          <p:nvPr/>
        </p:nvSpPr>
        <p:spPr>
          <a:xfrm>
            <a:off x="7437531" y="5088691"/>
            <a:ext cx="3797113" cy="1077218"/>
          </a:xfrm>
          <a:prstGeom prst="rect">
            <a:avLst/>
          </a:prstGeom>
          <a:noFill/>
        </p:spPr>
        <p:txBody>
          <a:bodyPr wrap="square">
            <a:spAutoFit/>
          </a:bodyPr>
          <a:lstStyle/>
          <a:p>
            <a:pPr algn="just"/>
            <a:r>
              <a:rPr lang="en-US" sz="1600" b="1" dirty="0" err="1">
                <a:solidFill>
                  <a:srgbClr val="C00000"/>
                </a:solidFill>
                <a:latin typeface="Bahnschrift" panose="020B0502040204020203" pitchFamily="34" charset="0"/>
              </a:rPr>
              <a:t>Esto</a:t>
            </a:r>
            <a:r>
              <a:rPr lang="en-US" sz="1600" b="1" dirty="0">
                <a:solidFill>
                  <a:srgbClr val="C00000"/>
                </a:solidFill>
                <a:latin typeface="Bahnschrift" panose="020B0502040204020203" pitchFamily="34" charset="0"/>
              </a:rPr>
              <a:t> </a:t>
            </a:r>
            <a:r>
              <a:rPr lang="es-AR" sz="1600" b="1" dirty="0">
                <a:solidFill>
                  <a:srgbClr val="C00000"/>
                </a:solidFill>
                <a:latin typeface="Bahnschrift" panose="020B0502040204020203" pitchFamily="34" charset="0"/>
              </a:rPr>
              <a:t>verifica que la velocidad siempre tiene dirección perpendicular al radio de rotación, y es tangente a la trayectoria del movimiento.</a:t>
            </a:r>
          </a:p>
        </p:txBody>
      </p:sp>
      <p:pic>
        <p:nvPicPr>
          <p:cNvPr id="57" name="Imagen 56" descr="Imagen que contiene cuchillo, dibujo&#10;&#10;Descripción generada automáticamente">
            <a:extLst>
              <a:ext uri="{FF2B5EF4-FFF2-40B4-BE49-F238E27FC236}">
                <a16:creationId xmlns:a16="http://schemas.microsoft.com/office/drawing/2014/main" id="{77FBA7DE-1C52-4B5D-97C8-32F0468E0FC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flipV="1">
            <a:off x="9213351" y="4865989"/>
            <a:ext cx="404239" cy="177264"/>
          </a:xfrm>
          <a:prstGeom prst="rect">
            <a:avLst/>
          </a:prstGeom>
        </p:spPr>
      </p:pic>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AD7F8324-E9C1-4579-ABE4-4F6A32AB743B}"/>
                  </a:ext>
                </a:extLst>
              </p:cNvPr>
              <p:cNvSpPr txBox="1"/>
              <p:nvPr/>
            </p:nvSpPr>
            <p:spPr>
              <a:xfrm>
                <a:off x="3650465" y="6308574"/>
                <a:ext cx="6009017" cy="289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𝑗</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𝑗</m:t>
                      </m:r>
                      <m:d>
                        <m:dPr>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r>
                                <a:rPr lang="en-US" b="0" i="1" smtClean="0">
                                  <a:latin typeface="Cambria Math" panose="02040503050406030204" pitchFamily="18" charset="0"/>
                                  <a:ea typeface="Cambria Math" panose="02040503050406030204" pitchFamily="18" charset="0"/>
                                </a:rPr>
                                <m:t>𝜃</m:t>
                              </m:r>
                            </m:e>
                          </m:fun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58" name="CuadroTexto 57">
                <a:extLst>
                  <a:ext uri="{FF2B5EF4-FFF2-40B4-BE49-F238E27FC236}">
                    <a16:creationId xmlns:a16="http://schemas.microsoft.com/office/drawing/2014/main" id="{AD7F8324-E9C1-4579-ABE4-4F6A32AB743B}"/>
                  </a:ext>
                </a:extLst>
              </p:cNvPr>
              <p:cNvSpPr txBox="1">
                <a:spLocks noRot="1" noChangeAspect="1" noMove="1" noResize="1" noEditPoints="1" noAdjustHandles="1" noChangeArrowheads="1" noChangeShapeType="1" noTextEdit="1"/>
              </p:cNvSpPr>
              <p:nvPr/>
            </p:nvSpPr>
            <p:spPr>
              <a:xfrm>
                <a:off x="3650465" y="6308574"/>
                <a:ext cx="6009017" cy="289118"/>
              </a:xfrm>
              <a:prstGeom prst="rect">
                <a:avLst/>
              </a:prstGeom>
              <a:blipFill>
                <a:blip r:embed="rId11"/>
                <a:stretch>
                  <a:fillRect l="-609" t="-6383" r="-1014" b="-36170"/>
                </a:stretch>
              </a:blipFill>
            </p:spPr>
            <p:txBody>
              <a:bodyPr/>
              <a:lstStyle/>
              <a:p>
                <a:r>
                  <a:rPr lang="es-AR">
                    <a:noFill/>
                  </a:rPr>
                  <a:t> </a:t>
                </a:r>
              </a:p>
            </p:txBody>
          </p:sp>
        </mc:Fallback>
      </mc:AlternateContent>
      <p:pic>
        <p:nvPicPr>
          <p:cNvPr id="59" name="Imagen 58" descr="Imagen que contiene dibujo&#10;&#10;Descripción generada automáticamente">
            <a:extLst>
              <a:ext uri="{FF2B5EF4-FFF2-40B4-BE49-F238E27FC236}">
                <a16:creationId xmlns:a16="http://schemas.microsoft.com/office/drawing/2014/main" id="{66CD7384-C6C9-4FB4-910E-C9432E7E708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flipV="1">
            <a:off x="9753149" y="6008113"/>
            <a:ext cx="539426" cy="673832"/>
          </a:xfrm>
          <a:prstGeom prst="rect">
            <a:avLst/>
          </a:prstGeom>
        </p:spPr>
      </p:pic>
    </p:spTree>
    <p:extLst>
      <p:ext uri="{BB962C8B-B14F-4D97-AF65-F5344CB8AC3E}">
        <p14:creationId xmlns:p14="http://schemas.microsoft.com/office/powerpoint/2010/main" val="424185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48" grpId="0" animBg="1"/>
      <p:bldP spid="12" grpId="0"/>
      <p:bldP spid="14" grpId="0"/>
      <p:bldP spid="29" grpId="0"/>
      <p:bldP spid="43" grpId="0"/>
      <p:bldP spid="51" grpId="0"/>
      <p:bldP spid="53" grpId="0"/>
      <p:bldP spid="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2A9B87A-07A7-4F64-8A70-94CACF283AF9}"/>
              </a:ext>
            </a:extLst>
          </p:cNvPr>
          <p:cNvPicPr>
            <a:picLocks noChangeAspect="1"/>
          </p:cNvPicPr>
          <p:nvPr/>
        </p:nvPicPr>
        <p:blipFill rotWithShape="1">
          <a:blip r:embed="rId2"/>
          <a:srcRect r="37726"/>
          <a:stretch/>
        </p:blipFill>
        <p:spPr>
          <a:xfrm>
            <a:off x="237024" y="3814218"/>
            <a:ext cx="3038092" cy="2212545"/>
          </a:xfrm>
          <a:prstGeom prst="rect">
            <a:avLst/>
          </a:prstGeom>
        </p:spPr>
      </p:pic>
      <p:sp>
        <p:nvSpPr>
          <p:cNvPr id="5" name="Rectángulo 4">
            <a:extLst>
              <a:ext uri="{FF2B5EF4-FFF2-40B4-BE49-F238E27FC236}">
                <a16:creationId xmlns:a16="http://schemas.microsoft.com/office/drawing/2014/main" id="{2CCAE51A-2BA3-4542-9556-57577F336225}"/>
              </a:ext>
            </a:extLst>
          </p:cNvPr>
          <p:cNvSpPr/>
          <p:nvPr/>
        </p:nvSpPr>
        <p:spPr>
          <a:xfrm>
            <a:off x="-1" y="853440"/>
            <a:ext cx="4906537"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3" name="Marcador de contenido 2"/>
          <p:cNvSpPr>
            <a:spLocks noGrp="1"/>
          </p:cNvSpPr>
          <p:nvPr>
            <p:ph idx="1"/>
          </p:nvPr>
        </p:nvSpPr>
        <p:spPr>
          <a:xfrm>
            <a:off x="116312" y="830016"/>
            <a:ext cx="5081713" cy="466124"/>
          </a:xfrm>
        </p:spPr>
        <p:txBody>
          <a:bodyPr>
            <a:normAutofit/>
          </a:bodyPr>
          <a:lstStyle/>
          <a:p>
            <a:pPr marL="0" indent="0">
              <a:buNone/>
            </a:pPr>
            <a:r>
              <a:rPr lang="es-AR" sz="2400" b="1" dirty="0">
                <a:latin typeface="Bahnschrift" panose="020B0502040204020203" pitchFamily="34" charset="0"/>
              </a:rPr>
              <a:t>DETERMINACIÓN DE VELOCIDAD</a:t>
            </a: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86887"/>
            <a:ext cx="10647322" cy="141192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En el caso analizando anteriormente, donde el punto de aplicación del vector posición R</a:t>
            </a:r>
            <a:r>
              <a:rPr lang="es-AR" sz="1400" baseline="-25000" dirty="0">
                <a:latin typeface="Bahnschrift" panose="020B0502040204020203" pitchFamily="34" charset="0"/>
              </a:rPr>
              <a:t>PA</a:t>
            </a:r>
            <a:r>
              <a:rPr lang="es-AR" sz="1400" dirty="0">
                <a:latin typeface="Bahnschrift" panose="020B0502040204020203" pitchFamily="34" charset="0"/>
              </a:rPr>
              <a:t> coincide con el origen del sistema absoluto o fijo, la velocidad V</a:t>
            </a:r>
            <a:r>
              <a:rPr lang="es-AR" sz="1400" baseline="-25000" dirty="0">
                <a:latin typeface="Bahnschrift" panose="020B0502040204020203" pitchFamily="34" charset="0"/>
              </a:rPr>
              <a:t>PA</a:t>
            </a:r>
            <a:r>
              <a:rPr lang="es-AR" sz="1400" dirty="0">
                <a:latin typeface="Bahnschrift" panose="020B0502040204020203" pitchFamily="34" charset="0"/>
              </a:rPr>
              <a:t> será </a:t>
            </a:r>
            <a:r>
              <a:rPr lang="es-AR" sz="1400" b="1" dirty="0">
                <a:solidFill>
                  <a:srgbClr val="C00000"/>
                </a:solidFill>
                <a:latin typeface="Bahnschrift" panose="020B0502040204020203" pitchFamily="34" charset="0"/>
              </a:rPr>
              <a:t>ABSOLUTA</a:t>
            </a:r>
            <a:r>
              <a:rPr lang="es-AR" sz="1400" dirty="0">
                <a:latin typeface="Bahnschrift" panose="020B0502040204020203" pitchFamily="34" charset="0"/>
              </a:rPr>
              <a:t>.</a:t>
            </a:r>
          </a:p>
          <a:p>
            <a:pPr algn="just">
              <a:buFontTx/>
              <a:buChar char="-"/>
            </a:pPr>
            <a:r>
              <a:rPr lang="es-AR" sz="1400" dirty="0">
                <a:latin typeface="Bahnschrift" panose="020B0502040204020203" pitchFamily="34" charset="0"/>
              </a:rPr>
              <a:t>Puede suceder que este punto</a:t>
            </a:r>
            <a:r>
              <a:rPr lang="es-AR" sz="1400" dirty="0">
                <a:highlight>
                  <a:srgbClr val="FFC000"/>
                </a:highlight>
                <a:latin typeface="Bahnschrift" panose="020B0502040204020203" pitchFamily="34" charset="0"/>
              </a:rPr>
              <a:t> </a:t>
            </a:r>
            <a:r>
              <a:rPr lang="es-AR" sz="1400" b="1" dirty="0">
                <a:highlight>
                  <a:srgbClr val="FFC000"/>
                </a:highlight>
                <a:latin typeface="Bahnschrift" panose="020B0502040204020203" pitchFamily="34" charset="0"/>
              </a:rPr>
              <a:t>A</a:t>
            </a:r>
            <a:r>
              <a:rPr lang="es-AR" sz="1400" dirty="0">
                <a:highlight>
                  <a:srgbClr val="FFC000"/>
                </a:highlight>
                <a:latin typeface="Bahnschrift" panose="020B0502040204020203" pitchFamily="34" charset="0"/>
              </a:rPr>
              <a:t> </a:t>
            </a:r>
            <a:r>
              <a:rPr lang="es-AR" sz="1400" dirty="0">
                <a:latin typeface="Bahnschrift" panose="020B0502040204020203" pitchFamily="34" charset="0"/>
              </a:rPr>
              <a:t>se encuentre </a:t>
            </a:r>
            <a:r>
              <a:rPr lang="es-AR" sz="1400" b="1" dirty="0">
                <a:highlight>
                  <a:srgbClr val="FFC000"/>
                </a:highlight>
                <a:latin typeface="Bahnschrift" panose="020B0502040204020203" pitchFamily="34" charset="0"/>
              </a:rPr>
              <a:t>sobre un cuerpo que se mueve con una velocidad V</a:t>
            </a:r>
            <a:r>
              <a:rPr lang="es-AR" sz="1400" b="1" baseline="-25000" dirty="0">
                <a:highlight>
                  <a:srgbClr val="FFC000"/>
                </a:highlight>
                <a:latin typeface="Bahnschrift" panose="020B0502040204020203" pitchFamily="34" charset="0"/>
              </a:rPr>
              <a:t>A</a:t>
            </a:r>
            <a:r>
              <a:rPr lang="es-AR" sz="1400" dirty="0">
                <a:latin typeface="Bahnschrift" panose="020B0502040204020203" pitchFamily="34" charset="0"/>
              </a:rPr>
              <a:t>, por lo tanto V</a:t>
            </a:r>
            <a:r>
              <a:rPr lang="es-AR" sz="1400" baseline="-25000" dirty="0">
                <a:latin typeface="Bahnschrift" panose="020B0502040204020203" pitchFamily="34" charset="0"/>
              </a:rPr>
              <a:t>PA</a:t>
            </a:r>
            <a:r>
              <a:rPr lang="es-AR" sz="1400" dirty="0">
                <a:latin typeface="Bahnschrift" panose="020B0502040204020203" pitchFamily="34" charset="0"/>
              </a:rPr>
              <a:t> no será absoluta, sino que será considerada como una </a:t>
            </a:r>
            <a:r>
              <a:rPr lang="es-AR" sz="1400" b="1" dirty="0">
                <a:solidFill>
                  <a:srgbClr val="C00000"/>
                </a:solidFill>
                <a:latin typeface="Bahnschrift" panose="020B0502040204020203" pitchFamily="34" charset="0"/>
              </a:rPr>
              <a:t>DIFERENCIA DE VELOCIDADES</a:t>
            </a:r>
            <a:r>
              <a:rPr lang="es-AR" sz="1400" dirty="0">
                <a:latin typeface="Bahnschrift" panose="020B0502040204020203" pitchFamily="34" charset="0"/>
              </a:rPr>
              <a:t> o velocidad </a:t>
            </a:r>
            <a:r>
              <a:rPr lang="es-AR" sz="1400" b="1" dirty="0">
                <a:solidFill>
                  <a:srgbClr val="C00000"/>
                </a:solidFill>
                <a:latin typeface="Bahnschrift" panose="020B0502040204020203" pitchFamily="34" charset="0"/>
              </a:rPr>
              <a:t>RELATIVA</a:t>
            </a:r>
            <a:r>
              <a:rPr lang="es-AR" sz="1400" dirty="0">
                <a:latin typeface="Bahnschrift" panose="020B0502040204020203" pitchFamily="34" charset="0"/>
              </a:rPr>
              <a:t>. Esto estará en función de que los puntos considerados A y P pertenezcan al mismo cuerpo (CASO 1) o a cuerpos diferentes (CASO 2). </a:t>
            </a:r>
          </a:p>
        </p:txBody>
      </p:sp>
      <p:pic>
        <p:nvPicPr>
          <p:cNvPr id="7" name="Imagen 6">
            <a:extLst>
              <a:ext uri="{FF2B5EF4-FFF2-40B4-BE49-F238E27FC236}">
                <a16:creationId xmlns:a16="http://schemas.microsoft.com/office/drawing/2014/main" id="{69DD8D20-15BA-41B3-A528-EB66C06395A5}"/>
              </a:ext>
            </a:extLst>
          </p:cNvPr>
          <p:cNvPicPr>
            <a:picLocks noChangeAspect="1"/>
          </p:cNvPicPr>
          <p:nvPr/>
        </p:nvPicPr>
        <p:blipFill rotWithShape="1">
          <a:blip r:embed="rId2"/>
          <a:srcRect l="68590" t="47918" b="13982"/>
          <a:stretch/>
        </p:blipFill>
        <p:spPr>
          <a:xfrm>
            <a:off x="3217205" y="4641017"/>
            <a:ext cx="1740824" cy="957645"/>
          </a:xfrm>
          <a:prstGeom prst="rect">
            <a:avLst/>
          </a:prstGeom>
        </p:spPr>
      </p:pic>
      <p:sp>
        <p:nvSpPr>
          <p:cNvPr id="8" name="Marcador de contenido 2">
            <a:extLst>
              <a:ext uri="{FF2B5EF4-FFF2-40B4-BE49-F238E27FC236}">
                <a16:creationId xmlns:a16="http://schemas.microsoft.com/office/drawing/2014/main" id="{AEE40F1C-DF9E-40AE-9339-1185E6987420}"/>
              </a:ext>
            </a:extLst>
          </p:cNvPr>
          <p:cNvSpPr txBox="1">
            <a:spLocks/>
          </p:cNvSpPr>
          <p:nvPr/>
        </p:nvSpPr>
        <p:spPr>
          <a:xfrm>
            <a:off x="4401754" y="2507445"/>
            <a:ext cx="6492767" cy="5108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B01A50D-950A-45FD-8E95-FF1C6FD35B89}"/>
                  </a:ext>
                </a:extLst>
              </p:cNvPr>
              <p:cNvSpPr txBox="1"/>
              <p:nvPr/>
            </p:nvSpPr>
            <p:spPr>
              <a:xfrm>
                <a:off x="3368370" y="2784679"/>
                <a:ext cx="14489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𝑃𝐴</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𝐴</m:t>
                          </m:r>
                        </m:sub>
                      </m:sSub>
                    </m:oMath>
                  </m:oMathPara>
                </a14:m>
                <a:endParaRPr lang="es-AR" dirty="0"/>
              </a:p>
            </p:txBody>
          </p:sp>
        </mc:Choice>
        <mc:Fallback xmlns="">
          <p:sp>
            <p:nvSpPr>
              <p:cNvPr id="25" name="CuadroTexto 24">
                <a:extLst>
                  <a:ext uri="{FF2B5EF4-FFF2-40B4-BE49-F238E27FC236}">
                    <a16:creationId xmlns:a16="http://schemas.microsoft.com/office/drawing/2014/main" id="{9B01A50D-950A-45FD-8E95-FF1C6FD35B89}"/>
                  </a:ext>
                </a:extLst>
              </p:cNvPr>
              <p:cNvSpPr txBox="1">
                <a:spLocks noRot="1" noChangeAspect="1" noMove="1" noResize="1" noEditPoints="1" noAdjustHandles="1" noChangeArrowheads="1" noChangeShapeType="1" noTextEdit="1"/>
              </p:cNvSpPr>
              <p:nvPr/>
            </p:nvSpPr>
            <p:spPr>
              <a:xfrm>
                <a:off x="3368370" y="2784679"/>
                <a:ext cx="1448922" cy="276999"/>
              </a:xfrm>
              <a:prstGeom prst="rect">
                <a:avLst/>
              </a:prstGeom>
              <a:blipFill>
                <a:blip r:embed="rId3"/>
                <a:stretch>
                  <a:fillRect l="-3376" r="-844"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1D5A8114-EF59-4117-BE30-BA0046479852}"/>
                  </a:ext>
                </a:extLst>
              </p:cNvPr>
              <p:cNvSpPr txBox="1"/>
              <p:nvPr/>
            </p:nvSpPr>
            <p:spPr>
              <a:xfrm>
                <a:off x="5650398" y="2773311"/>
                <a:ext cx="14489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𝑃𝐴</m:t>
                          </m:r>
                        </m:sub>
                      </m:sSub>
                    </m:oMath>
                  </m:oMathPara>
                </a14:m>
                <a:endParaRPr lang="es-AR" dirty="0"/>
              </a:p>
            </p:txBody>
          </p:sp>
        </mc:Choice>
        <mc:Fallback xmlns="">
          <p:sp>
            <p:nvSpPr>
              <p:cNvPr id="26" name="CuadroTexto 25">
                <a:extLst>
                  <a:ext uri="{FF2B5EF4-FFF2-40B4-BE49-F238E27FC236}">
                    <a16:creationId xmlns:a16="http://schemas.microsoft.com/office/drawing/2014/main" id="{1D5A8114-EF59-4117-BE30-BA0046479852}"/>
                  </a:ext>
                </a:extLst>
              </p:cNvPr>
              <p:cNvSpPr txBox="1">
                <a:spLocks noRot="1" noChangeAspect="1" noMove="1" noResize="1" noEditPoints="1" noAdjustHandles="1" noChangeArrowheads="1" noChangeShapeType="1" noTextEdit="1"/>
              </p:cNvSpPr>
              <p:nvPr/>
            </p:nvSpPr>
            <p:spPr>
              <a:xfrm>
                <a:off x="5650398" y="2773311"/>
                <a:ext cx="1448923" cy="276999"/>
              </a:xfrm>
              <a:prstGeom prst="rect">
                <a:avLst/>
              </a:prstGeom>
              <a:blipFill>
                <a:blip r:embed="rId4"/>
                <a:stretch>
                  <a:fillRect l="-3361" r="-420" b="-17778"/>
                </a:stretch>
              </a:blipFill>
            </p:spPr>
            <p:txBody>
              <a:bodyPr/>
              <a:lstStyle/>
              <a:p>
                <a:r>
                  <a:rPr lang="es-AR">
                    <a:noFill/>
                  </a:rPr>
                  <a:t> </a:t>
                </a:r>
              </a:p>
            </p:txBody>
          </p:sp>
        </mc:Fallback>
      </mc:AlternateContent>
      <p:sp>
        <p:nvSpPr>
          <p:cNvPr id="27" name="Marcador de contenido 2">
            <a:extLst>
              <a:ext uri="{FF2B5EF4-FFF2-40B4-BE49-F238E27FC236}">
                <a16:creationId xmlns:a16="http://schemas.microsoft.com/office/drawing/2014/main" id="{25DC6E24-55FE-4170-B470-2FBEE1DE6DBA}"/>
              </a:ext>
            </a:extLst>
          </p:cNvPr>
          <p:cNvSpPr txBox="1">
            <a:spLocks/>
          </p:cNvSpPr>
          <p:nvPr/>
        </p:nvSpPr>
        <p:spPr>
          <a:xfrm>
            <a:off x="3165712" y="5665074"/>
            <a:ext cx="1843811" cy="52591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200" dirty="0">
                <a:latin typeface="Bahnschrift" panose="020B0502040204020203" pitchFamily="34" charset="0"/>
              </a:rPr>
              <a:t>Representación gráfica de la ecuación.</a:t>
            </a:r>
          </a:p>
        </p:txBody>
      </p:sp>
      <p:sp>
        <p:nvSpPr>
          <p:cNvPr id="30" name="CuadroTexto 29">
            <a:extLst>
              <a:ext uri="{FF2B5EF4-FFF2-40B4-BE49-F238E27FC236}">
                <a16:creationId xmlns:a16="http://schemas.microsoft.com/office/drawing/2014/main" id="{61C3AC44-CE5C-4B28-8C64-C9524D79ABEB}"/>
              </a:ext>
            </a:extLst>
          </p:cNvPr>
          <p:cNvSpPr txBox="1"/>
          <p:nvPr/>
        </p:nvSpPr>
        <p:spPr>
          <a:xfrm>
            <a:off x="308770" y="3248508"/>
            <a:ext cx="3650418" cy="584775"/>
          </a:xfrm>
          <a:prstGeom prst="rect">
            <a:avLst/>
          </a:prstGeom>
          <a:noFill/>
        </p:spPr>
        <p:txBody>
          <a:bodyPr wrap="square">
            <a:spAutoFit/>
          </a:bodyPr>
          <a:lstStyle/>
          <a:p>
            <a:r>
              <a:rPr lang="es-AR" sz="1800" b="1" dirty="0">
                <a:solidFill>
                  <a:srgbClr val="C00000"/>
                </a:solidFill>
                <a:latin typeface="Bahnschrift" panose="020B0502040204020203" pitchFamily="34" charset="0"/>
              </a:rPr>
              <a:t>CASO 1 </a:t>
            </a:r>
          </a:p>
          <a:p>
            <a:r>
              <a:rPr lang="es-AR" sz="1400" dirty="0">
                <a:solidFill>
                  <a:srgbClr val="2B241F"/>
                </a:solidFill>
                <a:latin typeface="Bahnschrift" panose="020B0502040204020203" pitchFamily="34" charset="0"/>
              </a:rPr>
              <a:t>Dos puntos en el mismo cuerpo</a:t>
            </a:r>
            <a:endParaRPr lang="es-AR" sz="1400" dirty="0">
              <a:solidFill>
                <a:srgbClr val="2B241F"/>
              </a:solidFill>
            </a:endParaRPr>
          </a:p>
        </p:txBody>
      </p:sp>
      <p:sp>
        <p:nvSpPr>
          <p:cNvPr id="11" name="CuadroTexto 10">
            <a:extLst>
              <a:ext uri="{FF2B5EF4-FFF2-40B4-BE49-F238E27FC236}">
                <a16:creationId xmlns:a16="http://schemas.microsoft.com/office/drawing/2014/main" id="{916B7AEF-BDD2-4F4B-94A0-DF788E3C8C8A}"/>
              </a:ext>
            </a:extLst>
          </p:cNvPr>
          <p:cNvSpPr txBox="1"/>
          <p:nvPr/>
        </p:nvSpPr>
        <p:spPr>
          <a:xfrm>
            <a:off x="5619570" y="3248508"/>
            <a:ext cx="3650418" cy="584775"/>
          </a:xfrm>
          <a:prstGeom prst="rect">
            <a:avLst/>
          </a:prstGeom>
          <a:noFill/>
        </p:spPr>
        <p:txBody>
          <a:bodyPr wrap="square">
            <a:spAutoFit/>
          </a:bodyPr>
          <a:lstStyle/>
          <a:p>
            <a:r>
              <a:rPr lang="es-AR" sz="1800" b="1" dirty="0">
                <a:solidFill>
                  <a:srgbClr val="C00000"/>
                </a:solidFill>
                <a:latin typeface="Bahnschrift" panose="020B0502040204020203" pitchFamily="34" charset="0"/>
              </a:rPr>
              <a:t>CASO 2 </a:t>
            </a:r>
          </a:p>
          <a:p>
            <a:r>
              <a:rPr lang="es-AR" sz="1400" dirty="0">
                <a:solidFill>
                  <a:srgbClr val="2B241F"/>
                </a:solidFill>
                <a:latin typeface="Bahnschrift" panose="020B0502040204020203" pitchFamily="34" charset="0"/>
              </a:rPr>
              <a:t>Dos puntos en cuerpos independientes</a:t>
            </a:r>
            <a:endParaRPr lang="es-AR" sz="1400" dirty="0">
              <a:solidFill>
                <a:srgbClr val="2B241F"/>
              </a:solidFill>
            </a:endParaRPr>
          </a:p>
        </p:txBody>
      </p:sp>
      <p:sp>
        <p:nvSpPr>
          <p:cNvPr id="15" name="CuadroTexto 14">
            <a:extLst>
              <a:ext uri="{FF2B5EF4-FFF2-40B4-BE49-F238E27FC236}">
                <a16:creationId xmlns:a16="http://schemas.microsoft.com/office/drawing/2014/main" id="{4B267DBD-E312-4D6D-A0C8-13CEEA15DA06}"/>
              </a:ext>
            </a:extLst>
          </p:cNvPr>
          <p:cNvSpPr txBox="1"/>
          <p:nvPr/>
        </p:nvSpPr>
        <p:spPr>
          <a:xfrm>
            <a:off x="3287282" y="3415318"/>
            <a:ext cx="1819687" cy="584775"/>
          </a:xfrm>
          <a:prstGeom prst="rect">
            <a:avLst/>
          </a:prstGeom>
          <a:noFill/>
        </p:spPr>
        <p:txBody>
          <a:bodyPr wrap="square">
            <a:spAutoFit/>
          </a:bodyPr>
          <a:lstStyle/>
          <a:p>
            <a:r>
              <a:rPr lang="es-AR" sz="1600" b="1" dirty="0">
                <a:solidFill>
                  <a:srgbClr val="2B241F"/>
                </a:solidFill>
                <a:latin typeface="Bahnschrift" panose="020B0502040204020203" pitchFamily="34" charset="0"/>
              </a:rPr>
              <a:t>DIFERENCIA DE VELOCIDADES</a:t>
            </a:r>
            <a:endParaRPr lang="es-AR" sz="1600" dirty="0">
              <a:solidFill>
                <a:srgbClr val="2B241F"/>
              </a:solidFill>
            </a:endParaRPr>
          </a:p>
        </p:txBody>
      </p:sp>
      <p:sp>
        <p:nvSpPr>
          <p:cNvPr id="16" name="CuadroTexto 15">
            <a:extLst>
              <a:ext uri="{FF2B5EF4-FFF2-40B4-BE49-F238E27FC236}">
                <a16:creationId xmlns:a16="http://schemas.microsoft.com/office/drawing/2014/main" id="{948B137C-5F73-4F3A-8AF6-4EAA48D027D4}"/>
              </a:ext>
            </a:extLst>
          </p:cNvPr>
          <p:cNvSpPr txBox="1"/>
          <p:nvPr/>
        </p:nvSpPr>
        <p:spPr>
          <a:xfrm>
            <a:off x="9184238" y="3416469"/>
            <a:ext cx="1819687" cy="584775"/>
          </a:xfrm>
          <a:prstGeom prst="rect">
            <a:avLst/>
          </a:prstGeom>
          <a:noFill/>
        </p:spPr>
        <p:txBody>
          <a:bodyPr wrap="square">
            <a:spAutoFit/>
          </a:bodyPr>
          <a:lstStyle/>
          <a:p>
            <a:r>
              <a:rPr lang="es-AR" sz="1600" b="1" dirty="0">
                <a:solidFill>
                  <a:srgbClr val="2B241F"/>
                </a:solidFill>
                <a:latin typeface="Bahnschrift" panose="020B0502040204020203" pitchFamily="34" charset="0"/>
              </a:rPr>
              <a:t>VELOCIDAD RELATIVA</a:t>
            </a:r>
            <a:endParaRPr lang="es-AR" sz="1600" dirty="0">
              <a:solidFill>
                <a:srgbClr val="2B241F"/>
              </a:solidFill>
            </a:endParaRPr>
          </a:p>
        </p:txBody>
      </p:sp>
      <p:pic>
        <p:nvPicPr>
          <p:cNvPr id="17" name="Imagen 16" descr="Imagen que contiene cuchillo, dibujo&#10;&#10;Descripción generada automáticamente">
            <a:extLst>
              <a:ext uri="{FF2B5EF4-FFF2-40B4-BE49-F238E27FC236}">
                <a16:creationId xmlns:a16="http://schemas.microsoft.com/office/drawing/2014/main" id="{4A7F1B4C-A530-4717-9905-719A6F51C2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76934" y="3647410"/>
            <a:ext cx="310348" cy="143918"/>
          </a:xfrm>
          <a:prstGeom prst="rect">
            <a:avLst/>
          </a:prstGeom>
        </p:spPr>
      </p:pic>
      <p:pic>
        <p:nvPicPr>
          <p:cNvPr id="20" name="Imagen 19" descr="Imagen que contiene cuchillo, dibujo&#10;&#10;Descripción generada automáticamente">
            <a:extLst>
              <a:ext uri="{FF2B5EF4-FFF2-40B4-BE49-F238E27FC236}">
                <a16:creationId xmlns:a16="http://schemas.microsoft.com/office/drawing/2014/main" id="{23BE8C84-171A-45C6-AC4D-CF79B78C80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73890" y="3636898"/>
            <a:ext cx="310348" cy="143918"/>
          </a:xfrm>
          <a:prstGeom prst="rect">
            <a:avLst/>
          </a:prstGeom>
        </p:spPr>
      </p:pic>
      <p:pic>
        <p:nvPicPr>
          <p:cNvPr id="22" name="Imagen 21">
            <a:extLst>
              <a:ext uri="{FF2B5EF4-FFF2-40B4-BE49-F238E27FC236}">
                <a16:creationId xmlns:a16="http://schemas.microsoft.com/office/drawing/2014/main" id="{1E9268F6-166C-407C-9301-9D6BCDEA06C9}"/>
              </a:ext>
            </a:extLst>
          </p:cNvPr>
          <p:cNvPicPr>
            <a:picLocks noChangeAspect="1"/>
          </p:cNvPicPr>
          <p:nvPr/>
        </p:nvPicPr>
        <p:blipFill rotWithShape="1">
          <a:blip r:embed="rId6"/>
          <a:srcRect r="31137"/>
          <a:stretch/>
        </p:blipFill>
        <p:spPr>
          <a:xfrm>
            <a:off x="5691241" y="3908505"/>
            <a:ext cx="3023807" cy="2026273"/>
          </a:xfrm>
          <a:prstGeom prst="rect">
            <a:avLst/>
          </a:prstGeom>
        </p:spPr>
      </p:pic>
      <p:pic>
        <p:nvPicPr>
          <p:cNvPr id="28" name="Imagen 27">
            <a:extLst>
              <a:ext uri="{FF2B5EF4-FFF2-40B4-BE49-F238E27FC236}">
                <a16:creationId xmlns:a16="http://schemas.microsoft.com/office/drawing/2014/main" id="{82308822-8DF5-4B07-A846-E8A4ECCC9398}"/>
              </a:ext>
            </a:extLst>
          </p:cNvPr>
          <p:cNvPicPr>
            <a:picLocks noChangeAspect="1"/>
          </p:cNvPicPr>
          <p:nvPr/>
        </p:nvPicPr>
        <p:blipFill rotWithShape="1">
          <a:blip r:embed="rId6"/>
          <a:srcRect l="68327" t="32328" r="515" b="9975"/>
          <a:stretch/>
        </p:blipFill>
        <p:spPr>
          <a:xfrm>
            <a:off x="9002261" y="4536435"/>
            <a:ext cx="1368169" cy="1169112"/>
          </a:xfrm>
          <a:prstGeom prst="rect">
            <a:avLst/>
          </a:prstGeom>
        </p:spPr>
      </p:pic>
      <p:sp>
        <p:nvSpPr>
          <p:cNvPr id="42" name="Marcador de contenido 2">
            <a:extLst>
              <a:ext uri="{FF2B5EF4-FFF2-40B4-BE49-F238E27FC236}">
                <a16:creationId xmlns:a16="http://schemas.microsoft.com/office/drawing/2014/main" id="{34401504-91F6-4E2C-B9F3-95579877B1AA}"/>
              </a:ext>
            </a:extLst>
          </p:cNvPr>
          <p:cNvSpPr txBox="1">
            <a:spLocks/>
          </p:cNvSpPr>
          <p:nvPr/>
        </p:nvSpPr>
        <p:spPr>
          <a:xfrm>
            <a:off x="8873890" y="5666226"/>
            <a:ext cx="1843811" cy="52591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200" dirty="0">
                <a:latin typeface="Bahnschrift" panose="020B0502040204020203" pitchFamily="34" charset="0"/>
              </a:rPr>
              <a:t>Representación gráfica de la ecuación.</a:t>
            </a:r>
          </a:p>
        </p:txBody>
      </p:sp>
      <p:sp>
        <p:nvSpPr>
          <p:cNvPr id="44" name="CuadroTexto 43">
            <a:extLst>
              <a:ext uri="{FF2B5EF4-FFF2-40B4-BE49-F238E27FC236}">
                <a16:creationId xmlns:a16="http://schemas.microsoft.com/office/drawing/2014/main" id="{49702033-4939-46EE-BCB6-CBFF8A4C81EE}"/>
              </a:ext>
            </a:extLst>
          </p:cNvPr>
          <p:cNvSpPr txBox="1"/>
          <p:nvPr/>
        </p:nvSpPr>
        <p:spPr>
          <a:xfrm>
            <a:off x="522712" y="6187408"/>
            <a:ext cx="4259889" cy="523220"/>
          </a:xfrm>
          <a:prstGeom prst="rect">
            <a:avLst/>
          </a:prstGeom>
          <a:noFill/>
        </p:spPr>
        <p:txBody>
          <a:bodyPr wrap="square">
            <a:spAutoFit/>
          </a:bodyPr>
          <a:lstStyle/>
          <a:p>
            <a:pPr algn="just"/>
            <a:r>
              <a:rPr lang="es-AR" sz="1400" dirty="0">
                <a:latin typeface="Bahnschrift" panose="020B0502040204020203" pitchFamily="34" charset="0"/>
              </a:rPr>
              <a:t>V</a:t>
            </a:r>
            <a:r>
              <a:rPr lang="es-AR" sz="1400" baseline="-25000" dirty="0">
                <a:latin typeface="Bahnschrift" panose="020B0502040204020203" pitchFamily="34" charset="0"/>
              </a:rPr>
              <a:t>P</a:t>
            </a:r>
            <a:r>
              <a:rPr lang="es-AR" sz="1400" dirty="0">
                <a:latin typeface="Bahnschrift" panose="020B0502040204020203" pitchFamily="34" charset="0"/>
              </a:rPr>
              <a:t> será ABSOLUTA y deberá determinarse a través de la ecuación de diferencia de velocidades.</a:t>
            </a:r>
          </a:p>
        </p:txBody>
      </p:sp>
      <p:sp>
        <p:nvSpPr>
          <p:cNvPr id="37" name="CuadroTexto 36">
            <a:extLst>
              <a:ext uri="{FF2B5EF4-FFF2-40B4-BE49-F238E27FC236}">
                <a16:creationId xmlns:a16="http://schemas.microsoft.com/office/drawing/2014/main" id="{EB311B11-0073-4A37-BA5E-5DA2139A1F48}"/>
              </a:ext>
            </a:extLst>
          </p:cNvPr>
          <p:cNvSpPr txBox="1"/>
          <p:nvPr/>
        </p:nvSpPr>
        <p:spPr>
          <a:xfrm>
            <a:off x="5872294" y="6164353"/>
            <a:ext cx="4259889" cy="738664"/>
          </a:xfrm>
          <a:prstGeom prst="rect">
            <a:avLst/>
          </a:prstGeom>
          <a:noFill/>
        </p:spPr>
        <p:txBody>
          <a:bodyPr wrap="square">
            <a:spAutoFit/>
          </a:bodyPr>
          <a:lstStyle/>
          <a:p>
            <a:pPr algn="just"/>
            <a:r>
              <a:rPr lang="es-AR" sz="1400" dirty="0">
                <a:latin typeface="Bahnschrift" panose="020B0502040204020203" pitchFamily="34" charset="0"/>
              </a:rPr>
              <a:t>V</a:t>
            </a:r>
            <a:r>
              <a:rPr lang="es-AR" sz="1400" baseline="-25000" dirty="0">
                <a:latin typeface="Bahnschrift" panose="020B0502040204020203" pitchFamily="34" charset="0"/>
              </a:rPr>
              <a:t>P</a:t>
            </a:r>
            <a:r>
              <a:rPr lang="es-AR" sz="1400" dirty="0">
                <a:latin typeface="Bahnschrift" panose="020B0502040204020203" pitchFamily="34" charset="0"/>
              </a:rPr>
              <a:t> y V</a:t>
            </a:r>
            <a:r>
              <a:rPr lang="es-AR" sz="1400" baseline="-25000" dirty="0">
                <a:latin typeface="Bahnschrift" panose="020B0502040204020203" pitchFamily="34" charset="0"/>
              </a:rPr>
              <a:t>A</a:t>
            </a:r>
            <a:r>
              <a:rPr lang="es-AR" sz="1400" dirty="0">
                <a:latin typeface="Bahnschrift" panose="020B0502040204020203" pitchFamily="34" charset="0"/>
              </a:rPr>
              <a:t> serán velocidades independientes de cada cuerpo y V</a:t>
            </a:r>
            <a:r>
              <a:rPr lang="es-AR" sz="1400" baseline="-25000" dirty="0">
                <a:latin typeface="Bahnschrift" panose="020B0502040204020203" pitchFamily="34" charset="0"/>
              </a:rPr>
              <a:t>PA</a:t>
            </a:r>
            <a:r>
              <a:rPr lang="es-AR" sz="1400" dirty="0">
                <a:latin typeface="Bahnschrift" panose="020B0502040204020203" pitchFamily="34" charset="0"/>
              </a:rPr>
              <a:t> deberá determinarse a través de la misma ecuación de diferencia de velocidades.</a:t>
            </a:r>
          </a:p>
        </p:txBody>
      </p:sp>
    </p:spTree>
    <p:extLst>
      <p:ext uri="{BB962C8B-B14F-4D97-AF65-F5344CB8AC3E}">
        <p14:creationId xmlns:p14="http://schemas.microsoft.com/office/powerpoint/2010/main" val="296065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11" grpId="0"/>
      <p:bldP spid="15" grpId="0"/>
      <p:bldP spid="16" grpId="0"/>
      <p:bldP spid="42" grpId="0"/>
      <p:bldP spid="44"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621437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3" name="Marcador de contenido 2"/>
          <p:cNvSpPr>
            <a:spLocks noGrp="1"/>
          </p:cNvSpPr>
          <p:nvPr>
            <p:ph idx="1"/>
          </p:nvPr>
        </p:nvSpPr>
        <p:spPr>
          <a:xfrm>
            <a:off x="116312" y="830016"/>
            <a:ext cx="6346038" cy="466124"/>
          </a:xfrm>
        </p:spPr>
        <p:txBody>
          <a:bodyPr>
            <a:normAutofit/>
          </a:bodyPr>
          <a:lstStyle/>
          <a:p>
            <a:pPr marL="0" indent="0">
              <a:buNone/>
            </a:pPr>
            <a:r>
              <a:rPr lang="es-AR" sz="2400" b="1" dirty="0">
                <a:latin typeface="Bahnschrift" panose="020B0502040204020203" pitchFamily="34" charset="0"/>
              </a:rPr>
              <a:t>DETERMINACIÓN GRÁFICA DE VELOCIDAD</a:t>
            </a: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7" y="1279225"/>
            <a:ext cx="10647322" cy="39474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Para resolver gráficamente un problema de análisis de velocidades, necesitaremos dos ecuaciones:</a:t>
            </a:r>
          </a:p>
        </p:txBody>
      </p:sp>
      <p:sp>
        <p:nvSpPr>
          <p:cNvPr id="8" name="Marcador de contenido 2">
            <a:extLst>
              <a:ext uri="{FF2B5EF4-FFF2-40B4-BE49-F238E27FC236}">
                <a16:creationId xmlns:a16="http://schemas.microsoft.com/office/drawing/2014/main" id="{AEE40F1C-DF9E-40AE-9339-1185E6987420}"/>
              </a:ext>
            </a:extLst>
          </p:cNvPr>
          <p:cNvSpPr txBox="1">
            <a:spLocks/>
          </p:cNvSpPr>
          <p:nvPr/>
        </p:nvSpPr>
        <p:spPr>
          <a:xfrm>
            <a:off x="4401754" y="2507445"/>
            <a:ext cx="6492767" cy="5108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B01A50D-950A-45FD-8E95-FF1C6FD35B89}"/>
                  </a:ext>
                </a:extLst>
              </p:cNvPr>
              <p:cNvSpPr txBox="1"/>
              <p:nvPr/>
            </p:nvSpPr>
            <p:spPr>
              <a:xfrm>
                <a:off x="3131576" y="1737548"/>
                <a:ext cx="10706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𝑉</m:t>
                          </m:r>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𝜔</m:t>
                          </m:r>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𝑟</m:t>
                          </m:r>
                        </m:e>
                      </m:acc>
                    </m:oMath>
                  </m:oMathPara>
                </a14:m>
                <a:endParaRPr lang="es-AR" dirty="0"/>
              </a:p>
            </p:txBody>
          </p:sp>
        </mc:Choice>
        <mc:Fallback xmlns="">
          <p:sp>
            <p:nvSpPr>
              <p:cNvPr id="25" name="CuadroTexto 24">
                <a:extLst>
                  <a:ext uri="{FF2B5EF4-FFF2-40B4-BE49-F238E27FC236}">
                    <a16:creationId xmlns:a16="http://schemas.microsoft.com/office/drawing/2014/main" id="{9B01A50D-950A-45FD-8E95-FF1C6FD35B89}"/>
                  </a:ext>
                </a:extLst>
              </p:cNvPr>
              <p:cNvSpPr txBox="1">
                <a:spLocks noRot="1" noChangeAspect="1" noMove="1" noResize="1" noEditPoints="1" noAdjustHandles="1" noChangeArrowheads="1" noChangeShapeType="1" noTextEdit="1"/>
              </p:cNvSpPr>
              <p:nvPr/>
            </p:nvSpPr>
            <p:spPr>
              <a:xfrm>
                <a:off x="3131576" y="1737548"/>
                <a:ext cx="1070613" cy="276999"/>
              </a:xfrm>
              <a:prstGeom prst="rect">
                <a:avLst/>
              </a:prstGeom>
              <a:blipFill>
                <a:blip r:embed="rId2"/>
                <a:stretch>
                  <a:fillRect l="-4571" t="-2222" r="-30857"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1D5A8114-EF59-4117-BE30-BA0046479852}"/>
                  </a:ext>
                </a:extLst>
              </p:cNvPr>
              <p:cNvSpPr txBox="1"/>
              <p:nvPr/>
            </p:nvSpPr>
            <p:spPr>
              <a:xfrm>
                <a:off x="5878715" y="1715663"/>
                <a:ext cx="14591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𝐵</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𝐵𝐴</m:t>
                              </m:r>
                            </m:sub>
                          </m:sSub>
                        </m:e>
                      </m:acc>
                    </m:oMath>
                  </m:oMathPara>
                </a14:m>
                <a:endParaRPr lang="es-AR" dirty="0"/>
              </a:p>
            </p:txBody>
          </p:sp>
        </mc:Choice>
        <mc:Fallback xmlns="">
          <p:sp>
            <p:nvSpPr>
              <p:cNvPr id="26" name="CuadroTexto 25">
                <a:extLst>
                  <a:ext uri="{FF2B5EF4-FFF2-40B4-BE49-F238E27FC236}">
                    <a16:creationId xmlns:a16="http://schemas.microsoft.com/office/drawing/2014/main" id="{1D5A8114-EF59-4117-BE30-BA0046479852}"/>
                  </a:ext>
                </a:extLst>
              </p:cNvPr>
              <p:cNvSpPr txBox="1">
                <a:spLocks noRot="1" noChangeAspect="1" noMove="1" noResize="1" noEditPoints="1" noAdjustHandles="1" noChangeArrowheads="1" noChangeShapeType="1" noTextEdit="1"/>
              </p:cNvSpPr>
              <p:nvPr/>
            </p:nvSpPr>
            <p:spPr>
              <a:xfrm>
                <a:off x="5878715" y="1715663"/>
                <a:ext cx="1459117" cy="276999"/>
              </a:xfrm>
              <a:prstGeom prst="rect">
                <a:avLst/>
              </a:prstGeom>
              <a:blipFill>
                <a:blip r:embed="rId3"/>
                <a:stretch>
                  <a:fillRect l="-2917" r="-833" b="-1739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C434997-9BE3-4375-995E-A24E79841F00}"/>
                  </a:ext>
                </a:extLst>
              </p:cNvPr>
              <p:cNvSpPr txBox="1"/>
              <p:nvPr/>
            </p:nvSpPr>
            <p:spPr>
              <a:xfrm>
                <a:off x="3222145" y="2207687"/>
                <a:ext cx="8894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oMath>
                  </m:oMathPara>
                </a14:m>
                <a:endParaRPr lang="es-AR" dirty="0"/>
              </a:p>
            </p:txBody>
          </p:sp>
        </mc:Choice>
        <mc:Fallback xmlns="">
          <p:sp>
            <p:nvSpPr>
              <p:cNvPr id="10" name="CuadroTexto 9">
                <a:extLst>
                  <a:ext uri="{FF2B5EF4-FFF2-40B4-BE49-F238E27FC236}">
                    <a16:creationId xmlns:a16="http://schemas.microsoft.com/office/drawing/2014/main" id="{BC434997-9BE3-4375-995E-A24E79841F00}"/>
                  </a:ext>
                </a:extLst>
              </p:cNvPr>
              <p:cNvSpPr txBox="1">
                <a:spLocks noRot="1" noChangeAspect="1" noMove="1" noResize="1" noEditPoints="1" noAdjustHandles="1" noChangeArrowheads="1" noChangeShapeType="1" noTextEdit="1"/>
              </p:cNvSpPr>
              <p:nvPr/>
            </p:nvSpPr>
            <p:spPr>
              <a:xfrm>
                <a:off x="3222145" y="2207687"/>
                <a:ext cx="889474" cy="276999"/>
              </a:xfrm>
              <a:prstGeom prst="rect">
                <a:avLst/>
              </a:prstGeom>
              <a:blipFill>
                <a:blip r:embed="rId4"/>
                <a:stretch>
                  <a:fillRect l="-5517" r="-2759" b="-869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A2E851EE-217D-4434-B33D-AB93D9C80F66}"/>
                  </a:ext>
                </a:extLst>
              </p:cNvPr>
              <p:cNvSpPr txBox="1"/>
              <p:nvPr/>
            </p:nvSpPr>
            <p:spPr>
              <a:xfrm>
                <a:off x="5562217" y="2211460"/>
                <a:ext cx="20921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𝐵</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sub>
                          </m:sSub>
                        </m:e>
                      </m:acc>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𝐴𝐵</m:t>
                              </m:r>
                            </m:sub>
                          </m:sSub>
                        </m:e>
                      </m:acc>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𝐵𝐴</m:t>
                              </m:r>
                            </m:sub>
                          </m:sSub>
                        </m:e>
                      </m:acc>
                    </m:oMath>
                  </m:oMathPara>
                </a14:m>
                <a:endParaRPr lang="es-AR" dirty="0"/>
              </a:p>
            </p:txBody>
          </p:sp>
        </mc:Choice>
        <mc:Fallback xmlns="">
          <p:sp>
            <p:nvSpPr>
              <p:cNvPr id="12" name="CuadroTexto 11">
                <a:extLst>
                  <a:ext uri="{FF2B5EF4-FFF2-40B4-BE49-F238E27FC236}">
                    <a16:creationId xmlns:a16="http://schemas.microsoft.com/office/drawing/2014/main" id="{A2E851EE-217D-4434-B33D-AB93D9C80F66}"/>
                  </a:ext>
                </a:extLst>
              </p:cNvPr>
              <p:cNvSpPr txBox="1">
                <a:spLocks noRot="1" noChangeAspect="1" noMove="1" noResize="1" noEditPoints="1" noAdjustHandles="1" noChangeArrowheads="1" noChangeShapeType="1" noTextEdit="1"/>
              </p:cNvSpPr>
              <p:nvPr/>
            </p:nvSpPr>
            <p:spPr>
              <a:xfrm>
                <a:off x="5562217" y="2211460"/>
                <a:ext cx="2092111" cy="276999"/>
              </a:xfrm>
              <a:prstGeom prst="rect">
                <a:avLst/>
              </a:prstGeom>
              <a:blipFill>
                <a:blip r:embed="rId5"/>
                <a:stretch>
                  <a:fillRect l="-1744" r="-291" b="-17778"/>
                </a:stretch>
              </a:blipFill>
            </p:spPr>
            <p:txBody>
              <a:bodyPr/>
              <a:lstStyle/>
              <a:p>
                <a:r>
                  <a:rPr lang="es-AR">
                    <a:noFill/>
                  </a:rPr>
                  <a:t> </a:t>
                </a:r>
              </a:p>
            </p:txBody>
          </p:sp>
        </mc:Fallback>
      </mc:AlternateContent>
      <p:sp>
        <p:nvSpPr>
          <p:cNvPr id="13" name="Marcador de contenido 2">
            <a:extLst>
              <a:ext uri="{FF2B5EF4-FFF2-40B4-BE49-F238E27FC236}">
                <a16:creationId xmlns:a16="http://schemas.microsoft.com/office/drawing/2014/main" id="{308C3706-A853-46F5-9774-D5F0F976ADD4}"/>
              </a:ext>
            </a:extLst>
          </p:cNvPr>
          <p:cNvSpPr txBox="1">
            <a:spLocks/>
          </p:cNvSpPr>
          <p:nvPr/>
        </p:nvSpPr>
        <p:spPr>
          <a:xfrm>
            <a:off x="326737" y="5399009"/>
            <a:ext cx="10647322" cy="127716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Consideraremos un eslabonamiento de cuatro barras, en una posición particular cualquiera. Las variables a obtener serán las velocidades angulares </a:t>
            </a:r>
            <a:r>
              <a:rPr lang="es-AR" sz="1400" dirty="0">
                <a:latin typeface="Bahnschrift" panose="020B0502040204020203" pitchFamily="34" charset="0"/>
                <a:ea typeface="Cambria Math" panose="02040503050406030204" pitchFamily="18" charset="0"/>
              </a:rPr>
              <a:t>ω</a:t>
            </a:r>
            <a:r>
              <a:rPr lang="es-AR" sz="1400" baseline="-25000" dirty="0">
                <a:latin typeface="Bahnschrift" panose="020B0502040204020203" pitchFamily="34" charset="0"/>
                <a:ea typeface="Cambria Math" panose="02040503050406030204" pitchFamily="18" charset="0"/>
              </a:rPr>
              <a:t>3</a:t>
            </a:r>
            <a:r>
              <a:rPr lang="es-AR" sz="1400" dirty="0">
                <a:latin typeface="Bahnschrift" panose="020B0502040204020203" pitchFamily="34" charset="0"/>
                <a:ea typeface="Cambria Math" panose="02040503050406030204" pitchFamily="18" charset="0"/>
              </a:rPr>
              <a:t> y ω</a:t>
            </a:r>
            <a:r>
              <a:rPr lang="es-AR" sz="1400" baseline="-25000" dirty="0">
                <a:latin typeface="Bahnschrift" panose="020B0502040204020203" pitchFamily="34" charset="0"/>
                <a:ea typeface="Cambria Math" panose="02040503050406030204" pitchFamily="18" charset="0"/>
              </a:rPr>
              <a:t>4</a:t>
            </a:r>
            <a:r>
              <a:rPr lang="es-AR" sz="1400" dirty="0">
                <a:latin typeface="Bahnschrift" panose="020B0502040204020203" pitchFamily="34" charset="0"/>
                <a:ea typeface="Cambria Math" panose="02040503050406030204" pitchFamily="18" charset="0"/>
              </a:rPr>
              <a:t>, y las velocidades lineales de los puntos A, B y C, es decir V</a:t>
            </a:r>
            <a:r>
              <a:rPr lang="es-AR" sz="1400" baseline="-25000" dirty="0">
                <a:latin typeface="Bahnschrift" panose="020B0502040204020203" pitchFamily="34" charset="0"/>
                <a:ea typeface="Cambria Math" panose="02040503050406030204" pitchFamily="18" charset="0"/>
              </a:rPr>
              <a:t>A</a:t>
            </a:r>
            <a:r>
              <a:rPr lang="es-AR" sz="1400" dirty="0">
                <a:latin typeface="Bahnschrift" panose="020B0502040204020203" pitchFamily="34" charset="0"/>
                <a:ea typeface="Cambria Math" panose="02040503050406030204" pitchFamily="18" charset="0"/>
              </a:rPr>
              <a:t>, V</a:t>
            </a:r>
            <a:r>
              <a:rPr lang="es-AR" sz="1400" baseline="-25000" dirty="0">
                <a:latin typeface="Bahnschrift" panose="020B0502040204020203" pitchFamily="34" charset="0"/>
                <a:ea typeface="Cambria Math" panose="02040503050406030204" pitchFamily="18" charset="0"/>
              </a:rPr>
              <a:t>B</a:t>
            </a:r>
            <a:r>
              <a:rPr lang="es-AR" sz="1400" dirty="0">
                <a:latin typeface="Bahnschrift" panose="020B0502040204020203" pitchFamily="34" charset="0"/>
                <a:ea typeface="Cambria Math" panose="02040503050406030204" pitchFamily="18" charset="0"/>
              </a:rPr>
              <a:t> y V</a:t>
            </a:r>
            <a:r>
              <a:rPr lang="es-AR" sz="1400" baseline="-25000" dirty="0">
                <a:latin typeface="Bahnschrift" panose="020B0502040204020203" pitchFamily="34" charset="0"/>
                <a:ea typeface="Cambria Math" panose="02040503050406030204" pitchFamily="18" charset="0"/>
              </a:rPr>
              <a:t>C</a:t>
            </a:r>
            <a:r>
              <a:rPr lang="es-AR" sz="1400" dirty="0">
                <a:latin typeface="Bahnschrift" panose="020B0502040204020203" pitchFamily="34" charset="0"/>
                <a:ea typeface="Cambria Math" panose="02040503050406030204" pitchFamily="18" charset="0"/>
              </a:rPr>
              <a:t>.</a:t>
            </a:r>
          </a:p>
          <a:p>
            <a:pPr algn="just">
              <a:buFontTx/>
              <a:buChar char="-"/>
            </a:pPr>
            <a:r>
              <a:rPr lang="es-AR" sz="1400" dirty="0">
                <a:latin typeface="Bahnschrift" panose="020B0502040204020203" pitchFamily="34" charset="0"/>
                <a:ea typeface="Cambria Math" panose="02040503050406030204" pitchFamily="18" charset="0"/>
              </a:rPr>
              <a:t>Los datos conocidos serán las longitudes de los eslabones, sus posiciones angulares y la velocidad instantánea del eslabón impulsor.</a:t>
            </a:r>
          </a:p>
        </p:txBody>
      </p:sp>
      <p:sp>
        <p:nvSpPr>
          <p:cNvPr id="33" name="CuadroTexto 32">
            <a:extLst>
              <a:ext uri="{FF2B5EF4-FFF2-40B4-BE49-F238E27FC236}">
                <a16:creationId xmlns:a16="http://schemas.microsoft.com/office/drawing/2014/main" id="{3660B21E-5566-4081-AC20-A8C7D3DAEEDD}"/>
              </a:ext>
            </a:extLst>
          </p:cNvPr>
          <p:cNvSpPr txBox="1"/>
          <p:nvPr/>
        </p:nvSpPr>
        <p:spPr>
          <a:xfrm>
            <a:off x="401871" y="3325213"/>
            <a:ext cx="3206407" cy="400110"/>
          </a:xfrm>
          <a:prstGeom prst="rect">
            <a:avLst/>
          </a:prstGeom>
          <a:noFill/>
        </p:spPr>
        <p:txBody>
          <a:bodyPr wrap="square">
            <a:spAutoFit/>
          </a:bodyPr>
          <a:lstStyle/>
          <a:p>
            <a:r>
              <a:rPr lang="es-AR" sz="2000" b="1" dirty="0">
                <a:solidFill>
                  <a:srgbClr val="C00000"/>
                </a:solidFill>
                <a:latin typeface="Bahnschrift" panose="020B0502040204020203" pitchFamily="34" charset="0"/>
              </a:rPr>
              <a:t>RESOLUCIÓN GENERAL </a:t>
            </a:r>
          </a:p>
        </p:txBody>
      </p:sp>
      <p:sp>
        <p:nvSpPr>
          <p:cNvPr id="19" name="Marcador de contenido 2">
            <a:extLst>
              <a:ext uri="{FF2B5EF4-FFF2-40B4-BE49-F238E27FC236}">
                <a16:creationId xmlns:a16="http://schemas.microsoft.com/office/drawing/2014/main" id="{91CB57D5-7DF1-484A-943A-BB06B475838F}"/>
              </a:ext>
            </a:extLst>
          </p:cNvPr>
          <p:cNvSpPr txBox="1">
            <a:spLocks/>
          </p:cNvSpPr>
          <p:nvPr/>
        </p:nvSpPr>
        <p:spPr>
          <a:xfrm>
            <a:off x="414000" y="3655624"/>
            <a:ext cx="7576378" cy="243453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400" dirty="0">
                <a:latin typeface="Bahnschrift" panose="020B0502040204020203" pitchFamily="34" charset="0"/>
              </a:rPr>
              <a:t>1. Sintetizar el mecanismo: obtención de las longitudes de las barras.</a:t>
            </a:r>
          </a:p>
          <a:p>
            <a:pPr marL="0" indent="0" algn="just">
              <a:buNone/>
            </a:pPr>
            <a:r>
              <a:rPr lang="es-AR" sz="1400" dirty="0">
                <a:latin typeface="Bahnschrift" panose="020B0502040204020203" pitchFamily="34" charset="0"/>
                <a:ea typeface="Cambria Math" panose="02040503050406030204" pitchFamily="18" charset="0"/>
              </a:rPr>
              <a:t>2. Determinación de las posiciones de las distintas barras </a:t>
            </a:r>
            <a:r>
              <a:rPr lang="es-AR" sz="1400" dirty="0">
                <a:latin typeface="Bahnschrift" panose="020B0502040204020203" pitchFamily="34" charset="0"/>
                <a:ea typeface="Cambria Math" panose="02040503050406030204" pitchFamily="18" charset="0"/>
                <a:sym typeface="Wingdings" panose="05000000000000000000" pitchFamily="2" charset="2"/>
              </a:rPr>
              <a:t> θ</a:t>
            </a:r>
            <a:r>
              <a:rPr lang="es-AR" sz="1400" baseline="-25000" dirty="0">
                <a:latin typeface="Bahnschrift" panose="020B0502040204020203" pitchFamily="34" charset="0"/>
                <a:ea typeface="Cambria Math" panose="02040503050406030204" pitchFamily="18" charset="0"/>
                <a:sym typeface="Wingdings" panose="05000000000000000000" pitchFamily="2" charset="2"/>
              </a:rPr>
              <a:t>3</a:t>
            </a:r>
            <a:r>
              <a:rPr lang="es-AR" sz="1400" dirty="0">
                <a:latin typeface="Bahnschrift" panose="020B0502040204020203" pitchFamily="34" charset="0"/>
                <a:ea typeface="Cambria Math" panose="02040503050406030204" pitchFamily="18" charset="0"/>
                <a:sym typeface="Wingdings" panose="05000000000000000000" pitchFamily="2" charset="2"/>
              </a:rPr>
              <a:t> y θ</a:t>
            </a:r>
            <a:r>
              <a:rPr lang="es-AR" sz="1400" baseline="-25000" dirty="0">
                <a:latin typeface="Bahnschrift" panose="020B0502040204020203" pitchFamily="34" charset="0"/>
                <a:ea typeface="Cambria Math" panose="02040503050406030204" pitchFamily="18" charset="0"/>
                <a:sym typeface="Wingdings" panose="05000000000000000000" pitchFamily="2" charset="2"/>
              </a:rPr>
              <a:t>4</a:t>
            </a:r>
            <a:r>
              <a:rPr lang="es-AR" sz="1400" dirty="0">
                <a:latin typeface="Bahnschrift" panose="020B0502040204020203" pitchFamily="34" charset="0"/>
                <a:ea typeface="Cambria Math" panose="02040503050406030204" pitchFamily="18" charset="0"/>
                <a:sym typeface="Wingdings" panose="05000000000000000000" pitchFamily="2" charset="2"/>
              </a:rPr>
              <a:t> en función de θ</a:t>
            </a:r>
            <a:r>
              <a:rPr lang="es-AR" sz="1400" baseline="-25000" dirty="0">
                <a:latin typeface="Bahnschrift" panose="020B0502040204020203" pitchFamily="34" charset="0"/>
                <a:ea typeface="Cambria Math" panose="02040503050406030204" pitchFamily="18" charset="0"/>
                <a:sym typeface="Wingdings" panose="05000000000000000000" pitchFamily="2" charset="2"/>
              </a:rPr>
              <a:t>2</a:t>
            </a:r>
            <a:r>
              <a:rPr lang="es-AR" sz="1400" dirty="0">
                <a:latin typeface="Bahnschrift" panose="020B0502040204020203" pitchFamily="34" charset="0"/>
                <a:ea typeface="Cambria Math" panose="02040503050406030204" pitchFamily="18" charset="0"/>
                <a:sym typeface="Wingdings" panose="05000000000000000000" pitchFamily="2" charset="2"/>
              </a:rPr>
              <a:t>.</a:t>
            </a:r>
          </a:p>
          <a:p>
            <a:pPr marL="0" indent="0" algn="just">
              <a:buNone/>
            </a:pPr>
            <a:r>
              <a:rPr lang="es-AR" sz="1400" dirty="0">
                <a:latin typeface="Bahnschrift" panose="020B0502040204020203" pitchFamily="34" charset="0"/>
                <a:ea typeface="Cambria Math" panose="02040503050406030204" pitchFamily="18" charset="0"/>
                <a:sym typeface="Wingdings" panose="05000000000000000000" pitchFamily="2" charset="2"/>
              </a:rPr>
              <a:t>3. Determinación de las velocidades angulares y </a:t>
            </a:r>
            <a:r>
              <a:rPr lang="es-AR" sz="1400" dirty="0">
                <a:latin typeface="Bahnschrift" panose="020B0502040204020203" pitchFamily="34" charset="0"/>
                <a:ea typeface="Cambria Math" panose="02040503050406030204" pitchFamily="18" charset="0"/>
              </a:rPr>
              <a:t>lineales en función de ω</a:t>
            </a:r>
            <a:r>
              <a:rPr lang="es-AR" sz="1400" baseline="-25000" dirty="0">
                <a:latin typeface="Bahnschrift" panose="020B0502040204020203" pitchFamily="34"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 </a:t>
            </a:r>
          </a:p>
          <a:p>
            <a:pPr marL="0" indent="0" algn="just">
              <a:buNone/>
            </a:pPr>
            <a:r>
              <a:rPr lang="es-AR" sz="1400" dirty="0">
                <a:latin typeface="Bahnschrift" panose="020B0502040204020203" pitchFamily="34" charset="0"/>
                <a:ea typeface="Cambria Math" panose="02040503050406030204" pitchFamily="18" charset="0"/>
              </a:rPr>
              <a:t>4. Determinación de las aceleraciones angulares y lineales en función de </a:t>
            </a:r>
            <a:r>
              <a:rPr lang="el-GR" sz="1400" dirty="0">
                <a:latin typeface="Bahnschrift" panose="020B0502040204020203" pitchFamily="34" charset="0"/>
                <a:ea typeface="Cambria Math" panose="02040503050406030204" pitchFamily="18" charset="0"/>
              </a:rPr>
              <a:t>α</a:t>
            </a:r>
            <a:r>
              <a:rPr lang="es-AR" sz="1400" baseline="-25000" dirty="0">
                <a:latin typeface="Bahnschrift" panose="020B0502040204020203" pitchFamily="34"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a:t>
            </a:r>
          </a:p>
        </p:txBody>
      </p:sp>
      <p:sp>
        <p:nvSpPr>
          <p:cNvPr id="21" name="Marcador de contenido 2">
            <a:extLst>
              <a:ext uri="{FF2B5EF4-FFF2-40B4-BE49-F238E27FC236}">
                <a16:creationId xmlns:a16="http://schemas.microsoft.com/office/drawing/2014/main" id="{396E0538-23B9-47D4-A4F3-0EBCE3365182}"/>
              </a:ext>
            </a:extLst>
          </p:cNvPr>
          <p:cNvSpPr txBox="1">
            <a:spLocks/>
          </p:cNvSpPr>
          <p:nvPr/>
        </p:nvSpPr>
        <p:spPr>
          <a:xfrm>
            <a:off x="326737" y="2611574"/>
            <a:ext cx="10647322" cy="81603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n-US" sz="1400" dirty="0">
                <a:latin typeface="Bahnschrift" panose="020B0502040204020203" pitchFamily="34" charset="0"/>
                <a:ea typeface="Cambria Math" panose="02040503050406030204" pitchFamily="18" charset="0"/>
              </a:rPr>
              <a:t>S</a:t>
            </a:r>
            <a:r>
              <a:rPr lang="es-AR" sz="1400" dirty="0">
                <a:latin typeface="Bahnschrift" panose="020B0502040204020203" pitchFamily="34" charset="0"/>
                <a:ea typeface="Cambria Math" panose="02040503050406030204" pitchFamily="18" charset="0"/>
              </a:rPr>
              <a:t>e usara la forma escalar de la ecuación para calcular el valor de la velocidad, siempre teniendo en cuenta que según la forma vectorial, los vectores intervinientes son PERPENDICULARES ENTRE SI, por lo tanto en el plano, la VELOCIDAD LINEAL y el RADIO son PERPENDICULARES. </a:t>
            </a:r>
          </a:p>
        </p:txBody>
      </p:sp>
      <p:pic>
        <p:nvPicPr>
          <p:cNvPr id="38" name="Imagen 37" descr="Imagen que contiene dibujo&#10;&#10;Descripción generada automáticamente">
            <a:extLst>
              <a:ext uri="{FF2B5EF4-FFF2-40B4-BE49-F238E27FC236}">
                <a16:creationId xmlns:a16="http://schemas.microsoft.com/office/drawing/2014/main" id="{D8070E55-B28C-4AEF-9D1D-5F8B3B55B4B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V="1">
            <a:off x="2795950" y="2229381"/>
            <a:ext cx="339968" cy="408598"/>
          </a:xfrm>
          <a:prstGeom prst="rect">
            <a:avLst/>
          </a:prstGeom>
        </p:spPr>
      </p:pic>
    </p:spTree>
    <p:extLst>
      <p:ext uri="{BB962C8B-B14F-4D97-AF65-F5344CB8AC3E}">
        <p14:creationId xmlns:p14="http://schemas.microsoft.com/office/powerpoint/2010/main" val="31480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3" grpId="0"/>
      <p:bldP spid="19"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 name="Marcador de contenido 2">
                <a:extLst>
                  <a:ext uri="{FF2B5EF4-FFF2-40B4-BE49-F238E27FC236}">
                    <a16:creationId xmlns:a16="http://schemas.microsoft.com/office/drawing/2014/main" id="{A03E7AF1-DC34-43FA-8C81-83D1C4D61808}"/>
                  </a:ext>
                </a:extLst>
              </p:cNvPr>
              <p:cNvSpPr txBox="1">
                <a:spLocks/>
              </p:cNvSpPr>
              <p:nvPr/>
            </p:nvSpPr>
            <p:spPr>
              <a:xfrm>
                <a:off x="247199" y="1331895"/>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4. El trazado de estas direcciones </a:t>
                </a:r>
                <a:r>
                  <a:rPr lang="es-AR" sz="1600" dirty="0" err="1">
                    <a:latin typeface="Bahnschrift" panose="020B0502040204020203" pitchFamily="34" charset="0"/>
                  </a:rPr>
                  <a:t>pp</a:t>
                </a:r>
                <a:r>
                  <a:rPr lang="es-AR" sz="1600" dirty="0">
                    <a:latin typeface="Bahnschrift" panose="020B0502040204020203" pitchFamily="34" charset="0"/>
                  </a:rPr>
                  <a:t> y </a:t>
                </a:r>
                <a:r>
                  <a:rPr lang="es-AR" sz="1600" dirty="0" err="1">
                    <a:latin typeface="Bahnschrift" panose="020B0502040204020203" pitchFamily="34" charset="0"/>
                  </a:rPr>
                  <a:t>qq</a:t>
                </a:r>
                <a:r>
                  <a:rPr lang="es-AR" sz="1600" dirty="0">
                    <a:latin typeface="Bahnschrift" panose="020B0502040204020203" pitchFamily="34" charset="0"/>
                  </a:rPr>
                  <a:t> por ambos extremos del vector V</a:t>
                </a:r>
                <a:r>
                  <a:rPr lang="es-AR" sz="1600" baseline="-25000" dirty="0">
                    <a:latin typeface="Bahnschrift" panose="020B0502040204020203" pitchFamily="34" charset="0"/>
                  </a:rPr>
                  <a:t>A</a:t>
                </a:r>
                <a:r>
                  <a:rPr lang="es-AR" sz="1600" dirty="0">
                    <a:latin typeface="Bahnschrift" panose="020B0502040204020203" pitchFamily="34" charset="0"/>
                  </a:rPr>
                  <a:t> determinan el modulo y la dirección de los vectores desconocidos V</a:t>
                </a:r>
                <a:r>
                  <a:rPr lang="es-AR" sz="1600" baseline="-25000" dirty="0">
                    <a:latin typeface="Bahnschrift" panose="020B0502040204020203" pitchFamily="34" charset="0"/>
                  </a:rPr>
                  <a:t>BA</a:t>
                </a:r>
                <a:r>
                  <a:rPr lang="es-AR" sz="1600" dirty="0">
                    <a:latin typeface="Bahnschrift" panose="020B0502040204020203" pitchFamily="34" charset="0"/>
                  </a:rPr>
                  <a:t> y V</a:t>
                </a:r>
                <a:r>
                  <a:rPr lang="es-AR" sz="1600" baseline="-25000" dirty="0">
                    <a:latin typeface="Bahnschrift" panose="020B0502040204020203" pitchFamily="34" charset="0"/>
                  </a:rPr>
                  <a:t>B</a:t>
                </a:r>
                <a:r>
                  <a:rPr lang="es-AR" sz="1600" dirty="0">
                    <a:latin typeface="Bahnschrift" panose="020B0502040204020203" pitchFamily="34" charset="0"/>
                  </a:rPr>
                  <a:t>, de los cuales, una vez obtenidos sus módulos, se determinan los valores de las velocidades angulares a través de las ecuaciones </a:t>
                </a:r>
                <a14:m>
                  <m:oMath xmlns:m="http://schemas.openxmlformats.org/officeDocument/2006/math">
                    <m:sSub>
                      <m:sSubPr>
                        <m:ctrlPr>
                          <a:rPr lang="en-US" sz="1600" b="0" i="1" smtClean="0">
                            <a:latin typeface="Cambria Math" panose="02040503050406030204" pitchFamily="18" charset="0"/>
                            <a:ea typeface="Cambria Math" panose="02040503050406030204" pitchFamily="18" charset="0"/>
                          </a:rPr>
                        </m:ctrlPr>
                      </m:sSubPr>
                      <m:e>
                        <m:r>
                          <a:rPr lang="es-AR" sz="1600" i="1" smtClean="0">
                            <a:latin typeface="Cambria Math" panose="02040503050406030204" pitchFamily="18" charset="0"/>
                            <a:ea typeface="Cambria Math" panose="02040503050406030204" pitchFamily="18" charset="0"/>
                          </a:rPr>
                          <m:t>𝜔</m:t>
                        </m:r>
                      </m:e>
                      <m:sub>
                        <m:r>
                          <a:rPr lang="en-US" sz="1600" b="0" i="1" smtClean="0">
                            <a:latin typeface="Cambria Math" panose="02040503050406030204" pitchFamily="18" charset="0"/>
                            <a:ea typeface="Cambria Math" panose="02040503050406030204" pitchFamily="18" charset="0"/>
                          </a:rPr>
                          <m:t>4</m:t>
                        </m:r>
                      </m:sub>
                    </m:sSub>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𝑣</m:t>
                            </m:r>
                          </m:e>
                          <m:sub>
                            <m:r>
                              <a:rPr lang="en-US" sz="1600" b="0" i="1" smtClean="0">
                                <a:latin typeface="Cambria Math" panose="02040503050406030204" pitchFamily="18" charset="0"/>
                                <a:ea typeface="Cambria Math" panose="02040503050406030204" pitchFamily="18" charset="0"/>
                              </a:rPr>
                              <m:t>𝐵</m:t>
                            </m:r>
                          </m:sub>
                        </m:sSub>
                      </m:num>
                      <m:den>
                        <m:r>
                          <a:rPr lang="en-US" sz="1600" b="0" i="1" smtClean="0">
                            <a:latin typeface="Cambria Math" panose="02040503050406030204" pitchFamily="18" charset="0"/>
                            <a:ea typeface="Cambria Math" panose="02040503050406030204" pitchFamily="18" charset="0"/>
                          </a:rPr>
                          <m:t>𝐵</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𝑂</m:t>
                            </m:r>
                          </m:e>
                          <m:sub>
                            <m:r>
                              <a:rPr lang="en-US" sz="1600" b="0" i="1" smtClean="0">
                                <a:latin typeface="Cambria Math" panose="02040503050406030204" pitchFamily="18" charset="0"/>
                                <a:ea typeface="Cambria Math" panose="02040503050406030204" pitchFamily="18" charset="0"/>
                              </a:rPr>
                              <m:t>4</m:t>
                            </m:r>
                          </m:sub>
                        </m:sSub>
                      </m:den>
                    </m:f>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𝑦</m:t>
                    </m:r>
                    <m:r>
                      <a:rPr lang="en-US" sz="1600" b="0" i="1" smtClean="0">
                        <a:latin typeface="Cambria Math" panose="02040503050406030204" pitchFamily="18" charset="0"/>
                        <a:ea typeface="Cambria Math" panose="02040503050406030204" pitchFamily="18" charset="0"/>
                      </a:rPr>
                      <m:t> </m:t>
                    </m:r>
                    <m:sSub>
                      <m:sSubPr>
                        <m:ctrlPr>
                          <a:rPr lang="en-US" sz="1600" i="1">
                            <a:latin typeface="Cambria Math" panose="02040503050406030204" pitchFamily="18" charset="0"/>
                            <a:ea typeface="Cambria Math" panose="02040503050406030204" pitchFamily="18" charset="0"/>
                          </a:rPr>
                        </m:ctrlPr>
                      </m:sSubPr>
                      <m:e>
                        <m:r>
                          <a:rPr lang="es-AR" sz="1600" i="1">
                            <a:latin typeface="Cambria Math" panose="02040503050406030204" pitchFamily="18" charset="0"/>
                            <a:ea typeface="Cambria Math" panose="02040503050406030204" pitchFamily="18" charset="0"/>
                          </a:rPr>
                          <m:t>𝜔</m:t>
                        </m:r>
                      </m:e>
                      <m:sub>
                        <m:r>
                          <a:rPr lang="en-US" sz="1600" b="0" i="1" smtClean="0">
                            <a:latin typeface="Cambria Math" panose="02040503050406030204" pitchFamily="18" charset="0"/>
                            <a:ea typeface="Cambria Math" panose="02040503050406030204" pitchFamily="18" charset="0"/>
                          </a:rPr>
                          <m:t>3</m:t>
                        </m:r>
                      </m:sub>
                    </m:sSub>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𝑣</m:t>
                            </m:r>
                          </m:e>
                          <m:sub>
                            <m:r>
                              <a:rPr lang="en-US" sz="1600" i="1">
                                <a:latin typeface="Cambria Math" panose="02040503050406030204" pitchFamily="18" charset="0"/>
                                <a:ea typeface="Cambria Math" panose="02040503050406030204" pitchFamily="18" charset="0"/>
                              </a:rPr>
                              <m:t>𝐵</m:t>
                            </m:r>
                            <m:r>
                              <a:rPr lang="en-US" sz="1600" b="0" i="1" smtClean="0">
                                <a:latin typeface="Cambria Math" panose="02040503050406030204" pitchFamily="18" charset="0"/>
                                <a:ea typeface="Cambria Math" panose="02040503050406030204" pitchFamily="18" charset="0"/>
                              </a:rPr>
                              <m:t>𝐴</m:t>
                            </m:r>
                          </m:sub>
                        </m:sSub>
                      </m:num>
                      <m:den>
                        <m:r>
                          <a:rPr lang="en-US" sz="1600" i="1">
                            <a:latin typeface="Cambria Math" panose="02040503050406030204" pitchFamily="18" charset="0"/>
                            <a:ea typeface="Cambria Math" panose="02040503050406030204" pitchFamily="18" charset="0"/>
                          </a:rPr>
                          <m:t>𝐵</m:t>
                        </m:r>
                        <m:r>
                          <a:rPr lang="en-US" sz="1600" b="0" i="1" smtClean="0">
                            <a:latin typeface="Cambria Math" panose="02040503050406030204" pitchFamily="18" charset="0"/>
                            <a:ea typeface="Cambria Math" panose="02040503050406030204" pitchFamily="18" charset="0"/>
                          </a:rPr>
                          <m:t>𝐴</m:t>
                        </m:r>
                      </m:den>
                    </m:f>
                  </m:oMath>
                </a14:m>
                <a:endParaRPr lang="es-AR" sz="1600" b="1" dirty="0">
                  <a:latin typeface="Bahnschrift" panose="020B0502040204020203" pitchFamily="34" charset="0"/>
                </a:endParaRPr>
              </a:p>
            </p:txBody>
          </p:sp>
        </mc:Choice>
        <mc:Fallback xmlns="">
          <p:sp>
            <p:nvSpPr>
              <p:cNvPr id="35" name="Marcador de contenido 2">
                <a:extLst>
                  <a:ext uri="{FF2B5EF4-FFF2-40B4-BE49-F238E27FC236}">
                    <a16:creationId xmlns:a16="http://schemas.microsoft.com/office/drawing/2014/main" id="{A03E7AF1-DC34-43FA-8C81-83D1C4D61808}"/>
                  </a:ext>
                </a:extLst>
              </p:cNvPr>
              <p:cNvSpPr txBox="1">
                <a:spLocks noRot="1" noChangeAspect="1" noMove="1" noResize="1" noEditPoints="1" noAdjustHandles="1" noChangeArrowheads="1" noChangeShapeType="1" noTextEdit="1"/>
              </p:cNvSpPr>
              <p:nvPr/>
            </p:nvSpPr>
            <p:spPr>
              <a:xfrm>
                <a:off x="247199" y="1331895"/>
                <a:ext cx="10647322" cy="668539"/>
              </a:xfrm>
              <a:prstGeom prst="rect">
                <a:avLst/>
              </a:prstGeom>
              <a:blipFill>
                <a:blip r:embed="rId2"/>
                <a:stretch>
                  <a:fillRect l="-344" t="-4545" r="-286" b="-32727"/>
                </a:stretch>
              </a:blipFill>
            </p:spPr>
            <p:txBody>
              <a:bodyPr/>
              <a:lstStyle/>
              <a:p>
                <a:r>
                  <a:rPr lang="es-AR">
                    <a:noFill/>
                  </a:rPr>
                  <a:t> </a:t>
                </a:r>
              </a:p>
            </p:txBody>
          </p:sp>
        </mc:Fallback>
      </mc:AlternateContent>
      <p:sp>
        <p:nvSpPr>
          <p:cNvPr id="31" name="Marcador de contenido 2">
            <a:extLst>
              <a:ext uri="{FF2B5EF4-FFF2-40B4-BE49-F238E27FC236}">
                <a16:creationId xmlns:a16="http://schemas.microsoft.com/office/drawing/2014/main" id="{C8A27FE7-7DAB-4038-9588-B1D2149D5EE6}"/>
              </a:ext>
            </a:extLst>
          </p:cNvPr>
          <p:cNvSpPr txBox="1">
            <a:spLocks/>
          </p:cNvSpPr>
          <p:nvPr/>
        </p:nvSpPr>
        <p:spPr>
          <a:xfrm>
            <a:off x="247199" y="1339006"/>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2. Encontrada la velocidad del punto A, se estudia el punto B, pues se encuentra en el mismo eslabón que A, aplicando la ecuación de diferencia de velocidades. Dicha ecuación soporta SOLO DOS INCOGNITAS. En este caso se conoce MODULO Y DIRECCION de V</a:t>
            </a:r>
            <a:r>
              <a:rPr lang="es-AR" sz="1600" baseline="-25000" dirty="0">
                <a:latin typeface="Bahnschrift" panose="020B0502040204020203" pitchFamily="34" charset="0"/>
              </a:rPr>
              <a:t>A</a:t>
            </a:r>
            <a:r>
              <a:rPr lang="es-AR" sz="1600" dirty="0">
                <a:latin typeface="Bahnschrift" panose="020B0502040204020203" pitchFamily="34" charset="0"/>
              </a:rPr>
              <a:t> y DIRECCION de V</a:t>
            </a:r>
            <a:r>
              <a:rPr lang="es-AR" sz="1600" baseline="-25000" dirty="0">
                <a:latin typeface="Bahnschrift" panose="020B0502040204020203" pitchFamily="34" charset="0"/>
              </a:rPr>
              <a:t>BA</a:t>
            </a:r>
            <a:r>
              <a:rPr lang="es-AR" sz="1600" dirty="0">
                <a:latin typeface="Bahnschrift" panose="020B0502040204020203" pitchFamily="34" charset="0"/>
              </a:rPr>
              <a:t> (pero no su modulo), además no se conoce ni modulo ni dirección de V</a:t>
            </a:r>
            <a:r>
              <a:rPr lang="es-AR" sz="1600" baseline="-25000" dirty="0">
                <a:latin typeface="Bahnschrift" panose="020B0502040204020203" pitchFamily="34" charset="0"/>
              </a:rPr>
              <a:t>B</a:t>
            </a:r>
            <a:r>
              <a:rPr lang="es-AR" sz="1600" dirty="0">
                <a:latin typeface="Bahnschrift" panose="020B0502040204020203" pitchFamily="34" charset="0"/>
              </a:rPr>
              <a:t> (absoluta). Por lo tanto se tienen 3 incógnitas. Entonces se grafica la dirección </a:t>
            </a:r>
            <a:r>
              <a:rPr lang="es-AR" sz="1600" b="1" dirty="0" err="1">
                <a:latin typeface="Bahnschrift" panose="020B0502040204020203" pitchFamily="34" charset="0"/>
              </a:rPr>
              <a:t>qq</a:t>
            </a:r>
            <a:r>
              <a:rPr lang="es-AR" sz="1600" dirty="0">
                <a:latin typeface="Bahnschrift" panose="020B0502040204020203" pitchFamily="34" charset="0"/>
              </a:rPr>
              <a:t> del vector V</a:t>
            </a:r>
            <a:r>
              <a:rPr lang="es-AR" sz="1600" baseline="-25000" dirty="0">
                <a:latin typeface="Bahnschrift" panose="020B0502040204020203" pitchFamily="34" charset="0"/>
              </a:rPr>
              <a:t>BA</a:t>
            </a:r>
            <a:r>
              <a:rPr lang="es-AR" sz="1600" dirty="0">
                <a:latin typeface="Bahnschrift" panose="020B0502040204020203" pitchFamily="34" charset="0"/>
              </a:rPr>
              <a:t> cuya dirección es perpendicular a la barra BA, pues la barra es rígida. </a:t>
            </a:r>
          </a:p>
        </p:txBody>
      </p:sp>
      <p:sp>
        <p:nvSpPr>
          <p:cNvPr id="32" name="Marcador de contenido 2">
            <a:extLst>
              <a:ext uri="{FF2B5EF4-FFF2-40B4-BE49-F238E27FC236}">
                <a16:creationId xmlns:a16="http://schemas.microsoft.com/office/drawing/2014/main" id="{79A63B2B-C469-4507-8696-4EE4A31D9DBE}"/>
              </a:ext>
            </a:extLst>
          </p:cNvPr>
          <p:cNvSpPr txBox="1">
            <a:spLocks/>
          </p:cNvSpPr>
          <p:nvPr/>
        </p:nvSpPr>
        <p:spPr>
          <a:xfrm>
            <a:off x="247199" y="1336281"/>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3. Debido a que se tienen mas incógnitas que ecuaciones, se deberá plantear otra ecuación de la velocidad de B vista desde otro punto con datos conocidos. Este punto es el pivote fijo O</a:t>
            </a:r>
            <a:r>
              <a:rPr lang="es-AR" sz="1600" baseline="-25000" dirty="0">
                <a:latin typeface="Bahnschrift" panose="020B0502040204020203" pitchFamily="34" charset="0"/>
              </a:rPr>
              <a:t>4</a:t>
            </a:r>
            <a:r>
              <a:rPr lang="es-AR" sz="1600" dirty="0">
                <a:latin typeface="Bahnschrift" panose="020B0502040204020203" pitchFamily="34" charset="0"/>
              </a:rPr>
              <a:t> de la barra O</a:t>
            </a:r>
            <a:r>
              <a:rPr lang="es-AR" sz="1600" baseline="-25000" dirty="0">
                <a:latin typeface="Bahnschrift" panose="020B0502040204020203" pitchFamily="34" charset="0"/>
              </a:rPr>
              <a:t>4</a:t>
            </a:r>
            <a:r>
              <a:rPr lang="es-AR" sz="1600" dirty="0">
                <a:latin typeface="Bahnschrift" panose="020B0502040204020203" pitchFamily="34" charset="0"/>
              </a:rPr>
              <a:t>B al cual también pertenece el punto B. En esta ecuación, V</a:t>
            </a:r>
            <a:r>
              <a:rPr lang="es-AR" sz="1600" baseline="-25000" dirty="0">
                <a:latin typeface="Bahnschrift" panose="020B0502040204020203" pitchFamily="34" charset="0"/>
              </a:rPr>
              <a:t>O4</a:t>
            </a:r>
            <a:r>
              <a:rPr lang="es-AR" sz="1600" dirty="0">
                <a:latin typeface="Bahnschrift" panose="020B0502040204020203" pitchFamily="34" charset="0"/>
              </a:rPr>
              <a:t> es cero, y de V</a:t>
            </a:r>
            <a:r>
              <a:rPr lang="es-AR" sz="1600" baseline="-25000" dirty="0">
                <a:latin typeface="Bahnschrift" panose="020B0502040204020203" pitchFamily="34" charset="0"/>
              </a:rPr>
              <a:t>BO4</a:t>
            </a:r>
            <a:r>
              <a:rPr lang="es-AR" sz="1600" dirty="0">
                <a:latin typeface="Bahnschrift" panose="020B0502040204020203" pitchFamily="34" charset="0"/>
              </a:rPr>
              <a:t> se conoce solo su dirección </a:t>
            </a:r>
            <a:r>
              <a:rPr lang="es-AR" sz="1600" b="1" dirty="0" err="1">
                <a:latin typeface="Bahnschrift" panose="020B0502040204020203" pitchFamily="34" charset="0"/>
              </a:rPr>
              <a:t>pp</a:t>
            </a:r>
            <a:r>
              <a:rPr lang="es-AR" sz="1600" dirty="0">
                <a:latin typeface="Bahnschrift" panose="020B0502040204020203" pitchFamily="34" charset="0"/>
              </a:rPr>
              <a:t> la cual se traza en la grafica perpendicular a la barra O</a:t>
            </a:r>
            <a:r>
              <a:rPr lang="es-AR" sz="1600" baseline="-25000" dirty="0">
                <a:latin typeface="Bahnschrift" panose="020B0502040204020203" pitchFamily="34" charset="0"/>
              </a:rPr>
              <a:t>4</a:t>
            </a:r>
            <a:r>
              <a:rPr lang="es-AR" sz="1600" dirty="0">
                <a:latin typeface="Bahnschrift" panose="020B0502040204020203" pitchFamily="34" charset="0"/>
              </a:rPr>
              <a:t>B.</a:t>
            </a:r>
            <a:endParaRPr lang="es-AR" sz="1600" b="1"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36" name="Marcador de contenido 2">
                <a:extLst>
                  <a:ext uri="{FF2B5EF4-FFF2-40B4-BE49-F238E27FC236}">
                    <a16:creationId xmlns:a16="http://schemas.microsoft.com/office/drawing/2014/main" id="{A583A31B-FDAD-4C8D-AEAE-F223A4BA732B}"/>
                  </a:ext>
                </a:extLst>
              </p:cNvPr>
              <p:cNvSpPr txBox="1">
                <a:spLocks/>
              </p:cNvSpPr>
              <p:nvPr/>
            </p:nvSpPr>
            <p:spPr>
              <a:xfrm>
                <a:off x="247199" y="1341450"/>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5. Finalmente se determina la velocidad del punto C, V</a:t>
                </a:r>
                <a:r>
                  <a:rPr lang="es-AR" sz="1600" baseline="-25000" dirty="0">
                    <a:latin typeface="Bahnschrift" panose="020B0502040204020203" pitchFamily="34" charset="0"/>
                  </a:rPr>
                  <a:t>C</a:t>
                </a:r>
                <a:r>
                  <a:rPr lang="es-AR" sz="1600" dirty="0">
                    <a:latin typeface="Bahnschrift" panose="020B0502040204020203" pitchFamily="34" charset="0"/>
                  </a:rPr>
                  <a:t>, a través de la ecuación de diferencia de velocidades y tomando como base el punto A. De la ecuación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𝐶</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𝐴</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𝐶𝐴</m:t>
                        </m:r>
                      </m:sub>
                    </m:sSub>
                  </m:oMath>
                </a14:m>
                <a:r>
                  <a:rPr lang="es-AR" sz="1600" dirty="0">
                    <a:latin typeface="Bahnschrift" panose="020B0502040204020203" pitchFamily="34" charset="0"/>
                  </a:rPr>
                  <a:t> donde las 2 incógnitas (modulo y dirección) se pertenecen a la velocidad V</a:t>
                </a:r>
                <a:r>
                  <a:rPr lang="es-AR" sz="1600" baseline="-25000" dirty="0">
                    <a:latin typeface="Bahnschrift" panose="020B0502040204020203" pitchFamily="34" charset="0"/>
                  </a:rPr>
                  <a:t>C</a:t>
                </a:r>
                <a:r>
                  <a:rPr lang="es-AR" sz="1600" dirty="0">
                    <a:latin typeface="Bahnschrift" panose="020B0502040204020203" pitchFamily="34" charset="0"/>
                  </a:rPr>
                  <a:t> las cuales se encuentran como suma vectorial.</a:t>
                </a:r>
                <a:endParaRPr lang="es-AR" sz="1600" b="1" dirty="0">
                  <a:latin typeface="Bahnschrift" panose="020B0502040204020203" pitchFamily="34" charset="0"/>
                </a:endParaRPr>
              </a:p>
            </p:txBody>
          </p:sp>
        </mc:Choice>
        <mc:Fallback xmlns="">
          <p:sp>
            <p:nvSpPr>
              <p:cNvPr id="36" name="Marcador de contenido 2">
                <a:extLst>
                  <a:ext uri="{FF2B5EF4-FFF2-40B4-BE49-F238E27FC236}">
                    <a16:creationId xmlns:a16="http://schemas.microsoft.com/office/drawing/2014/main" id="{A583A31B-FDAD-4C8D-AEAE-F223A4BA732B}"/>
                  </a:ext>
                </a:extLst>
              </p:cNvPr>
              <p:cNvSpPr txBox="1">
                <a:spLocks noRot="1" noChangeAspect="1" noMove="1" noResize="1" noEditPoints="1" noAdjustHandles="1" noChangeArrowheads="1" noChangeShapeType="1" noTextEdit="1"/>
              </p:cNvSpPr>
              <p:nvPr/>
            </p:nvSpPr>
            <p:spPr>
              <a:xfrm>
                <a:off x="247199" y="1341450"/>
                <a:ext cx="10647322" cy="668539"/>
              </a:xfrm>
              <a:prstGeom prst="rect">
                <a:avLst/>
              </a:prstGeom>
              <a:blipFill>
                <a:blip r:embed="rId3"/>
                <a:stretch>
                  <a:fillRect l="-344" t="-4545" r="-286" b="-29091"/>
                </a:stretch>
              </a:blipFill>
            </p:spPr>
            <p:txBody>
              <a:bodyPr/>
              <a:lstStyle/>
              <a:p>
                <a:r>
                  <a:rPr lang="es-AR">
                    <a:noFill/>
                  </a:rPr>
                  <a:t> </a:t>
                </a:r>
              </a:p>
            </p:txBody>
          </p:sp>
        </mc:Fallback>
      </mc:AlternateContent>
      <p:sp>
        <p:nvSpPr>
          <p:cNvPr id="37" name="Marcador de contenido 2">
            <a:extLst>
              <a:ext uri="{FF2B5EF4-FFF2-40B4-BE49-F238E27FC236}">
                <a16:creationId xmlns:a16="http://schemas.microsoft.com/office/drawing/2014/main" id="{47A7DBB0-CB44-43A1-BB31-FF388CB1E515}"/>
              </a:ext>
            </a:extLst>
          </p:cNvPr>
          <p:cNvSpPr txBox="1">
            <a:spLocks/>
          </p:cNvSpPr>
          <p:nvPr/>
        </p:nvSpPr>
        <p:spPr>
          <a:xfrm>
            <a:off x="247199" y="1339005"/>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n-US" sz="1600" dirty="0">
                <a:latin typeface="Bahnschrift" panose="020B0502040204020203" pitchFamily="34" charset="0"/>
              </a:rPr>
              <a:t>6. Se </a:t>
            </a:r>
            <a:r>
              <a:rPr lang="en-US" sz="1600" dirty="0" err="1">
                <a:latin typeface="Bahnschrift" panose="020B0502040204020203" pitchFamily="34" charset="0"/>
              </a:rPr>
              <a:t>obtiene</a:t>
            </a:r>
            <a:r>
              <a:rPr lang="en-US" sz="1600" dirty="0">
                <a:latin typeface="Bahnschrift" panose="020B0502040204020203" pitchFamily="34" charset="0"/>
              </a:rPr>
              <a:t> por </a:t>
            </a:r>
            <a:r>
              <a:rPr lang="en-US" sz="1600" dirty="0" err="1">
                <a:latin typeface="Bahnschrift" panose="020B0502040204020203" pitchFamily="34" charset="0"/>
              </a:rPr>
              <a:t>suma</a:t>
            </a:r>
            <a:r>
              <a:rPr lang="en-US" sz="1600" dirty="0">
                <a:latin typeface="Bahnschrift" panose="020B0502040204020203" pitchFamily="34" charset="0"/>
              </a:rPr>
              <a:t> vectorial el modulo de V</a:t>
            </a:r>
            <a:r>
              <a:rPr lang="en-US" sz="1600" baseline="-25000" dirty="0">
                <a:latin typeface="Bahnschrift" panose="020B0502040204020203" pitchFamily="34" charset="0"/>
              </a:rPr>
              <a:t>C</a:t>
            </a:r>
            <a:r>
              <a:rPr lang="en-US" sz="1600" dirty="0">
                <a:latin typeface="Bahnschrift" panose="020B0502040204020203" pitchFamily="34" charset="0"/>
              </a:rPr>
              <a:t>. Este modulo </a:t>
            </a:r>
            <a:r>
              <a:rPr lang="en-US" sz="1600" dirty="0" err="1">
                <a:latin typeface="Bahnschrift" panose="020B0502040204020203" pitchFamily="34" charset="0"/>
              </a:rPr>
              <a:t>debera</a:t>
            </a:r>
            <a:r>
              <a:rPr lang="en-US" sz="1600" dirty="0">
                <a:latin typeface="Bahnschrift" panose="020B0502040204020203" pitchFamily="34" charset="0"/>
              </a:rPr>
              <a:t> </a:t>
            </a:r>
            <a:r>
              <a:rPr lang="en-US" sz="1600" dirty="0" err="1">
                <a:latin typeface="Bahnschrift" panose="020B0502040204020203" pitchFamily="34" charset="0"/>
              </a:rPr>
              <a:t>multiplicarse</a:t>
            </a:r>
            <a:r>
              <a:rPr lang="en-US" sz="1600" dirty="0">
                <a:latin typeface="Bahnschrift" panose="020B0502040204020203" pitchFamily="34" charset="0"/>
              </a:rPr>
              <a:t> por la </a:t>
            </a:r>
            <a:r>
              <a:rPr lang="en-US" sz="1600" dirty="0" err="1">
                <a:latin typeface="Bahnschrift" panose="020B0502040204020203" pitchFamily="34" charset="0"/>
              </a:rPr>
              <a:t>escala</a:t>
            </a:r>
            <a:r>
              <a:rPr lang="en-US" sz="1600" dirty="0">
                <a:latin typeface="Bahnschrift" panose="020B0502040204020203" pitchFamily="34" charset="0"/>
              </a:rPr>
              <a:t> </a:t>
            </a:r>
            <a:r>
              <a:rPr lang="en-US" sz="1600" dirty="0" err="1">
                <a:latin typeface="Bahnschrift" panose="020B0502040204020203" pitchFamily="34" charset="0"/>
              </a:rPr>
              <a:t>correspondiente</a:t>
            </a:r>
            <a:r>
              <a:rPr lang="en-US" sz="1600" dirty="0">
                <a:latin typeface="Bahnschrift" panose="020B0502040204020203" pitchFamily="34" charset="0"/>
              </a:rPr>
              <a:t> para </a:t>
            </a:r>
            <a:r>
              <a:rPr lang="en-US" sz="1600" dirty="0" err="1">
                <a:latin typeface="Bahnschrift" panose="020B0502040204020203" pitchFamily="34" charset="0"/>
              </a:rPr>
              <a:t>obtener</a:t>
            </a:r>
            <a:r>
              <a:rPr lang="en-US" sz="1600" dirty="0">
                <a:latin typeface="Bahnschrift" panose="020B0502040204020203" pitchFamily="34" charset="0"/>
              </a:rPr>
              <a:t> el valor </a:t>
            </a:r>
            <a:r>
              <a:rPr lang="en-US" sz="1600" dirty="0" err="1">
                <a:latin typeface="Bahnschrift" panose="020B0502040204020203" pitchFamily="34" charset="0"/>
              </a:rPr>
              <a:t>en</a:t>
            </a:r>
            <a:r>
              <a:rPr lang="en-US" sz="1600" dirty="0">
                <a:latin typeface="Bahnschrift" panose="020B0502040204020203" pitchFamily="34" charset="0"/>
              </a:rPr>
              <a:t> las </a:t>
            </a:r>
            <a:r>
              <a:rPr lang="en-US" sz="1600" dirty="0" err="1">
                <a:latin typeface="Bahnschrift" panose="020B0502040204020203" pitchFamily="34" charset="0"/>
              </a:rPr>
              <a:t>unidades</a:t>
            </a:r>
            <a:r>
              <a:rPr lang="en-US" sz="1600" dirty="0">
                <a:latin typeface="Bahnschrift" panose="020B0502040204020203" pitchFamily="34" charset="0"/>
              </a:rPr>
              <a:t> </a:t>
            </a:r>
            <a:r>
              <a:rPr lang="en-US" sz="1600" dirty="0" err="1">
                <a:latin typeface="Bahnschrift" panose="020B0502040204020203" pitchFamily="34" charset="0"/>
              </a:rPr>
              <a:t>especificadas</a:t>
            </a:r>
            <a:r>
              <a:rPr lang="en-US" sz="1600" dirty="0">
                <a:latin typeface="Bahnschrift" panose="020B0502040204020203" pitchFamily="34" charset="0"/>
              </a:rPr>
              <a:t> (</a:t>
            </a:r>
            <a:r>
              <a:rPr lang="en-US" sz="1600" dirty="0" err="1">
                <a:latin typeface="Bahnschrift" panose="020B0502040204020203" pitchFamily="34" charset="0"/>
              </a:rPr>
              <a:t>ejemplo</a:t>
            </a:r>
            <a:r>
              <a:rPr lang="en-US" sz="1600" dirty="0">
                <a:latin typeface="Bahnschrift" panose="020B0502040204020203" pitchFamily="34" charset="0"/>
              </a:rPr>
              <a:t> m/s)</a:t>
            </a:r>
            <a:endParaRPr lang="es-AR" sz="1600" b="1" dirty="0">
              <a:latin typeface="Bahnschrift" panose="020B0502040204020203" pitchFamily="34" charset="0"/>
            </a:endParaRPr>
          </a:p>
        </p:txBody>
      </p:sp>
      <p:sp>
        <p:nvSpPr>
          <p:cNvPr id="5" name="Rectángulo 4">
            <a:extLst>
              <a:ext uri="{FF2B5EF4-FFF2-40B4-BE49-F238E27FC236}">
                <a16:creationId xmlns:a16="http://schemas.microsoft.com/office/drawing/2014/main" id="{2CCAE51A-2BA3-4542-9556-57577F336225}"/>
              </a:ext>
            </a:extLst>
          </p:cNvPr>
          <p:cNvSpPr/>
          <p:nvPr/>
        </p:nvSpPr>
        <p:spPr>
          <a:xfrm>
            <a:off x="-1" y="853440"/>
            <a:ext cx="6214370"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3" name="Marcador de contenido 2"/>
          <p:cNvSpPr>
            <a:spLocks noGrp="1"/>
          </p:cNvSpPr>
          <p:nvPr>
            <p:ph idx="1"/>
          </p:nvPr>
        </p:nvSpPr>
        <p:spPr>
          <a:xfrm>
            <a:off x="116312" y="830016"/>
            <a:ext cx="6346038" cy="466124"/>
          </a:xfrm>
        </p:spPr>
        <p:txBody>
          <a:bodyPr>
            <a:normAutofit/>
          </a:bodyPr>
          <a:lstStyle/>
          <a:p>
            <a:pPr marL="0" indent="0">
              <a:buNone/>
            </a:pPr>
            <a:r>
              <a:rPr lang="es-AR" sz="2400" b="1" dirty="0">
                <a:latin typeface="Bahnschrift" panose="020B0502040204020203" pitchFamily="34" charset="0"/>
              </a:rPr>
              <a:t>DETERMINACIÓN GRÁFICA DE VELOCIDAD</a:t>
            </a: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8" name="Marcador de contenido 2">
            <a:extLst>
              <a:ext uri="{FF2B5EF4-FFF2-40B4-BE49-F238E27FC236}">
                <a16:creationId xmlns:a16="http://schemas.microsoft.com/office/drawing/2014/main" id="{AEE40F1C-DF9E-40AE-9339-1185E6987420}"/>
              </a:ext>
            </a:extLst>
          </p:cNvPr>
          <p:cNvSpPr txBox="1">
            <a:spLocks/>
          </p:cNvSpPr>
          <p:nvPr/>
        </p:nvSpPr>
        <p:spPr>
          <a:xfrm>
            <a:off x="4401754" y="2507445"/>
            <a:ext cx="6492767" cy="5108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endParaRPr lang="es-AR" sz="1400" dirty="0">
              <a:latin typeface="Bahnschrift" panose="020B0502040204020203" pitchFamily="34" charset="0"/>
            </a:endParaRPr>
          </a:p>
        </p:txBody>
      </p:sp>
      <p:pic>
        <p:nvPicPr>
          <p:cNvPr id="7" name="Imagen 6" descr="Diagrama&#10;&#10;Descripción generada automáticamente">
            <a:extLst>
              <a:ext uri="{FF2B5EF4-FFF2-40B4-BE49-F238E27FC236}">
                <a16:creationId xmlns:a16="http://schemas.microsoft.com/office/drawing/2014/main" id="{55C179E0-F08C-48E2-92CF-051D07B5D7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8368" y="2580003"/>
            <a:ext cx="8635106" cy="4262482"/>
          </a:xfrm>
          <a:prstGeom prst="rect">
            <a:avLst/>
          </a:prstGeom>
        </p:spPr>
      </p:pic>
      <p:pic>
        <p:nvPicPr>
          <p:cNvPr id="14" name="Imagen 13" descr="Gráfico, Gráfico radial&#10;&#10;Descripción generada automáticamente">
            <a:extLst>
              <a:ext uri="{FF2B5EF4-FFF2-40B4-BE49-F238E27FC236}">
                <a16:creationId xmlns:a16="http://schemas.microsoft.com/office/drawing/2014/main" id="{DF87CD8C-EEB7-4F70-9E49-D0C4136653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8368" y="2580003"/>
            <a:ext cx="8635106" cy="4262482"/>
          </a:xfrm>
          <a:prstGeom prst="rect">
            <a:avLst/>
          </a:prstGeom>
        </p:spPr>
      </p:pic>
      <p:pic>
        <p:nvPicPr>
          <p:cNvPr id="16" name="Imagen 15" descr="Gráfico, Gráfico radial&#10;&#10;Descripción generada automáticamente">
            <a:extLst>
              <a:ext uri="{FF2B5EF4-FFF2-40B4-BE49-F238E27FC236}">
                <a16:creationId xmlns:a16="http://schemas.microsoft.com/office/drawing/2014/main" id="{BF23904E-2C45-4407-8A0D-5D5EED0DE4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8367" y="2582785"/>
            <a:ext cx="8635107" cy="4256975"/>
          </a:xfrm>
          <a:prstGeom prst="rect">
            <a:avLst/>
          </a:prstGeom>
        </p:spPr>
      </p:pic>
      <p:pic>
        <p:nvPicPr>
          <p:cNvPr id="20" name="Imagen 19" descr="Gráfico, Gráfico radial&#10;&#10;Descripción generada automáticamente">
            <a:extLst>
              <a:ext uri="{FF2B5EF4-FFF2-40B4-BE49-F238E27FC236}">
                <a16:creationId xmlns:a16="http://schemas.microsoft.com/office/drawing/2014/main" id="{2C43DC03-99FE-4275-99D5-73AEC640A3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8367" y="2582785"/>
            <a:ext cx="8635107" cy="4256975"/>
          </a:xfrm>
          <a:prstGeom prst="rect">
            <a:avLst/>
          </a:prstGeom>
        </p:spPr>
      </p:pic>
      <p:pic>
        <p:nvPicPr>
          <p:cNvPr id="22" name="Imagen 21" descr="Gráfico, Diagrama, Gráfico radial&#10;&#10;Descripción generada automáticamente">
            <a:extLst>
              <a:ext uri="{FF2B5EF4-FFF2-40B4-BE49-F238E27FC236}">
                <a16:creationId xmlns:a16="http://schemas.microsoft.com/office/drawing/2014/main" id="{9DA49EBC-ABC5-44A9-95EE-10ED6CD01B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8367" y="2582785"/>
            <a:ext cx="8635107" cy="4256975"/>
          </a:xfrm>
          <a:prstGeom prst="rect">
            <a:avLst/>
          </a:prstGeom>
        </p:spPr>
      </p:pic>
      <p:pic>
        <p:nvPicPr>
          <p:cNvPr id="24" name="Imagen 23" descr="Diagrama&#10;&#10;Descripción generada automáticamente">
            <a:extLst>
              <a:ext uri="{FF2B5EF4-FFF2-40B4-BE49-F238E27FC236}">
                <a16:creationId xmlns:a16="http://schemas.microsoft.com/office/drawing/2014/main" id="{E965B062-0489-4064-BCDB-E4C35633BA0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88367" y="2582785"/>
            <a:ext cx="8635107" cy="4256975"/>
          </a:xfrm>
          <a:prstGeom prst="rect">
            <a:avLst/>
          </a:prstGeom>
        </p:spPr>
      </p:pic>
      <p:sp>
        <p:nvSpPr>
          <p:cNvPr id="27" name="Marcador de contenido 2">
            <a:extLst>
              <a:ext uri="{FF2B5EF4-FFF2-40B4-BE49-F238E27FC236}">
                <a16:creationId xmlns:a16="http://schemas.microsoft.com/office/drawing/2014/main" id="{2783097D-54ED-4A36-B9EA-01C434CFA345}"/>
              </a:ext>
            </a:extLst>
          </p:cNvPr>
          <p:cNvSpPr txBox="1">
            <a:spLocks/>
          </p:cNvSpPr>
          <p:nvPr/>
        </p:nvSpPr>
        <p:spPr>
          <a:xfrm>
            <a:off x="247199" y="1337927"/>
            <a:ext cx="10647322" cy="66853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s-AR" sz="1600" dirty="0">
                <a:latin typeface="Bahnschrift" panose="020B0502040204020203" pitchFamily="34" charset="0"/>
              </a:rPr>
              <a:t>1. Se comienza por el extremo del mecanismo del cual se tiene mas información. Se calcula la magnitud de la velocidad en el punto A </a:t>
            </a:r>
            <a:r>
              <a:rPr lang="es-AR" sz="1600" dirty="0" err="1">
                <a:latin typeface="Bahnschrift" panose="020B0502040204020203" pitchFamily="34" charset="0"/>
              </a:rPr>
              <a:t>a</a:t>
            </a:r>
            <a:r>
              <a:rPr lang="es-AR" sz="1600" dirty="0">
                <a:latin typeface="Bahnschrift" panose="020B0502040204020203" pitchFamily="34" charset="0"/>
              </a:rPr>
              <a:t> través de la ecuación de diferencia de velocidades. Se traza el vector V</a:t>
            </a:r>
            <a:r>
              <a:rPr lang="es-AR" sz="1600" baseline="-25000" dirty="0">
                <a:latin typeface="Bahnschrift" panose="020B0502040204020203" pitchFamily="34" charset="0"/>
              </a:rPr>
              <a:t>A</a:t>
            </a:r>
            <a:r>
              <a:rPr lang="es-AR" sz="1600" dirty="0">
                <a:latin typeface="Bahnschrift" panose="020B0502040204020203" pitchFamily="34" charset="0"/>
              </a:rPr>
              <a:t> con su dirección y modulo en la figura, utilizando una escala adecuada, </a:t>
            </a:r>
            <a:r>
              <a:rPr lang="es-AR" sz="1600" dirty="0" err="1">
                <a:latin typeface="Bahnschrift" panose="020B0502040204020203" pitchFamily="34" charset="0"/>
              </a:rPr>
              <a:t>expreseada</a:t>
            </a:r>
            <a:r>
              <a:rPr lang="es-AR" sz="1600" dirty="0">
                <a:latin typeface="Bahnschrift" panose="020B0502040204020203" pitchFamily="34" charset="0"/>
              </a:rPr>
              <a:t> en , por ejemplo, 1cm </a:t>
            </a:r>
            <a:r>
              <a:rPr lang="es-AR" sz="1600" dirty="0">
                <a:latin typeface="Bahnschrift" panose="020B0502040204020203" pitchFamily="34" charset="0"/>
                <a:sym typeface="Wingdings" panose="05000000000000000000" pitchFamily="2" charset="2"/>
              </a:rPr>
              <a:t> 0.5m/s.</a:t>
            </a:r>
            <a:endParaRPr lang="es-AR" sz="16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1D5A8114-EF59-4117-BE30-BA0046479852}"/>
                  </a:ext>
                </a:extLst>
              </p:cNvPr>
              <p:cNvSpPr txBox="1"/>
              <p:nvPr/>
            </p:nvSpPr>
            <p:spPr>
              <a:xfrm>
                <a:off x="4755252" y="2742580"/>
                <a:ext cx="14591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𝐵</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𝐵𝐴</m:t>
                              </m:r>
                            </m:sub>
                          </m:sSub>
                        </m:e>
                      </m:acc>
                    </m:oMath>
                  </m:oMathPara>
                </a14:m>
                <a:endParaRPr lang="es-AR" dirty="0"/>
              </a:p>
            </p:txBody>
          </p:sp>
        </mc:Choice>
        <mc:Fallback xmlns="">
          <p:sp>
            <p:nvSpPr>
              <p:cNvPr id="26" name="CuadroTexto 25">
                <a:extLst>
                  <a:ext uri="{FF2B5EF4-FFF2-40B4-BE49-F238E27FC236}">
                    <a16:creationId xmlns:a16="http://schemas.microsoft.com/office/drawing/2014/main" id="{1D5A8114-EF59-4117-BE30-BA0046479852}"/>
                  </a:ext>
                </a:extLst>
              </p:cNvPr>
              <p:cNvSpPr txBox="1">
                <a:spLocks noRot="1" noChangeAspect="1" noMove="1" noResize="1" noEditPoints="1" noAdjustHandles="1" noChangeArrowheads="1" noChangeShapeType="1" noTextEdit="1"/>
              </p:cNvSpPr>
              <p:nvPr/>
            </p:nvSpPr>
            <p:spPr>
              <a:xfrm>
                <a:off x="4755252" y="2742580"/>
                <a:ext cx="1459117" cy="276999"/>
              </a:xfrm>
              <a:prstGeom prst="rect">
                <a:avLst/>
              </a:prstGeom>
              <a:blipFill>
                <a:blip r:embed="rId11"/>
                <a:stretch>
                  <a:fillRect l="-2929" r="-1255"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1D8F8677-64C7-4A84-BB70-C840E6C7B7CF}"/>
                  </a:ext>
                </a:extLst>
              </p:cNvPr>
              <p:cNvSpPr txBox="1"/>
              <p:nvPr/>
            </p:nvSpPr>
            <p:spPr>
              <a:xfrm>
                <a:off x="4755252" y="2739855"/>
                <a:ext cx="1725793" cy="3069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𝐵</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𝐵</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4</m:t>
                                  </m:r>
                                </m:sub>
                              </m:sSub>
                            </m:sub>
                          </m:sSub>
                        </m:e>
                      </m:acc>
                    </m:oMath>
                  </m:oMathPara>
                </a14:m>
                <a:endParaRPr lang="es-AR" dirty="0"/>
              </a:p>
            </p:txBody>
          </p:sp>
        </mc:Choice>
        <mc:Fallback xmlns="">
          <p:sp>
            <p:nvSpPr>
              <p:cNvPr id="34" name="CuadroTexto 33">
                <a:extLst>
                  <a:ext uri="{FF2B5EF4-FFF2-40B4-BE49-F238E27FC236}">
                    <a16:creationId xmlns:a16="http://schemas.microsoft.com/office/drawing/2014/main" id="{1D8F8677-64C7-4A84-BB70-C840E6C7B7CF}"/>
                  </a:ext>
                </a:extLst>
              </p:cNvPr>
              <p:cNvSpPr txBox="1">
                <a:spLocks noRot="1" noChangeAspect="1" noMove="1" noResize="1" noEditPoints="1" noAdjustHandles="1" noChangeArrowheads="1" noChangeShapeType="1" noTextEdit="1"/>
              </p:cNvSpPr>
              <p:nvPr/>
            </p:nvSpPr>
            <p:spPr>
              <a:xfrm>
                <a:off x="4755252" y="2739855"/>
                <a:ext cx="1725793" cy="306944"/>
              </a:xfrm>
              <a:prstGeom prst="rect">
                <a:avLst/>
              </a:prstGeom>
              <a:blipFill>
                <a:blip r:embed="rId12"/>
                <a:stretch>
                  <a:fillRect l="-2120" b="-25490"/>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B9AAA8C0-F098-4D73-B890-5C64E256C67F}"/>
                  </a:ext>
                </a:extLst>
              </p:cNvPr>
              <p:cNvSpPr txBox="1"/>
              <p:nvPr/>
            </p:nvSpPr>
            <p:spPr>
              <a:xfrm>
                <a:off x="3495668" y="2739855"/>
                <a:ext cx="4420504" cy="3069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𝐴</m:t>
                              </m:r>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𝐴</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acc>
                      <m:r>
                        <a:rPr lang="en-US" b="0" i="1" smtClean="0">
                          <a:latin typeface="Cambria Math" panose="02040503050406030204" pitchFamily="18" charset="0"/>
                          <a:ea typeface="Cambria Math" panose="02040503050406030204" pitchFamily="18" charset="0"/>
                        </a:rPr>
                        <m:t> →</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sub>
                          </m:sSub>
                        </m:e>
                      </m:acc>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2</m:t>
                                  </m:r>
                                </m:sub>
                              </m:sSub>
                            </m:sub>
                          </m:sSub>
                        </m:e>
                      </m:acc>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e>
                      </m:acc>
                      <m:r>
                        <a:rPr lang="en-US" b="0" i="1" smtClean="0">
                          <a:latin typeface="Cambria Math" panose="02040503050406030204" pitchFamily="18" charset="0"/>
                          <a:ea typeface="Cambria Math" panose="02040503050406030204" pitchFamily="18" charset="0"/>
                        </a:rPr>
                        <m:t>×</m:t>
                      </m:r>
                      <m:bar>
                        <m:barPr>
                          <m:pos m:val="top"/>
                          <m:ctrlPr>
                            <a:rPr lang="en-US" b="0" i="1" smtClean="0">
                              <a:latin typeface="Cambria Math" panose="02040503050406030204" pitchFamily="18" charset="0"/>
                              <a:ea typeface="Cambria Math" panose="02040503050406030204" pitchFamily="18" charset="0"/>
                            </a:rPr>
                          </m:ctrlPr>
                        </m:bar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𝐴</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e>
                                <m:sub>
                                  <m:r>
                                    <a:rPr lang="en-US" b="0" i="1" smtClean="0">
                                      <a:latin typeface="Cambria Math" panose="02040503050406030204" pitchFamily="18" charset="0"/>
                                      <a:ea typeface="Cambria Math" panose="02040503050406030204" pitchFamily="18" charset="0"/>
                                    </a:rPr>
                                    <m:t>2</m:t>
                                  </m:r>
                                </m:sub>
                              </m:sSub>
                            </m:sub>
                          </m:sSub>
                        </m:e>
                      </m:bar>
                    </m:oMath>
                  </m:oMathPara>
                </a14:m>
                <a:endParaRPr lang="es-AR" dirty="0"/>
              </a:p>
            </p:txBody>
          </p:sp>
        </mc:Choice>
        <mc:Fallback>
          <p:sp>
            <p:nvSpPr>
              <p:cNvPr id="21" name="CuadroTexto 20">
                <a:extLst>
                  <a:ext uri="{FF2B5EF4-FFF2-40B4-BE49-F238E27FC236}">
                    <a16:creationId xmlns:a16="http://schemas.microsoft.com/office/drawing/2014/main" id="{B9AAA8C0-F098-4D73-B890-5C64E256C67F}"/>
                  </a:ext>
                </a:extLst>
              </p:cNvPr>
              <p:cNvSpPr txBox="1">
                <a:spLocks noRot="1" noChangeAspect="1" noMove="1" noResize="1" noEditPoints="1" noAdjustHandles="1" noChangeArrowheads="1" noChangeShapeType="1" noTextEdit="1"/>
              </p:cNvSpPr>
              <p:nvPr/>
            </p:nvSpPr>
            <p:spPr>
              <a:xfrm>
                <a:off x="3495668" y="2739855"/>
                <a:ext cx="4420504" cy="306944"/>
              </a:xfrm>
              <a:prstGeom prst="rect">
                <a:avLst/>
              </a:prstGeom>
              <a:blipFill>
                <a:blip r:embed="rId13"/>
                <a:stretch>
                  <a:fillRect l="-551" b="-25490"/>
                </a:stretch>
              </a:blipFill>
            </p:spPr>
            <p:txBody>
              <a:bodyPr/>
              <a:lstStyle/>
              <a:p>
                <a:r>
                  <a:rPr lang="es-AR">
                    <a:noFill/>
                  </a:rPr>
                  <a:t> </a:t>
                </a:r>
              </a:p>
            </p:txBody>
          </p:sp>
        </mc:Fallback>
      </mc:AlternateContent>
    </p:spTree>
    <p:extLst>
      <p:ext uri="{BB962C8B-B14F-4D97-AF65-F5344CB8AC3E}">
        <p14:creationId xmlns:p14="http://schemas.microsoft.com/office/powerpoint/2010/main" val="332174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1" grpId="0"/>
      <p:bldP spid="32" grpId="0"/>
      <p:bldP spid="36" grpId="0"/>
      <p:bldP spid="37" grpId="0"/>
      <p:bldP spid="27" grpId="0"/>
      <p:bldP spid="26" grpId="0"/>
      <p:bldP spid="34"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16312" y="1371354"/>
            <a:ext cx="11149452" cy="4954690"/>
          </a:xfrm>
        </p:spPr>
        <p:txBody>
          <a:bodyPr wrap="square">
            <a:spAutoFit/>
          </a:bodyPr>
          <a:lstStyle/>
          <a:p>
            <a:pPr marL="0" indent="0" algn="just">
              <a:lnSpc>
                <a:spcPct val="120000"/>
              </a:lnSpc>
              <a:buNone/>
            </a:pPr>
            <a:r>
              <a:rPr lang="es-AR" dirty="0">
                <a:latin typeface="Bahnschrift" panose="020B0502040204020203" pitchFamily="34" charset="0"/>
              </a:rPr>
              <a:t>Un centro instantáneo de velocidad es un </a:t>
            </a:r>
            <a:r>
              <a:rPr lang="es-AR" dirty="0">
                <a:solidFill>
                  <a:srgbClr val="FF0000"/>
                </a:solidFill>
                <a:latin typeface="Bahnschrift" panose="020B0502040204020203" pitchFamily="34" charset="0"/>
              </a:rPr>
              <a:t>punto común a dos cuerpos</a:t>
            </a:r>
            <a:r>
              <a:rPr lang="es-AR" dirty="0">
                <a:latin typeface="Bahnschrift" panose="020B0502040204020203" pitchFamily="34" charset="0"/>
              </a:rPr>
              <a:t> en movimiento plano, el cual tiene la </a:t>
            </a:r>
            <a:r>
              <a:rPr lang="es-AR" dirty="0">
                <a:highlight>
                  <a:srgbClr val="FFC000"/>
                </a:highlight>
                <a:latin typeface="Bahnschrift" panose="020B0502040204020203" pitchFamily="34" charset="0"/>
              </a:rPr>
              <a:t>misma velocidad instantánea en cada cuerpo. </a:t>
            </a:r>
            <a:r>
              <a:rPr lang="es-AR" dirty="0">
                <a:latin typeface="Bahnschrift" panose="020B0502040204020203" pitchFamily="34" charset="0"/>
              </a:rPr>
              <a:t>Este concepto se aplica para la determinación de velocidades en mecanismos. La </a:t>
            </a:r>
            <a:r>
              <a:rPr lang="es-AR" dirty="0">
                <a:solidFill>
                  <a:srgbClr val="FF0000"/>
                </a:solidFill>
                <a:latin typeface="Bahnschrift" panose="020B0502040204020203" pitchFamily="34" charset="0"/>
              </a:rPr>
              <a:t>cantidad de centros instantáneos</a:t>
            </a:r>
            <a:r>
              <a:rPr lang="es-AR" dirty="0">
                <a:latin typeface="Bahnschrift" panose="020B0502040204020203" pitchFamily="34" charset="0"/>
              </a:rPr>
              <a:t> que posee un eslabonamiento surge de una ecuación estadística (</a:t>
            </a:r>
            <a:r>
              <a:rPr lang="es-AR" dirty="0">
                <a:highlight>
                  <a:srgbClr val="FFC000"/>
                </a:highlight>
                <a:latin typeface="Bahnschrift" panose="020B0502040204020203" pitchFamily="34" charset="0"/>
              </a:rPr>
              <a:t>combinación tomada de a pares</a:t>
            </a:r>
            <a:r>
              <a:rPr lang="es-AR" dirty="0">
                <a:latin typeface="Bahnschrift" panose="020B0502040204020203" pitchFamily="34" charset="0"/>
              </a:rPr>
              <a:t>), que para el caso de un eslabonamiento de 4 eslabones, tiene la forma siguiente:</a:t>
            </a:r>
          </a:p>
          <a:p>
            <a:pPr marL="0" indent="0" algn="just">
              <a:lnSpc>
                <a:spcPct val="120000"/>
              </a:lnSpc>
              <a:buNone/>
            </a:pPr>
            <a:endParaRPr lang="es-AR" dirty="0">
              <a:latin typeface="Bahnschrift" panose="020B0502040204020203" pitchFamily="34" charset="0"/>
            </a:endParaRPr>
          </a:p>
          <a:p>
            <a:pPr marL="0" indent="0" algn="just">
              <a:buNone/>
            </a:pPr>
            <a:r>
              <a:rPr lang="es-AR" dirty="0">
                <a:latin typeface="Bahnschrift" panose="020B0502040204020203" pitchFamily="34" charset="0"/>
              </a:rPr>
              <a:t>Donde n = </a:t>
            </a:r>
            <a:r>
              <a:rPr lang="es-AR" dirty="0" err="1">
                <a:latin typeface="Bahnschrift" panose="020B0502040204020203" pitchFamily="34" charset="0"/>
              </a:rPr>
              <a:t>nú</a:t>
            </a:r>
            <a:r>
              <a:rPr lang="en-US" dirty="0">
                <a:latin typeface="Bahnschrift" panose="020B0502040204020203" pitchFamily="34" charset="0"/>
              </a:rPr>
              <a:t>mero de </a:t>
            </a:r>
            <a:r>
              <a:rPr lang="en-US" dirty="0" err="1">
                <a:latin typeface="Bahnschrift" panose="020B0502040204020203" pitchFamily="34" charset="0"/>
              </a:rPr>
              <a:t>eslabones</a:t>
            </a:r>
            <a:r>
              <a:rPr lang="en-US" dirty="0">
                <a:latin typeface="Bahnschrift" panose="020B0502040204020203" pitchFamily="34" charset="0"/>
              </a:rPr>
              <a:t>.</a:t>
            </a:r>
            <a:endParaRPr lang="es-AR" dirty="0">
              <a:latin typeface="Bahnschrift" panose="020B0502040204020203" pitchFamily="34" charset="0"/>
            </a:endParaRPr>
          </a:p>
          <a:p>
            <a:pPr marL="0" indent="0" algn="just">
              <a:buNone/>
            </a:pPr>
            <a:r>
              <a:rPr lang="es-AR" dirty="0">
                <a:latin typeface="Bahnschrift" panose="020B0502040204020203" pitchFamily="34" charset="0"/>
              </a:rPr>
              <a:t>Entonces, un mecanismo de 4 eslabones posee 6 centros instantáneos, uno de 6 eslabones 15 centros instantáneos, etc.</a:t>
            </a:r>
          </a:p>
          <a:p>
            <a:pPr marL="0" indent="0" algn="just">
              <a:buNone/>
            </a:pPr>
            <a:r>
              <a:rPr lang="es-AR" dirty="0">
                <a:latin typeface="Bahnschrift" panose="020B0502040204020203" pitchFamily="34" charset="0"/>
              </a:rPr>
              <a:t>Los </a:t>
            </a:r>
            <a:r>
              <a:rPr lang="es-AR" dirty="0">
                <a:highlight>
                  <a:srgbClr val="FFC000"/>
                </a:highlight>
                <a:latin typeface="Bahnschrift" panose="020B0502040204020203" pitchFamily="34" charset="0"/>
              </a:rPr>
              <a:t>CI donde uno de los eslabones es el BASTIDOR </a:t>
            </a:r>
            <a:r>
              <a:rPr lang="es-AR" dirty="0">
                <a:latin typeface="Bahnschrift" panose="020B0502040204020203" pitchFamily="34" charset="0"/>
              </a:rPr>
              <a:t>se denominan </a:t>
            </a:r>
            <a:r>
              <a:rPr lang="es-AR" dirty="0">
                <a:solidFill>
                  <a:srgbClr val="FF0000"/>
                </a:solidFill>
                <a:latin typeface="Bahnschrift" panose="020B0502040204020203" pitchFamily="34" charset="0"/>
              </a:rPr>
              <a:t>CENTROS INSTANTANEOS DE VELOCIDAD CERO </a:t>
            </a:r>
            <a:r>
              <a:rPr lang="es-AR" dirty="0">
                <a:latin typeface="Bahnschrift" panose="020B0502040204020203" pitchFamily="34" charset="0"/>
              </a:rPr>
              <a:t>o POLOS.</a:t>
            </a:r>
          </a:p>
          <a:p>
            <a:pPr marL="0" indent="0" algn="just">
              <a:buNone/>
            </a:pPr>
            <a:r>
              <a:rPr lang="es-AR" dirty="0">
                <a:latin typeface="Bahnschrift" panose="020B0502040204020203" pitchFamily="34" charset="0"/>
              </a:rPr>
              <a:t>Los </a:t>
            </a:r>
            <a:r>
              <a:rPr lang="es-AR" dirty="0">
                <a:highlight>
                  <a:srgbClr val="FFC000"/>
                </a:highlight>
                <a:latin typeface="Bahnschrift" panose="020B0502040204020203" pitchFamily="34" charset="0"/>
              </a:rPr>
              <a:t>CI que pertenecen a dos cuerpos con movimiento </a:t>
            </a:r>
            <a:r>
              <a:rPr lang="es-AR" dirty="0">
                <a:latin typeface="Bahnschrift" panose="020B0502040204020203" pitchFamily="34" charset="0"/>
              </a:rPr>
              <a:t>se denominan </a:t>
            </a:r>
            <a:r>
              <a:rPr lang="es-AR" dirty="0">
                <a:solidFill>
                  <a:srgbClr val="FF0000"/>
                </a:solidFill>
                <a:latin typeface="Bahnschrift" panose="020B0502040204020203" pitchFamily="34" charset="0"/>
              </a:rPr>
              <a:t>CENTROS INSTANTANEOS DE VELOCIDAD</a:t>
            </a:r>
            <a:r>
              <a:rPr lang="es-AR" dirty="0">
                <a:latin typeface="Bahnschrift" panose="020B0502040204020203" pitchFamily="34" charset="0"/>
              </a:rPr>
              <a:t>.</a:t>
            </a:r>
          </a:p>
        </p:txBody>
      </p:sp>
      <mc:AlternateContent xmlns:mc="http://schemas.openxmlformats.org/markup-compatibility/2006" xmlns:a14="http://schemas.microsoft.com/office/drawing/2010/main">
        <mc:Choice Requires="a14">
          <p:sp>
            <p:nvSpPr>
              <p:cNvPr id="8" name="Rectángulo 7">
                <a:extLst>
                  <a:ext uri="{FF2B5EF4-FFF2-40B4-BE49-F238E27FC236}">
                    <a16:creationId xmlns:a16="http://schemas.microsoft.com/office/drawing/2014/main" id="{13122B6F-9B6A-4C83-969B-915BBA052BC7}"/>
                  </a:ext>
                </a:extLst>
              </p:cNvPr>
              <p:cNvSpPr/>
              <p:nvPr/>
            </p:nvSpPr>
            <p:spPr>
              <a:xfrm>
                <a:off x="3626875" y="2973907"/>
                <a:ext cx="4128326" cy="9101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AR" sz="2800" i="1">
                          <a:latin typeface="Cambria Math" panose="02040503050406030204" pitchFamily="18" charset="0"/>
                        </a:rPr>
                        <m:t>𝑁</m:t>
                      </m:r>
                      <m:r>
                        <a:rPr lang="es-AR" sz="2800" i="1">
                          <a:latin typeface="Cambria Math" panose="02040503050406030204" pitchFamily="18" charset="0"/>
                        </a:rPr>
                        <m:t>° </m:t>
                      </m:r>
                      <m:r>
                        <a:rPr lang="es-AR" sz="2800" i="1">
                          <a:latin typeface="Cambria Math" panose="02040503050406030204" pitchFamily="18" charset="0"/>
                        </a:rPr>
                        <m:t>𝐶</m:t>
                      </m:r>
                      <m:r>
                        <a:rPr lang="es-AR" sz="2800" i="1">
                          <a:latin typeface="Cambria Math" panose="02040503050406030204" pitchFamily="18" charset="0"/>
                        </a:rPr>
                        <m:t>.</m:t>
                      </m:r>
                      <m:r>
                        <a:rPr lang="es-AR" sz="2800" i="1">
                          <a:latin typeface="Cambria Math" panose="02040503050406030204" pitchFamily="18" charset="0"/>
                        </a:rPr>
                        <m:t>𝐼</m:t>
                      </m:r>
                      <m:r>
                        <a:rPr lang="es-AR" sz="2800" i="1">
                          <a:latin typeface="Cambria Math" panose="02040503050406030204" pitchFamily="18" charset="0"/>
                        </a:rPr>
                        <m:t>.</m:t>
                      </m:r>
                      <m:r>
                        <a:rPr lang="es-AR" sz="2800" i="1">
                          <a:latin typeface="Cambria Math" panose="02040503050406030204" pitchFamily="18" charset="0"/>
                        </a:rPr>
                        <m:t>𝑉</m:t>
                      </m:r>
                      <m:r>
                        <a:rPr lang="es-AR" sz="2800" i="1">
                          <a:latin typeface="Cambria Math" panose="02040503050406030204" pitchFamily="18" charset="0"/>
                        </a:rPr>
                        <m:t>=</m:t>
                      </m:r>
                      <m:f>
                        <m:fPr>
                          <m:ctrlPr>
                            <a:rPr lang="es-AR" sz="2800" i="1">
                              <a:latin typeface="Cambria Math" panose="02040503050406030204" pitchFamily="18" charset="0"/>
                            </a:rPr>
                          </m:ctrlPr>
                        </m:fPr>
                        <m:num>
                          <m:r>
                            <a:rPr lang="es-AR" sz="2800" i="1">
                              <a:latin typeface="Cambria Math" panose="02040503050406030204" pitchFamily="18" charset="0"/>
                            </a:rPr>
                            <m:t>𝑛</m:t>
                          </m:r>
                          <m:r>
                            <a:rPr lang="es-AR" sz="2800" i="1">
                              <a:latin typeface="Cambria Math" panose="02040503050406030204" pitchFamily="18" charset="0"/>
                            </a:rPr>
                            <m:t>.(</m:t>
                          </m:r>
                          <m:r>
                            <a:rPr lang="es-AR" sz="2800" i="1">
                              <a:latin typeface="Cambria Math" panose="02040503050406030204" pitchFamily="18" charset="0"/>
                            </a:rPr>
                            <m:t>𝑛</m:t>
                          </m:r>
                          <m:r>
                            <a:rPr lang="es-AR" sz="2800" i="1">
                              <a:latin typeface="Cambria Math" panose="02040503050406030204" pitchFamily="18" charset="0"/>
                            </a:rPr>
                            <m:t>−1)</m:t>
                          </m:r>
                        </m:num>
                        <m:den>
                          <m:r>
                            <a:rPr lang="es-AR" sz="2800" i="1">
                              <a:latin typeface="Cambria Math" panose="02040503050406030204" pitchFamily="18" charset="0"/>
                            </a:rPr>
                            <m:t>2</m:t>
                          </m:r>
                        </m:den>
                      </m:f>
                    </m:oMath>
                  </m:oMathPara>
                </a14:m>
                <a:endParaRPr lang="es-AR" sz="2800" dirty="0"/>
              </a:p>
            </p:txBody>
          </p:sp>
        </mc:Choice>
        <mc:Fallback xmlns="">
          <p:sp>
            <p:nvSpPr>
              <p:cNvPr id="8" name="Rectángulo 7">
                <a:extLst>
                  <a:ext uri="{FF2B5EF4-FFF2-40B4-BE49-F238E27FC236}">
                    <a16:creationId xmlns:a16="http://schemas.microsoft.com/office/drawing/2014/main" id="{13122B6F-9B6A-4C83-969B-915BBA052BC7}"/>
                  </a:ext>
                </a:extLst>
              </p:cNvPr>
              <p:cNvSpPr>
                <a:spLocks noRot="1" noChangeAspect="1" noMove="1" noResize="1" noEditPoints="1" noAdjustHandles="1" noChangeArrowheads="1" noChangeShapeType="1" noTextEdit="1"/>
              </p:cNvSpPr>
              <p:nvPr/>
            </p:nvSpPr>
            <p:spPr>
              <a:xfrm>
                <a:off x="3626875" y="2973907"/>
                <a:ext cx="4128326" cy="910186"/>
              </a:xfrm>
              <a:prstGeom prst="rect">
                <a:avLst/>
              </a:prstGeom>
              <a:blipFill>
                <a:blip r:embed="rId2"/>
                <a:stretch>
                  <a:fillRect/>
                </a:stretch>
              </a:blipFill>
            </p:spPr>
            <p:txBody>
              <a:bodyPr/>
              <a:lstStyle/>
              <a:p>
                <a:r>
                  <a:rPr lang="es-AR">
                    <a:noFill/>
                  </a:rPr>
                  <a:t> </a:t>
                </a:r>
              </a:p>
            </p:txBody>
          </p:sp>
        </mc:Fallback>
      </mc:AlternateContent>
      <p:sp>
        <p:nvSpPr>
          <p:cNvPr id="9" name="Rectángulo 8">
            <a:extLst>
              <a:ext uri="{FF2B5EF4-FFF2-40B4-BE49-F238E27FC236}">
                <a16:creationId xmlns:a16="http://schemas.microsoft.com/office/drawing/2014/main" id="{47C10DA3-141C-401D-BB1A-3CE111C5AD56}"/>
              </a:ext>
            </a:extLst>
          </p:cNvPr>
          <p:cNvSpPr/>
          <p:nvPr/>
        </p:nvSpPr>
        <p:spPr>
          <a:xfrm>
            <a:off x="-2" y="853440"/>
            <a:ext cx="616020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Título 1">
            <a:extLst>
              <a:ext uri="{FF2B5EF4-FFF2-40B4-BE49-F238E27FC236}">
                <a16:creationId xmlns:a16="http://schemas.microsoft.com/office/drawing/2014/main" id="{F93E58EC-FC55-497E-9A82-77C24525C181}"/>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11" name="Marcador de contenido 2">
            <a:extLst>
              <a:ext uri="{FF2B5EF4-FFF2-40B4-BE49-F238E27FC236}">
                <a16:creationId xmlns:a16="http://schemas.microsoft.com/office/drawing/2014/main" id="{C357A583-EE66-43EE-B9A3-F4724C7CC4B2}"/>
              </a:ext>
            </a:extLst>
          </p:cNvPr>
          <p:cNvSpPr txBox="1">
            <a:spLocks/>
          </p:cNvSpPr>
          <p:nvPr/>
        </p:nvSpPr>
        <p:spPr>
          <a:xfrm>
            <a:off x="116312" y="830016"/>
            <a:ext cx="6160201"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CENTROS INSTANTÁNEOS DE VELOCIDAD</a:t>
            </a:r>
          </a:p>
        </p:txBody>
      </p:sp>
      <p:sp>
        <p:nvSpPr>
          <p:cNvPr id="12" name="Marcador de pie de página 2">
            <a:extLst>
              <a:ext uri="{FF2B5EF4-FFF2-40B4-BE49-F238E27FC236}">
                <a16:creationId xmlns:a16="http://schemas.microsoft.com/office/drawing/2014/main" id="{932BF782-27CE-44DC-BFC4-710FABAA5EA2}"/>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Tree>
    <p:extLst>
      <p:ext uri="{BB962C8B-B14F-4D97-AF65-F5344CB8AC3E}">
        <p14:creationId xmlns:p14="http://schemas.microsoft.com/office/powerpoint/2010/main" val="1657113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descr="Imagen que contiene mapa, barco, grupo, vuelo&#10;&#10;Descripción generada automáticamente">
            <a:extLst>
              <a:ext uri="{FF2B5EF4-FFF2-40B4-BE49-F238E27FC236}">
                <a16:creationId xmlns:a16="http://schemas.microsoft.com/office/drawing/2014/main" id="{2D77CAB8-16DB-43AD-93DB-EEF8A01FF054}"/>
              </a:ext>
            </a:extLst>
          </p:cNvPr>
          <p:cNvPicPr>
            <a:picLocks noChangeAspect="1"/>
          </p:cNvPicPr>
          <p:nvPr/>
        </p:nvPicPr>
        <p:blipFill rotWithShape="1">
          <a:blip r:embed="rId2">
            <a:extLst>
              <a:ext uri="{28A0092B-C50C-407E-A947-70E740481C1C}">
                <a14:useLocalDpi xmlns:a14="http://schemas.microsoft.com/office/drawing/2010/main" val="0"/>
              </a:ext>
            </a:extLst>
          </a:blip>
          <a:srcRect r="-445"/>
          <a:stretch/>
        </p:blipFill>
        <p:spPr>
          <a:xfrm>
            <a:off x="4789604" y="1841339"/>
            <a:ext cx="6342993" cy="4037370"/>
          </a:xfrm>
          <a:prstGeom prst="rect">
            <a:avLst/>
          </a:prstGeom>
        </p:spPr>
      </p:pic>
      <p:sp>
        <p:nvSpPr>
          <p:cNvPr id="3" name="Marcador de contenido 2"/>
          <p:cNvSpPr>
            <a:spLocks noGrp="1"/>
          </p:cNvSpPr>
          <p:nvPr>
            <p:ph idx="1"/>
          </p:nvPr>
        </p:nvSpPr>
        <p:spPr>
          <a:xfrm>
            <a:off x="206361" y="1343197"/>
            <a:ext cx="5387200" cy="389209"/>
          </a:xfrm>
        </p:spPr>
        <p:txBody>
          <a:bodyPr wrap="square">
            <a:spAutoFit/>
          </a:bodyPr>
          <a:lstStyle/>
          <a:p>
            <a:pPr marL="0" indent="0" algn="just">
              <a:lnSpc>
                <a:spcPct val="120000"/>
              </a:lnSpc>
              <a:buNone/>
            </a:pPr>
            <a:r>
              <a:rPr lang="es-AR" dirty="0">
                <a:latin typeface="Bahnschrift" panose="020B0502040204020203" pitchFamily="34" charset="0"/>
              </a:rPr>
              <a:t>En el caso de un eslabonamiento de 4 eslabones:</a:t>
            </a:r>
          </a:p>
        </p:txBody>
      </p:sp>
      <p:sp>
        <p:nvSpPr>
          <p:cNvPr id="7" name="Marcador de contenido 2">
            <a:extLst>
              <a:ext uri="{FF2B5EF4-FFF2-40B4-BE49-F238E27FC236}">
                <a16:creationId xmlns:a16="http://schemas.microsoft.com/office/drawing/2014/main" id="{6BDDB465-ABB5-456C-B535-757349B7BEE7}"/>
              </a:ext>
            </a:extLst>
          </p:cNvPr>
          <p:cNvSpPr txBox="1">
            <a:spLocks/>
          </p:cNvSpPr>
          <p:nvPr/>
        </p:nvSpPr>
        <p:spPr>
          <a:xfrm>
            <a:off x="206361" y="3440323"/>
            <a:ext cx="5387200" cy="2773965"/>
          </a:xfrm>
          <a:prstGeom prst="rect">
            <a:avLst/>
          </a:prstGeom>
        </p:spPr>
        <p:txBody>
          <a:bodyPr vert="horz" wrap="square" lIns="91440" tIns="45720" rIns="91440" bIns="45720" rtlCol="0">
            <a:sp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just">
              <a:lnSpc>
                <a:spcPct val="120000"/>
              </a:lnSpc>
              <a:buFont typeface="Arial" pitchFamily="34" charset="0"/>
              <a:buNone/>
            </a:pPr>
            <a:r>
              <a:rPr lang="es-AR" sz="1800" b="1" dirty="0">
                <a:highlight>
                  <a:srgbClr val="FFC000"/>
                </a:highlight>
                <a:latin typeface="Bahnschrift" panose="020B0502040204020203" pitchFamily="34" charset="0"/>
              </a:rPr>
              <a:t>Centros instantáneos de simple inspección:</a:t>
            </a:r>
          </a:p>
          <a:p>
            <a:pPr marL="0" indent="0" algn="just">
              <a:lnSpc>
                <a:spcPct val="120000"/>
              </a:lnSpc>
              <a:buFont typeface="Arial" pitchFamily="34" charset="0"/>
              <a:buNone/>
            </a:pPr>
            <a:r>
              <a:rPr lang="es-AR" sz="1800" dirty="0">
                <a:solidFill>
                  <a:srgbClr val="FF0000"/>
                </a:solidFill>
                <a:latin typeface="Bahnschrift" panose="020B0502040204020203" pitchFamily="34" charset="0"/>
              </a:rPr>
              <a:t>CI</a:t>
            </a:r>
            <a:r>
              <a:rPr lang="es-AR" sz="1800" baseline="-25000" dirty="0">
                <a:solidFill>
                  <a:srgbClr val="FF0000"/>
                </a:solidFill>
                <a:latin typeface="Bahnschrift" panose="020B0502040204020203" pitchFamily="34" charset="0"/>
              </a:rPr>
              <a:t>12</a:t>
            </a:r>
            <a:r>
              <a:rPr lang="es-AR" sz="1800" dirty="0">
                <a:solidFill>
                  <a:srgbClr val="FF0000"/>
                </a:solidFill>
                <a:latin typeface="Bahnschrift" panose="020B0502040204020203" pitchFamily="34" charset="0"/>
              </a:rPr>
              <a:t> CI</a:t>
            </a:r>
            <a:r>
              <a:rPr lang="es-AR" sz="1800" baseline="-25000" dirty="0">
                <a:solidFill>
                  <a:srgbClr val="FF0000"/>
                </a:solidFill>
                <a:latin typeface="Bahnschrift" panose="020B0502040204020203" pitchFamily="34" charset="0"/>
              </a:rPr>
              <a:t>23</a:t>
            </a:r>
            <a:r>
              <a:rPr lang="es-AR" sz="1800" dirty="0">
                <a:solidFill>
                  <a:srgbClr val="FF0000"/>
                </a:solidFill>
                <a:latin typeface="Bahnschrift" panose="020B0502040204020203" pitchFamily="34" charset="0"/>
              </a:rPr>
              <a:t> CI</a:t>
            </a:r>
            <a:r>
              <a:rPr lang="es-AR" sz="1800" baseline="-25000" dirty="0">
                <a:solidFill>
                  <a:srgbClr val="FF0000"/>
                </a:solidFill>
                <a:latin typeface="Bahnschrift" panose="020B0502040204020203" pitchFamily="34" charset="0"/>
              </a:rPr>
              <a:t>34</a:t>
            </a:r>
            <a:r>
              <a:rPr lang="es-AR" sz="1800" dirty="0">
                <a:solidFill>
                  <a:srgbClr val="FF0000"/>
                </a:solidFill>
                <a:latin typeface="Bahnschrift" panose="020B0502040204020203" pitchFamily="34" charset="0"/>
              </a:rPr>
              <a:t> CI</a:t>
            </a:r>
            <a:r>
              <a:rPr lang="es-AR" sz="1800" baseline="-25000" dirty="0">
                <a:solidFill>
                  <a:srgbClr val="FF0000"/>
                </a:solidFill>
                <a:latin typeface="Bahnschrift" panose="020B0502040204020203" pitchFamily="34" charset="0"/>
              </a:rPr>
              <a:t>41</a:t>
            </a:r>
          </a:p>
          <a:p>
            <a:pPr marL="0" indent="0" algn="just">
              <a:lnSpc>
                <a:spcPct val="120000"/>
              </a:lnSpc>
              <a:buFont typeface="Arial" pitchFamily="34" charset="0"/>
              <a:buNone/>
            </a:pPr>
            <a:endParaRPr lang="es-AR" sz="1800" baseline="-25000" dirty="0">
              <a:solidFill>
                <a:srgbClr val="FF0000"/>
              </a:solidFill>
              <a:latin typeface="Bahnschrift" panose="020B0502040204020203" pitchFamily="34" charset="0"/>
            </a:endParaRPr>
          </a:p>
          <a:p>
            <a:pPr marL="0" indent="0" algn="just">
              <a:lnSpc>
                <a:spcPct val="120000"/>
              </a:lnSpc>
              <a:buFont typeface="Arial" pitchFamily="34" charset="0"/>
              <a:buNone/>
            </a:pPr>
            <a:r>
              <a:rPr lang="es-AR" sz="1800" b="1" dirty="0">
                <a:solidFill>
                  <a:srgbClr val="2B241F"/>
                </a:solidFill>
                <a:highlight>
                  <a:srgbClr val="FFC000"/>
                </a:highlight>
                <a:latin typeface="Bahnschrift" panose="020B0502040204020203" pitchFamily="34" charset="0"/>
              </a:rPr>
              <a:t>Centros instantáneos virtuales:</a:t>
            </a:r>
          </a:p>
          <a:p>
            <a:pPr marL="0" indent="0" algn="just">
              <a:lnSpc>
                <a:spcPct val="120000"/>
              </a:lnSpc>
              <a:buFont typeface="Arial" pitchFamily="34" charset="0"/>
              <a:buNone/>
            </a:pPr>
            <a:r>
              <a:rPr lang="es-AR" sz="1800" dirty="0">
                <a:solidFill>
                  <a:srgbClr val="FF0000"/>
                </a:solidFill>
                <a:latin typeface="Bahnschrift" panose="020B0502040204020203" pitchFamily="34" charset="0"/>
              </a:rPr>
              <a:t>CI</a:t>
            </a:r>
            <a:r>
              <a:rPr lang="es-AR" sz="1800" baseline="-25000" dirty="0">
                <a:solidFill>
                  <a:srgbClr val="FF0000"/>
                </a:solidFill>
                <a:latin typeface="Bahnschrift" panose="020B0502040204020203" pitchFamily="34" charset="0"/>
              </a:rPr>
              <a:t>13</a:t>
            </a:r>
            <a:r>
              <a:rPr lang="es-AR" sz="1800" dirty="0">
                <a:solidFill>
                  <a:srgbClr val="FF0000"/>
                </a:solidFill>
                <a:latin typeface="Bahnschrift" panose="020B0502040204020203" pitchFamily="34" charset="0"/>
              </a:rPr>
              <a:t> CI</a:t>
            </a:r>
            <a:r>
              <a:rPr lang="es-AR" sz="1800" baseline="-25000" dirty="0">
                <a:solidFill>
                  <a:srgbClr val="FF0000"/>
                </a:solidFill>
                <a:latin typeface="Bahnschrift" panose="020B0502040204020203" pitchFamily="34" charset="0"/>
              </a:rPr>
              <a:t>24</a:t>
            </a:r>
          </a:p>
          <a:p>
            <a:pPr marL="0" indent="0" algn="just">
              <a:lnSpc>
                <a:spcPct val="120000"/>
              </a:lnSpc>
              <a:buFont typeface="Arial" pitchFamily="34" charset="0"/>
              <a:buNone/>
            </a:pPr>
            <a:endParaRPr lang="es-AR" sz="1800" dirty="0">
              <a:solidFill>
                <a:srgbClr val="FF0000"/>
              </a:solidFill>
              <a:latin typeface="Bahnschrift" panose="020B0502040204020203" pitchFamily="34" charset="0"/>
            </a:endParaRPr>
          </a:p>
        </p:txBody>
      </p:sp>
      <mc:AlternateContent xmlns:mc="http://schemas.openxmlformats.org/markup-compatibility/2006" xmlns:a14="http://schemas.microsoft.com/office/drawing/2010/main">
        <mc:Choice Requires="a14">
          <p:sp>
            <p:nvSpPr>
              <p:cNvPr id="9" name="Rectángulo 8">
                <a:extLst>
                  <a:ext uri="{FF2B5EF4-FFF2-40B4-BE49-F238E27FC236}">
                    <a16:creationId xmlns:a16="http://schemas.microsoft.com/office/drawing/2014/main" id="{BF8B58D9-135B-4809-9C30-E30E03248102}"/>
                  </a:ext>
                </a:extLst>
              </p:cNvPr>
              <p:cNvSpPr/>
              <p:nvPr/>
            </p:nvSpPr>
            <p:spPr>
              <a:xfrm>
                <a:off x="489727" y="2090965"/>
                <a:ext cx="4035944" cy="7934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AR" sz="2400" i="1" smtClean="0">
                          <a:latin typeface="Cambria Math" panose="02040503050406030204" pitchFamily="18" charset="0"/>
                        </a:rPr>
                        <m:t>𝑁</m:t>
                      </m:r>
                      <m:r>
                        <a:rPr lang="es-AR" sz="2400" i="1" smtClean="0">
                          <a:latin typeface="Cambria Math" panose="02040503050406030204" pitchFamily="18" charset="0"/>
                        </a:rPr>
                        <m:t>° </m:t>
                      </m:r>
                      <m:r>
                        <a:rPr lang="es-AR" sz="2400" i="1" smtClean="0">
                          <a:latin typeface="Cambria Math" panose="02040503050406030204" pitchFamily="18" charset="0"/>
                        </a:rPr>
                        <m:t>𝐶</m:t>
                      </m:r>
                      <m:r>
                        <a:rPr lang="es-AR" sz="2400" i="1" smtClean="0">
                          <a:latin typeface="Cambria Math" panose="02040503050406030204" pitchFamily="18" charset="0"/>
                        </a:rPr>
                        <m:t>.</m:t>
                      </m:r>
                      <m:r>
                        <a:rPr lang="es-AR" sz="2400" i="1" smtClean="0">
                          <a:latin typeface="Cambria Math" panose="02040503050406030204" pitchFamily="18" charset="0"/>
                        </a:rPr>
                        <m:t>𝐼</m:t>
                      </m:r>
                      <m:r>
                        <a:rPr lang="es-AR" sz="2400" i="1" smtClean="0">
                          <a:latin typeface="Cambria Math" panose="02040503050406030204" pitchFamily="18" charset="0"/>
                        </a:rPr>
                        <m:t>.</m:t>
                      </m:r>
                      <m:r>
                        <a:rPr lang="es-AR" sz="2400" i="1" smtClean="0">
                          <a:latin typeface="Cambria Math" panose="02040503050406030204" pitchFamily="18" charset="0"/>
                        </a:rPr>
                        <m:t>𝑉</m:t>
                      </m:r>
                      <m:r>
                        <a:rPr lang="es-AR" sz="2400" i="1" smtClean="0">
                          <a:latin typeface="Cambria Math" panose="02040503050406030204" pitchFamily="18" charset="0"/>
                        </a:rPr>
                        <m:t>=</m:t>
                      </m:r>
                      <m:f>
                        <m:fPr>
                          <m:ctrlPr>
                            <a:rPr lang="es-AR" sz="2400" i="1">
                              <a:latin typeface="Cambria Math" panose="02040503050406030204" pitchFamily="18" charset="0"/>
                            </a:rPr>
                          </m:ctrlPr>
                        </m:fPr>
                        <m:num>
                          <m:r>
                            <a:rPr lang="es-AR" sz="2400" i="1">
                              <a:latin typeface="Cambria Math" panose="02040503050406030204" pitchFamily="18" charset="0"/>
                            </a:rPr>
                            <m:t>𝑛</m:t>
                          </m:r>
                          <m:r>
                            <a:rPr lang="es-AR" sz="2400" i="1">
                              <a:latin typeface="Cambria Math" panose="02040503050406030204" pitchFamily="18" charset="0"/>
                            </a:rPr>
                            <m:t>.(</m:t>
                          </m:r>
                          <m:r>
                            <a:rPr lang="es-AR" sz="2400" i="1">
                              <a:latin typeface="Cambria Math" panose="02040503050406030204" pitchFamily="18" charset="0"/>
                            </a:rPr>
                            <m:t>𝑛</m:t>
                          </m:r>
                          <m:r>
                            <a:rPr lang="es-AR" sz="2400" i="1">
                              <a:latin typeface="Cambria Math" panose="02040503050406030204" pitchFamily="18" charset="0"/>
                            </a:rPr>
                            <m:t>−1)</m:t>
                          </m:r>
                        </m:num>
                        <m:den>
                          <m:r>
                            <a:rPr lang="es-AR" sz="2400" i="1">
                              <a:latin typeface="Cambria Math" panose="02040503050406030204" pitchFamily="18" charset="0"/>
                            </a:rPr>
                            <m:t>2</m:t>
                          </m:r>
                        </m:den>
                      </m:f>
                      <m:r>
                        <a:rPr lang="en-US" sz="2400" b="0" i="1" smtClean="0">
                          <a:latin typeface="Cambria Math" panose="02040503050406030204" pitchFamily="18" charset="0"/>
                        </a:rPr>
                        <m:t>=6</m:t>
                      </m:r>
                    </m:oMath>
                  </m:oMathPara>
                </a14:m>
                <a:endParaRPr lang="es-AR" sz="2400" dirty="0"/>
              </a:p>
            </p:txBody>
          </p:sp>
        </mc:Choice>
        <mc:Fallback xmlns="">
          <p:sp>
            <p:nvSpPr>
              <p:cNvPr id="9" name="Rectángulo 8">
                <a:extLst>
                  <a:ext uri="{FF2B5EF4-FFF2-40B4-BE49-F238E27FC236}">
                    <a16:creationId xmlns:a16="http://schemas.microsoft.com/office/drawing/2014/main" id="{BF8B58D9-135B-4809-9C30-E30E03248102}"/>
                  </a:ext>
                </a:extLst>
              </p:cNvPr>
              <p:cNvSpPr>
                <a:spLocks noRot="1" noChangeAspect="1" noMove="1" noResize="1" noEditPoints="1" noAdjustHandles="1" noChangeArrowheads="1" noChangeShapeType="1" noTextEdit="1"/>
              </p:cNvSpPr>
              <p:nvPr/>
            </p:nvSpPr>
            <p:spPr>
              <a:xfrm>
                <a:off x="489727" y="2090965"/>
                <a:ext cx="4035944" cy="793422"/>
              </a:xfrm>
              <a:prstGeom prst="rect">
                <a:avLst/>
              </a:prstGeom>
              <a:blipFill>
                <a:blip r:embed="rId3"/>
                <a:stretch>
                  <a:fillRect/>
                </a:stretch>
              </a:blipFill>
            </p:spPr>
            <p:txBody>
              <a:bodyPr/>
              <a:lstStyle/>
              <a:p>
                <a:r>
                  <a:rPr lang="es-AR">
                    <a:noFill/>
                  </a:rPr>
                  <a:t> </a:t>
                </a:r>
              </a:p>
            </p:txBody>
          </p:sp>
        </mc:Fallback>
      </mc:AlternateContent>
      <p:sp>
        <p:nvSpPr>
          <p:cNvPr id="13" name="Título 1">
            <a:extLst>
              <a:ext uri="{FF2B5EF4-FFF2-40B4-BE49-F238E27FC236}">
                <a16:creationId xmlns:a16="http://schemas.microsoft.com/office/drawing/2014/main" id="{E43A8376-7141-4971-8A37-343644B1D287}"/>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15" name="Marcador de pie de página 2">
            <a:extLst>
              <a:ext uri="{FF2B5EF4-FFF2-40B4-BE49-F238E27FC236}">
                <a16:creationId xmlns:a16="http://schemas.microsoft.com/office/drawing/2014/main" id="{6ED43651-605D-4148-A8D3-F4C10A4CABC2}"/>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 name="Rectángulo 1">
            <a:extLst>
              <a:ext uri="{FF2B5EF4-FFF2-40B4-BE49-F238E27FC236}">
                <a16:creationId xmlns:a16="http://schemas.microsoft.com/office/drawing/2014/main" id="{F06A75BE-B015-4EB5-9EF9-2C7005D4C7BF}"/>
              </a:ext>
            </a:extLst>
          </p:cNvPr>
          <p:cNvSpPr/>
          <p:nvPr/>
        </p:nvSpPr>
        <p:spPr>
          <a:xfrm>
            <a:off x="-2" y="853440"/>
            <a:ext cx="616020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Marcador de contenido 2">
            <a:extLst>
              <a:ext uri="{FF2B5EF4-FFF2-40B4-BE49-F238E27FC236}">
                <a16:creationId xmlns:a16="http://schemas.microsoft.com/office/drawing/2014/main" id="{E763A8CA-A7EE-4C1E-8876-6A795CFF79D0}"/>
              </a:ext>
            </a:extLst>
          </p:cNvPr>
          <p:cNvSpPr txBox="1">
            <a:spLocks/>
          </p:cNvSpPr>
          <p:nvPr/>
        </p:nvSpPr>
        <p:spPr>
          <a:xfrm>
            <a:off x="116312" y="830016"/>
            <a:ext cx="6160201"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CENTROS INSTANTÁNEOS DE VELOCIDAD</a:t>
            </a:r>
          </a:p>
        </p:txBody>
      </p:sp>
    </p:spTree>
    <p:extLst>
      <p:ext uri="{BB962C8B-B14F-4D97-AF65-F5344CB8AC3E}">
        <p14:creationId xmlns:p14="http://schemas.microsoft.com/office/powerpoint/2010/main" val="2792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descr="Imagen que contiene mapa, barco, pequeño, tabla&#10;&#10;Descripción generada automáticamente">
            <a:extLst>
              <a:ext uri="{FF2B5EF4-FFF2-40B4-BE49-F238E27FC236}">
                <a16:creationId xmlns:a16="http://schemas.microsoft.com/office/drawing/2014/main" id="{36286001-B014-4322-8FCD-002478158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4647" y="2886012"/>
            <a:ext cx="5114133" cy="3737064"/>
          </a:xfrm>
          <a:prstGeom prst="rect">
            <a:avLst/>
          </a:prstGeom>
        </p:spPr>
      </p:pic>
      <p:pic>
        <p:nvPicPr>
          <p:cNvPr id="6" name="Imagen 5" descr="Imagen que contiene mapa, barco, pequeño, hombre&#10;&#10;Descripción generada automáticamente">
            <a:extLst>
              <a:ext uri="{FF2B5EF4-FFF2-40B4-BE49-F238E27FC236}">
                <a16:creationId xmlns:a16="http://schemas.microsoft.com/office/drawing/2014/main" id="{2B0119CD-CE6A-49AE-ABD8-D7FBD5668E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3780" y="2759761"/>
            <a:ext cx="3235869" cy="3810053"/>
          </a:xfrm>
          <a:prstGeom prst="rect">
            <a:avLst/>
          </a:prstGeom>
        </p:spPr>
      </p:pic>
      <p:sp>
        <p:nvSpPr>
          <p:cNvPr id="3" name="Marcador de contenido 2"/>
          <p:cNvSpPr>
            <a:spLocks noGrp="1"/>
          </p:cNvSpPr>
          <p:nvPr>
            <p:ph idx="1"/>
          </p:nvPr>
        </p:nvSpPr>
        <p:spPr>
          <a:xfrm>
            <a:off x="116312" y="1898783"/>
            <a:ext cx="11311750" cy="726609"/>
          </a:xfrm>
        </p:spPr>
        <p:txBody>
          <a:bodyPr wrap="square">
            <a:spAutoFit/>
          </a:bodyPr>
          <a:lstStyle/>
          <a:p>
            <a:pPr marL="0" indent="0" algn="just">
              <a:lnSpc>
                <a:spcPct val="120000"/>
              </a:lnSpc>
              <a:buNone/>
            </a:pPr>
            <a:r>
              <a:rPr lang="es-AR" dirty="0">
                <a:latin typeface="+mj-lt"/>
              </a:rPr>
              <a:t>Esta regla establece que </a:t>
            </a:r>
            <a:r>
              <a:rPr lang="es-AR" dirty="0">
                <a:highlight>
                  <a:srgbClr val="FFC000"/>
                </a:highlight>
                <a:latin typeface="+mj-lt"/>
              </a:rPr>
              <a:t>3 cuerpos en movimiento plano </a:t>
            </a:r>
            <a:r>
              <a:rPr lang="es-AR" dirty="0">
                <a:latin typeface="+mj-lt"/>
              </a:rPr>
              <a:t>tendrán exactamente </a:t>
            </a:r>
            <a:r>
              <a:rPr lang="es-AR" dirty="0">
                <a:highlight>
                  <a:srgbClr val="FFC000"/>
                </a:highlight>
                <a:latin typeface="+mj-lt"/>
              </a:rPr>
              <a:t>3 CI </a:t>
            </a:r>
            <a:r>
              <a:rPr lang="es-AR" dirty="0">
                <a:latin typeface="+mj-lt"/>
              </a:rPr>
              <a:t>que se encontrará</a:t>
            </a:r>
            <a:r>
              <a:rPr lang="en-US" dirty="0">
                <a:latin typeface="+mj-lt"/>
              </a:rPr>
              <a:t>n</a:t>
            </a:r>
            <a:r>
              <a:rPr lang="es-AR" dirty="0">
                <a:latin typeface="+mj-lt"/>
              </a:rPr>
              <a:t> sobre </a:t>
            </a:r>
            <a:r>
              <a:rPr lang="es-AR" dirty="0">
                <a:highlight>
                  <a:srgbClr val="FFC000"/>
                </a:highlight>
                <a:latin typeface="+mj-lt"/>
              </a:rPr>
              <a:t>una misma línea recta</a:t>
            </a:r>
            <a:r>
              <a:rPr lang="es-AR" dirty="0">
                <a:latin typeface="+mj-lt"/>
              </a:rPr>
              <a:t>.</a:t>
            </a:r>
          </a:p>
        </p:txBody>
      </p:sp>
      <p:sp>
        <p:nvSpPr>
          <p:cNvPr id="4" name="Título 1">
            <a:extLst>
              <a:ext uri="{FF2B5EF4-FFF2-40B4-BE49-F238E27FC236}">
                <a16:creationId xmlns:a16="http://schemas.microsoft.com/office/drawing/2014/main" id="{5E70BA6E-1E85-49F4-8C76-A573F17F4331}"/>
              </a:ext>
            </a:extLst>
          </p:cNvPr>
          <p:cNvSpPr txBox="1">
            <a:spLocks/>
          </p:cNvSpPr>
          <p:nvPr/>
        </p:nvSpPr>
        <p:spPr>
          <a:xfrm>
            <a:off x="107435" y="1075418"/>
            <a:ext cx="5903102" cy="665825"/>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s-AR" sz="2000" b="1" dirty="0">
                <a:solidFill>
                  <a:schemeClr val="tx1">
                    <a:lumMod val="75000"/>
                    <a:lumOff val="25000"/>
                  </a:schemeClr>
                </a:solidFill>
                <a:latin typeface="Bahnschrift" panose="020B0502040204020203" pitchFamily="34" charset="0"/>
              </a:rPr>
              <a:t>Determinación de CI Virtuales / Método Gráfico</a:t>
            </a:r>
          </a:p>
        </p:txBody>
      </p:sp>
      <p:sp>
        <p:nvSpPr>
          <p:cNvPr id="13" name="Marcador de contenido 2">
            <a:extLst>
              <a:ext uri="{FF2B5EF4-FFF2-40B4-BE49-F238E27FC236}">
                <a16:creationId xmlns:a16="http://schemas.microsoft.com/office/drawing/2014/main" id="{97EDC7B5-222C-48B2-B62B-17726EA75C74}"/>
              </a:ext>
            </a:extLst>
          </p:cNvPr>
          <p:cNvSpPr txBox="1">
            <a:spLocks/>
          </p:cNvSpPr>
          <p:nvPr/>
        </p:nvSpPr>
        <p:spPr>
          <a:xfrm>
            <a:off x="1" y="1533813"/>
            <a:ext cx="10306974" cy="327782"/>
          </a:xfrm>
          <a:prstGeom prst="rect">
            <a:avLst/>
          </a:prstGeom>
        </p:spPr>
        <p:txBody>
          <a:bodyPr vert="horz" wrap="square" lIns="91440" tIns="45720" rIns="91440" bIns="45720" rtlCol="0">
            <a:sp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r>
              <a:rPr lang="es-AR" sz="1800" b="1" dirty="0">
                <a:solidFill>
                  <a:srgbClr val="EA8F34"/>
                </a:solidFill>
                <a:latin typeface="+mj-lt"/>
              </a:rPr>
              <a:t>Teorema de </a:t>
            </a:r>
            <a:r>
              <a:rPr lang="es-AR" sz="1800" b="1" dirty="0" err="1">
                <a:solidFill>
                  <a:srgbClr val="EA8F34"/>
                </a:solidFill>
                <a:latin typeface="+mj-lt"/>
              </a:rPr>
              <a:t>Aronhold</a:t>
            </a:r>
            <a:r>
              <a:rPr lang="es-AR" sz="1800" b="1" dirty="0">
                <a:solidFill>
                  <a:srgbClr val="EA8F34"/>
                </a:solidFill>
                <a:latin typeface="+mj-lt"/>
              </a:rPr>
              <a:t> Kennedy / Regla de Kennedy - </a:t>
            </a:r>
            <a:r>
              <a:rPr lang="es-AR" sz="1800" b="1" dirty="0">
                <a:solidFill>
                  <a:schemeClr val="tx1">
                    <a:lumMod val="75000"/>
                    <a:lumOff val="25000"/>
                  </a:schemeClr>
                </a:solidFill>
                <a:latin typeface="+mj-lt"/>
              </a:rPr>
              <a:t>Mecanismo Cuadrilátero Articulado</a:t>
            </a:r>
          </a:p>
        </p:txBody>
      </p:sp>
      <p:sp>
        <p:nvSpPr>
          <p:cNvPr id="11" name="Título 1">
            <a:extLst>
              <a:ext uri="{FF2B5EF4-FFF2-40B4-BE49-F238E27FC236}">
                <a16:creationId xmlns:a16="http://schemas.microsoft.com/office/drawing/2014/main" id="{6793B125-F3AC-4C8F-A046-1D2748A04CD7}"/>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15" name="Marcador de pie de página 2">
            <a:extLst>
              <a:ext uri="{FF2B5EF4-FFF2-40B4-BE49-F238E27FC236}">
                <a16:creationId xmlns:a16="http://schemas.microsoft.com/office/drawing/2014/main" id="{E0D6CCAF-4C00-499B-945F-FF1A1F50D712}"/>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6" name="Rectángulo 15">
            <a:extLst>
              <a:ext uri="{FF2B5EF4-FFF2-40B4-BE49-F238E27FC236}">
                <a16:creationId xmlns:a16="http://schemas.microsoft.com/office/drawing/2014/main" id="{72AFC7D4-0B17-4327-98A6-D821DD3DB559}"/>
              </a:ext>
            </a:extLst>
          </p:cNvPr>
          <p:cNvSpPr/>
          <p:nvPr/>
        </p:nvSpPr>
        <p:spPr>
          <a:xfrm>
            <a:off x="-2" y="853440"/>
            <a:ext cx="616020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Marcador de contenido 2">
            <a:extLst>
              <a:ext uri="{FF2B5EF4-FFF2-40B4-BE49-F238E27FC236}">
                <a16:creationId xmlns:a16="http://schemas.microsoft.com/office/drawing/2014/main" id="{4BEDED59-BFDD-4559-9D4E-B73260836414}"/>
              </a:ext>
            </a:extLst>
          </p:cNvPr>
          <p:cNvSpPr txBox="1">
            <a:spLocks/>
          </p:cNvSpPr>
          <p:nvPr/>
        </p:nvSpPr>
        <p:spPr>
          <a:xfrm>
            <a:off x="116312" y="830016"/>
            <a:ext cx="6160201"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CENTROS INSTANTÁNEOS DE VELOCIDAD</a:t>
            </a:r>
          </a:p>
        </p:txBody>
      </p:sp>
    </p:spTree>
    <p:extLst>
      <p:ext uri="{BB962C8B-B14F-4D97-AF65-F5344CB8AC3E}">
        <p14:creationId xmlns:p14="http://schemas.microsoft.com/office/powerpoint/2010/main" val="3905439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descr="Imagen que contiene foto, tabla, pequeño, barco&#10;&#10;Descripción generada automáticamente">
            <a:extLst>
              <a:ext uri="{FF2B5EF4-FFF2-40B4-BE49-F238E27FC236}">
                <a16:creationId xmlns:a16="http://schemas.microsoft.com/office/drawing/2014/main" id="{D3AEDA3A-B7A7-49D6-91D5-DD3C550A6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6879" y="2099268"/>
            <a:ext cx="2910251" cy="3728095"/>
          </a:xfrm>
          <a:prstGeom prst="rect">
            <a:avLst/>
          </a:prstGeom>
        </p:spPr>
      </p:pic>
      <p:pic>
        <p:nvPicPr>
          <p:cNvPr id="7" name="Imagen 6" descr="Imagen que contiene mapa, texto&#10;&#10;Descripción generada automáticamente">
            <a:extLst>
              <a:ext uri="{FF2B5EF4-FFF2-40B4-BE49-F238E27FC236}">
                <a16:creationId xmlns:a16="http://schemas.microsoft.com/office/drawing/2014/main" id="{675596E0-FEC4-4541-A1A4-4C244B5EBF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013149"/>
            <a:ext cx="4658022" cy="2980251"/>
          </a:xfrm>
          <a:prstGeom prst="rect">
            <a:avLst/>
          </a:prstGeom>
        </p:spPr>
      </p:pic>
      <p:pic>
        <p:nvPicPr>
          <p:cNvPr id="15" name="Imagen 14" descr="Imagen que contiene tabla, foto, pequeño, barco&#10;&#10;Descripción generada automáticamente">
            <a:extLst>
              <a:ext uri="{FF2B5EF4-FFF2-40B4-BE49-F238E27FC236}">
                <a16:creationId xmlns:a16="http://schemas.microsoft.com/office/drawing/2014/main" id="{E6D95971-2371-47FA-8752-189D5CB45B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8018" y="2379743"/>
            <a:ext cx="3153766" cy="3728094"/>
          </a:xfrm>
          <a:prstGeom prst="rect">
            <a:avLst/>
          </a:prstGeom>
        </p:spPr>
      </p:pic>
      <p:sp>
        <p:nvSpPr>
          <p:cNvPr id="12" name="Título 1">
            <a:extLst>
              <a:ext uri="{FF2B5EF4-FFF2-40B4-BE49-F238E27FC236}">
                <a16:creationId xmlns:a16="http://schemas.microsoft.com/office/drawing/2014/main" id="{E6CA8E73-8939-4DFC-9054-D05F5C1819EA}"/>
              </a:ext>
            </a:extLst>
          </p:cNvPr>
          <p:cNvSpPr txBox="1">
            <a:spLocks/>
          </p:cNvSpPr>
          <p:nvPr/>
        </p:nvSpPr>
        <p:spPr>
          <a:xfrm>
            <a:off x="107435" y="1075418"/>
            <a:ext cx="5903102" cy="665825"/>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s-AR" sz="2000" b="1" dirty="0">
                <a:solidFill>
                  <a:schemeClr val="tx1">
                    <a:lumMod val="75000"/>
                    <a:lumOff val="25000"/>
                  </a:schemeClr>
                </a:solidFill>
                <a:latin typeface="Bahnschrift" panose="020B0502040204020203" pitchFamily="34" charset="0"/>
              </a:rPr>
              <a:t>Determinación de CI Virtuales / Método Gráfico</a:t>
            </a:r>
          </a:p>
        </p:txBody>
      </p:sp>
      <p:sp>
        <p:nvSpPr>
          <p:cNvPr id="13" name="Marcador de contenido 2">
            <a:extLst>
              <a:ext uri="{FF2B5EF4-FFF2-40B4-BE49-F238E27FC236}">
                <a16:creationId xmlns:a16="http://schemas.microsoft.com/office/drawing/2014/main" id="{59A469DC-DD4C-40AB-8878-AF72BA8E16FF}"/>
              </a:ext>
            </a:extLst>
          </p:cNvPr>
          <p:cNvSpPr txBox="1">
            <a:spLocks/>
          </p:cNvSpPr>
          <p:nvPr/>
        </p:nvSpPr>
        <p:spPr>
          <a:xfrm>
            <a:off x="1" y="1533813"/>
            <a:ext cx="10306974" cy="327782"/>
          </a:xfrm>
          <a:prstGeom prst="rect">
            <a:avLst/>
          </a:prstGeom>
        </p:spPr>
        <p:txBody>
          <a:bodyPr vert="horz" wrap="square" lIns="91440" tIns="45720" rIns="91440" bIns="45720" rtlCol="0">
            <a:sp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r>
              <a:rPr lang="es-AR" sz="1800" b="1" dirty="0">
                <a:solidFill>
                  <a:srgbClr val="EA8F34"/>
                </a:solidFill>
                <a:latin typeface="+mj-lt"/>
              </a:rPr>
              <a:t>Teorema de </a:t>
            </a:r>
            <a:r>
              <a:rPr lang="es-AR" sz="1800" b="1" dirty="0" err="1">
                <a:solidFill>
                  <a:srgbClr val="EA8F34"/>
                </a:solidFill>
                <a:latin typeface="+mj-lt"/>
              </a:rPr>
              <a:t>Aronhold</a:t>
            </a:r>
            <a:r>
              <a:rPr lang="es-AR" sz="1800" b="1" dirty="0">
                <a:solidFill>
                  <a:srgbClr val="EA8F34"/>
                </a:solidFill>
                <a:latin typeface="+mj-lt"/>
              </a:rPr>
              <a:t> Kennedy / Regla de Kennedy - </a:t>
            </a:r>
            <a:r>
              <a:rPr lang="es-AR" sz="1800" b="1" dirty="0">
                <a:solidFill>
                  <a:schemeClr val="tx1">
                    <a:lumMod val="75000"/>
                    <a:lumOff val="25000"/>
                  </a:schemeClr>
                </a:solidFill>
                <a:latin typeface="+mj-lt"/>
              </a:rPr>
              <a:t>Mecanismo Manivela Biela Corredera</a:t>
            </a:r>
          </a:p>
        </p:txBody>
      </p:sp>
      <p:sp>
        <p:nvSpPr>
          <p:cNvPr id="14" name="Título 1">
            <a:extLst>
              <a:ext uri="{FF2B5EF4-FFF2-40B4-BE49-F238E27FC236}">
                <a16:creationId xmlns:a16="http://schemas.microsoft.com/office/drawing/2014/main" id="{76CA7737-C9B5-47D0-A856-0C836125C290}"/>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16" name="Marcador de pie de página 2">
            <a:extLst>
              <a:ext uri="{FF2B5EF4-FFF2-40B4-BE49-F238E27FC236}">
                <a16:creationId xmlns:a16="http://schemas.microsoft.com/office/drawing/2014/main" id="{3E8A9F0A-541B-496F-B2F3-790251CBF0BB}"/>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7" name="Rectángulo 16">
            <a:extLst>
              <a:ext uri="{FF2B5EF4-FFF2-40B4-BE49-F238E27FC236}">
                <a16:creationId xmlns:a16="http://schemas.microsoft.com/office/drawing/2014/main" id="{532A3762-195A-4575-88ED-392416DECBF9}"/>
              </a:ext>
            </a:extLst>
          </p:cNvPr>
          <p:cNvSpPr/>
          <p:nvPr/>
        </p:nvSpPr>
        <p:spPr>
          <a:xfrm>
            <a:off x="-2" y="853440"/>
            <a:ext cx="616020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Marcador de contenido 2">
            <a:extLst>
              <a:ext uri="{FF2B5EF4-FFF2-40B4-BE49-F238E27FC236}">
                <a16:creationId xmlns:a16="http://schemas.microsoft.com/office/drawing/2014/main" id="{0FC82697-21FD-45AA-AF61-D9D6234A0F83}"/>
              </a:ext>
            </a:extLst>
          </p:cNvPr>
          <p:cNvSpPr txBox="1">
            <a:spLocks/>
          </p:cNvSpPr>
          <p:nvPr/>
        </p:nvSpPr>
        <p:spPr>
          <a:xfrm>
            <a:off x="116312" y="830016"/>
            <a:ext cx="6160201"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CENTROS INSTANTÁNEOS DE VELOCIDAD</a:t>
            </a:r>
          </a:p>
        </p:txBody>
      </p:sp>
    </p:spTree>
    <p:extLst>
      <p:ext uri="{BB962C8B-B14F-4D97-AF65-F5344CB8AC3E}">
        <p14:creationId xmlns:p14="http://schemas.microsoft.com/office/powerpoint/2010/main" val="2677274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upo 11">
            <a:extLst>
              <a:ext uri="{FF2B5EF4-FFF2-40B4-BE49-F238E27FC236}">
                <a16:creationId xmlns:a16="http://schemas.microsoft.com/office/drawing/2014/main" id="{FA214C9C-FBBE-4350-BA30-875D41C1A5B7}"/>
              </a:ext>
            </a:extLst>
          </p:cNvPr>
          <p:cNvGrpSpPr/>
          <p:nvPr/>
        </p:nvGrpSpPr>
        <p:grpSpPr>
          <a:xfrm>
            <a:off x="6311566" y="1462665"/>
            <a:ext cx="4873814" cy="3561455"/>
            <a:chOff x="5384838" y="1495587"/>
            <a:chExt cx="7338407" cy="5362413"/>
          </a:xfrm>
        </p:grpSpPr>
        <p:pic>
          <p:nvPicPr>
            <p:cNvPr id="3" name="Imagen 2" descr="Imagen que contiene mapa, barco, pequeño, tabla&#10;&#10;Descripción generada automáticamente">
              <a:extLst>
                <a:ext uri="{FF2B5EF4-FFF2-40B4-BE49-F238E27FC236}">
                  <a16:creationId xmlns:a16="http://schemas.microsoft.com/office/drawing/2014/main" id="{68D65658-2AB7-446A-8479-BD8F2BF0C3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4838" y="1495587"/>
              <a:ext cx="7338407" cy="5362413"/>
            </a:xfrm>
            <a:prstGeom prst="rect">
              <a:avLst/>
            </a:prstGeom>
          </p:spPr>
        </p:pic>
        <p:sp>
          <p:nvSpPr>
            <p:cNvPr id="10" name="Rectángulo 9">
              <a:extLst>
                <a:ext uri="{FF2B5EF4-FFF2-40B4-BE49-F238E27FC236}">
                  <a16:creationId xmlns:a16="http://schemas.microsoft.com/office/drawing/2014/main" id="{5A3CEBA2-EADC-4718-961E-BA8C2F7B23E7}"/>
                </a:ext>
              </a:extLst>
            </p:cNvPr>
            <p:cNvSpPr/>
            <p:nvPr/>
          </p:nvSpPr>
          <p:spPr>
            <a:xfrm>
              <a:off x="8104426" y="5258394"/>
              <a:ext cx="677624" cy="369332"/>
            </a:xfrm>
            <a:prstGeom prst="rect">
              <a:avLst/>
            </a:prstGeom>
            <a:noFill/>
          </p:spPr>
          <p:txBody>
            <a:bodyPr wrap="square" lIns="91440" tIns="45720" rIns="91440" bIns="45720">
              <a:spAutoFit/>
            </a:bodyPr>
            <a:lstStyle/>
            <a:p>
              <a:pPr algn="ctr"/>
              <a:r>
                <a:rPr lang="es-ES" b="0" i="1" cap="none" spc="0" dirty="0">
                  <a:ln w="0"/>
                  <a:solidFill>
                    <a:schemeClr val="tx1"/>
                  </a:solidFill>
                  <a:effectLst>
                    <a:outerShdw blurRad="38100" dist="19050" dir="2700000" algn="tl" rotWithShape="0">
                      <a:schemeClr val="dk1">
                        <a:alpha val="40000"/>
                      </a:schemeClr>
                    </a:outerShdw>
                  </a:effectLst>
                </a:rPr>
                <a:t>A</a:t>
              </a:r>
            </a:p>
          </p:txBody>
        </p:sp>
        <p:sp>
          <p:nvSpPr>
            <p:cNvPr id="13" name="Rectángulo 12">
              <a:extLst>
                <a:ext uri="{FF2B5EF4-FFF2-40B4-BE49-F238E27FC236}">
                  <a16:creationId xmlns:a16="http://schemas.microsoft.com/office/drawing/2014/main" id="{55873B23-9FD3-4E1C-8A0E-03AF9DB40B74}"/>
                </a:ext>
              </a:extLst>
            </p:cNvPr>
            <p:cNvSpPr/>
            <p:nvPr/>
          </p:nvSpPr>
          <p:spPr>
            <a:xfrm>
              <a:off x="9876076" y="4606784"/>
              <a:ext cx="677624" cy="369332"/>
            </a:xfrm>
            <a:prstGeom prst="rect">
              <a:avLst/>
            </a:prstGeom>
            <a:noFill/>
          </p:spPr>
          <p:txBody>
            <a:bodyPr wrap="square" lIns="91440" tIns="45720" rIns="91440" bIns="45720">
              <a:spAutoFit/>
            </a:bodyPr>
            <a:lstStyle/>
            <a:p>
              <a:pPr algn="ctr"/>
              <a:r>
                <a:rPr lang="es-ES" b="0" i="1" cap="none" spc="0" dirty="0">
                  <a:ln w="0"/>
                  <a:solidFill>
                    <a:schemeClr val="tx1"/>
                  </a:solidFill>
                  <a:effectLst>
                    <a:outerShdw blurRad="38100" dist="19050" dir="2700000" algn="tl" rotWithShape="0">
                      <a:schemeClr val="dk1">
                        <a:alpha val="40000"/>
                      </a:schemeClr>
                    </a:outerShdw>
                  </a:effectLst>
                </a:rPr>
                <a:t>B</a:t>
              </a:r>
            </a:p>
          </p:txBody>
        </p:sp>
      </p:grpSp>
      <mc:AlternateContent xmlns:mc="http://schemas.openxmlformats.org/markup-compatibility/2006" xmlns:a14="http://schemas.microsoft.com/office/drawing/2010/main">
        <mc:Choice Requires="a14">
          <p:sp>
            <p:nvSpPr>
              <p:cNvPr id="6" name="Rectángulo 5">
                <a:extLst>
                  <a:ext uri="{FF2B5EF4-FFF2-40B4-BE49-F238E27FC236}">
                    <a16:creationId xmlns:a16="http://schemas.microsoft.com/office/drawing/2014/main" id="{5F07F512-2D56-4239-9E16-1B029F72B7C5}"/>
                  </a:ext>
                </a:extLst>
              </p:cNvPr>
              <p:cNvSpPr/>
              <p:nvPr/>
            </p:nvSpPr>
            <p:spPr>
              <a:xfrm>
                <a:off x="232447" y="1815108"/>
                <a:ext cx="6096000" cy="4620367"/>
              </a:xfrm>
              <a:prstGeom prst="rect">
                <a:avLst/>
              </a:prstGeom>
            </p:spPr>
            <p:txBody>
              <a:bodyPr>
                <a:spAutoFit/>
              </a:bodyPr>
              <a:lstStyle/>
              <a:p>
                <a:r>
                  <a:rPr lang="es-AR" dirty="0">
                    <a:latin typeface="Bahnschrift" panose="020B0502040204020203" pitchFamily="34" charset="0"/>
                  </a:rPr>
                  <a:t>Determinamos el número de C.I.V del mecanismo </a:t>
                </a:r>
                <a:endParaRPr lang="es-AR" i="1"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r>
                        <a:rPr lang="es-AR" i="1">
                          <a:latin typeface="Cambria Math" panose="02040503050406030204" pitchFamily="18" charset="0"/>
                        </a:rPr>
                        <m:t>𝑁</m:t>
                      </m:r>
                      <m:r>
                        <a:rPr lang="es-AR" i="1">
                          <a:latin typeface="Cambria Math" panose="02040503050406030204" pitchFamily="18" charset="0"/>
                        </a:rPr>
                        <m:t>° </m:t>
                      </m:r>
                      <m:r>
                        <a:rPr lang="es-AR" i="1">
                          <a:latin typeface="Cambria Math" panose="02040503050406030204" pitchFamily="18" charset="0"/>
                        </a:rPr>
                        <m:t>𝐶</m:t>
                      </m:r>
                      <m:r>
                        <a:rPr lang="es-AR" i="1">
                          <a:latin typeface="Cambria Math" panose="02040503050406030204" pitchFamily="18" charset="0"/>
                        </a:rPr>
                        <m:t>.</m:t>
                      </m:r>
                      <m:r>
                        <a:rPr lang="es-AR" i="1">
                          <a:latin typeface="Cambria Math" panose="02040503050406030204" pitchFamily="18" charset="0"/>
                        </a:rPr>
                        <m:t>𝐼</m:t>
                      </m:r>
                      <m:r>
                        <a:rPr lang="es-AR" i="1">
                          <a:latin typeface="Cambria Math" panose="02040503050406030204" pitchFamily="18" charset="0"/>
                        </a:rPr>
                        <m:t>.</m:t>
                      </m:r>
                      <m:r>
                        <a:rPr lang="es-AR" i="1">
                          <a:latin typeface="Cambria Math" panose="02040503050406030204" pitchFamily="18" charset="0"/>
                        </a:rPr>
                        <m:t>𝑉</m:t>
                      </m:r>
                      <m:r>
                        <a:rPr lang="es-AR" i="1">
                          <a:latin typeface="Cambria Math" panose="02040503050406030204" pitchFamily="18" charset="0"/>
                        </a:rPr>
                        <m:t>=</m:t>
                      </m:r>
                      <m:f>
                        <m:fPr>
                          <m:ctrlPr>
                            <a:rPr lang="es-AR" i="1">
                              <a:latin typeface="Cambria Math" panose="02040503050406030204" pitchFamily="18" charset="0"/>
                            </a:rPr>
                          </m:ctrlPr>
                        </m:fPr>
                        <m:num>
                          <m:r>
                            <a:rPr lang="es-AR" i="1">
                              <a:latin typeface="Cambria Math" panose="02040503050406030204" pitchFamily="18" charset="0"/>
                            </a:rPr>
                            <m:t>𝑛</m:t>
                          </m:r>
                          <m:r>
                            <a:rPr lang="es-AR" i="1">
                              <a:latin typeface="Cambria Math" panose="02040503050406030204" pitchFamily="18" charset="0"/>
                            </a:rPr>
                            <m:t>.(</m:t>
                          </m:r>
                          <m:r>
                            <a:rPr lang="es-AR" i="1">
                              <a:latin typeface="Cambria Math" panose="02040503050406030204" pitchFamily="18" charset="0"/>
                            </a:rPr>
                            <m:t>𝑛</m:t>
                          </m:r>
                          <m:r>
                            <a:rPr lang="es-AR" i="1">
                              <a:latin typeface="Cambria Math" panose="02040503050406030204" pitchFamily="18" charset="0"/>
                            </a:rPr>
                            <m:t>−1)</m:t>
                          </m:r>
                        </m:num>
                        <m:den>
                          <m:r>
                            <a:rPr lang="es-AR" i="1">
                              <a:latin typeface="Cambria Math" panose="02040503050406030204" pitchFamily="18" charset="0"/>
                            </a:rPr>
                            <m:t>2</m:t>
                          </m:r>
                        </m:den>
                      </m:f>
                      <m:r>
                        <a:rPr lang="es-AR" i="1">
                          <a:latin typeface="Cambria Math" panose="02040503050406030204" pitchFamily="18" charset="0"/>
                        </a:rPr>
                        <m:t>=</m:t>
                      </m:r>
                      <m:f>
                        <m:fPr>
                          <m:ctrlPr>
                            <a:rPr lang="es-AR" i="1">
                              <a:latin typeface="Cambria Math" panose="02040503050406030204" pitchFamily="18" charset="0"/>
                            </a:rPr>
                          </m:ctrlPr>
                        </m:fPr>
                        <m:num>
                          <m:r>
                            <a:rPr lang="es-AR" i="1">
                              <a:latin typeface="Cambria Math" panose="02040503050406030204" pitchFamily="18" charset="0"/>
                            </a:rPr>
                            <m:t>4.(4−1)</m:t>
                          </m:r>
                        </m:num>
                        <m:den>
                          <m:r>
                            <a:rPr lang="es-AR" i="1">
                              <a:latin typeface="Cambria Math" panose="02040503050406030204" pitchFamily="18" charset="0"/>
                            </a:rPr>
                            <m:t>2</m:t>
                          </m:r>
                        </m:den>
                      </m:f>
                      <m:r>
                        <a:rPr lang="es-AR" i="1">
                          <a:latin typeface="Cambria Math" panose="02040503050406030204" pitchFamily="18" charset="0"/>
                        </a:rPr>
                        <m:t>=6</m:t>
                      </m:r>
                    </m:oMath>
                  </m:oMathPara>
                </a14:m>
                <a:endParaRPr lang="es-AR" dirty="0"/>
              </a:p>
              <a:p>
                <a:r>
                  <a:rPr lang="es-AR" dirty="0">
                    <a:latin typeface="Bahnschrift" panose="020B0502040204020203" pitchFamily="34" charset="0"/>
                  </a:rPr>
                  <a:t>En el punto A, se cumple la siguiente igualdad:</a:t>
                </a:r>
              </a:p>
              <a:p>
                <a:endParaRPr lang="es-AR" dirty="0">
                  <a:latin typeface="+mj-lt"/>
                </a:endParaRPr>
              </a:p>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i="1">
                              <a:latin typeface="Cambria Math" panose="02040503050406030204" pitchFamily="18" charset="0"/>
                            </a:rPr>
                            <m:t>𝑣</m:t>
                          </m:r>
                        </m:e>
                        <m:sub>
                          <m:r>
                            <a:rPr lang="en-US" b="0" i="1" smtClean="0">
                              <a:latin typeface="Cambria Math" panose="02040503050406030204" pitchFamily="18" charset="0"/>
                            </a:rPr>
                            <m:t>𝐴</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2</m:t>
                          </m:r>
                        </m:sub>
                      </m:sSub>
                      <m:r>
                        <a:rPr lang="es-AR" i="1">
                          <a:latin typeface="Cambria Math" panose="02040503050406030204" pitchFamily="18" charset="0"/>
                        </a:rPr>
                        <m:t>.</m:t>
                      </m:r>
                      <m:r>
                        <a:rPr lang="es-AR"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r>
                        <a:rPr lang="en-US" b="0" i="1" smtClean="0">
                          <a:latin typeface="Cambria Math" panose="02040503050406030204" pitchFamily="18" charset="0"/>
                        </a:rPr>
                        <m:t>         ;       </m:t>
                      </m:r>
                      <m:sSub>
                        <m:sSubPr>
                          <m:ctrlPr>
                            <a:rPr lang="es-AR" i="1">
                              <a:latin typeface="Cambria Math" panose="02040503050406030204" pitchFamily="18" charset="0"/>
                            </a:rPr>
                          </m:ctrlPr>
                        </m:sSubPr>
                        <m:e>
                          <m:r>
                            <a:rPr lang="es-AR" i="1">
                              <a:latin typeface="Cambria Math" panose="02040503050406030204" pitchFamily="18" charset="0"/>
                            </a:rPr>
                            <m:t>𝑣</m:t>
                          </m:r>
                        </m:e>
                        <m:sub>
                          <m:r>
                            <a:rPr lang="en-US" b="0" i="1" smtClean="0">
                              <a:latin typeface="Cambria Math" panose="02040503050406030204" pitchFamily="18" charset="0"/>
                            </a:rPr>
                            <m:t>𝐴</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m:t>
                              </m:r>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oMath>
                  </m:oMathPara>
                </a14:m>
                <a:endParaRPr lang="es-AR" dirty="0"/>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2</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13</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oMath>
                  </m:oMathPara>
                </a14:m>
                <a:endParaRPr lang="es-AR" dirty="0"/>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3</m:t>
                          </m:r>
                        </m:sub>
                      </m:sSub>
                      <m:r>
                        <a:rPr lang="es-AR" i="1">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2</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13</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den>
                      </m:f>
                    </m:oMath>
                  </m:oMathPara>
                </a14:m>
                <a:endParaRPr lang="es-AR" dirty="0"/>
              </a:p>
              <a:p>
                <a:r>
                  <a:rPr lang="es-AR" b="1" dirty="0"/>
                  <a:t> </a:t>
                </a:r>
              </a:p>
              <a:p>
                <a:r>
                  <a:rPr lang="es-AR" dirty="0">
                    <a:latin typeface="Bahnschrift" panose="020B0502040204020203" pitchFamily="34" charset="0"/>
                  </a:rPr>
                  <a:t>En el punto B, se cumple la siguiente igualdad:</a:t>
                </a:r>
              </a:p>
              <a:p>
                <a:endParaRPr lang="es-AR" dirty="0"/>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𝑣</m:t>
                          </m:r>
                        </m:e>
                        <m:sub>
                          <m:r>
                            <a:rPr lang="en-US" b="0" i="1" smtClean="0">
                              <a:latin typeface="Cambria Math" panose="02040503050406030204" pitchFamily="18" charset="0"/>
                            </a:rPr>
                            <m:t>𝐵</m:t>
                          </m:r>
                        </m:sub>
                      </m:sSub>
                      <m:r>
                        <a:rPr lang="es-AR" i="1">
                          <a:latin typeface="Cambria Math" panose="02040503050406030204" pitchFamily="18" charset="0"/>
                        </a:rPr>
                        <m:t>=</m:t>
                      </m:r>
                      <m:sSub>
                        <m:sSubPr>
                          <m:ctrlPr>
                            <a:rPr lang="en-US" b="0" i="1" smtClean="0">
                              <a:latin typeface="Cambria Math" panose="02040503050406030204" pitchFamily="18" charset="0"/>
                            </a:rPr>
                          </m:ctrlPr>
                        </m:sSubPr>
                        <m:e>
                          <m:r>
                            <a:rPr lang="es-AR" i="1">
                              <a:latin typeface="Cambria Math" panose="02040503050406030204" pitchFamily="18" charset="0"/>
                            </a:rPr>
                            <m:t>𝜔</m:t>
                          </m:r>
                        </m:e>
                        <m:sub>
                          <m:r>
                            <a:rPr lang="en-US" b="0" i="1" smtClean="0">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b="0" i="1" smtClean="0">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1</m:t>
                              </m:r>
                              <m:r>
                                <a:rPr lang="en-US" i="1">
                                  <a:latin typeface="Cambria Math" panose="02040503050406030204" pitchFamily="18" charset="0"/>
                                </a:rPr>
                                <m:t>3</m:t>
                              </m:r>
                            </m:sub>
                          </m:sSub>
                        </m:sub>
                      </m:sSub>
                      <m:r>
                        <a:rPr lang="en-US" b="0" i="1" smtClean="0">
                          <a:latin typeface="Cambria Math" panose="02040503050406030204" pitchFamily="18" charset="0"/>
                        </a:rPr>
                        <m:t>         ;        </m:t>
                      </m:r>
                      <m:sSub>
                        <m:sSubPr>
                          <m:ctrlPr>
                            <a:rPr lang="es-AR" i="1">
                              <a:latin typeface="Cambria Math" panose="02040503050406030204" pitchFamily="18" charset="0"/>
                            </a:rPr>
                          </m:ctrlPr>
                        </m:sSubPr>
                        <m:e>
                          <m:r>
                            <a:rPr lang="es-AR" i="1">
                              <a:latin typeface="Cambria Math" panose="02040503050406030204" pitchFamily="18" charset="0"/>
                            </a:rPr>
                            <m:t>𝑣</m:t>
                          </m:r>
                        </m:e>
                        <m:sub>
                          <m:r>
                            <a:rPr lang="es-AR" b="0" i="1" smtClean="0">
                              <a:latin typeface="Cambria Math" panose="02040503050406030204" pitchFamily="18" charset="0"/>
                            </a:rPr>
                            <m:t>𝐵</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smtClean="0">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m:t>
                              </m:r>
                              <m:r>
                                <a:rPr lang="en-US" b="0" i="1" smtClean="0">
                                  <a:latin typeface="Cambria Math" panose="02040503050406030204" pitchFamily="18" charset="0"/>
                                </a:rPr>
                                <m:t>4</m:t>
                              </m:r>
                            </m:sub>
                          </m:sSub>
                        </m:sub>
                      </m:sSub>
                    </m:oMath>
                  </m:oMathPara>
                </a14:m>
                <a:endParaRPr lang="es-AR"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AR" i="1">
                              <a:latin typeface="Cambria Math" panose="02040503050406030204" pitchFamily="18" charset="0"/>
                            </a:rPr>
                            <m:t>𝜔</m:t>
                          </m:r>
                        </m:e>
                        <m:sub>
                          <m:r>
                            <a:rPr lang="en-US"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13</m:t>
                              </m:r>
                            </m:sub>
                          </m:sSub>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14</m:t>
                              </m:r>
                            </m:sub>
                          </m:sSub>
                        </m:sub>
                      </m:sSub>
                    </m:oMath>
                  </m:oMathPara>
                </a14:m>
                <a:endParaRPr lang="es-AR" dirty="0"/>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f>
                        <m:fPr>
                          <m:ctrlPr>
                            <a:rPr lang="es-AR" i="1">
                              <a:latin typeface="Cambria Math" panose="02040503050406030204" pitchFamily="18" charset="0"/>
                            </a:rPr>
                          </m:ctrlPr>
                        </m:fPr>
                        <m:num>
                          <m:sSub>
                            <m:sSubPr>
                              <m:ctrlPr>
                                <a:rPr lang="en-US" i="1">
                                  <a:latin typeface="Cambria Math" panose="02040503050406030204" pitchFamily="18" charset="0"/>
                                </a:rPr>
                              </m:ctrlPr>
                            </m:sSubPr>
                            <m:e>
                              <m:r>
                                <a:rPr lang="es-AR" i="1">
                                  <a:latin typeface="Cambria Math" panose="02040503050406030204" pitchFamily="18" charset="0"/>
                                </a:rPr>
                                <m:t>𝜔</m:t>
                              </m:r>
                            </m:e>
                            <m:sub>
                              <m:r>
                                <a:rPr lang="en-US"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13</m:t>
                                  </m:r>
                                </m:sub>
                              </m:sSub>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14</m:t>
                                  </m:r>
                                </m:sub>
                              </m:sSub>
                            </m:sub>
                          </m:sSub>
                        </m:den>
                      </m:f>
                    </m:oMath>
                  </m:oMathPara>
                </a14:m>
                <a:endParaRPr lang="es-AR" dirty="0"/>
              </a:p>
            </p:txBody>
          </p:sp>
        </mc:Choice>
        <mc:Fallback xmlns="">
          <p:sp>
            <p:nvSpPr>
              <p:cNvPr id="6" name="Rectángulo 5">
                <a:extLst>
                  <a:ext uri="{FF2B5EF4-FFF2-40B4-BE49-F238E27FC236}">
                    <a16:creationId xmlns:a16="http://schemas.microsoft.com/office/drawing/2014/main" id="{5F07F512-2D56-4239-9E16-1B029F72B7C5}"/>
                  </a:ext>
                </a:extLst>
              </p:cNvPr>
              <p:cNvSpPr>
                <a:spLocks noRot="1" noChangeAspect="1" noMove="1" noResize="1" noEditPoints="1" noAdjustHandles="1" noChangeArrowheads="1" noChangeShapeType="1" noTextEdit="1"/>
              </p:cNvSpPr>
              <p:nvPr/>
            </p:nvSpPr>
            <p:spPr>
              <a:xfrm>
                <a:off x="232447" y="1815108"/>
                <a:ext cx="6096000" cy="4620367"/>
              </a:xfrm>
              <a:prstGeom prst="rect">
                <a:avLst/>
              </a:prstGeom>
              <a:blipFill>
                <a:blip r:embed="rId3"/>
                <a:stretch>
                  <a:fillRect l="-800" t="-792"/>
                </a:stretch>
              </a:blipFill>
            </p:spPr>
            <p:txBody>
              <a:bodyPr/>
              <a:lstStyle/>
              <a:p>
                <a:r>
                  <a:rPr lang="es-AR">
                    <a:noFill/>
                  </a:rPr>
                  <a:t> </a:t>
                </a:r>
              </a:p>
            </p:txBody>
          </p:sp>
        </mc:Fallback>
      </mc:AlternateContent>
      <p:sp>
        <p:nvSpPr>
          <p:cNvPr id="16" name="Rectángulo 15">
            <a:extLst>
              <a:ext uri="{FF2B5EF4-FFF2-40B4-BE49-F238E27FC236}">
                <a16:creationId xmlns:a16="http://schemas.microsoft.com/office/drawing/2014/main" id="{84F4644A-F138-4B61-A7CA-E2C0185C1C8A}"/>
              </a:ext>
            </a:extLst>
          </p:cNvPr>
          <p:cNvSpPr/>
          <p:nvPr/>
        </p:nvSpPr>
        <p:spPr>
          <a:xfrm>
            <a:off x="1315141" y="2941866"/>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2</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7" name="Rectángulo 16">
            <a:extLst>
              <a:ext uri="{FF2B5EF4-FFF2-40B4-BE49-F238E27FC236}">
                <a16:creationId xmlns:a16="http://schemas.microsoft.com/office/drawing/2014/main" id="{AB7B5E34-B493-433A-9AD5-F07F3C0092DF}"/>
              </a:ext>
            </a:extLst>
          </p:cNvPr>
          <p:cNvSpPr/>
          <p:nvPr/>
        </p:nvSpPr>
        <p:spPr>
          <a:xfrm>
            <a:off x="3646959" y="2941866"/>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3</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8" name="Rectángulo 17">
            <a:extLst>
              <a:ext uri="{FF2B5EF4-FFF2-40B4-BE49-F238E27FC236}">
                <a16:creationId xmlns:a16="http://schemas.microsoft.com/office/drawing/2014/main" id="{7628224D-DFC6-4981-B30E-3B326B3AB48C}"/>
              </a:ext>
            </a:extLst>
          </p:cNvPr>
          <p:cNvSpPr/>
          <p:nvPr/>
        </p:nvSpPr>
        <p:spPr>
          <a:xfrm>
            <a:off x="1276178" y="4910741"/>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3</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9" name="Rectángulo 18">
            <a:extLst>
              <a:ext uri="{FF2B5EF4-FFF2-40B4-BE49-F238E27FC236}">
                <a16:creationId xmlns:a16="http://schemas.microsoft.com/office/drawing/2014/main" id="{05354FFA-7AE2-47C8-843E-CDAB50F1470A}"/>
              </a:ext>
            </a:extLst>
          </p:cNvPr>
          <p:cNvSpPr/>
          <p:nvPr/>
        </p:nvSpPr>
        <p:spPr>
          <a:xfrm>
            <a:off x="3653667" y="4910741"/>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4</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mc:AlternateContent xmlns:mc="http://schemas.openxmlformats.org/markup-compatibility/2006" xmlns:a14="http://schemas.microsoft.com/office/drawing/2010/main">
        <mc:Choice Requires="a14">
          <p:sp>
            <p:nvSpPr>
              <p:cNvPr id="20" name="Rectángulo 19">
                <a:extLst>
                  <a:ext uri="{FF2B5EF4-FFF2-40B4-BE49-F238E27FC236}">
                    <a16:creationId xmlns:a16="http://schemas.microsoft.com/office/drawing/2014/main" id="{DA1FB499-DB30-4397-90BF-D984E1649E0F}"/>
                  </a:ext>
                </a:extLst>
              </p:cNvPr>
              <p:cNvSpPr/>
              <p:nvPr/>
            </p:nvSpPr>
            <p:spPr>
              <a:xfrm>
                <a:off x="6046400" y="5139333"/>
                <a:ext cx="6096000" cy="1539460"/>
              </a:xfrm>
              <a:prstGeom prst="rect">
                <a:avLst/>
              </a:prstGeom>
            </p:spPr>
            <p:txBody>
              <a:bodyPr>
                <a:spAutoFit/>
              </a:bodyPr>
              <a:lstStyle/>
              <a:p>
                <a:r>
                  <a:rPr lang="es-AR" dirty="0">
                    <a:latin typeface="Bahnschrift" panose="020B0502040204020203" pitchFamily="34" charset="0"/>
                  </a:rPr>
                  <a:t>En el punto I</a:t>
                </a:r>
                <a:r>
                  <a:rPr lang="es-AR" baseline="-25000" dirty="0">
                    <a:latin typeface="Bahnschrift" panose="020B0502040204020203" pitchFamily="34" charset="0"/>
                  </a:rPr>
                  <a:t>24</a:t>
                </a:r>
                <a:r>
                  <a:rPr lang="es-AR" dirty="0">
                    <a:latin typeface="Bahnschrift" panose="020B0502040204020203" pitchFamily="34" charset="0"/>
                  </a:rPr>
                  <a:t> se cumple la siguiente igualdad:</a:t>
                </a:r>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𝑣</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24</m:t>
                              </m:r>
                            </m:sub>
                          </m:sSub>
                        </m:sub>
                      </m:sSub>
                      <m:r>
                        <a:rPr lang="es-AR" i="1">
                          <a:latin typeface="Cambria Math" panose="02040503050406030204" pitchFamily="18" charset="0"/>
                        </a:rPr>
                        <m:t>=</m:t>
                      </m:r>
                      <m:sSub>
                        <m:sSubPr>
                          <m:ctrlPr>
                            <a:rPr lang="en-US" b="0" i="1" smtClean="0">
                              <a:latin typeface="Cambria Math" panose="02040503050406030204" pitchFamily="18" charset="0"/>
                            </a:rPr>
                          </m:ctrlPr>
                        </m:sSubPr>
                        <m:e>
                          <m:r>
                            <a:rPr lang="es-AR" i="1">
                              <a:latin typeface="Cambria Math" panose="02040503050406030204" pitchFamily="18" charset="0"/>
                            </a:rPr>
                            <m:t>𝜔</m:t>
                          </m:r>
                        </m:e>
                        <m:sub>
                          <m:r>
                            <a:rPr lang="en-US" b="0" i="1" smtClean="0">
                              <a:latin typeface="Cambria Math" panose="02040503050406030204" pitchFamily="18" charset="0"/>
                            </a:rPr>
                            <m:t>2</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b="0" i="1" smtClean="0">
                                  <a:latin typeface="Cambria Math" panose="02040503050406030204" pitchFamily="18" charset="0"/>
                                </a:rPr>
                                <m:t>24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12</m:t>
                              </m:r>
                            </m:sub>
                          </m:sSub>
                        </m:sub>
                      </m:sSub>
                      <m:r>
                        <a:rPr lang="en-US" b="0" i="1" smtClean="0">
                          <a:latin typeface="Cambria Math" panose="02040503050406030204" pitchFamily="18" charset="0"/>
                        </a:rPr>
                        <m:t>         ;        </m:t>
                      </m:r>
                      <m:sSub>
                        <m:sSubPr>
                          <m:ctrlPr>
                            <a:rPr lang="es-AR" i="1">
                              <a:latin typeface="Cambria Math" panose="02040503050406030204" pitchFamily="18" charset="0"/>
                            </a:rPr>
                          </m:ctrlPr>
                        </m:sSubPr>
                        <m:e>
                          <m:r>
                            <a:rPr lang="es-AR"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24</m:t>
                              </m:r>
                            </m:sub>
                          </m:sSub>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b="0" i="1" smtClean="0">
                                  <a:latin typeface="Cambria Math" panose="02040503050406030204" pitchFamily="18" charset="0"/>
                                </a:rPr>
                                <m:t>2</m:t>
                              </m:r>
                              <m:r>
                                <a:rPr lang="en-US" i="1">
                                  <a:latin typeface="Cambria Math" panose="02040503050406030204" pitchFamily="18" charset="0"/>
                                </a:rPr>
                                <m:t>4</m:t>
                              </m:r>
                            </m:sub>
                          </m:sSub>
                          <m:sSub>
                            <m:sSubPr>
                              <m:ctrlPr>
                                <a:rPr lang="en-US" i="1" smtClean="0">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m:t>
                              </m:r>
                              <m:r>
                                <a:rPr lang="en-US" b="0" i="1" smtClean="0">
                                  <a:latin typeface="Cambria Math" panose="02040503050406030204" pitchFamily="18" charset="0"/>
                                </a:rPr>
                                <m:t>4</m:t>
                              </m:r>
                            </m:sub>
                          </m:sSub>
                        </m:sub>
                      </m:sSub>
                    </m:oMath>
                  </m:oMathPara>
                </a14:m>
                <a:endParaRPr lang="es-AR"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AR" i="1">
                              <a:latin typeface="Cambria Math" panose="02040503050406030204" pitchFamily="18" charset="0"/>
                            </a:rPr>
                            <m:t>𝜔</m:t>
                          </m:r>
                        </m:e>
                        <m:sub>
                          <m:r>
                            <a:rPr lang="en-US" i="1">
                              <a:latin typeface="Cambria Math" panose="02040503050406030204" pitchFamily="18" charset="0"/>
                            </a:rPr>
                            <m:t>2</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24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12</m:t>
                              </m:r>
                            </m:sub>
                          </m:sSub>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24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14</m:t>
                              </m:r>
                            </m:sub>
                          </m:sSub>
                        </m:sub>
                      </m:sSub>
                    </m:oMath>
                  </m:oMathPara>
                </a14:m>
                <a:endParaRPr lang="es-AR" dirty="0"/>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f>
                        <m:fPr>
                          <m:ctrlPr>
                            <a:rPr lang="es-AR" i="1">
                              <a:latin typeface="Cambria Math" panose="02040503050406030204" pitchFamily="18" charset="0"/>
                            </a:rPr>
                          </m:ctrlPr>
                        </m:fPr>
                        <m:num>
                          <m:sSub>
                            <m:sSubPr>
                              <m:ctrlPr>
                                <a:rPr lang="en-US" i="1">
                                  <a:latin typeface="Cambria Math" panose="02040503050406030204" pitchFamily="18" charset="0"/>
                                </a:rPr>
                              </m:ctrlPr>
                            </m:sSubPr>
                            <m:e>
                              <m:r>
                                <a:rPr lang="es-AR" i="1">
                                  <a:latin typeface="Cambria Math" panose="02040503050406030204" pitchFamily="18" charset="0"/>
                                </a:rPr>
                                <m:t>𝜔</m:t>
                              </m:r>
                            </m:e>
                            <m:sub>
                              <m:r>
                                <a:rPr lang="en-US" i="1">
                                  <a:latin typeface="Cambria Math" panose="02040503050406030204" pitchFamily="18" charset="0"/>
                                </a:rPr>
                                <m:t>2</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24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12</m:t>
                                  </m:r>
                                </m:sub>
                              </m:sSub>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24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14</m:t>
                                  </m:r>
                                </m:sub>
                              </m:sSub>
                            </m:sub>
                          </m:sSub>
                        </m:den>
                      </m:f>
                    </m:oMath>
                  </m:oMathPara>
                </a14:m>
                <a:endParaRPr lang="es-AR" dirty="0"/>
              </a:p>
            </p:txBody>
          </p:sp>
        </mc:Choice>
        <mc:Fallback xmlns="">
          <p:sp>
            <p:nvSpPr>
              <p:cNvPr id="20" name="Rectángulo 19">
                <a:extLst>
                  <a:ext uri="{FF2B5EF4-FFF2-40B4-BE49-F238E27FC236}">
                    <a16:creationId xmlns:a16="http://schemas.microsoft.com/office/drawing/2014/main" id="{DA1FB499-DB30-4397-90BF-D984E1649E0F}"/>
                  </a:ext>
                </a:extLst>
              </p:cNvPr>
              <p:cNvSpPr>
                <a:spLocks noRot="1" noChangeAspect="1" noMove="1" noResize="1" noEditPoints="1" noAdjustHandles="1" noChangeArrowheads="1" noChangeShapeType="1" noTextEdit="1"/>
              </p:cNvSpPr>
              <p:nvPr/>
            </p:nvSpPr>
            <p:spPr>
              <a:xfrm>
                <a:off x="6046400" y="5139333"/>
                <a:ext cx="6096000" cy="1539460"/>
              </a:xfrm>
              <a:prstGeom prst="rect">
                <a:avLst/>
              </a:prstGeom>
              <a:blipFill>
                <a:blip r:embed="rId4"/>
                <a:stretch>
                  <a:fillRect l="-900" t="-1976"/>
                </a:stretch>
              </a:blipFill>
            </p:spPr>
            <p:txBody>
              <a:bodyPr/>
              <a:lstStyle/>
              <a:p>
                <a:r>
                  <a:rPr lang="es-AR">
                    <a:noFill/>
                  </a:rPr>
                  <a:t> </a:t>
                </a:r>
              </a:p>
            </p:txBody>
          </p:sp>
        </mc:Fallback>
      </mc:AlternateContent>
      <p:sp>
        <p:nvSpPr>
          <p:cNvPr id="21" name="Rectángulo 20">
            <a:extLst>
              <a:ext uri="{FF2B5EF4-FFF2-40B4-BE49-F238E27FC236}">
                <a16:creationId xmlns:a16="http://schemas.microsoft.com/office/drawing/2014/main" id="{D7CDA378-787D-4825-926E-31E510545943}"/>
              </a:ext>
            </a:extLst>
          </p:cNvPr>
          <p:cNvSpPr/>
          <p:nvPr/>
        </p:nvSpPr>
        <p:spPr>
          <a:xfrm>
            <a:off x="6843761" y="6112364"/>
            <a:ext cx="1572974" cy="584775"/>
          </a:xfrm>
          <a:prstGeom prst="rect">
            <a:avLst/>
          </a:prstGeom>
          <a:noFill/>
        </p:spPr>
        <p:txBody>
          <a:bodyPr wrap="square" lIns="91440" tIns="45720" rIns="91440" bIns="45720">
            <a:spAutoFit/>
          </a:bodyPr>
          <a:lstStyle/>
          <a:p>
            <a:pPr algn="ctr"/>
            <a:r>
              <a:rPr lang="en-US"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Relaci</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ón</a:t>
            </a:r>
            <a:r>
              <a:rPr lang="es-AR"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 de Transmisión</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22" name="Rectángulo 21">
            <a:extLst>
              <a:ext uri="{FF2B5EF4-FFF2-40B4-BE49-F238E27FC236}">
                <a16:creationId xmlns:a16="http://schemas.microsoft.com/office/drawing/2014/main" id="{72125E5A-CAC1-4C76-9E8E-517AD5B1B35D}"/>
              </a:ext>
            </a:extLst>
          </p:cNvPr>
          <p:cNvSpPr/>
          <p:nvPr/>
        </p:nvSpPr>
        <p:spPr>
          <a:xfrm>
            <a:off x="6250093" y="5718771"/>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2</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23" name="Rectángulo 22">
            <a:extLst>
              <a:ext uri="{FF2B5EF4-FFF2-40B4-BE49-F238E27FC236}">
                <a16:creationId xmlns:a16="http://schemas.microsoft.com/office/drawing/2014/main" id="{30A67077-BAFD-4C66-8417-B7439D0FCF98}"/>
              </a:ext>
            </a:extLst>
          </p:cNvPr>
          <p:cNvSpPr/>
          <p:nvPr/>
        </p:nvSpPr>
        <p:spPr>
          <a:xfrm>
            <a:off x="9921508" y="5746956"/>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4</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25" name="Título 1">
            <a:extLst>
              <a:ext uri="{FF2B5EF4-FFF2-40B4-BE49-F238E27FC236}">
                <a16:creationId xmlns:a16="http://schemas.microsoft.com/office/drawing/2014/main" id="{62C5AE4E-1EA6-458F-AD60-CFC25E410FE5}"/>
              </a:ext>
            </a:extLst>
          </p:cNvPr>
          <p:cNvSpPr txBox="1">
            <a:spLocks/>
          </p:cNvSpPr>
          <p:nvPr/>
        </p:nvSpPr>
        <p:spPr>
          <a:xfrm>
            <a:off x="107435" y="1075418"/>
            <a:ext cx="11303424" cy="665825"/>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s-AR" sz="2000" b="1" dirty="0">
                <a:solidFill>
                  <a:schemeClr val="tx1">
                    <a:lumMod val="75000"/>
                    <a:lumOff val="25000"/>
                  </a:schemeClr>
                </a:solidFill>
                <a:latin typeface="Bahnschrift" panose="020B0502040204020203" pitchFamily="34" charset="0"/>
              </a:rPr>
              <a:t>Aplicación del concepto de CI para la determinación de velocidades / Mecanismo Cuadrilátero Articulado</a:t>
            </a:r>
          </a:p>
        </p:txBody>
      </p:sp>
      <p:sp>
        <p:nvSpPr>
          <p:cNvPr id="27" name="Título 1">
            <a:extLst>
              <a:ext uri="{FF2B5EF4-FFF2-40B4-BE49-F238E27FC236}">
                <a16:creationId xmlns:a16="http://schemas.microsoft.com/office/drawing/2014/main" id="{0FE6ACCD-CB88-4940-84A6-7227F92F1630}"/>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8" name="Marcador de pie de página 2">
            <a:extLst>
              <a:ext uri="{FF2B5EF4-FFF2-40B4-BE49-F238E27FC236}">
                <a16:creationId xmlns:a16="http://schemas.microsoft.com/office/drawing/2014/main" id="{F3038AFA-F28A-45ED-83DD-06DC0BCFD2CF}"/>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9" name="Rectángulo 28">
            <a:extLst>
              <a:ext uri="{FF2B5EF4-FFF2-40B4-BE49-F238E27FC236}">
                <a16:creationId xmlns:a16="http://schemas.microsoft.com/office/drawing/2014/main" id="{D8D68790-F15A-452C-AB54-55A6178ECF28}"/>
              </a:ext>
            </a:extLst>
          </p:cNvPr>
          <p:cNvSpPr/>
          <p:nvPr/>
        </p:nvSpPr>
        <p:spPr>
          <a:xfrm>
            <a:off x="-2" y="853440"/>
            <a:ext cx="616020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0" name="Marcador de contenido 2">
            <a:extLst>
              <a:ext uri="{FF2B5EF4-FFF2-40B4-BE49-F238E27FC236}">
                <a16:creationId xmlns:a16="http://schemas.microsoft.com/office/drawing/2014/main" id="{C82E3627-D5B6-42DA-A5CF-A0D79C22EC11}"/>
              </a:ext>
            </a:extLst>
          </p:cNvPr>
          <p:cNvSpPr txBox="1">
            <a:spLocks/>
          </p:cNvSpPr>
          <p:nvPr/>
        </p:nvSpPr>
        <p:spPr>
          <a:xfrm>
            <a:off x="116312" y="830016"/>
            <a:ext cx="6160201"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CENTROS INSTANTÁNEOS DE VELOCIDAD</a:t>
            </a:r>
          </a:p>
        </p:txBody>
      </p:sp>
    </p:spTree>
    <p:extLst>
      <p:ext uri="{BB962C8B-B14F-4D97-AF65-F5344CB8AC3E}">
        <p14:creationId xmlns:p14="http://schemas.microsoft.com/office/powerpoint/2010/main" val="1313460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735F4289-9800-4EC3-A9C2-BB29E9D0570D}"/>
              </a:ext>
            </a:extLst>
          </p:cNvPr>
          <p:cNvGrpSpPr/>
          <p:nvPr/>
        </p:nvGrpSpPr>
        <p:grpSpPr>
          <a:xfrm>
            <a:off x="6601436" y="1427252"/>
            <a:ext cx="4395386" cy="5195824"/>
            <a:chOff x="6996514" y="1450191"/>
            <a:chExt cx="4395386" cy="5195824"/>
          </a:xfrm>
        </p:grpSpPr>
        <p:pic>
          <p:nvPicPr>
            <p:cNvPr id="7" name="Imagen 6" descr="Imagen que contiene tabla, foto, pequeño, barco&#10;&#10;Descripción generada automáticamente">
              <a:extLst>
                <a:ext uri="{FF2B5EF4-FFF2-40B4-BE49-F238E27FC236}">
                  <a16:creationId xmlns:a16="http://schemas.microsoft.com/office/drawing/2014/main" id="{F7D42036-CBD5-43BA-AC46-1E448D4BB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6514" y="1450191"/>
              <a:ext cx="4395386" cy="5195824"/>
            </a:xfrm>
            <a:prstGeom prst="rect">
              <a:avLst/>
            </a:prstGeom>
          </p:spPr>
        </p:pic>
        <p:sp>
          <p:nvSpPr>
            <p:cNvPr id="10" name="Rectángulo 9">
              <a:extLst>
                <a:ext uri="{FF2B5EF4-FFF2-40B4-BE49-F238E27FC236}">
                  <a16:creationId xmlns:a16="http://schemas.microsoft.com/office/drawing/2014/main" id="{5A3CEBA2-EADC-4718-961E-BA8C2F7B23E7}"/>
                </a:ext>
              </a:extLst>
            </p:cNvPr>
            <p:cNvSpPr/>
            <p:nvPr/>
          </p:nvSpPr>
          <p:spPr>
            <a:xfrm>
              <a:off x="8075851" y="4606784"/>
              <a:ext cx="677624" cy="369332"/>
            </a:xfrm>
            <a:prstGeom prst="rect">
              <a:avLst/>
            </a:prstGeom>
            <a:noFill/>
          </p:spPr>
          <p:txBody>
            <a:bodyPr wrap="square" lIns="91440" tIns="45720" rIns="91440" bIns="45720">
              <a:spAutoFit/>
            </a:bodyPr>
            <a:lstStyle/>
            <a:p>
              <a:pPr algn="ctr"/>
              <a:r>
                <a:rPr lang="es-ES" b="0" i="1" cap="none" spc="0" dirty="0">
                  <a:ln w="0"/>
                  <a:solidFill>
                    <a:schemeClr val="tx1"/>
                  </a:solidFill>
                  <a:effectLst>
                    <a:outerShdw blurRad="38100" dist="19050" dir="2700000" algn="tl" rotWithShape="0">
                      <a:schemeClr val="dk1">
                        <a:alpha val="40000"/>
                      </a:schemeClr>
                    </a:outerShdw>
                  </a:effectLst>
                </a:rPr>
                <a:t>A</a:t>
              </a:r>
            </a:p>
          </p:txBody>
        </p:sp>
        <p:sp>
          <p:nvSpPr>
            <p:cNvPr id="13" name="Rectángulo 12">
              <a:extLst>
                <a:ext uri="{FF2B5EF4-FFF2-40B4-BE49-F238E27FC236}">
                  <a16:creationId xmlns:a16="http://schemas.microsoft.com/office/drawing/2014/main" id="{55873B23-9FD3-4E1C-8A0E-03AF9DB40B74}"/>
                </a:ext>
              </a:extLst>
            </p:cNvPr>
            <p:cNvSpPr/>
            <p:nvPr/>
          </p:nvSpPr>
          <p:spPr>
            <a:xfrm>
              <a:off x="9466501" y="3604688"/>
              <a:ext cx="677624" cy="369332"/>
            </a:xfrm>
            <a:prstGeom prst="rect">
              <a:avLst/>
            </a:prstGeom>
            <a:noFill/>
          </p:spPr>
          <p:txBody>
            <a:bodyPr wrap="square" lIns="91440" tIns="45720" rIns="91440" bIns="45720">
              <a:spAutoFit/>
            </a:bodyPr>
            <a:lstStyle/>
            <a:p>
              <a:pPr algn="ctr"/>
              <a:r>
                <a:rPr lang="es-ES" b="0" i="1" cap="none" spc="0" dirty="0">
                  <a:ln w="0"/>
                  <a:solidFill>
                    <a:schemeClr val="tx1"/>
                  </a:solidFill>
                  <a:effectLst>
                    <a:outerShdw blurRad="38100" dist="19050" dir="2700000" algn="tl" rotWithShape="0">
                      <a:schemeClr val="dk1">
                        <a:alpha val="40000"/>
                      </a:schemeClr>
                    </a:outerShdw>
                  </a:effectLst>
                </a:rPr>
                <a:t>B</a:t>
              </a:r>
            </a:p>
          </p:txBody>
        </p:sp>
      </p:grpSp>
      <mc:AlternateContent xmlns:mc="http://schemas.openxmlformats.org/markup-compatibility/2006" xmlns:a14="http://schemas.microsoft.com/office/drawing/2010/main">
        <mc:Choice Requires="a14">
          <p:sp>
            <p:nvSpPr>
              <p:cNvPr id="6" name="Rectángulo 5">
                <a:extLst>
                  <a:ext uri="{FF2B5EF4-FFF2-40B4-BE49-F238E27FC236}">
                    <a16:creationId xmlns:a16="http://schemas.microsoft.com/office/drawing/2014/main" id="{5F07F512-2D56-4239-9E16-1B029F72B7C5}"/>
                  </a:ext>
                </a:extLst>
              </p:cNvPr>
              <p:cNvSpPr/>
              <p:nvPr/>
            </p:nvSpPr>
            <p:spPr>
              <a:xfrm>
                <a:off x="397999" y="1557559"/>
                <a:ext cx="6096000" cy="5174365"/>
              </a:xfrm>
              <a:prstGeom prst="rect">
                <a:avLst/>
              </a:prstGeom>
            </p:spPr>
            <p:txBody>
              <a:bodyPr>
                <a:spAutoFit/>
              </a:bodyPr>
              <a:lstStyle/>
              <a:p>
                <a:r>
                  <a:rPr lang="es-AR" dirty="0">
                    <a:latin typeface="Bahnschrift" panose="020B0502040204020203" pitchFamily="34" charset="0"/>
                  </a:rPr>
                  <a:t>Determinamos el número de C.I.V del mecanismo</a:t>
                </a:r>
              </a:p>
              <a:p>
                <a:r>
                  <a:rPr lang="es-AR" dirty="0">
                    <a:latin typeface="Bahnschrift" panose="020B0502040204020203" pitchFamily="34" charset="0"/>
                  </a:rPr>
                  <a:t> </a:t>
                </a:r>
                <a:endParaRPr lang="es-AR" i="1"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r>
                        <a:rPr lang="es-AR" i="1">
                          <a:latin typeface="Cambria Math" panose="02040503050406030204" pitchFamily="18" charset="0"/>
                        </a:rPr>
                        <m:t>𝑁</m:t>
                      </m:r>
                      <m:r>
                        <a:rPr lang="es-AR" i="1">
                          <a:latin typeface="Cambria Math" panose="02040503050406030204" pitchFamily="18" charset="0"/>
                        </a:rPr>
                        <m:t>° </m:t>
                      </m:r>
                      <m:r>
                        <a:rPr lang="es-AR" i="1">
                          <a:latin typeface="Cambria Math" panose="02040503050406030204" pitchFamily="18" charset="0"/>
                        </a:rPr>
                        <m:t>𝐶</m:t>
                      </m:r>
                      <m:r>
                        <a:rPr lang="es-AR" i="1">
                          <a:latin typeface="Cambria Math" panose="02040503050406030204" pitchFamily="18" charset="0"/>
                        </a:rPr>
                        <m:t>.</m:t>
                      </m:r>
                      <m:r>
                        <a:rPr lang="es-AR" i="1">
                          <a:latin typeface="Cambria Math" panose="02040503050406030204" pitchFamily="18" charset="0"/>
                        </a:rPr>
                        <m:t>𝐼</m:t>
                      </m:r>
                      <m:r>
                        <a:rPr lang="es-AR" i="1">
                          <a:latin typeface="Cambria Math" panose="02040503050406030204" pitchFamily="18" charset="0"/>
                        </a:rPr>
                        <m:t>.</m:t>
                      </m:r>
                      <m:r>
                        <a:rPr lang="es-AR" i="1">
                          <a:latin typeface="Cambria Math" panose="02040503050406030204" pitchFamily="18" charset="0"/>
                        </a:rPr>
                        <m:t>𝑉</m:t>
                      </m:r>
                      <m:r>
                        <a:rPr lang="es-AR" i="1">
                          <a:latin typeface="Cambria Math" panose="02040503050406030204" pitchFamily="18" charset="0"/>
                        </a:rPr>
                        <m:t>=</m:t>
                      </m:r>
                      <m:f>
                        <m:fPr>
                          <m:ctrlPr>
                            <a:rPr lang="es-AR" i="1">
                              <a:latin typeface="Cambria Math" panose="02040503050406030204" pitchFamily="18" charset="0"/>
                            </a:rPr>
                          </m:ctrlPr>
                        </m:fPr>
                        <m:num>
                          <m:r>
                            <a:rPr lang="es-AR" i="1">
                              <a:latin typeface="Cambria Math" panose="02040503050406030204" pitchFamily="18" charset="0"/>
                            </a:rPr>
                            <m:t>𝑛</m:t>
                          </m:r>
                          <m:r>
                            <a:rPr lang="es-AR" i="1">
                              <a:latin typeface="Cambria Math" panose="02040503050406030204" pitchFamily="18" charset="0"/>
                            </a:rPr>
                            <m:t>.(</m:t>
                          </m:r>
                          <m:r>
                            <a:rPr lang="es-AR" i="1">
                              <a:latin typeface="Cambria Math" panose="02040503050406030204" pitchFamily="18" charset="0"/>
                            </a:rPr>
                            <m:t>𝑛</m:t>
                          </m:r>
                          <m:r>
                            <a:rPr lang="es-AR" i="1">
                              <a:latin typeface="Cambria Math" panose="02040503050406030204" pitchFamily="18" charset="0"/>
                            </a:rPr>
                            <m:t>−1)</m:t>
                          </m:r>
                        </m:num>
                        <m:den>
                          <m:r>
                            <a:rPr lang="es-AR" i="1">
                              <a:latin typeface="Cambria Math" panose="02040503050406030204" pitchFamily="18" charset="0"/>
                            </a:rPr>
                            <m:t>2</m:t>
                          </m:r>
                        </m:den>
                      </m:f>
                      <m:r>
                        <a:rPr lang="es-AR" i="1">
                          <a:latin typeface="Cambria Math" panose="02040503050406030204" pitchFamily="18" charset="0"/>
                        </a:rPr>
                        <m:t>=</m:t>
                      </m:r>
                      <m:f>
                        <m:fPr>
                          <m:ctrlPr>
                            <a:rPr lang="es-AR" i="1">
                              <a:latin typeface="Cambria Math" panose="02040503050406030204" pitchFamily="18" charset="0"/>
                            </a:rPr>
                          </m:ctrlPr>
                        </m:fPr>
                        <m:num>
                          <m:r>
                            <a:rPr lang="es-AR" i="1">
                              <a:latin typeface="Cambria Math" panose="02040503050406030204" pitchFamily="18" charset="0"/>
                            </a:rPr>
                            <m:t>4.(4−1)</m:t>
                          </m:r>
                        </m:num>
                        <m:den>
                          <m:r>
                            <a:rPr lang="es-AR" i="1">
                              <a:latin typeface="Cambria Math" panose="02040503050406030204" pitchFamily="18" charset="0"/>
                            </a:rPr>
                            <m:t>2</m:t>
                          </m:r>
                        </m:den>
                      </m:f>
                      <m:r>
                        <a:rPr lang="es-AR" i="1">
                          <a:latin typeface="Cambria Math" panose="02040503050406030204" pitchFamily="18" charset="0"/>
                        </a:rPr>
                        <m:t>=6</m:t>
                      </m:r>
                    </m:oMath>
                  </m:oMathPara>
                </a14:m>
                <a:endParaRPr lang="es-AR" dirty="0">
                  <a:latin typeface="Bahnschrift" panose="020B0502040204020203" pitchFamily="34" charset="0"/>
                </a:endParaRPr>
              </a:p>
              <a:p>
                <a:endParaRPr lang="es-AR" dirty="0">
                  <a:latin typeface="Bahnschrift" panose="020B0502040204020203" pitchFamily="34" charset="0"/>
                </a:endParaRPr>
              </a:p>
              <a:p>
                <a:r>
                  <a:rPr lang="es-AR" dirty="0">
                    <a:latin typeface="Bahnschrift" panose="020B0502040204020203" pitchFamily="34" charset="0"/>
                  </a:rPr>
                  <a:t>En el punto A, se cumple la siguiente igualdad:</a:t>
                </a:r>
              </a:p>
              <a:p>
                <a:endParaRPr lang="es-AR"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s-AR" i="1" smtClean="0">
                              <a:latin typeface="Cambria Math" panose="02040503050406030204" pitchFamily="18" charset="0"/>
                            </a:rPr>
                          </m:ctrlPr>
                        </m:sSubPr>
                        <m:e>
                          <m:r>
                            <a:rPr lang="es-AR" i="1">
                              <a:latin typeface="Cambria Math" panose="02040503050406030204" pitchFamily="18" charset="0"/>
                            </a:rPr>
                            <m:t>𝑣</m:t>
                          </m:r>
                        </m:e>
                        <m:sub>
                          <m:r>
                            <a:rPr lang="en-US" b="0" i="1" smtClean="0">
                              <a:latin typeface="Cambria Math" panose="02040503050406030204" pitchFamily="18" charset="0"/>
                            </a:rPr>
                            <m:t>𝐴</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2</m:t>
                          </m:r>
                        </m:sub>
                      </m:sSub>
                      <m:r>
                        <a:rPr lang="es-AR" i="1">
                          <a:latin typeface="Cambria Math" panose="02040503050406030204" pitchFamily="18" charset="0"/>
                        </a:rPr>
                        <m:t>.</m:t>
                      </m:r>
                      <m:r>
                        <a:rPr lang="es-AR"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r>
                        <a:rPr lang="en-US" b="0" i="1" smtClean="0">
                          <a:latin typeface="Cambria Math" panose="02040503050406030204" pitchFamily="18" charset="0"/>
                        </a:rPr>
                        <m:t>         ;       </m:t>
                      </m:r>
                      <m:sSub>
                        <m:sSubPr>
                          <m:ctrlPr>
                            <a:rPr lang="es-AR" i="1">
                              <a:latin typeface="Cambria Math" panose="02040503050406030204" pitchFamily="18" charset="0"/>
                            </a:rPr>
                          </m:ctrlPr>
                        </m:sSubPr>
                        <m:e>
                          <m:r>
                            <a:rPr lang="es-AR" i="1">
                              <a:latin typeface="Cambria Math" panose="02040503050406030204" pitchFamily="18" charset="0"/>
                            </a:rPr>
                            <m:t>𝑣</m:t>
                          </m:r>
                        </m:e>
                        <m:sub>
                          <m:r>
                            <a:rPr lang="en-US" b="0" i="1" smtClean="0">
                              <a:latin typeface="Cambria Math" panose="02040503050406030204" pitchFamily="18" charset="0"/>
                            </a:rPr>
                            <m:t>𝐴</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m:t>
                              </m:r>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oMath>
                  </m:oMathPara>
                </a14:m>
                <a:endParaRPr lang="es-AR"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2</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13</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oMath>
                  </m:oMathPara>
                </a14:m>
                <a:endParaRPr lang="es-AR"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3</m:t>
                          </m:r>
                        </m:sub>
                      </m:sSub>
                      <m:r>
                        <a:rPr lang="es-AR" i="1">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2</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13</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23</m:t>
                                  </m:r>
                                </m:sub>
                              </m:sSub>
                            </m:sub>
                          </m:sSub>
                        </m:den>
                      </m:f>
                    </m:oMath>
                  </m:oMathPara>
                </a14:m>
                <a:endParaRPr lang="es-AR" dirty="0">
                  <a:latin typeface="Bahnschrift" panose="020B0502040204020203" pitchFamily="34" charset="0"/>
                </a:endParaRPr>
              </a:p>
              <a:p>
                <a:r>
                  <a:rPr lang="es-AR" b="1" dirty="0">
                    <a:latin typeface="Bahnschrift" panose="020B0502040204020203" pitchFamily="34" charset="0"/>
                  </a:rPr>
                  <a:t> </a:t>
                </a:r>
              </a:p>
              <a:p>
                <a:r>
                  <a:rPr lang="es-AR" dirty="0">
                    <a:latin typeface="Bahnschrift" panose="020B0502040204020203" pitchFamily="34" charset="0"/>
                  </a:rPr>
                  <a:t>En el punto B, se cumple la siguiente igualdad:</a:t>
                </a:r>
              </a:p>
              <a:p>
                <a:endParaRPr lang="es-AR"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𝑣</m:t>
                          </m:r>
                        </m:e>
                        <m:sub>
                          <m:r>
                            <a:rPr lang="en-US" b="0" i="1" smtClean="0">
                              <a:latin typeface="Cambria Math" panose="02040503050406030204" pitchFamily="18" charset="0"/>
                            </a:rPr>
                            <m:t>𝐵</m:t>
                          </m:r>
                        </m:sub>
                      </m:sSub>
                      <m:r>
                        <a:rPr lang="es-AR" i="1">
                          <a:latin typeface="Cambria Math" panose="02040503050406030204" pitchFamily="18" charset="0"/>
                        </a:rPr>
                        <m:t>=</m:t>
                      </m:r>
                      <m:sSub>
                        <m:sSubPr>
                          <m:ctrlPr>
                            <a:rPr lang="en-US" b="0" i="1" smtClean="0">
                              <a:latin typeface="Cambria Math" panose="02040503050406030204" pitchFamily="18" charset="0"/>
                            </a:rPr>
                          </m:ctrlPr>
                        </m:sSubPr>
                        <m:e>
                          <m:r>
                            <a:rPr lang="es-AR" i="1">
                              <a:latin typeface="Cambria Math" panose="02040503050406030204" pitchFamily="18" charset="0"/>
                            </a:rPr>
                            <m:t>𝜔</m:t>
                          </m:r>
                        </m:e>
                        <m:sub>
                          <m:r>
                            <a:rPr lang="en-US" b="0" i="1" smtClean="0">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b="0" i="1" smtClean="0">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1</m:t>
                              </m:r>
                              <m:r>
                                <a:rPr lang="en-US" i="1">
                                  <a:latin typeface="Cambria Math" panose="02040503050406030204" pitchFamily="18" charset="0"/>
                                </a:rPr>
                                <m:t>3</m:t>
                              </m:r>
                            </m:sub>
                          </m:sSub>
                        </m:sub>
                      </m:sSub>
                      <m:r>
                        <a:rPr lang="en-US" b="0" i="1" smtClean="0">
                          <a:latin typeface="Cambria Math" panose="02040503050406030204" pitchFamily="18" charset="0"/>
                        </a:rPr>
                        <m:t>         ;        </m:t>
                      </m:r>
                      <m:sSub>
                        <m:sSubPr>
                          <m:ctrlPr>
                            <a:rPr lang="es-AR" i="1">
                              <a:latin typeface="Cambria Math" panose="02040503050406030204" pitchFamily="18" charset="0"/>
                            </a:rPr>
                          </m:ctrlPr>
                        </m:sSubPr>
                        <m:e>
                          <m:r>
                            <a:rPr lang="es-AR" i="1">
                              <a:latin typeface="Cambria Math" panose="02040503050406030204" pitchFamily="18" charset="0"/>
                            </a:rPr>
                            <m:t>𝑣</m:t>
                          </m:r>
                        </m:e>
                        <m:sub>
                          <m:r>
                            <a:rPr lang="es-AR" b="0" i="1" smtClean="0">
                              <a:latin typeface="Cambria Math" panose="02040503050406030204" pitchFamily="18" charset="0"/>
                            </a:rPr>
                            <m:t>𝐵</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smtClean="0">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m:t>
                              </m:r>
                              <m:r>
                                <a:rPr lang="en-US" b="0" i="1" smtClean="0">
                                  <a:latin typeface="Cambria Math" panose="02040503050406030204" pitchFamily="18" charset="0"/>
                                </a:rPr>
                                <m:t>4</m:t>
                              </m:r>
                            </m:sub>
                          </m:sSub>
                        </m:sub>
                      </m:sSub>
                    </m:oMath>
                  </m:oMathPara>
                </a14:m>
                <a:endParaRPr lang="es-AR"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AR" i="1">
                              <a:latin typeface="Cambria Math" panose="02040503050406030204" pitchFamily="18" charset="0"/>
                            </a:rPr>
                            <m:t>𝜔</m:t>
                          </m:r>
                        </m:e>
                        <m:sub>
                          <m:r>
                            <a:rPr lang="en-US"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13</m:t>
                              </m:r>
                            </m:sub>
                          </m:sSub>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14</m:t>
                              </m:r>
                            </m:sub>
                          </m:sSub>
                        </m:sub>
                      </m:sSub>
                    </m:oMath>
                  </m:oMathPara>
                </a14:m>
                <a:endParaRPr lang="es-AR" dirty="0">
                  <a:latin typeface="Bahnschrift" panose="020B0502040204020203" pitchFamily="34" charset="0"/>
                </a:endParaRPr>
              </a:p>
              <a:p>
                <a:pPr/>
                <a14:m>
                  <m:oMathPara xmlns:m="http://schemas.openxmlformats.org/officeDocument/2006/math">
                    <m:oMathParaPr>
                      <m:jc m:val="centerGroup"/>
                    </m:oMathParaPr>
                    <m:oMath xmlns:m="http://schemas.openxmlformats.org/officeDocument/2006/math">
                      <m:sSub>
                        <m:sSubPr>
                          <m:ctrlPr>
                            <a:rPr lang="es-AR" i="1">
                              <a:latin typeface="Cambria Math" panose="02040503050406030204" pitchFamily="18" charset="0"/>
                            </a:rPr>
                          </m:ctrlPr>
                        </m:sSubPr>
                        <m:e>
                          <m:r>
                            <a:rPr lang="es-AR" i="1">
                              <a:latin typeface="Cambria Math" panose="02040503050406030204" pitchFamily="18" charset="0"/>
                            </a:rPr>
                            <m:t>𝜔</m:t>
                          </m:r>
                        </m:e>
                        <m:sub>
                          <m:r>
                            <a:rPr lang="es-AR" i="1">
                              <a:latin typeface="Cambria Math" panose="02040503050406030204" pitchFamily="18" charset="0"/>
                            </a:rPr>
                            <m:t>4</m:t>
                          </m:r>
                        </m:sub>
                      </m:sSub>
                      <m:r>
                        <a:rPr lang="es-AR" i="1">
                          <a:latin typeface="Cambria Math" panose="02040503050406030204" pitchFamily="18" charset="0"/>
                        </a:rPr>
                        <m:t>=</m:t>
                      </m:r>
                      <m:f>
                        <m:fPr>
                          <m:ctrlPr>
                            <a:rPr lang="es-AR" i="1">
                              <a:latin typeface="Cambria Math" panose="02040503050406030204" pitchFamily="18" charset="0"/>
                            </a:rPr>
                          </m:ctrlPr>
                        </m:fPr>
                        <m:num>
                          <m:sSub>
                            <m:sSubPr>
                              <m:ctrlPr>
                                <a:rPr lang="en-US" i="1">
                                  <a:latin typeface="Cambria Math" panose="02040503050406030204" pitchFamily="18" charset="0"/>
                                </a:rPr>
                              </m:ctrlPr>
                            </m:sSubPr>
                            <m:e>
                              <m:r>
                                <a:rPr lang="es-AR" i="1">
                                  <a:latin typeface="Cambria Math" panose="02040503050406030204" pitchFamily="18" charset="0"/>
                                </a:rPr>
                                <m:t>𝜔</m:t>
                              </m:r>
                            </m:e>
                            <m:sub>
                              <m:r>
                                <a:rPr lang="en-US" i="1">
                                  <a:latin typeface="Cambria Math" panose="02040503050406030204" pitchFamily="18" charset="0"/>
                                </a:rPr>
                                <m:t>3</m:t>
                              </m:r>
                            </m:sub>
                          </m:sSub>
                          <m:r>
                            <a:rPr lang="es-A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13</m:t>
                                  </m:r>
                                </m:sub>
                              </m:sSub>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14</m:t>
                                  </m:r>
                                </m:sub>
                              </m:sSub>
                            </m:sub>
                          </m:sSub>
                        </m:den>
                      </m:f>
                      <m:r>
                        <a:rPr lang="en-US" b="0" i="1" smtClean="0">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𝑟</m:t>
                          </m:r>
                        </m:e>
                        <m: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34</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14</m:t>
                              </m:r>
                            </m:sub>
                          </m:sSub>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s-AR" dirty="0">
                  <a:latin typeface="Bahnschrift" panose="020B0502040204020203" pitchFamily="34" charset="0"/>
                </a:endParaRPr>
              </a:p>
            </p:txBody>
          </p:sp>
        </mc:Choice>
        <mc:Fallback xmlns="">
          <p:sp>
            <p:nvSpPr>
              <p:cNvPr id="6" name="Rectángulo 5">
                <a:extLst>
                  <a:ext uri="{FF2B5EF4-FFF2-40B4-BE49-F238E27FC236}">
                    <a16:creationId xmlns:a16="http://schemas.microsoft.com/office/drawing/2014/main" id="{5F07F512-2D56-4239-9E16-1B029F72B7C5}"/>
                  </a:ext>
                </a:extLst>
              </p:cNvPr>
              <p:cNvSpPr>
                <a:spLocks noRot="1" noChangeAspect="1" noMove="1" noResize="1" noEditPoints="1" noAdjustHandles="1" noChangeArrowheads="1" noChangeShapeType="1" noTextEdit="1"/>
              </p:cNvSpPr>
              <p:nvPr/>
            </p:nvSpPr>
            <p:spPr>
              <a:xfrm>
                <a:off x="397999" y="1557559"/>
                <a:ext cx="6096000" cy="5174365"/>
              </a:xfrm>
              <a:prstGeom prst="rect">
                <a:avLst/>
              </a:prstGeom>
              <a:blipFill>
                <a:blip r:embed="rId3"/>
                <a:stretch>
                  <a:fillRect l="-800" t="-708"/>
                </a:stretch>
              </a:blipFill>
            </p:spPr>
            <p:txBody>
              <a:bodyPr/>
              <a:lstStyle/>
              <a:p>
                <a:r>
                  <a:rPr lang="es-AR">
                    <a:noFill/>
                  </a:rPr>
                  <a:t> </a:t>
                </a:r>
              </a:p>
            </p:txBody>
          </p:sp>
        </mc:Fallback>
      </mc:AlternateContent>
      <p:sp>
        <p:nvSpPr>
          <p:cNvPr id="16" name="Rectángulo 15">
            <a:extLst>
              <a:ext uri="{FF2B5EF4-FFF2-40B4-BE49-F238E27FC236}">
                <a16:creationId xmlns:a16="http://schemas.microsoft.com/office/drawing/2014/main" id="{84F4644A-F138-4B61-A7CA-E2C0185C1C8A}"/>
              </a:ext>
            </a:extLst>
          </p:cNvPr>
          <p:cNvSpPr/>
          <p:nvPr/>
        </p:nvSpPr>
        <p:spPr>
          <a:xfrm>
            <a:off x="1545749" y="3249347"/>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2</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7" name="Rectángulo 16">
            <a:extLst>
              <a:ext uri="{FF2B5EF4-FFF2-40B4-BE49-F238E27FC236}">
                <a16:creationId xmlns:a16="http://schemas.microsoft.com/office/drawing/2014/main" id="{AB7B5E34-B493-433A-9AD5-F07F3C0092DF}"/>
              </a:ext>
            </a:extLst>
          </p:cNvPr>
          <p:cNvSpPr/>
          <p:nvPr/>
        </p:nvSpPr>
        <p:spPr>
          <a:xfrm>
            <a:off x="3877567" y="3249347"/>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3</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8" name="Rectángulo 17">
            <a:extLst>
              <a:ext uri="{FF2B5EF4-FFF2-40B4-BE49-F238E27FC236}">
                <a16:creationId xmlns:a16="http://schemas.microsoft.com/office/drawing/2014/main" id="{7628224D-DFC6-4981-B30E-3B326B3AB48C}"/>
              </a:ext>
            </a:extLst>
          </p:cNvPr>
          <p:cNvSpPr/>
          <p:nvPr/>
        </p:nvSpPr>
        <p:spPr>
          <a:xfrm>
            <a:off x="1506786" y="5218222"/>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3</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9" name="Rectángulo 18">
            <a:extLst>
              <a:ext uri="{FF2B5EF4-FFF2-40B4-BE49-F238E27FC236}">
                <a16:creationId xmlns:a16="http://schemas.microsoft.com/office/drawing/2014/main" id="{05354FFA-7AE2-47C8-843E-CDAB50F1470A}"/>
              </a:ext>
            </a:extLst>
          </p:cNvPr>
          <p:cNvSpPr/>
          <p:nvPr/>
        </p:nvSpPr>
        <p:spPr>
          <a:xfrm>
            <a:off x="3884275" y="5218222"/>
            <a:ext cx="1572974" cy="338554"/>
          </a:xfrm>
          <a:prstGeom prst="rect">
            <a:avLst/>
          </a:prstGeom>
          <a:noFill/>
        </p:spPr>
        <p:txBody>
          <a:bodyPr wrap="square" lIns="91440" tIns="45720" rIns="91440" bIns="45720">
            <a:spAutoFit/>
          </a:bodyPr>
          <a:lstStyle/>
          <a:p>
            <a:pPr algn="ct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ESLAB</a:t>
            </a:r>
            <a:r>
              <a:rPr lang="es-AR" sz="1600" b="1" dirty="0" err="1">
                <a:ln w="0"/>
                <a:solidFill>
                  <a:srgbClr val="FF0000"/>
                </a:solidFill>
                <a:effectLst>
                  <a:outerShdw blurRad="38100" dist="19050" dir="2700000" algn="tl" rotWithShape="0">
                    <a:schemeClr val="dk1">
                      <a:alpha val="40000"/>
                    </a:schemeClr>
                  </a:outerShdw>
                </a:effectLst>
                <a:latin typeface="Bahnschrift" panose="020B0502040204020203" pitchFamily="34" charset="0"/>
              </a:rPr>
              <a:t>Ó</a:t>
            </a:r>
            <a:r>
              <a:rPr lang="es-ES" sz="1600" b="1" dirty="0">
                <a:ln w="0"/>
                <a:solidFill>
                  <a:srgbClr val="FF0000"/>
                </a:solidFill>
                <a:effectLst>
                  <a:outerShdw blurRad="38100" dist="19050" dir="2700000" algn="tl" rotWithShape="0">
                    <a:schemeClr val="dk1">
                      <a:alpha val="40000"/>
                    </a:schemeClr>
                  </a:outerShdw>
                </a:effectLst>
                <a:latin typeface="Bahnschrift" panose="020B0502040204020203" pitchFamily="34" charset="0"/>
              </a:rPr>
              <a:t>N 4</a:t>
            </a:r>
            <a:endParaRPr lang="es-ES" sz="1600" b="1" cap="none" spc="0" dirty="0">
              <a:ln w="0"/>
              <a:solidFill>
                <a:srgbClr val="FF0000"/>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20" name="Título 1">
            <a:extLst>
              <a:ext uri="{FF2B5EF4-FFF2-40B4-BE49-F238E27FC236}">
                <a16:creationId xmlns:a16="http://schemas.microsoft.com/office/drawing/2014/main" id="{EEE2EFAF-B0CC-47BD-9219-B94BA0562521}"/>
              </a:ext>
            </a:extLst>
          </p:cNvPr>
          <p:cNvSpPr txBox="1">
            <a:spLocks/>
          </p:cNvSpPr>
          <p:nvPr/>
        </p:nvSpPr>
        <p:spPr>
          <a:xfrm>
            <a:off x="107435" y="1075418"/>
            <a:ext cx="11303424" cy="665825"/>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s-AR" sz="2000" b="1" dirty="0">
                <a:solidFill>
                  <a:schemeClr val="tx1">
                    <a:lumMod val="75000"/>
                    <a:lumOff val="25000"/>
                  </a:schemeClr>
                </a:solidFill>
                <a:latin typeface="Bahnschrift" panose="020B0502040204020203" pitchFamily="34" charset="0"/>
              </a:rPr>
              <a:t>Aplicación del concepto de CI para la determinación de velocidades / Mecanismo Manivela Biela Corredera</a:t>
            </a:r>
          </a:p>
        </p:txBody>
      </p:sp>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616020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6160201"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CENTROS INSTANTÁNEOS DE VELOCIDAD</a:t>
            </a:r>
          </a:p>
        </p:txBody>
      </p:sp>
    </p:spTree>
    <p:extLst>
      <p:ext uri="{BB962C8B-B14F-4D97-AF65-F5344CB8AC3E}">
        <p14:creationId xmlns:p14="http://schemas.microsoft.com/office/powerpoint/2010/main" val="3927553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84721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3" y="830016"/>
            <a:ext cx="4730896"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VELOCIDAD DE DESLIZAMIENTO</a:t>
            </a:r>
          </a:p>
        </p:txBody>
      </p:sp>
      <p:pic>
        <p:nvPicPr>
          <p:cNvPr id="2" name="Imagen 1">
            <a:extLst>
              <a:ext uri="{FF2B5EF4-FFF2-40B4-BE49-F238E27FC236}">
                <a16:creationId xmlns:a16="http://schemas.microsoft.com/office/drawing/2014/main" id="{DC7068A5-1C2C-4FDC-8A1F-D4B4F3E5D59E}"/>
              </a:ext>
            </a:extLst>
          </p:cNvPr>
          <p:cNvPicPr>
            <a:picLocks noChangeAspect="1"/>
          </p:cNvPicPr>
          <p:nvPr/>
        </p:nvPicPr>
        <p:blipFill>
          <a:blip r:embed="rId2"/>
          <a:stretch>
            <a:fillRect/>
          </a:stretch>
        </p:blipFill>
        <p:spPr>
          <a:xfrm>
            <a:off x="6132873" y="3222427"/>
            <a:ext cx="5124815" cy="3380087"/>
          </a:xfrm>
          <a:prstGeom prst="rect">
            <a:avLst/>
          </a:prstGeom>
        </p:spPr>
      </p:pic>
      <p:sp>
        <p:nvSpPr>
          <p:cNvPr id="25" name="Marcador de contenido 2">
            <a:extLst>
              <a:ext uri="{FF2B5EF4-FFF2-40B4-BE49-F238E27FC236}">
                <a16:creationId xmlns:a16="http://schemas.microsoft.com/office/drawing/2014/main" id="{AFB18A2C-0660-42D7-BFF1-6CA024A12E0F}"/>
              </a:ext>
            </a:extLst>
          </p:cNvPr>
          <p:cNvSpPr>
            <a:spLocks noGrp="1"/>
          </p:cNvSpPr>
          <p:nvPr>
            <p:ph idx="1"/>
          </p:nvPr>
        </p:nvSpPr>
        <p:spPr>
          <a:xfrm>
            <a:off x="184421" y="1419808"/>
            <a:ext cx="10939299" cy="2038700"/>
          </a:xfrm>
        </p:spPr>
        <p:txBody>
          <a:bodyPr wrap="square">
            <a:spAutoFit/>
          </a:bodyPr>
          <a:lstStyle/>
          <a:p>
            <a:pPr algn="just">
              <a:lnSpc>
                <a:spcPct val="120000"/>
              </a:lnSpc>
              <a:buFontTx/>
              <a:buChar char="-"/>
            </a:pPr>
            <a:r>
              <a:rPr lang="es-AR" sz="1600" dirty="0">
                <a:latin typeface="Bahnschrift" panose="020B0502040204020203" pitchFamily="34" charset="0"/>
              </a:rPr>
              <a:t>Si se tiene una junta deslizante donde ninguno de los eslabones es bastidor (corredera flotante) la determinación de la velocidad se vuelve mas complicada. </a:t>
            </a:r>
          </a:p>
          <a:p>
            <a:pPr algn="just">
              <a:lnSpc>
                <a:spcPct val="120000"/>
              </a:lnSpc>
              <a:buFontTx/>
              <a:buChar char="-"/>
            </a:pPr>
            <a:r>
              <a:rPr lang="es-AR" sz="1600" dirty="0">
                <a:latin typeface="Bahnschrift" panose="020B0502040204020203" pitchFamily="34" charset="0"/>
              </a:rPr>
              <a:t>Si se analiza la </a:t>
            </a:r>
            <a:r>
              <a:rPr lang="es-AR" sz="1600" b="1" dirty="0">
                <a:latin typeface="Bahnschrift" panose="020B0502040204020203" pitchFamily="34" charset="0"/>
              </a:rPr>
              <a:t>junta A</a:t>
            </a:r>
            <a:r>
              <a:rPr lang="es-AR" sz="1600" dirty="0">
                <a:latin typeface="Bahnschrift" panose="020B0502040204020203" pitchFamily="34" charset="0"/>
              </a:rPr>
              <a:t> de la figura, se puede decir que en dicha junta </a:t>
            </a:r>
            <a:r>
              <a:rPr lang="es-AR" sz="1600" dirty="0">
                <a:highlight>
                  <a:srgbClr val="FFC000"/>
                </a:highlight>
                <a:latin typeface="Bahnschrift" panose="020B0502040204020203" pitchFamily="34" charset="0"/>
              </a:rPr>
              <a:t>coexisten 3 puntos</a:t>
            </a:r>
            <a:r>
              <a:rPr lang="es-AR" sz="1600" dirty="0">
                <a:latin typeface="Bahnschrift" panose="020B0502040204020203" pitchFamily="34" charset="0"/>
              </a:rPr>
              <a:t>: un punto A como perteneciente al eslabón 2 (A</a:t>
            </a:r>
            <a:r>
              <a:rPr lang="es-AR" sz="1600" baseline="-25000" dirty="0">
                <a:latin typeface="Bahnschrift" panose="020B0502040204020203" pitchFamily="34" charset="0"/>
              </a:rPr>
              <a:t>2</a:t>
            </a:r>
            <a:r>
              <a:rPr lang="es-AR" sz="1600" dirty="0">
                <a:latin typeface="Bahnschrift" panose="020B0502040204020203" pitchFamily="34" charset="0"/>
              </a:rPr>
              <a:t>), otro al eslabón 3 (A</a:t>
            </a:r>
            <a:r>
              <a:rPr lang="es-AR" sz="1600" baseline="-25000" dirty="0">
                <a:latin typeface="Bahnschrift" panose="020B0502040204020203" pitchFamily="34" charset="0"/>
              </a:rPr>
              <a:t>3</a:t>
            </a:r>
            <a:r>
              <a:rPr lang="es-AR" sz="1600" dirty="0">
                <a:latin typeface="Bahnschrift" panose="020B0502040204020203" pitchFamily="34" charset="0"/>
              </a:rPr>
              <a:t>) y otro perteneciente al eslabón 4 (A</a:t>
            </a:r>
            <a:r>
              <a:rPr lang="es-AR" sz="1600" baseline="-25000" dirty="0">
                <a:latin typeface="Bahnschrift" panose="020B0502040204020203" pitchFamily="34" charset="0"/>
              </a:rPr>
              <a:t>4</a:t>
            </a:r>
            <a:r>
              <a:rPr lang="es-AR" sz="1600" dirty="0">
                <a:latin typeface="Bahnschrift" panose="020B0502040204020203" pitchFamily="34" charset="0"/>
              </a:rPr>
              <a:t>), lo que significa que se esta frente a una situación de CASO 2. Por esta razón </a:t>
            </a:r>
            <a:r>
              <a:rPr lang="es-AR" sz="1600" b="1" i="1" dirty="0">
                <a:highlight>
                  <a:srgbClr val="FFC000"/>
                </a:highlight>
                <a:latin typeface="Bahnschrift" panose="020B0502040204020203" pitchFamily="34" charset="0"/>
              </a:rPr>
              <a:t>entre al menos dos de estos puntos existirá una VELOCIDAD RELATIVA</a:t>
            </a:r>
            <a:r>
              <a:rPr lang="es-AR" sz="1600" dirty="0">
                <a:highlight>
                  <a:srgbClr val="FFC000"/>
                </a:highlight>
                <a:latin typeface="Bahnschrift" panose="020B0502040204020203" pitchFamily="34" charset="0"/>
              </a:rPr>
              <a:t>.</a:t>
            </a:r>
          </a:p>
        </p:txBody>
      </p:sp>
      <p:sp>
        <p:nvSpPr>
          <p:cNvPr id="27" name="Marcador de contenido 2">
            <a:extLst>
              <a:ext uri="{FF2B5EF4-FFF2-40B4-BE49-F238E27FC236}">
                <a16:creationId xmlns:a16="http://schemas.microsoft.com/office/drawing/2014/main" id="{497C21C7-3E16-4F66-A2A2-9E049A559FAE}"/>
              </a:ext>
            </a:extLst>
          </p:cNvPr>
          <p:cNvSpPr txBox="1">
            <a:spLocks/>
          </p:cNvSpPr>
          <p:nvPr/>
        </p:nvSpPr>
        <p:spPr>
          <a:xfrm>
            <a:off x="184422" y="3458508"/>
            <a:ext cx="5584638" cy="1242584"/>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20000"/>
              </a:lnSpc>
              <a:buFontTx/>
              <a:buChar char="-"/>
            </a:pPr>
            <a:r>
              <a:rPr lang="es-AR" sz="1600" dirty="0">
                <a:latin typeface="Bahnschrift" panose="020B0502040204020203" pitchFamily="34" charset="0"/>
              </a:rPr>
              <a:t>Generalmente se podrá evaluar la velocidad en al menos uno de estos puntos, a través de los datos de entrada, los cuales serán los referidos al eslabón de entrada (</a:t>
            </a:r>
            <a:r>
              <a:rPr lang="el-GR" sz="1600" dirty="0">
                <a:latin typeface="Bahnschrift" panose="020B0502040204020203" pitchFamily="34" charset="0"/>
                <a:ea typeface="Cambria Math" panose="02040503050406030204" pitchFamily="18" charset="0"/>
              </a:rPr>
              <a:t>θ</a:t>
            </a:r>
            <a:r>
              <a:rPr lang="en-US" sz="1600" baseline="-25000" dirty="0">
                <a:latin typeface="Bahnschrift" panose="020B0502040204020203" pitchFamily="34" charset="0"/>
                <a:ea typeface="Cambria Math" panose="02040503050406030204" pitchFamily="18" charset="0"/>
              </a:rPr>
              <a:t>2</a:t>
            </a:r>
            <a:r>
              <a:rPr lang="en-US" sz="1600" dirty="0">
                <a:latin typeface="Bahnschrift" panose="020B0502040204020203" pitchFamily="34" charset="0"/>
                <a:ea typeface="Cambria Math" panose="02040503050406030204" pitchFamily="18" charset="0"/>
              </a:rPr>
              <a:t> y </a:t>
            </a:r>
            <a:r>
              <a:rPr lang="el-GR" sz="1600" dirty="0">
                <a:latin typeface="Bahnschrift" panose="020B0502040204020203" pitchFamily="34" charset="0"/>
                <a:ea typeface="Cambria Math" panose="02040503050406030204" pitchFamily="18" charset="0"/>
              </a:rPr>
              <a:t>ω</a:t>
            </a:r>
            <a:r>
              <a:rPr lang="en-US" sz="1600" baseline="-25000" dirty="0">
                <a:latin typeface="Bahnschrift" panose="020B0502040204020203" pitchFamily="34" charset="0"/>
                <a:ea typeface="Cambria Math" panose="02040503050406030204" pitchFamily="18" charset="0"/>
              </a:rPr>
              <a:t>2</a:t>
            </a:r>
            <a:r>
              <a:rPr lang="en-US" sz="1600" dirty="0">
                <a:latin typeface="Bahnschrift" panose="020B0502040204020203" pitchFamily="34" charset="0"/>
                <a:ea typeface="Cambria Math" panose="02040503050406030204" pitchFamily="18" charset="0"/>
              </a:rPr>
              <a:t>)</a:t>
            </a:r>
            <a:r>
              <a:rPr lang="es-AR" sz="1600" dirty="0">
                <a:latin typeface="Bahnschrift" panose="020B0502040204020203" pitchFamily="34" charset="0"/>
              </a:rPr>
              <a:t>. </a:t>
            </a:r>
          </a:p>
        </p:txBody>
      </p:sp>
      <p:sp>
        <p:nvSpPr>
          <p:cNvPr id="3" name="Marcador de contenido 2">
            <a:extLst>
              <a:ext uri="{FF2B5EF4-FFF2-40B4-BE49-F238E27FC236}">
                <a16:creationId xmlns:a16="http://schemas.microsoft.com/office/drawing/2014/main" id="{5CB64436-125F-4F84-922D-11C76B78CB1F}"/>
              </a:ext>
            </a:extLst>
          </p:cNvPr>
          <p:cNvSpPr txBox="1">
            <a:spLocks/>
          </p:cNvSpPr>
          <p:nvPr/>
        </p:nvSpPr>
        <p:spPr>
          <a:xfrm>
            <a:off x="749995" y="5082004"/>
            <a:ext cx="3182811" cy="356188"/>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r">
              <a:lnSpc>
                <a:spcPct val="120000"/>
              </a:lnSpc>
              <a:buNone/>
            </a:pPr>
            <a:r>
              <a:rPr lang="en-US" sz="1600" b="1" dirty="0">
                <a:highlight>
                  <a:srgbClr val="FFC000"/>
                </a:highlight>
                <a:latin typeface="Bahnschrift" panose="020B0502040204020203" pitchFamily="34" charset="0"/>
              </a:rPr>
              <a:t>VARIABLES A DETERMINAR</a:t>
            </a:r>
            <a:endParaRPr lang="es-AR" sz="1600" b="1" dirty="0">
              <a:highlight>
                <a:srgbClr val="FFC000"/>
              </a:highlight>
              <a:latin typeface="Bahnschrift" panose="020B0502040204020203" pitchFamily="34" charset="0"/>
            </a:endParaRPr>
          </a:p>
        </p:txBody>
      </p:sp>
      <p:pic>
        <p:nvPicPr>
          <p:cNvPr id="8" name="Imagen 7" descr="Imagen que contiene dibujo&#10;&#10;Descripción generada automáticamente">
            <a:extLst>
              <a:ext uri="{FF2B5EF4-FFF2-40B4-BE49-F238E27FC236}">
                <a16:creationId xmlns:a16="http://schemas.microsoft.com/office/drawing/2014/main" id="{6A7E5EFC-B3AC-4312-B37F-CF0491D1A1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9078449" flipH="1">
            <a:off x="667685" y="4764110"/>
            <a:ext cx="315454" cy="732754"/>
          </a:xfrm>
          <a:prstGeom prst="rect">
            <a:avLst/>
          </a:prstGeom>
        </p:spPr>
      </p:pic>
      <p:sp>
        <p:nvSpPr>
          <p:cNvPr id="11" name="Marcador de contenido 2">
            <a:extLst>
              <a:ext uri="{FF2B5EF4-FFF2-40B4-BE49-F238E27FC236}">
                <a16:creationId xmlns:a16="http://schemas.microsoft.com/office/drawing/2014/main" id="{09A87830-A85E-4284-89AC-81CB447FAB9B}"/>
              </a:ext>
            </a:extLst>
          </p:cNvPr>
          <p:cNvSpPr txBox="1">
            <a:spLocks/>
          </p:cNvSpPr>
          <p:nvPr/>
        </p:nvSpPr>
        <p:spPr>
          <a:xfrm>
            <a:off x="1187856" y="5401006"/>
            <a:ext cx="4024179" cy="488147"/>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lnSpc>
                <a:spcPct val="120000"/>
              </a:lnSpc>
              <a:buNone/>
            </a:pPr>
            <a:r>
              <a:rPr lang="el-GR" sz="2400" b="1" dirty="0">
                <a:latin typeface="Bahnschrift" panose="020B0502040204020203" pitchFamily="34" charset="0"/>
                <a:ea typeface="Cambria Math" panose="02040503050406030204" pitchFamily="18" charset="0"/>
              </a:rPr>
              <a:t>ω</a:t>
            </a:r>
            <a:r>
              <a:rPr lang="en-US" sz="2400" b="1" baseline="-25000" dirty="0">
                <a:latin typeface="Bahnschrift" panose="020B0502040204020203" pitchFamily="34" charset="0"/>
                <a:ea typeface="Cambria Math" panose="02040503050406030204" pitchFamily="18" charset="0"/>
              </a:rPr>
              <a:t>4</a:t>
            </a:r>
            <a:r>
              <a:rPr lang="en-US" dirty="0">
                <a:latin typeface="Bahnschrift" panose="020B0502040204020203" pitchFamily="34" charset="0"/>
                <a:ea typeface="Cambria Math" panose="02040503050406030204" pitchFamily="18" charset="0"/>
                <a:sym typeface="Wingdings" panose="05000000000000000000" pitchFamily="2" charset="2"/>
              </a:rPr>
              <a:t> </a:t>
            </a:r>
            <a:r>
              <a:rPr lang="en-US" dirty="0" err="1">
                <a:latin typeface="Bahnschrift" panose="020B0502040204020203" pitchFamily="34" charset="0"/>
                <a:ea typeface="Cambria Math" panose="02040503050406030204" pitchFamily="18" charset="0"/>
                <a:sym typeface="Wingdings" panose="05000000000000000000" pitchFamily="2" charset="2"/>
              </a:rPr>
              <a:t>Velocidad</a:t>
            </a:r>
            <a:r>
              <a:rPr lang="en-US" dirty="0">
                <a:latin typeface="Bahnschrift" panose="020B0502040204020203" pitchFamily="34" charset="0"/>
                <a:ea typeface="Cambria Math" panose="02040503050406030204" pitchFamily="18" charset="0"/>
                <a:sym typeface="Wingdings" panose="05000000000000000000" pitchFamily="2" charset="2"/>
              </a:rPr>
              <a:t> Angular </a:t>
            </a:r>
            <a:r>
              <a:rPr lang="en-US" dirty="0" err="1">
                <a:latin typeface="Bahnschrift" panose="020B0502040204020203" pitchFamily="34" charset="0"/>
                <a:ea typeface="Cambria Math" panose="02040503050406030204" pitchFamily="18" charset="0"/>
                <a:sym typeface="Wingdings" panose="05000000000000000000" pitchFamily="2" charset="2"/>
              </a:rPr>
              <a:t>Eslabon</a:t>
            </a:r>
            <a:r>
              <a:rPr lang="en-US" dirty="0">
                <a:latin typeface="Bahnschrift" panose="020B0502040204020203" pitchFamily="34" charset="0"/>
                <a:ea typeface="Cambria Math" panose="02040503050406030204" pitchFamily="18" charset="0"/>
                <a:sym typeface="Wingdings" panose="05000000000000000000" pitchFamily="2" charset="2"/>
              </a:rPr>
              <a:t> 4</a:t>
            </a:r>
            <a:endParaRPr lang="es-AR" dirty="0">
              <a:highlight>
                <a:srgbClr val="FFC000"/>
              </a:highlight>
              <a:latin typeface="Bahnschrift" panose="020B0502040204020203" pitchFamily="34" charset="0"/>
            </a:endParaRPr>
          </a:p>
        </p:txBody>
      </p:sp>
      <p:sp>
        <p:nvSpPr>
          <p:cNvPr id="12" name="Marcador de contenido 2">
            <a:extLst>
              <a:ext uri="{FF2B5EF4-FFF2-40B4-BE49-F238E27FC236}">
                <a16:creationId xmlns:a16="http://schemas.microsoft.com/office/drawing/2014/main" id="{901B1070-81AC-4353-A7B6-E9FC069DBDD3}"/>
              </a:ext>
            </a:extLst>
          </p:cNvPr>
          <p:cNvSpPr txBox="1">
            <a:spLocks/>
          </p:cNvSpPr>
          <p:nvPr/>
        </p:nvSpPr>
        <p:spPr>
          <a:xfrm>
            <a:off x="914712" y="5770794"/>
            <a:ext cx="5017806" cy="488147"/>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lnSpc>
                <a:spcPct val="120000"/>
              </a:lnSpc>
              <a:buNone/>
            </a:pPr>
            <a:r>
              <a:rPr lang="en-US" sz="2400" b="1" dirty="0">
                <a:latin typeface="Bahnschrift" panose="020B0502040204020203" pitchFamily="34" charset="0"/>
                <a:ea typeface="Cambria Math" panose="02040503050406030204" pitchFamily="18" charset="0"/>
              </a:rPr>
              <a:t>V</a:t>
            </a:r>
            <a:r>
              <a:rPr lang="en-US" sz="2400" b="1" baseline="-25000" dirty="0">
                <a:latin typeface="Bahnschrift" panose="020B0502040204020203" pitchFamily="34" charset="0"/>
                <a:ea typeface="Cambria Math" panose="02040503050406030204" pitchFamily="18" charset="0"/>
              </a:rPr>
              <a:t>desl4/2</a:t>
            </a:r>
            <a:r>
              <a:rPr lang="en-US" b="1" dirty="0">
                <a:latin typeface="Bahnschrift" panose="020B0502040204020203" pitchFamily="34" charset="0"/>
                <a:ea typeface="Cambria Math" panose="02040503050406030204" pitchFamily="18" charset="0"/>
              </a:rPr>
              <a:t> </a:t>
            </a:r>
            <a:r>
              <a:rPr lang="en-US" dirty="0">
                <a:latin typeface="Bahnschrift" panose="020B0502040204020203" pitchFamily="34" charset="0"/>
                <a:ea typeface="Cambria Math" panose="02040503050406030204" pitchFamily="18" charset="0"/>
                <a:sym typeface="Wingdings" panose="05000000000000000000" pitchFamily="2" charset="2"/>
              </a:rPr>
              <a:t> </a:t>
            </a:r>
            <a:r>
              <a:rPr lang="en-US" dirty="0" err="1">
                <a:latin typeface="Bahnschrift" panose="020B0502040204020203" pitchFamily="34" charset="0"/>
                <a:ea typeface="Cambria Math" panose="02040503050406030204" pitchFamily="18" charset="0"/>
                <a:sym typeface="Wingdings" panose="05000000000000000000" pitchFamily="2" charset="2"/>
              </a:rPr>
              <a:t>Velocidad</a:t>
            </a:r>
            <a:r>
              <a:rPr lang="en-US" dirty="0">
                <a:latin typeface="Bahnschrift" panose="020B0502040204020203" pitchFamily="34" charset="0"/>
                <a:ea typeface="Cambria Math" panose="02040503050406030204" pitchFamily="18" charset="0"/>
                <a:sym typeface="Wingdings" panose="05000000000000000000" pitchFamily="2" charset="2"/>
              </a:rPr>
              <a:t> de </a:t>
            </a:r>
            <a:r>
              <a:rPr lang="en-US" dirty="0" err="1">
                <a:latin typeface="Bahnschrift" panose="020B0502040204020203" pitchFamily="34" charset="0"/>
                <a:ea typeface="Cambria Math" panose="02040503050406030204" pitchFamily="18" charset="0"/>
                <a:sym typeface="Wingdings" panose="05000000000000000000" pitchFamily="2" charset="2"/>
              </a:rPr>
              <a:t>Deslizamiento</a:t>
            </a:r>
            <a:r>
              <a:rPr lang="en-US" dirty="0">
                <a:latin typeface="Bahnschrift" panose="020B0502040204020203" pitchFamily="34" charset="0"/>
                <a:ea typeface="Cambria Math" panose="02040503050406030204" pitchFamily="18" charset="0"/>
                <a:sym typeface="Wingdings" panose="05000000000000000000" pitchFamily="2" charset="2"/>
              </a:rPr>
              <a:t> </a:t>
            </a:r>
            <a:endParaRPr lang="es-AR" dirty="0">
              <a:highlight>
                <a:srgbClr val="FFC000"/>
              </a:highlight>
              <a:latin typeface="Bahnschrift" panose="020B0502040204020203" pitchFamily="34" charset="0"/>
            </a:endParaRPr>
          </a:p>
        </p:txBody>
      </p:sp>
    </p:spTree>
    <p:extLst>
      <p:ext uri="{BB962C8B-B14F-4D97-AF65-F5344CB8AC3E}">
        <p14:creationId xmlns:p14="http://schemas.microsoft.com/office/powerpoint/2010/main" val="378385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 grpId="0"/>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84721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3" y="830016"/>
            <a:ext cx="4730896"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VELOCIDAD DE DESLIZAMIENTO</a:t>
            </a:r>
          </a:p>
        </p:txBody>
      </p:sp>
      <p:pic>
        <p:nvPicPr>
          <p:cNvPr id="2" name="Imagen 1">
            <a:extLst>
              <a:ext uri="{FF2B5EF4-FFF2-40B4-BE49-F238E27FC236}">
                <a16:creationId xmlns:a16="http://schemas.microsoft.com/office/drawing/2014/main" id="{DC7068A5-1C2C-4FDC-8A1F-D4B4F3E5D59E}"/>
              </a:ext>
            </a:extLst>
          </p:cNvPr>
          <p:cNvPicPr>
            <a:picLocks noChangeAspect="1"/>
          </p:cNvPicPr>
          <p:nvPr/>
        </p:nvPicPr>
        <p:blipFill rotWithShape="1">
          <a:blip r:embed="rId2"/>
          <a:srcRect r="3135"/>
          <a:stretch/>
        </p:blipFill>
        <p:spPr>
          <a:xfrm>
            <a:off x="6190276" y="1444767"/>
            <a:ext cx="5010009" cy="3411321"/>
          </a:xfrm>
          <a:prstGeom prst="rect">
            <a:avLst/>
          </a:prstGeom>
        </p:spPr>
      </p:pic>
      <p:sp>
        <p:nvSpPr>
          <p:cNvPr id="25" name="Marcador de contenido 2">
            <a:extLst>
              <a:ext uri="{FF2B5EF4-FFF2-40B4-BE49-F238E27FC236}">
                <a16:creationId xmlns:a16="http://schemas.microsoft.com/office/drawing/2014/main" id="{AFB18A2C-0660-42D7-BFF1-6CA024A12E0F}"/>
              </a:ext>
            </a:extLst>
          </p:cNvPr>
          <p:cNvSpPr>
            <a:spLocks noGrp="1"/>
          </p:cNvSpPr>
          <p:nvPr>
            <p:ph idx="1"/>
          </p:nvPr>
        </p:nvSpPr>
        <p:spPr>
          <a:xfrm>
            <a:off x="184872" y="3492866"/>
            <a:ext cx="6171991" cy="1242584"/>
          </a:xfrm>
        </p:spPr>
        <p:txBody>
          <a:bodyPr wrap="square">
            <a:spAutoFit/>
          </a:bodyPr>
          <a:lstStyle/>
          <a:p>
            <a:pPr>
              <a:lnSpc>
                <a:spcPct val="120000"/>
              </a:lnSpc>
              <a:buFontTx/>
              <a:buChar char="-"/>
            </a:pPr>
            <a:r>
              <a:rPr lang="es-AR" sz="1600" b="1" dirty="0">
                <a:solidFill>
                  <a:srgbClr val="FF0000"/>
                </a:solidFill>
                <a:latin typeface="Bahnschrift" panose="020B0502040204020203" pitchFamily="34" charset="0"/>
              </a:rPr>
              <a:t>EJE DE DESLIZAMIENTO</a:t>
            </a:r>
            <a:br>
              <a:rPr lang="es-AR" sz="1600" b="1" dirty="0">
                <a:latin typeface="Bahnschrift" panose="020B0502040204020203" pitchFamily="34" charset="0"/>
              </a:rPr>
            </a:br>
            <a:r>
              <a:rPr lang="es-AR" sz="1600" b="1" dirty="0">
                <a:latin typeface="Bahnschrift" panose="020B0502040204020203" pitchFamily="34" charset="0"/>
              </a:rPr>
              <a:t>. </a:t>
            </a:r>
            <a:r>
              <a:rPr lang="es-AR" sz="1600" dirty="0">
                <a:latin typeface="Bahnschrift" panose="020B0502040204020203" pitchFamily="34" charset="0"/>
              </a:rPr>
              <a:t>Recta con dirección tangente a la trayectoria de la corredera. </a:t>
            </a:r>
            <a:br>
              <a:rPr lang="es-AR" sz="1600" dirty="0">
                <a:latin typeface="Bahnschrift" panose="020B0502040204020203" pitchFamily="34" charset="0"/>
              </a:rPr>
            </a:br>
            <a:r>
              <a:rPr lang="es-AR" sz="1600" dirty="0">
                <a:latin typeface="Bahnschrift" panose="020B0502040204020203" pitchFamily="34" charset="0"/>
              </a:rPr>
              <a:t>. A través de la misma ocurre el movimiento deslizante entre los eslabones 3 y 4.</a:t>
            </a:r>
          </a:p>
        </p:txBody>
      </p:sp>
      <p:sp>
        <p:nvSpPr>
          <p:cNvPr id="13" name="Marcador de contenido 2">
            <a:extLst>
              <a:ext uri="{FF2B5EF4-FFF2-40B4-BE49-F238E27FC236}">
                <a16:creationId xmlns:a16="http://schemas.microsoft.com/office/drawing/2014/main" id="{08D01A8C-89E5-493B-9477-3AA61252F43E}"/>
              </a:ext>
            </a:extLst>
          </p:cNvPr>
          <p:cNvSpPr txBox="1">
            <a:spLocks/>
          </p:cNvSpPr>
          <p:nvPr/>
        </p:nvSpPr>
        <p:spPr>
          <a:xfrm>
            <a:off x="184872" y="1646793"/>
            <a:ext cx="6171990" cy="1538050"/>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nSpc>
                <a:spcPct val="120000"/>
              </a:lnSpc>
              <a:buFontTx/>
              <a:buChar char="-"/>
            </a:pPr>
            <a:r>
              <a:rPr lang="es-AR" sz="1600" b="1" dirty="0">
                <a:solidFill>
                  <a:srgbClr val="00B050"/>
                </a:solidFill>
                <a:latin typeface="Bahnschrift" panose="020B0502040204020203" pitchFamily="34" charset="0"/>
              </a:rPr>
              <a:t>EJE DE TRANSMISIÓN</a:t>
            </a:r>
            <a:br>
              <a:rPr lang="es-AR" sz="1600" b="1" dirty="0">
                <a:solidFill>
                  <a:srgbClr val="FFC000"/>
                </a:solidFill>
                <a:latin typeface="Bahnschrift" panose="020B0502040204020203" pitchFamily="34" charset="0"/>
              </a:rPr>
            </a:br>
            <a:r>
              <a:rPr lang="es-AR" sz="1600" b="1" dirty="0">
                <a:solidFill>
                  <a:srgbClr val="2B241F"/>
                </a:solidFill>
                <a:latin typeface="Bahnschrift" panose="020B0502040204020203" pitchFamily="34" charset="0"/>
              </a:rPr>
              <a:t>. </a:t>
            </a:r>
            <a:r>
              <a:rPr lang="es-AR" sz="1600" dirty="0">
                <a:solidFill>
                  <a:srgbClr val="2B241F"/>
                </a:solidFill>
                <a:latin typeface="Bahnschrift" panose="020B0502040204020203" pitchFamily="34" charset="0"/>
              </a:rPr>
              <a:t>Recta con dirección normal al eje de deslizamiento, pasando por la junta A.</a:t>
            </a:r>
            <a:br>
              <a:rPr lang="es-AR" sz="1600" dirty="0">
                <a:solidFill>
                  <a:srgbClr val="2B241F"/>
                </a:solidFill>
                <a:latin typeface="Bahnschrift" panose="020B0502040204020203" pitchFamily="34" charset="0"/>
              </a:rPr>
            </a:br>
            <a:r>
              <a:rPr lang="es-AR" sz="1600" dirty="0">
                <a:solidFill>
                  <a:srgbClr val="2B241F"/>
                </a:solidFill>
                <a:latin typeface="Bahnschrift" panose="020B0502040204020203" pitchFamily="34" charset="0"/>
              </a:rPr>
              <a:t>. Única dirección a través de la cual puede transmitirse movimiento o fuerza a través de la junta.</a:t>
            </a:r>
            <a:endParaRPr lang="es-AR" sz="1600" b="1" dirty="0">
              <a:latin typeface="Bahnschrift" panose="020B0502040204020203" pitchFamily="34" charset="0"/>
            </a:endParaRPr>
          </a:p>
        </p:txBody>
      </p:sp>
      <p:sp>
        <p:nvSpPr>
          <p:cNvPr id="14" name="Marcador de contenido 2">
            <a:extLst>
              <a:ext uri="{FF2B5EF4-FFF2-40B4-BE49-F238E27FC236}">
                <a16:creationId xmlns:a16="http://schemas.microsoft.com/office/drawing/2014/main" id="{D7B11FEC-122C-4E58-B3A2-558ED34D87A1}"/>
              </a:ext>
            </a:extLst>
          </p:cNvPr>
          <p:cNvSpPr txBox="1">
            <a:spLocks/>
          </p:cNvSpPr>
          <p:nvPr/>
        </p:nvSpPr>
        <p:spPr>
          <a:xfrm>
            <a:off x="1045554" y="5381569"/>
            <a:ext cx="8986213" cy="791499"/>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lnSpc>
                <a:spcPct val="120000"/>
              </a:lnSpc>
              <a:buNone/>
            </a:pPr>
            <a:r>
              <a:rPr lang="es-AR" sz="2000" b="1" dirty="0">
                <a:solidFill>
                  <a:srgbClr val="2B241F"/>
                </a:solidFill>
                <a:latin typeface="Bahnschrift" panose="020B0502040204020203" pitchFamily="34" charset="0"/>
              </a:rPr>
              <a:t>AMBOS EJES CONFORMAN UN </a:t>
            </a:r>
            <a:r>
              <a:rPr lang="es-AR" sz="2000" b="1" dirty="0">
                <a:solidFill>
                  <a:srgbClr val="2B241F"/>
                </a:solidFill>
                <a:highlight>
                  <a:srgbClr val="FFC000"/>
                </a:highlight>
                <a:latin typeface="Bahnschrift" panose="020B0502040204020203" pitchFamily="34" charset="0"/>
              </a:rPr>
              <a:t>SISTEMA COORDENADO LOCAL TRASLATORIO Y ROTATORIO</a:t>
            </a:r>
            <a:r>
              <a:rPr lang="es-AR" sz="2000" b="1" dirty="0">
                <a:solidFill>
                  <a:srgbClr val="2B241F"/>
                </a:solidFill>
                <a:latin typeface="Bahnschrift" panose="020B0502040204020203" pitchFamily="34" charset="0"/>
              </a:rPr>
              <a:t> PARA EL ANÁLISIS DE LA JUNTA.</a:t>
            </a:r>
            <a:endParaRPr lang="es-AR" sz="2000" dirty="0">
              <a:solidFill>
                <a:srgbClr val="2B241F"/>
              </a:solidFill>
              <a:latin typeface="Bahnschrift" panose="020B0502040204020203" pitchFamily="34" charset="0"/>
            </a:endParaRPr>
          </a:p>
        </p:txBody>
      </p:sp>
      <p:cxnSp>
        <p:nvCxnSpPr>
          <p:cNvPr id="5" name="Conector recto 4">
            <a:extLst>
              <a:ext uri="{FF2B5EF4-FFF2-40B4-BE49-F238E27FC236}">
                <a16:creationId xmlns:a16="http://schemas.microsoft.com/office/drawing/2014/main" id="{2C33F739-F087-4330-BC40-1F29D39D796A}"/>
              </a:ext>
            </a:extLst>
          </p:cNvPr>
          <p:cNvCxnSpPr/>
          <p:nvPr/>
        </p:nvCxnSpPr>
        <p:spPr>
          <a:xfrm>
            <a:off x="7344793" y="1097469"/>
            <a:ext cx="2414727" cy="417474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517FBD94-95F9-4EF0-A942-66B10C407CE4}"/>
              </a:ext>
            </a:extLst>
          </p:cNvPr>
          <p:cNvCxnSpPr>
            <a:cxnSpLocks/>
          </p:cNvCxnSpPr>
          <p:nvPr/>
        </p:nvCxnSpPr>
        <p:spPr>
          <a:xfrm flipH="1">
            <a:off x="6739427" y="1748900"/>
            <a:ext cx="3532038" cy="201166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62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84721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3" y="830016"/>
            <a:ext cx="4730896"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VELOCIDAD DE DESLIZAMIENTO</a:t>
            </a:r>
          </a:p>
        </p:txBody>
      </p:sp>
      <p:sp>
        <p:nvSpPr>
          <p:cNvPr id="13" name="Marcador de contenido 2">
            <a:extLst>
              <a:ext uri="{FF2B5EF4-FFF2-40B4-BE49-F238E27FC236}">
                <a16:creationId xmlns:a16="http://schemas.microsoft.com/office/drawing/2014/main" id="{08D01A8C-89E5-493B-9477-3AA61252F43E}"/>
              </a:ext>
            </a:extLst>
          </p:cNvPr>
          <p:cNvSpPr txBox="1">
            <a:spLocks/>
          </p:cNvSpPr>
          <p:nvPr/>
        </p:nvSpPr>
        <p:spPr>
          <a:xfrm>
            <a:off x="116313" y="1266296"/>
            <a:ext cx="5645296" cy="356188"/>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600" b="1" dirty="0">
                <a:solidFill>
                  <a:srgbClr val="2B241F"/>
                </a:solidFill>
                <a:latin typeface="Bahnschrift" panose="020B0502040204020203" pitchFamily="34" charset="0"/>
              </a:rPr>
              <a:t>ANÁLISIS GRÁFICO DE VELOCIDAD DE DESLIZAMIENTO</a:t>
            </a:r>
            <a:endParaRPr lang="es-AR" sz="1600" b="1" dirty="0">
              <a:latin typeface="Bahnschrift" panose="020B0502040204020203" pitchFamily="34" charset="0"/>
            </a:endParaRPr>
          </a:p>
        </p:txBody>
      </p:sp>
      <p:sp>
        <p:nvSpPr>
          <p:cNvPr id="15" name="Marcador de contenido 2">
            <a:extLst>
              <a:ext uri="{FF2B5EF4-FFF2-40B4-BE49-F238E27FC236}">
                <a16:creationId xmlns:a16="http://schemas.microsoft.com/office/drawing/2014/main" id="{68A01C7F-4615-41E9-A03E-C5B76B71C8BD}"/>
              </a:ext>
            </a:extLst>
          </p:cNvPr>
          <p:cNvSpPr txBox="1">
            <a:spLocks/>
          </p:cNvSpPr>
          <p:nvPr/>
        </p:nvSpPr>
        <p:spPr>
          <a:xfrm>
            <a:off x="116313" y="1713138"/>
            <a:ext cx="4730896" cy="359778"/>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600" b="1" dirty="0">
                <a:solidFill>
                  <a:srgbClr val="2B241F"/>
                </a:solidFill>
                <a:highlight>
                  <a:srgbClr val="FFC000"/>
                </a:highlight>
                <a:latin typeface="Bahnschrift" panose="020B0502040204020203" pitchFamily="34" charset="0"/>
              </a:rPr>
              <a:t>DADOS</a:t>
            </a:r>
            <a:r>
              <a:rPr lang="es-AR" sz="1600" b="1" dirty="0">
                <a:solidFill>
                  <a:srgbClr val="2B241F"/>
                </a:solidFill>
                <a:latin typeface="Bahnschrift" panose="020B0502040204020203" pitchFamily="34" charset="0"/>
              </a:rPr>
              <a:t> </a:t>
            </a:r>
            <a:r>
              <a:rPr lang="en-US" sz="1600" dirty="0">
                <a:solidFill>
                  <a:srgbClr val="2B241F"/>
                </a:solidFill>
                <a:latin typeface="Bahnschrift" panose="020B0502040204020203" pitchFamily="34" charset="0"/>
                <a:ea typeface="Cambria Math" panose="02040503050406030204" pitchFamily="18" charset="0"/>
              </a:rPr>
              <a:t>𝛉</a:t>
            </a:r>
            <a:r>
              <a:rPr lang="en-US" sz="1600" baseline="-25000" dirty="0">
                <a:solidFill>
                  <a:srgbClr val="2B241F"/>
                </a:solidFill>
                <a:latin typeface="Bahnschrift" panose="020B0502040204020203" pitchFamily="34" charset="0"/>
                <a:ea typeface="Cambria Math" panose="02040503050406030204" pitchFamily="18" charset="0"/>
              </a:rPr>
              <a:t>2</a:t>
            </a:r>
            <a:r>
              <a:rPr lang="en-US" sz="1600" dirty="0">
                <a:solidFill>
                  <a:srgbClr val="2B241F"/>
                </a:solidFill>
                <a:latin typeface="Bahnschrift" panose="020B0502040204020203" pitchFamily="34" charset="0"/>
                <a:ea typeface="Cambria Math" panose="02040503050406030204" pitchFamily="18" charset="0"/>
              </a:rPr>
              <a:t>, 𝛉</a:t>
            </a:r>
            <a:r>
              <a:rPr lang="en-US" sz="1600" baseline="-25000" dirty="0">
                <a:solidFill>
                  <a:srgbClr val="2B241F"/>
                </a:solidFill>
                <a:latin typeface="Bahnschrift" panose="020B0502040204020203" pitchFamily="34" charset="0"/>
                <a:ea typeface="Cambria Math" panose="02040503050406030204" pitchFamily="18" charset="0"/>
              </a:rPr>
              <a:t>3</a:t>
            </a:r>
            <a:r>
              <a:rPr lang="en-US" sz="1600" dirty="0">
                <a:solidFill>
                  <a:srgbClr val="2B241F"/>
                </a:solidFill>
                <a:latin typeface="Bahnschrift" panose="020B0502040204020203" pitchFamily="34" charset="0"/>
                <a:ea typeface="Cambria Math" panose="02040503050406030204" pitchFamily="18" charset="0"/>
              </a:rPr>
              <a:t>, 𝛉</a:t>
            </a:r>
            <a:r>
              <a:rPr lang="en-US" sz="1600" baseline="-25000" dirty="0">
                <a:solidFill>
                  <a:srgbClr val="2B241F"/>
                </a:solidFill>
                <a:latin typeface="Bahnschrift" panose="020B0502040204020203" pitchFamily="34" charset="0"/>
                <a:ea typeface="Cambria Math" panose="02040503050406030204" pitchFamily="18" charset="0"/>
              </a:rPr>
              <a:t>4</a:t>
            </a:r>
            <a:r>
              <a:rPr lang="en-US" sz="1600" dirty="0">
                <a:solidFill>
                  <a:srgbClr val="2B241F"/>
                </a:solidFill>
                <a:latin typeface="Bahnschrift" panose="020B0502040204020203" pitchFamily="34" charset="0"/>
                <a:ea typeface="Cambria Math" panose="02040503050406030204" pitchFamily="18" charset="0"/>
              </a:rPr>
              <a:t>, 𝛚</a:t>
            </a:r>
            <a:r>
              <a:rPr lang="en-US" sz="1600" baseline="-25000" dirty="0">
                <a:solidFill>
                  <a:srgbClr val="2B241F"/>
                </a:solidFill>
                <a:latin typeface="Bahnschrift" panose="020B0502040204020203" pitchFamily="34" charset="0"/>
                <a:ea typeface="Cambria Math" panose="02040503050406030204" pitchFamily="18" charset="0"/>
              </a:rPr>
              <a:t>2 </a:t>
            </a:r>
            <a:r>
              <a:rPr lang="en-US" sz="1600" dirty="0">
                <a:solidFill>
                  <a:srgbClr val="2B241F"/>
                </a:solidFill>
                <a:latin typeface="Bahnschrift" panose="020B0502040204020203" pitchFamily="34" charset="0"/>
                <a:ea typeface="Cambria Math" panose="02040503050406030204" pitchFamily="18" charset="0"/>
              </a:rPr>
              <a:t> /  </a:t>
            </a:r>
            <a:r>
              <a:rPr lang="es-AR" sz="1600" b="1" dirty="0">
                <a:solidFill>
                  <a:srgbClr val="2B241F"/>
                </a:solidFill>
                <a:highlight>
                  <a:srgbClr val="FFC000"/>
                </a:highlight>
                <a:latin typeface="Bahnschrift" panose="020B0502040204020203" pitchFamily="34" charset="0"/>
              </a:rPr>
              <a:t>OBTENER</a:t>
            </a:r>
            <a:r>
              <a:rPr lang="es-AR" sz="1600" b="1" dirty="0">
                <a:solidFill>
                  <a:srgbClr val="2B241F"/>
                </a:solidFill>
                <a:latin typeface="Bahnschrift" panose="020B0502040204020203" pitchFamily="34" charset="0"/>
              </a:rPr>
              <a:t> </a:t>
            </a:r>
            <a:r>
              <a:rPr lang="en-US" sz="1600" dirty="0">
                <a:solidFill>
                  <a:srgbClr val="2B241F"/>
                </a:solidFill>
                <a:latin typeface="Bahnschrift" panose="020B0502040204020203" pitchFamily="34" charset="0"/>
                <a:ea typeface="Cambria Math" panose="02040503050406030204" pitchFamily="18" charset="0"/>
              </a:rPr>
              <a:t>𝛚</a:t>
            </a:r>
            <a:r>
              <a:rPr lang="en-US" sz="1600" baseline="-25000" dirty="0">
                <a:solidFill>
                  <a:srgbClr val="2B241F"/>
                </a:solidFill>
                <a:latin typeface="Bahnschrift" panose="020B0502040204020203" pitchFamily="34" charset="0"/>
                <a:ea typeface="Cambria Math" panose="02040503050406030204" pitchFamily="18" charset="0"/>
              </a:rPr>
              <a:t>3</a:t>
            </a:r>
            <a:r>
              <a:rPr lang="en-US" sz="1600" dirty="0">
                <a:solidFill>
                  <a:srgbClr val="2B241F"/>
                </a:solidFill>
                <a:latin typeface="Bahnschrift" panose="020B0502040204020203" pitchFamily="34" charset="0"/>
                <a:ea typeface="Cambria Math" panose="02040503050406030204" pitchFamily="18" charset="0"/>
              </a:rPr>
              <a:t>, 𝛚</a:t>
            </a:r>
            <a:r>
              <a:rPr lang="en-US" sz="1600" baseline="-25000" dirty="0">
                <a:solidFill>
                  <a:srgbClr val="2B241F"/>
                </a:solidFill>
                <a:latin typeface="Bahnschrift" panose="020B0502040204020203" pitchFamily="34" charset="0"/>
                <a:ea typeface="Cambria Math" panose="02040503050406030204" pitchFamily="18" charset="0"/>
              </a:rPr>
              <a:t>4</a:t>
            </a:r>
            <a:r>
              <a:rPr lang="en-US" sz="1600" dirty="0">
                <a:solidFill>
                  <a:srgbClr val="2B241F"/>
                </a:solidFill>
                <a:latin typeface="Bahnschrift" panose="020B0502040204020203" pitchFamily="34" charset="0"/>
                <a:ea typeface="Cambria Math" panose="02040503050406030204" pitchFamily="18" charset="0"/>
              </a:rPr>
              <a:t>, V</a:t>
            </a:r>
            <a:r>
              <a:rPr lang="en-US" sz="1600" baseline="-25000" dirty="0">
                <a:solidFill>
                  <a:srgbClr val="2B241F"/>
                </a:solidFill>
                <a:latin typeface="Bahnschrift" panose="020B0502040204020203" pitchFamily="34" charset="0"/>
                <a:ea typeface="Cambria Math" panose="02040503050406030204" pitchFamily="18" charset="0"/>
              </a:rPr>
              <a:t>desl42</a:t>
            </a:r>
            <a:r>
              <a:rPr lang="en-US" sz="1600" dirty="0">
                <a:solidFill>
                  <a:srgbClr val="2B241F"/>
                </a:solidFill>
                <a:highlight>
                  <a:srgbClr val="FFC000"/>
                </a:highlight>
                <a:latin typeface="Bahnschrift" panose="020B0502040204020203" pitchFamily="34" charset="0"/>
                <a:ea typeface="Cambria Math" panose="02040503050406030204" pitchFamily="18" charset="0"/>
              </a:rPr>
              <a:t> </a:t>
            </a:r>
            <a:endParaRPr lang="es-AR" sz="1600" dirty="0">
              <a:latin typeface="Bahnschrift" panose="020B0502040204020203" pitchFamily="34" charset="0"/>
            </a:endParaRPr>
          </a:p>
        </p:txBody>
      </p:sp>
      <p:grpSp>
        <p:nvGrpSpPr>
          <p:cNvPr id="7" name="Grupo 6">
            <a:extLst>
              <a:ext uri="{FF2B5EF4-FFF2-40B4-BE49-F238E27FC236}">
                <a16:creationId xmlns:a16="http://schemas.microsoft.com/office/drawing/2014/main" id="{D218B9B3-76C4-4312-A072-6C5334A4D6C5}"/>
              </a:ext>
            </a:extLst>
          </p:cNvPr>
          <p:cNvGrpSpPr/>
          <p:nvPr/>
        </p:nvGrpSpPr>
        <p:grpSpPr>
          <a:xfrm>
            <a:off x="5690665" y="853440"/>
            <a:ext cx="5450811" cy="4176944"/>
            <a:chOff x="5690665" y="1266296"/>
            <a:chExt cx="5450811" cy="4176944"/>
          </a:xfrm>
        </p:grpSpPr>
        <p:pic>
          <p:nvPicPr>
            <p:cNvPr id="2" name="Imagen 1">
              <a:extLst>
                <a:ext uri="{FF2B5EF4-FFF2-40B4-BE49-F238E27FC236}">
                  <a16:creationId xmlns:a16="http://schemas.microsoft.com/office/drawing/2014/main" id="{DC7068A5-1C2C-4FDC-8A1F-D4B4F3E5D59E}"/>
                </a:ext>
              </a:extLst>
            </p:cNvPr>
            <p:cNvPicPr>
              <a:picLocks noChangeAspect="1"/>
            </p:cNvPicPr>
            <p:nvPr/>
          </p:nvPicPr>
          <p:blipFill rotWithShape="1">
            <a:blip r:embed="rId2"/>
            <a:srcRect r="13930"/>
            <a:stretch/>
          </p:blipFill>
          <p:spPr>
            <a:xfrm>
              <a:off x="5690665" y="1266296"/>
              <a:ext cx="5450811" cy="4176944"/>
            </a:xfrm>
            <a:prstGeom prst="rect">
              <a:avLst/>
            </a:prstGeom>
          </p:spPr>
        </p:pic>
        <p:pic>
          <p:nvPicPr>
            <p:cNvPr id="6" name="Imagen 5">
              <a:extLst>
                <a:ext uri="{FF2B5EF4-FFF2-40B4-BE49-F238E27FC236}">
                  <a16:creationId xmlns:a16="http://schemas.microsoft.com/office/drawing/2014/main" id="{2C860265-DC11-46A0-970D-CE5651DC9E0D}"/>
                </a:ext>
              </a:extLst>
            </p:cNvPr>
            <p:cNvPicPr>
              <a:picLocks noChangeAspect="1"/>
            </p:cNvPicPr>
            <p:nvPr/>
          </p:nvPicPr>
          <p:blipFill rotWithShape="1">
            <a:blip r:embed="rId2"/>
            <a:srcRect l="85931" t="48346" r="3275" b="46554"/>
            <a:stretch/>
          </p:blipFill>
          <p:spPr>
            <a:xfrm>
              <a:off x="10457896" y="3491143"/>
              <a:ext cx="683580" cy="213063"/>
            </a:xfrm>
            <a:prstGeom prst="rect">
              <a:avLst/>
            </a:prstGeom>
          </p:spPr>
        </p:pic>
      </p:grpSp>
      <mc:AlternateContent xmlns:mc="http://schemas.openxmlformats.org/markup-compatibility/2006" xmlns:a14="http://schemas.microsoft.com/office/drawing/2010/main">
        <mc:Choice Requires="a14">
          <p:sp>
            <p:nvSpPr>
              <p:cNvPr id="20" name="Marcador de contenido 2">
                <a:extLst>
                  <a:ext uri="{FF2B5EF4-FFF2-40B4-BE49-F238E27FC236}">
                    <a16:creationId xmlns:a16="http://schemas.microsoft.com/office/drawing/2014/main" id="{2DD6C514-963D-4C73-BBFE-F390DDC73921}"/>
                  </a:ext>
                </a:extLst>
              </p:cNvPr>
              <p:cNvSpPr txBox="1">
                <a:spLocks/>
              </p:cNvSpPr>
              <p:nvPr/>
            </p:nvSpPr>
            <p:spPr>
              <a:xfrm>
                <a:off x="116312" y="2163570"/>
                <a:ext cx="5645296" cy="642099"/>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1. Se determina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2</m:t>
                            </m:r>
                          </m:sub>
                        </m:sSub>
                      </m:sub>
                    </m:sSub>
                  </m:oMath>
                </a14:m>
                <a:r>
                  <a:rPr lang="es-AR" sz="1400" dirty="0">
                    <a:solidFill>
                      <a:srgbClr val="2B241F"/>
                    </a:solidFill>
                    <a:latin typeface="Bahnschrift" panose="020B0502040204020203" pitchFamily="34" charset="0"/>
                  </a:rPr>
                  <a:t> en función de los datos dados a través de la ecuación </a:t>
                </a:r>
                <a14:m>
                  <m:oMath xmlns:m="http://schemas.openxmlformats.org/officeDocument/2006/math">
                    <m:sSub>
                      <m:sSubPr>
                        <m:ctrlPr>
                          <a:rPr lang="en-US" sz="1400" b="0" i="1" smtClean="0">
                            <a:solidFill>
                              <a:srgbClr val="2B241F"/>
                            </a:solidFill>
                            <a:latin typeface="Cambria Math" panose="02040503050406030204" pitchFamily="18" charset="0"/>
                          </a:rPr>
                        </m:ctrlPr>
                      </m:sSubPr>
                      <m:e>
                        <m:r>
                          <a:rPr lang="en-US" sz="1400" b="0" i="1" smtClean="0">
                            <a:solidFill>
                              <a:srgbClr val="2B241F"/>
                            </a:solidFill>
                            <a:latin typeface="Cambria Math" panose="02040503050406030204" pitchFamily="18" charset="0"/>
                          </a:rPr>
                          <m:t>𝑉</m:t>
                        </m:r>
                      </m:e>
                      <m:sub>
                        <m:sSub>
                          <m:sSubPr>
                            <m:ctrlPr>
                              <a:rPr lang="en-US" sz="1400" b="0" i="1" smtClean="0">
                                <a:solidFill>
                                  <a:srgbClr val="2B241F"/>
                                </a:solidFill>
                                <a:latin typeface="Cambria Math" panose="02040503050406030204" pitchFamily="18" charset="0"/>
                              </a:rPr>
                            </m:ctrlPr>
                          </m:sSubPr>
                          <m:e>
                            <m:r>
                              <a:rPr lang="en-US" sz="1400" b="0" i="1" smtClean="0">
                                <a:solidFill>
                                  <a:srgbClr val="2B241F"/>
                                </a:solidFill>
                                <a:latin typeface="Cambria Math" panose="02040503050406030204" pitchFamily="18" charset="0"/>
                              </a:rPr>
                              <m:t>𝐴</m:t>
                            </m:r>
                          </m:e>
                          <m:sub>
                            <m:r>
                              <a:rPr lang="en-US" sz="1400" b="0" i="1" smtClean="0">
                                <a:solidFill>
                                  <a:srgbClr val="2B241F"/>
                                </a:solidFill>
                                <a:latin typeface="Cambria Math" panose="02040503050406030204" pitchFamily="18" charset="0"/>
                              </a:rPr>
                              <m:t>2</m:t>
                            </m:r>
                          </m:sub>
                        </m:sSub>
                      </m:sub>
                    </m:sSub>
                    <m:r>
                      <a:rPr lang="en-US" sz="1400" b="0" i="1" smtClean="0">
                        <a:solidFill>
                          <a:srgbClr val="2B241F"/>
                        </a:solidFill>
                        <a:latin typeface="Cambria Math" panose="02040503050406030204" pitchFamily="18" charset="0"/>
                      </a:rPr>
                      <m:t>=</m:t>
                    </m:r>
                    <m:r>
                      <a:rPr lang="en-US" sz="1400" b="0" i="1" smtClean="0">
                        <a:solidFill>
                          <a:srgbClr val="2B241F"/>
                        </a:solidFill>
                        <a:latin typeface="Cambria Math" panose="02040503050406030204" pitchFamily="18" charset="0"/>
                      </a:rPr>
                      <m:t>𝐴</m:t>
                    </m:r>
                    <m:sSub>
                      <m:sSubPr>
                        <m:ctrlPr>
                          <a:rPr lang="en-US" sz="1400" b="0" i="1" smtClean="0">
                            <a:solidFill>
                              <a:srgbClr val="2B241F"/>
                            </a:solidFill>
                            <a:latin typeface="Cambria Math" panose="02040503050406030204" pitchFamily="18" charset="0"/>
                          </a:rPr>
                        </m:ctrlPr>
                      </m:sSubPr>
                      <m:e>
                        <m:r>
                          <a:rPr lang="en-US" sz="1400" b="0" i="1" smtClean="0">
                            <a:solidFill>
                              <a:srgbClr val="2B241F"/>
                            </a:solidFill>
                            <a:latin typeface="Cambria Math" panose="02040503050406030204" pitchFamily="18" charset="0"/>
                          </a:rPr>
                          <m:t>𝑂</m:t>
                        </m:r>
                      </m:e>
                      <m:sub>
                        <m:r>
                          <a:rPr lang="en-US" sz="1400" b="0" i="1" smtClean="0">
                            <a:solidFill>
                              <a:srgbClr val="2B241F"/>
                            </a:solidFill>
                            <a:latin typeface="Cambria Math" panose="02040503050406030204" pitchFamily="18" charset="0"/>
                          </a:rPr>
                          <m:t>2</m:t>
                        </m:r>
                      </m:sub>
                    </m:sSub>
                    <m:r>
                      <a:rPr lang="en-US" sz="1400" b="0" i="1" smtClean="0">
                        <a:solidFill>
                          <a:srgbClr val="2B241F"/>
                        </a:solidFill>
                        <a:latin typeface="Cambria Math" panose="02040503050406030204" pitchFamily="18" charset="0"/>
                      </a:rPr>
                      <m:t>∗</m:t>
                    </m:r>
                    <m:sSub>
                      <m:sSubPr>
                        <m:ctrlPr>
                          <a:rPr lang="en-US" sz="1400" b="0" i="1" smtClean="0">
                            <a:solidFill>
                              <a:srgbClr val="2B241F"/>
                            </a:solidFill>
                            <a:latin typeface="Cambria Math" panose="02040503050406030204" pitchFamily="18" charset="0"/>
                          </a:rPr>
                        </m:ctrlPr>
                      </m:sSubPr>
                      <m:e>
                        <m:r>
                          <a:rPr lang="en-US" sz="1400" b="0" i="1" smtClean="0">
                            <a:solidFill>
                              <a:srgbClr val="2B241F"/>
                            </a:solidFill>
                            <a:latin typeface="Cambria Math" panose="02040503050406030204" pitchFamily="18" charset="0"/>
                          </a:rPr>
                          <m:t>𝜔</m:t>
                        </m:r>
                      </m:e>
                      <m:sub>
                        <m:r>
                          <a:rPr lang="en-US" sz="1400" b="0" i="1" smtClean="0">
                            <a:solidFill>
                              <a:srgbClr val="2B241F"/>
                            </a:solidFill>
                            <a:latin typeface="Cambria Math" panose="02040503050406030204" pitchFamily="18" charset="0"/>
                          </a:rPr>
                          <m:t>2</m:t>
                        </m:r>
                      </m:sub>
                    </m:sSub>
                  </m:oMath>
                </a14:m>
                <a:endParaRPr lang="es-AR" sz="1400" dirty="0">
                  <a:latin typeface="Bahnschrift" panose="020B0502040204020203" pitchFamily="34" charset="0"/>
                </a:endParaRPr>
              </a:p>
            </p:txBody>
          </p:sp>
        </mc:Choice>
        <mc:Fallback xmlns="">
          <p:sp>
            <p:nvSpPr>
              <p:cNvPr id="20" name="Marcador de contenido 2">
                <a:extLst>
                  <a:ext uri="{FF2B5EF4-FFF2-40B4-BE49-F238E27FC236}">
                    <a16:creationId xmlns:a16="http://schemas.microsoft.com/office/drawing/2014/main" id="{2DD6C514-963D-4C73-BBFE-F390DDC73921}"/>
                  </a:ext>
                </a:extLst>
              </p:cNvPr>
              <p:cNvSpPr txBox="1">
                <a:spLocks noRot="1" noChangeAspect="1" noMove="1" noResize="1" noEditPoints="1" noAdjustHandles="1" noChangeArrowheads="1" noChangeShapeType="1" noTextEdit="1"/>
              </p:cNvSpPr>
              <p:nvPr/>
            </p:nvSpPr>
            <p:spPr>
              <a:xfrm>
                <a:off x="116312" y="2163570"/>
                <a:ext cx="5645296" cy="642099"/>
              </a:xfrm>
              <a:prstGeom prst="rect">
                <a:avLst/>
              </a:prstGeom>
              <a:blipFill>
                <a:blip r:embed="rId3"/>
                <a:stretch>
                  <a:fillRect l="-324" b="-47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Marcador de contenido 2">
                <a:extLst>
                  <a:ext uri="{FF2B5EF4-FFF2-40B4-BE49-F238E27FC236}">
                    <a16:creationId xmlns:a16="http://schemas.microsoft.com/office/drawing/2014/main" id="{6A778A4B-A0E8-473E-BBC4-0867D0F38ADB}"/>
                  </a:ext>
                </a:extLst>
              </p:cNvPr>
              <p:cNvSpPr txBox="1">
                <a:spLocks/>
              </p:cNvSpPr>
              <p:nvPr/>
            </p:nvSpPr>
            <p:spPr>
              <a:xfrm>
                <a:off x="116312" y="2715371"/>
                <a:ext cx="5884992" cy="603948"/>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2. Se traza el vector </a:t>
                </a:r>
                <a14:m>
                  <m:oMath xmlns:m="http://schemas.openxmlformats.org/officeDocument/2006/math">
                    <m:sSub>
                      <m:sSubPr>
                        <m:ctrlPr>
                          <a:rPr lang="en-US" sz="1400" b="0" i="1" smtClean="0">
                            <a:solidFill>
                              <a:srgbClr val="2B241F"/>
                            </a:solidFill>
                            <a:latin typeface="Cambria Math" panose="02040503050406030204" pitchFamily="18" charset="0"/>
                          </a:rPr>
                        </m:ctrlPr>
                      </m:sSubPr>
                      <m:e>
                        <m:r>
                          <a:rPr lang="en-US" sz="1400" b="0" i="1" smtClean="0">
                            <a:solidFill>
                              <a:srgbClr val="2B241F"/>
                            </a:solidFill>
                            <a:latin typeface="Cambria Math" panose="02040503050406030204" pitchFamily="18" charset="0"/>
                          </a:rPr>
                          <m:t>𝑉</m:t>
                        </m:r>
                      </m:e>
                      <m:sub>
                        <m:sSub>
                          <m:sSubPr>
                            <m:ctrlPr>
                              <a:rPr lang="en-US" sz="1400" b="0" i="1" smtClean="0">
                                <a:solidFill>
                                  <a:srgbClr val="2B241F"/>
                                </a:solidFill>
                                <a:latin typeface="Cambria Math" panose="02040503050406030204" pitchFamily="18" charset="0"/>
                              </a:rPr>
                            </m:ctrlPr>
                          </m:sSubPr>
                          <m:e>
                            <m:r>
                              <a:rPr lang="en-US" sz="1400" b="0" i="1" smtClean="0">
                                <a:solidFill>
                                  <a:srgbClr val="2B241F"/>
                                </a:solidFill>
                                <a:latin typeface="Cambria Math" panose="02040503050406030204" pitchFamily="18" charset="0"/>
                              </a:rPr>
                              <m:t>𝐴</m:t>
                            </m:r>
                          </m:e>
                          <m:sub>
                            <m:r>
                              <a:rPr lang="en-US" sz="1400" b="0" i="1" smtClean="0">
                                <a:solidFill>
                                  <a:srgbClr val="2B241F"/>
                                </a:solidFill>
                                <a:latin typeface="Cambria Math" panose="02040503050406030204" pitchFamily="18" charset="0"/>
                              </a:rPr>
                              <m:t>2</m:t>
                            </m:r>
                          </m:sub>
                        </m:sSub>
                      </m:sub>
                    </m:sSub>
                  </m:oMath>
                </a14:m>
                <a:r>
                  <a:rPr lang="es-AR" sz="1400" dirty="0">
                    <a:latin typeface="Bahnschrift" panose="020B0502040204020203" pitchFamily="34" charset="0"/>
                  </a:rPr>
                  <a:t> con la escala conveniente, a partir de A</a:t>
                </a:r>
                <a:r>
                  <a:rPr lang="es-AR" sz="1400" baseline="-25000" dirty="0">
                    <a:latin typeface="Bahnschrift" panose="020B0502040204020203" pitchFamily="34" charset="0"/>
                  </a:rPr>
                  <a:t>2</a:t>
                </a:r>
                <a:r>
                  <a:rPr lang="es-AR" sz="1400" dirty="0">
                    <a:latin typeface="Bahnschrift" panose="020B0502040204020203" pitchFamily="34" charset="0"/>
                  </a:rPr>
                  <a:t>, con dirección perpendicular a </a:t>
                </a:r>
                <a14:m>
                  <m:oMath xmlns:m="http://schemas.openxmlformats.org/officeDocument/2006/math">
                    <m:sSub>
                      <m:sSubPr>
                        <m:ctrlPr>
                          <a:rPr lang="en-US" sz="1400" b="0" i="1" smtClean="0">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b="0" i="1" smtClean="0">
                            <a:solidFill>
                              <a:srgbClr val="2B241F"/>
                            </a:solidFill>
                            <a:latin typeface="Cambria Math" panose="02040503050406030204" pitchFamily="18" charset="0"/>
                          </a:rPr>
                          <m:t>2</m:t>
                        </m:r>
                      </m:sub>
                    </m:s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𝑂</m:t>
                        </m:r>
                      </m:e>
                      <m:sub>
                        <m:r>
                          <a:rPr lang="en-US" sz="1400" i="1">
                            <a:solidFill>
                              <a:srgbClr val="2B241F"/>
                            </a:solidFill>
                            <a:latin typeface="Cambria Math" panose="02040503050406030204" pitchFamily="18" charset="0"/>
                          </a:rPr>
                          <m:t>2</m:t>
                        </m:r>
                      </m:sub>
                    </m:sSub>
                  </m:oMath>
                </a14:m>
                <a:r>
                  <a:rPr lang="es-AR" sz="1400" dirty="0">
                    <a:latin typeface="Bahnschrift" panose="020B0502040204020203" pitchFamily="34" charset="0"/>
                  </a:rPr>
                  <a:t> y sentido según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𝜔</m:t>
                        </m:r>
                      </m:e>
                      <m:sub>
                        <m:r>
                          <a:rPr lang="en-US" sz="1400" i="1">
                            <a:solidFill>
                              <a:srgbClr val="2B241F"/>
                            </a:solidFill>
                            <a:latin typeface="Cambria Math" panose="02040503050406030204" pitchFamily="18" charset="0"/>
                          </a:rPr>
                          <m:t>2</m:t>
                        </m:r>
                      </m:sub>
                    </m:sSub>
                  </m:oMath>
                </a14:m>
                <a:r>
                  <a:rPr lang="es-AR" sz="1400" dirty="0">
                    <a:latin typeface="Bahnschrift" panose="020B0502040204020203" pitchFamily="34" charset="0"/>
                  </a:rPr>
                  <a:t>.  </a:t>
                </a:r>
              </a:p>
            </p:txBody>
          </p:sp>
        </mc:Choice>
        <mc:Fallback xmlns="">
          <p:sp>
            <p:nvSpPr>
              <p:cNvPr id="26" name="Marcador de contenido 2">
                <a:extLst>
                  <a:ext uri="{FF2B5EF4-FFF2-40B4-BE49-F238E27FC236}">
                    <a16:creationId xmlns:a16="http://schemas.microsoft.com/office/drawing/2014/main" id="{6A778A4B-A0E8-473E-BBC4-0867D0F38ADB}"/>
                  </a:ext>
                </a:extLst>
              </p:cNvPr>
              <p:cNvSpPr txBox="1">
                <a:spLocks noRot="1" noChangeAspect="1" noMove="1" noResize="1" noEditPoints="1" noAdjustHandles="1" noChangeArrowheads="1" noChangeShapeType="1" noTextEdit="1"/>
              </p:cNvSpPr>
              <p:nvPr/>
            </p:nvSpPr>
            <p:spPr>
              <a:xfrm>
                <a:off x="116312" y="2715371"/>
                <a:ext cx="5884992" cy="603948"/>
              </a:xfrm>
              <a:prstGeom prst="rect">
                <a:avLst/>
              </a:prstGeom>
              <a:blipFill>
                <a:blip r:embed="rId4"/>
                <a:stretch>
                  <a:fillRect l="-311" b="-9000"/>
                </a:stretch>
              </a:blipFill>
            </p:spPr>
            <p:txBody>
              <a:bodyPr/>
              <a:lstStyle/>
              <a:p>
                <a:r>
                  <a:rPr lang="es-AR">
                    <a:noFill/>
                  </a:rPr>
                  <a:t> </a:t>
                </a:r>
              </a:p>
            </p:txBody>
          </p:sp>
        </mc:Fallback>
      </mc:AlternateContent>
      <p:sp>
        <p:nvSpPr>
          <p:cNvPr id="27" name="Marcador de contenido 2">
            <a:extLst>
              <a:ext uri="{FF2B5EF4-FFF2-40B4-BE49-F238E27FC236}">
                <a16:creationId xmlns:a16="http://schemas.microsoft.com/office/drawing/2014/main" id="{BF73CC21-8DB9-49DB-882F-D377D84F1363}"/>
              </a:ext>
            </a:extLst>
          </p:cNvPr>
          <p:cNvSpPr txBox="1">
            <a:spLocks/>
          </p:cNvSpPr>
          <p:nvPr/>
        </p:nvSpPr>
        <p:spPr>
          <a:xfrm>
            <a:off x="116311" y="3319319"/>
            <a:ext cx="5884993" cy="323230"/>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3. Se trazan los ejes de transmisión y deslizamiento por el punto A</a:t>
            </a:r>
            <a:r>
              <a:rPr lang="es-AR" sz="1400" baseline="-25000" dirty="0">
                <a:solidFill>
                  <a:srgbClr val="2B241F"/>
                </a:solidFill>
                <a:latin typeface="Bahnschrift" panose="020B0502040204020203" pitchFamily="34" charset="0"/>
              </a:rPr>
              <a:t>2</a:t>
            </a:r>
            <a:r>
              <a:rPr lang="es-AR" sz="1400" dirty="0">
                <a:solidFill>
                  <a:srgbClr val="2B241F"/>
                </a:solidFill>
                <a:latin typeface="Bahnschrift" panose="020B0502040204020203" pitchFamily="34" charset="0"/>
              </a:rPr>
              <a:t>. </a:t>
            </a: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28" name="Marcador de contenido 2">
                <a:extLst>
                  <a:ext uri="{FF2B5EF4-FFF2-40B4-BE49-F238E27FC236}">
                    <a16:creationId xmlns:a16="http://schemas.microsoft.com/office/drawing/2014/main" id="{D4A62E95-47CA-4680-B666-E31146EF18D3}"/>
                  </a:ext>
                </a:extLst>
              </p:cNvPr>
              <p:cNvSpPr txBox="1">
                <a:spLocks/>
              </p:cNvSpPr>
              <p:nvPr/>
            </p:nvSpPr>
            <p:spPr>
              <a:xfrm>
                <a:off x="116311" y="3627667"/>
                <a:ext cx="5884993" cy="371192"/>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4. Se proyecta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2</m:t>
                            </m:r>
                          </m:sub>
                        </m:sSub>
                      </m:sub>
                    </m:sSub>
                  </m:oMath>
                </a14:m>
                <a:r>
                  <a:rPr lang="es-AR" sz="1400" dirty="0">
                    <a:solidFill>
                      <a:srgbClr val="2B241F"/>
                    </a:solidFill>
                    <a:latin typeface="Bahnschrift" panose="020B0502040204020203" pitchFamily="34" charset="0"/>
                  </a:rPr>
                  <a:t> sobre eje de deslizamiento, para obtener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b="0" i="1" smtClean="0">
                                <a:solidFill>
                                  <a:srgbClr val="2B241F"/>
                                </a:solidFill>
                                <a:latin typeface="Cambria Math" panose="02040503050406030204" pitchFamily="18" charset="0"/>
                              </a:rPr>
                            </m:ctrlPr>
                          </m:sSubPr>
                          <m:e>
                            <m:r>
                              <a:rPr lang="en-US" sz="1400" b="0" i="1" smtClean="0">
                                <a:solidFill>
                                  <a:srgbClr val="2B241F"/>
                                </a:solidFill>
                                <a:latin typeface="Cambria Math" panose="02040503050406030204" pitchFamily="18" charset="0"/>
                              </a:rPr>
                              <m:t>𝐴</m:t>
                            </m:r>
                          </m:e>
                          <m:sub>
                            <m:r>
                              <a:rPr lang="en-US" sz="1400" b="0" i="1" smtClean="0">
                                <a:solidFill>
                                  <a:srgbClr val="2B241F"/>
                                </a:solidFill>
                                <a:latin typeface="Cambria Math" panose="02040503050406030204" pitchFamily="18" charset="0"/>
                              </a:rPr>
                              <m:t>2</m:t>
                            </m:r>
                          </m:sub>
                        </m:sSub>
                        <m:r>
                          <a:rPr lang="en-US" sz="1400" b="0" i="1" smtClean="0">
                            <a:solidFill>
                              <a:srgbClr val="2B241F"/>
                            </a:solidFill>
                            <a:latin typeface="Cambria Math" panose="02040503050406030204" pitchFamily="18" charset="0"/>
                          </a:rPr>
                          <m:t>𝑑𝑒𝑠𝑙</m:t>
                        </m:r>
                      </m:sub>
                    </m:sSub>
                  </m:oMath>
                </a14:m>
                <a:r>
                  <a:rPr lang="es-AR" sz="1400" dirty="0">
                    <a:solidFill>
                      <a:srgbClr val="2B241F"/>
                    </a:solidFill>
                    <a:latin typeface="Bahnschrift" panose="020B0502040204020203" pitchFamily="34" charset="0"/>
                  </a:rPr>
                  <a:t>. </a:t>
                </a:r>
                <a:endParaRPr lang="es-AR" sz="1400" dirty="0">
                  <a:latin typeface="Bahnschrift" panose="020B0502040204020203" pitchFamily="34" charset="0"/>
                </a:endParaRPr>
              </a:p>
            </p:txBody>
          </p:sp>
        </mc:Choice>
        <mc:Fallback xmlns="">
          <p:sp>
            <p:nvSpPr>
              <p:cNvPr id="28" name="Marcador de contenido 2">
                <a:extLst>
                  <a:ext uri="{FF2B5EF4-FFF2-40B4-BE49-F238E27FC236}">
                    <a16:creationId xmlns:a16="http://schemas.microsoft.com/office/drawing/2014/main" id="{D4A62E95-47CA-4680-B666-E31146EF18D3}"/>
                  </a:ext>
                </a:extLst>
              </p:cNvPr>
              <p:cNvSpPr txBox="1">
                <a:spLocks noRot="1" noChangeAspect="1" noMove="1" noResize="1" noEditPoints="1" noAdjustHandles="1" noChangeArrowheads="1" noChangeShapeType="1" noTextEdit="1"/>
              </p:cNvSpPr>
              <p:nvPr/>
            </p:nvSpPr>
            <p:spPr>
              <a:xfrm>
                <a:off x="116311" y="3627667"/>
                <a:ext cx="5884993" cy="371192"/>
              </a:xfrm>
              <a:prstGeom prst="rect">
                <a:avLst/>
              </a:prstGeom>
              <a:blipFill>
                <a:blip r:embed="rId5"/>
                <a:stretch>
                  <a:fillRect l="-311" b="-819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Marcador de contenido 2">
                <a:extLst>
                  <a:ext uri="{FF2B5EF4-FFF2-40B4-BE49-F238E27FC236}">
                    <a16:creationId xmlns:a16="http://schemas.microsoft.com/office/drawing/2014/main" id="{C006AC36-0E70-4895-AB5C-C70F10F6D0D5}"/>
                  </a:ext>
                </a:extLst>
              </p:cNvPr>
              <p:cNvSpPr txBox="1">
                <a:spLocks/>
              </p:cNvSpPr>
              <p:nvPr/>
            </p:nvSpPr>
            <p:spPr>
              <a:xfrm>
                <a:off x="116310" y="3929052"/>
                <a:ext cx="5884993" cy="371192"/>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5. Se proyecta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2</m:t>
                            </m:r>
                          </m:sub>
                        </m:sSub>
                      </m:sub>
                    </m:sSub>
                  </m:oMath>
                </a14:m>
                <a:r>
                  <a:rPr lang="es-AR" sz="1400" dirty="0">
                    <a:solidFill>
                      <a:srgbClr val="2B241F"/>
                    </a:solidFill>
                    <a:latin typeface="Bahnschrift" panose="020B0502040204020203" pitchFamily="34" charset="0"/>
                  </a:rPr>
                  <a:t> sobre eje de transmisión, para obtener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r>
                          <a:rPr lang="en-US" sz="1400" b="0" i="1" smtClean="0">
                            <a:solidFill>
                              <a:srgbClr val="2B241F"/>
                            </a:solidFill>
                            <a:latin typeface="Cambria Math" panose="02040503050406030204" pitchFamily="18" charset="0"/>
                          </a:rPr>
                          <m:t>𝑡𝑟𝑎𝑛𝑠𝑚</m:t>
                        </m:r>
                      </m:sub>
                    </m:sSub>
                  </m:oMath>
                </a14:m>
                <a:r>
                  <a:rPr lang="es-AR" sz="1400" dirty="0">
                    <a:solidFill>
                      <a:srgbClr val="2B241F"/>
                    </a:solidFill>
                    <a:latin typeface="Bahnschrift" panose="020B0502040204020203" pitchFamily="34" charset="0"/>
                  </a:rPr>
                  <a:t>. </a:t>
                </a:r>
                <a:endParaRPr lang="es-AR" sz="1400" dirty="0">
                  <a:latin typeface="Bahnschrift" panose="020B0502040204020203" pitchFamily="34" charset="0"/>
                </a:endParaRPr>
              </a:p>
            </p:txBody>
          </p:sp>
        </mc:Choice>
        <mc:Fallback xmlns="">
          <p:sp>
            <p:nvSpPr>
              <p:cNvPr id="29" name="Marcador de contenido 2">
                <a:extLst>
                  <a:ext uri="{FF2B5EF4-FFF2-40B4-BE49-F238E27FC236}">
                    <a16:creationId xmlns:a16="http://schemas.microsoft.com/office/drawing/2014/main" id="{C006AC36-0E70-4895-AB5C-C70F10F6D0D5}"/>
                  </a:ext>
                </a:extLst>
              </p:cNvPr>
              <p:cNvSpPr txBox="1">
                <a:spLocks noRot="1" noChangeAspect="1" noMove="1" noResize="1" noEditPoints="1" noAdjustHandles="1" noChangeArrowheads="1" noChangeShapeType="1" noTextEdit="1"/>
              </p:cNvSpPr>
              <p:nvPr/>
            </p:nvSpPr>
            <p:spPr>
              <a:xfrm>
                <a:off x="116310" y="3929052"/>
                <a:ext cx="5884993" cy="371192"/>
              </a:xfrm>
              <a:prstGeom prst="rect">
                <a:avLst/>
              </a:prstGeom>
              <a:blipFill>
                <a:blip r:embed="rId6"/>
                <a:stretch>
                  <a:fillRect l="-311" b="-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0" name="Marcador de contenido 2">
                <a:extLst>
                  <a:ext uri="{FF2B5EF4-FFF2-40B4-BE49-F238E27FC236}">
                    <a16:creationId xmlns:a16="http://schemas.microsoft.com/office/drawing/2014/main" id="{37FCFD71-986E-4FA5-B990-2EE651843AE2}"/>
                  </a:ext>
                </a:extLst>
              </p:cNvPr>
              <p:cNvSpPr txBox="1">
                <a:spLocks/>
              </p:cNvSpPr>
              <p:nvPr/>
            </p:nvSpPr>
            <p:spPr>
              <a:xfrm>
                <a:off x="116310" y="4237623"/>
                <a:ext cx="5979690" cy="629724"/>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6. Se encuentra el eslabón efectivo 4 (</a:t>
                </a:r>
                <a14:m>
                  <m:oMath xmlns:m="http://schemas.openxmlformats.org/officeDocument/2006/math">
                    <m:sSub>
                      <m:sSubPr>
                        <m:ctrlPr>
                          <a:rPr lang="en-US" sz="1400" b="0" i="1" smtClean="0">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b="0" i="1" smtClean="0">
                            <a:solidFill>
                              <a:srgbClr val="2B241F"/>
                            </a:solidFill>
                            <a:latin typeface="Cambria Math" panose="02040503050406030204" pitchFamily="18" charset="0"/>
                          </a:rPr>
                          <m:t>4</m:t>
                        </m:r>
                      </m:sub>
                    </m:s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𝑂</m:t>
                        </m:r>
                      </m:e>
                      <m:sub>
                        <m:r>
                          <a:rPr lang="en-US" sz="1400" b="0" i="1" smtClean="0">
                            <a:solidFill>
                              <a:srgbClr val="2B241F"/>
                            </a:solidFill>
                            <a:latin typeface="Cambria Math" panose="02040503050406030204" pitchFamily="18" charset="0"/>
                          </a:rPr>
                          <m:t>4</m:t>
                        </m:r>
                      </m:sub>
                    </m:sSub>
                  </m:oMath>
                </a14:m>
                <a:r>
                  <a:rPr lang="es-AR" sz="1400" dirty="0">
                    <a:latin typeface="Bahnschrift" panose="020B0502040204020203" pitchFamily="34" charset="0"/>
                  </a:rPr>
                  <a:t>) y se traza su perpendicular PP a través del punto A</a:t>
                </a:r>
                <a:r>
                  <a:rPr lang="es-AR" sz="1400" baseline="-25000" dirty="0">
                    <a:latin typeface="Bahnschrift" panose="020B0502040204020203" pitchFamily="34" charset="0"/>
                  </a:rPr>
                  <a:t>4</a:t>
                </a:r>
                <a:r>
                  <a:rPr lang="es-AR" sz="1400" dirty="0">
                    <a:latin typeface="Bahnschrift" panose="020B0502040204020203" pitchFamily="34" charset="0"/>
                  </a:rPr>
                  <a:t>, dado que es la dirección de la velocidad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b="0" i="1" smtClean="0">
                                <a:solidFill>
                                  <a:srgbClr val="2B241F"/>
                                </a:solidFill>
                                <a:latin typeface="Cambria Math" panose="02040503050406030204" pitchFamily="18" charset="0"/>
                              </a:rPr>
                              <m:t>4</m:t>
                            </m:r>
                          </m:sub>
                        </m:sSub>
                      </m:sub>
                    </m:sSub>
                  </m:oMath>
                </a14:m>
                <a:r>
                  <a:rPr lang="es-AR" sz="1400" dirty="0">
                    <a:latin typeface="Bahnschrift" panose="020B0502040204020203" pitchFamily="34" charset="0"/>
                  </a:rPr>
                  <a:t>.</a:t>
                </a:r>
              </a:p>
            </p:txBody>
          </p:sp>
        </mc:Choice>
        <mc:Fallback xmlns="">
          <p:sp>
            <p:nvSpPr>
              <p:cNvPr id="30" name="Marcador de contenido 2">
                <a:extLst>
                  <a:ext uri="{FF2B5EF4-FFF2-40B4-BE49-F238E27FC236}">
                    <a16:creationId xmlns:a16="http://schemas.microsoft.com/office/drawing/2014/main" id="{37FCFD71-986E-4FA5-B990-2EE651843AE2}"/>
                  </a:ext>
                </a:extLst>
              </p:cNvPr>
              <p:cNvSpPr txBox="1">
                <a:spLocks noRot="1" noChangeAspect="1" noMove="1" noResize="1" noEditPoints="1" noAdjustHandles="1" noChangeArrowheads="1" noChangeShapeType="1" noTextEdit="1"/>
              </p:cNvSpPr>
              <p:nvPr/>
            </p:nvSpPr>
            <p:spPr>
              <a:xfrm>
                <a:off x="116310" y="4237623"/>
                <a:ext cx="5979690" cy="629724"/>
              </a:xfrm>
              <a:prstGeom prst="rect">
                <a:avLst/>
              </a:prstGeom>
              <a:blipFill>
                <a:blip r:embed="rId7"/>
                <a:stretch>
                  <a:fillRect l="-306" r="-1019" b="-48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Marcador de contenido 2">
                <a:extLst>
                  <a:ext uri="{FF2B5EF4-FFF2-40B4-BE49-F238E27FC236}">
                    <a16:creationId xmlns:a16="http://schemas.microsoft.com/office/drawing/2014/main" id="{15750762-5280-4D05-840F-18E6C3576EC6}"/>
                  </a:ext>
                </a:extLst>
              </p:cNvPr>
              <p:cNvSpPr txBox="1">
                <a:spLocks/>
              </p:cNvSpPr>
              <p:nvPr/>
            </p:nvSpPr>
            <p:spPr>
              <a:xfrm>
                <a:off x="116309" y="4778574"/>
                <a:ext cx="5884993" cy="642099"/>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7. Dado que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r>
                          <a:rPr lang="en-US" sz="1400" i="1">
                            <a:solidFill>
                              <a:srgbClr val="2B241F"/>
                            </a:solidFill>
                            <a:latin typeface="Cambria Math" panose="02040503050406030204" pitchFamily="18" charset="0"/>
                          </a:rPr>
                          <m:t>𝑡𝑟𝑎𝑛𝑠𝑚</m:t>
                        </m:r>
                      </m:sub>
                    </m:sSub>
                  </m:oMath>
                </a14:m>
                <a:r>
                  <a:rPr lang="es-AR" sz="1400" dirty="0">
                    <a:solidFill>
                      <a:srgbClr val="2B241F"/>
                    </a:solidFill>
                    <a:latin typeface="Bahnschrift" panose="020B0502040204020203" pitchFamily="34" charset="0"/>
                  </a:rPr>
                  <a:t> es común a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2</m:t>
                            </m:r>
                          </m:sub>
                        </m:sSub>
                      </m:sub>
                    </m:sSub>
                  </m:oMath>
                </a14:m>
                <a:r>
                  <a:rPr lang="es-AR" sz="1400" dirty="0">
                    <a:solidFill>
                      <a:srgbClr val="2B241F"/>
                    </a:solidFill>
                    <a:latin typeface="Bahnschrift" panose="020B0502040204020203" pitchFamily="34" charset="0"/>
                  </a:rPr>
                  <a:t>y a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4</m:t>
                            </m:r>
                          </m:sub>
                        </m:sSub>
                      </m:sub>
                    </m:sSub>
                  </m:oMath>
                </a14:m>
                <a:r>
                  <a:rPr lang="es-AR" sz="1400" dirty="0">
                    <a:solidFill>
                      <a:srgbClr val="2B241F"/>
                    </a:solidFill>
                    <a:latin typeface="Bahnschrift" panose="020B0502040204020203" pitchFamily="34" charset="0"/>
                  </a:rPr>
                  <a:t>, se la proyecta sobre la recta PP, para obtener el modulo de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4</m:t>
                            </m:r>
                          </m:sub>
                        </m:sSub>
                      </m:sub>
                    </m:sSub>
                  </m:oMath>
                </a14:m>
                <a:r>
                  <a:rPr lang="es-AR" sz="1400" dirty="0">
                    <a:solidFill>
                      <a:srgbClr val="2B241F"/>
                    </a:solidFill>
                    <a:latin typeface="Bahnschrift" panose="020B0502040204020203" pitchFamily="34" charset="0"/>
                  </a:rPr>
                  <a:t>. </a:t>
                </a:r>
                <a:endParaRPr lang="es-AR" sz="1400" dirty="0">
                  <a:latin typeface="Bahnschrift" panose="020B0502040204020203" pitchFamily="34" charset="0"/>
                </a:endParaRPr>
              </a:p>
            </p:txBody>
          </p:sp>
        </mc:Choice>
        <mc:Fallback xmlns="">
          <p:sp>
            <p:nvSpPr>
              <p:cNvPr id="31" name="Marcador de contenido 2">
                <a:extLst>
                  <a:ext uri="{FF2B5EF4-FFF2-40B4-BE49-F238E27FC236}">
                    <a16:creationId xmlns:a16="http://schemas.microsoft.com/office/drawing/2014/main" id="{15750762-5280-4D05-840F-18E6C3576EC6}"/>
                  </a:ext>
                </a:extLst>
              </p:cNvPr>
              <p:cNvSpPr txBox="1">
                <a:spLocks noRot="1" noChangeAspect="1" noMove="1" noResize="1" noEditPoints="1" noAdjustHandles="1" noChangeArrowheads="1" noChangeShapeType="1" noTextEdit="1"/>
              </p:cNvSpPr>
              <p:nvPr/>
            </p:nvSpPr>
            <p:spPr>
              <a:xfrm>
                <a:off x="116309" y="4778574"/>
                <a:ext cx="5884993" cy="642099"/>
              </a:xfrm>
              <a:prstGeom prst="rect">
                <a:avLst/>
              </a:prstGeom>
              <a:blipFill>
                <a:blip r:embed="rId8"/>
                <a:stretch>
                  <a:fillRect l="-311" b="-4762"/>
                </a:stretch>
              </a:blipFill>
            </p:spPr>
            <p:txBody>
              <a:bodyPr/>
              <a:lstStyle/>
              <a:p>
                <a:r>
                  <a:rPr lang="es-AR">
                    <a:noFill/>
                  </a:rPr>
                  <a:t> </a:t>
                </a:r>
              </a:p>
            </p:txBody>
          </p:sp>
        </mc:Fallback>
      </mc:AlternateContent>
      <p:cxnSp>
        <p:nvCxnSpPr>
          <p:cNvPr id="9" name="Conector recto 8">
            <a:extLst>
              <a:ext uri="{FF2B5EF4-FFF2-40B4-BE49-F238E27FC236}">
                <a16:creationId xmlns:a16="http://schemas.microsoft.com/office/drawing/2014/main" id="{E91610AC-8FD2-44D5-AD93-830A7ECD363B}"/>
              </a:ext>
            </a:extLst>
          </p:cNvPr>
          <p:cNvCxnSpPr>
            <a:cxnSpLocks/>
          </p:cNvCxnSpPr>
          <p:nvPr/>
        </p:nvCxnSpPr>
        <p:spPr>
          <a:xfrm flipH="1">
            <a:off x="7878339" y="1168400"/>
            <a:ext cx="1151361" cy="234442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200D31FD-96AE-4E96-BE15-6E1997F40F82}"/>
              </a:ext>
            </a:extLst>
          </p:cNvPr>
          <p:cNvCxnSpPr>
            <a:cxnSpLocks/>
          </p:cNvCxnSpPr>
          <p:nvPr/>
        </p:nvCxnSpPr>
        <p:spPr>
          <a:xfrm>
            <a:off x="8327253" y="2565647"/>
            <a:ext cx="1298712" cy="276613"/>
          </a:xfrm>
          <a:prstGeom prst="straightConnector1">
            <a:avLst/>
          </a:prstGeom>
          <a:ln w="28575">
            <a:solidFill>
              <a:srgbClr val="FFC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9FA39F17-AEE2-4548-9AE8-3E14E7397EB7}"/>
              </a:ext>
            </a:extLst>
          </p:cNvPr>
          <p:cNvCxnSpPr>
            <a:cxnSpLocks/>
          </p:cNvCxnSpPr>
          <p:nvPr/>
        </p:nvCxnSpPr>
        <p:spPr>
          <a:xfrm flipV="1">
            <a:off x="8350933" y="1506855"/>
            <a:ext cx="511127" cy="1056091"/>
          </a:xfrm>
          <a:prstGeom prst="straightConnector1">
            <a:avLst/>
          </a:prstGeom>
          <a:ln w="28575">
            <a:solidFill>
              <a:srgbClr val="0070C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BBB2018E-1A46-4201-B070-11FDB9F2EA7B}"/>
              </a:ext>
            </a:extLst>
          </p:cNvPr>
          <p:cNvCxnSpPr>
            <a:cxnSpLocks/>
          </p:cNvCxnSpPr>
          <p:nvPr/>
        </p:nvCxnSpPr>
        <p:spPr>
          <a:xfrm>
            <a:off x="7528264" y="1168400"/>
            <a:ext cx="2211553" cy="383636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279F8D28-0F32-49B7-A312-E518AC7AD6ED}"/>
              </a:ext>
            </a:extLst>
          </p:cNvPr>
          <p:cNvCxnSpPr>
            <a:cxnSpLocks/>
          </p:cNvCxnSpPr>
          <p:nvPr/>
        </p:nvCxnSpPr>
        <p:spPr>
          <a:xfrm flipH="1">
            <a:off x="7261215" y="1893027"/>
            <a:ext cx="2235845" cy="1288435"/>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Marcador de contenido 2">
                <a:extLst>
                  <a:ext uri="{FF2B5EF4-FFF2-40B4-BE49-F238E27FC236}">
                    <a16:creationId xmlns:a16="http://schemas.microsoft.com/office/drawing/2014/main" id="{23BF2196-8784-4043-AE43-93F9C5EE37D1}"/>
                  </a:ext>
                </a:extLst>
              </p:cNvPr>
              <p:cNvSpPr txBox="1">
                <a:spLocks/>
              </p:cNvSpPr>
              <p:nvPr/>
            </p:nvSpPr>
            <p:spPr>
              <a:xfrm>
                <a:off x="116308" y="5329032"/>
                <a:ext cx="5884993" cy="371192"/>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8. Se proyecta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4</m:t>
                            </m:r>
                          </m:sub>
                        </m:sSub>
                      </m:sub>
                    </m:sSub>
                  </m:oMath>
                </a14:m>
                <a:r>
                  <a:rPr lang="es-AR" sz="1400" dirty="0">
                    <a:solidFill>
                      <a:srgbClr val="2B241F"/>
                    </a:solidFill>
                    <a:latin typeface="Bahnschrift" panose="020B0502040204020203" pitchFamily="34" charset="0"/>
                  </a:rPr>
                  <a:t> sobre el eje de deslizamiento, para obtener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b="0" i="1" smtClean="0">
                                <a:solidFill>
                                  <a:srgbClr val="2B241F"/>
                                </a:solidFill>
                                <a:latin typeface="Cambria Math" panose="02040503050406030204" pitchFamily="18" charset="0"/>
                              </a:rPr>
                              <m:t>4</m:t>
                            </m:r>
                          </m:sub>
                        </m:sSub>
                        <m:r>
                          <a:rPr lang="en-US" sz="1400" i="1">
                            <a:solidFill>
                              <a:srgbClr val="2B241F"/>
                            </a:solidFill>
                            <a:latin typeface="Cambria Math" panose="02040503050406030204" pitchFamily="18" charset="0"/>
                          </a:rPr>
                          <m:t>𝑑𝑒𝑠𝑙</m:t>
                        </m:r>
                      </m:sub>
                    </m:sSub>
                  </m:oMath>
                </a14:m>
                <a:r>
                  <a:rPr lang="es-AR" sz="1400" dirty="0">
                    <a:latin typeface="Bahnschrift" panose="020B0502040204020203" pitchFamily="34" charset="0"/>
                  </a:rPr>
                  <a:t>.</a:t>
                </a:r>
              </a:p>
            </p:txBody>
          </p:sp>
        </mc:Choice>
        <mc:Fallback xmlns="">
          <p:sp>
            <p:nvSpPr>
              <p:cNvPr id="41" name="Marcador de contenido 2">
                <a:extLst>
                  <a:ext uri="{FF2B5EF4-FFF2-40B4-BE49-F238E27FC236}">
                    <a16:creationId xmlns:a16="http://schemas.microsoft.com/office/drawing/2014/main" id="{23BF2196-8784-4043-AE43-93F9C5EE37D1}"/>
                  </a:ext>
                </a:extLst>
              </p:cNvPr>
              <p:cNvSpPr txBox="1">
                <a:spLocks noRot="1" noChangeAspect="1" noMove="1" noResize="1" noEditPoints="1" noAdjustHandles="1" noChangeArrowheads="1" noChangeShapeType="1" noTextEdit="1"/>
              </p:cNvSpPr>
              <p:nvPr/>
            </p:nvSpPr>
            <p:spPr>
              <a:xfrm>
                <a:off x="116308" y="5329032"/>
                <a:ext cx="5884993" cy="371192"/>
              </a:xfrm>
              <a:prstGeom prst="rect">
                <a:avLst/>
              </a:prstGeom>
              <a:blipFill>
                <a:blip r:embed="rId9"/>
                <a:stretch>
                  <a:fillRect l="-311" b="-819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2" name="Marcador de contenido 2">
                <a:extLst>
                  <a:ext uri="{FF2B5EF4-FFF2-40B4-BE49-F238E27FC236}">
                    <a16:creationId xmlns:a16="http://schemas.microsoft.com/office/drawing/2014/main" id="{D38B4BA4-156B-48E0-BEF8-DE7059D10E1E}"/>
                  </a:ext>
                </a:extLst>
              </p:cNvPr>
              <p:cNvSpPr txBox="1">
                <a:spLocks/>
              </p:cNvSpPr>
              <p:nvPr/>
            </p:nvSpPr>
            <p:spPr>
              <a:xfrm>
                <a:off x="116308" y="5627680"/>
                <a:ext cx="3569001" cy="361381"/>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9. Se obtiene </a:t>
                </a:r>
                <a14:m>
                  <m:oMath xmlns:m="http://schemas.openxmlformats.org/officeDocument/2006/math">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r>
                          <a:rPr lang="en-US" sz="1400" b="0" i="1" smtClean="0">
                            <a:solidFill>
                              <a:srgbClr val="2B241F"/>
                            </a:solidFill>
                            <a:latin typeface="Cambria Math" panose="02040503050406030204" pitchFamily="18" charset="0"/>
                          </a:rPr>
                          <m:t>42</m:t>
                        </m:r>
                        <m:r>
                          <a:rPr lang="en-US" sz="1400" i="1">
                            <a:solidFill>
                              <a:srgbClr val="2B241F"/>
                            </a:solidFill>
                            <a:latin typeface="Cambria Math" panose="02040503050406030204" pitchFamily="18" charset="0"/>
                          </a:rPr>
                          <m:t>𝑑𝑒𝑠𝑙</m:t>
                        </m:r>
                      </m:sub>
                    </m:sSub>
                    <m:r>
                      <a:rPr lang="en-US" sz="1400" b="0" i="1" smtClean="0">
                        <a:solidFill>
                          <a:srgbClr val="2B241F"/>
                        </a:solidFill>
                        <a:latin typeface="Cambria Math" panose="02040503050406030204" pitchFamily="18" charset="0"/>
                      </a:rPr>
                      <m:t>=</m:t>
                    </m:r>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4</m:t>
                            </m:r>
                          </m:sub>
                        </m:sSub>
                        <m:r>
                          <a:rPr lang="en-US" sz="1400" i="1">
                            <a:solidFill>
                              <a:srgbClr val="2B241F"/>
                            </a:solidFill>
                            <a:latin typeface="Cambria Math" panose="02040503050406030204" pitchFamily="18" charset="0"/>
                          </a:rPr>
                          <m:t>𝑑𝑒𝑠𝑙</m:t>
                        </m:r>
                      </m:sub>
                    </m:sSub>
                    <m:r>
                      <a:rPr lang="en-US" sz="1400" b="0" i="1" smtClean="0">
                        <a:solidFill>
                          <a:srgbClr val="2B241F"/>
                        </a:solidFill>
                        <a:latin typeface="Cambria Math" panose="02040503050406030204" pitchFamily="18" charset="0"/>
                      </a:rPr>
                      <m:t>−</m:t>
                    </m:r>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𝑉</m:t>
                        </m:r>
                      </m:e>
                      <m:sub>
                        <m:sSub>
                          <m:sSubPr>
                            <m:ctrlPr>
                              <a:rPr lang="en-US" sz="1400" i="1">
                                <a:solidFill>
                                  <a:srgbClr val="2B241F"/>
                                </a:solidFill>
                                <a:latin typeface="Cambria Math" panose="02040503050406030204" pitchFamily="18" charset="0"/>
                              </a:rPr>
                            </m:ctrlPr>
                          </m:sSubPr>
                          <m:e>
                            <m:r>
                              <a:rPr lang="en-US" sz="1400" i="1">
                                <a:solidFill>
                                  <a:srgbClr val="2B241F"/>
                                </a:solidFill>
                                <a:latin typeface="Cambria Math" panose="02040503050406030204" pitchFamily="18" charset="0"/>
                              </a:rPr>
                              <m:t>𝐴</m:t>
                            </m:r>
                          </m:e>
                          <m:sub>
                            <m:r>
                              <a:rPr lang="en-US" sz="1400" i="1">
                                <a:solidFill>
                                  <a:srgbClr val="2B241F"/>
                                </a:solidFill>
                                <a:latin typeface="Cambria Math" panose="02040503050406030204" pitchFamily="18" charset="0"/>
                              </a:rPr>
                              <m:t>2</m:t>
                            </m:r>
                          </m:sub>
                        </m:sSub>
                        <m:r>
                          <a:rPr lang="en-US" sz="1400" i="1">
                            <a:solidFill>
                              <a:srgbClr val="2B241F"/>
                            </a:solidFill>
                            <a:latin typeface="Cambria Math" panose="02040503050406030204" pitchFamily="18" charset="0"/>
                          </a:rPr>
                          <m:t>𝑑𝑒𝑠𝑙</m:t>
                        </m:r>
                      </m:sub>
                    </m:sSub>
                  </m:oMath>
                </a14:m>
                <a:endParaRPr lang="es-AR" sz="1400" dirty="0">
                  <a:latin typeface="Bahnschrift" panose="020B0502040204020203" pitchFamily="34" charset="0"/>
                </a:endParaRPr>
              </a:p>
            </p:txBody>
          </p:sp>
        </mc:Choice>
        <mc:Fallback xmlns="">
          <p:sp>
            <p:nvSpPr>
              <p:cNvPr id="42" name="Marcador de contenido 2">
                <a:extLst>
                  <a:ext uri="{FF2B5EF4-FFF2-40B4-BE49-F238E27FC236}">
                    <a16:creationId xmlns:a16="http://schemas.microsoft.com/office/drawing/2014/main" id="{D38B4BA4-156B-48E0-BEF8-DE7059D10E1E}"/>
                  </a:ext>
                </a:extLst>
              </p:cNvPr>
              <p:cNvSpPr txBox="1">
                <a:spLocks noRot="1" noChangeAspect="1" noMove="1" noResize="1" noEditPoints="1" noAdjustHandles="1" noChangeArrowheads="1" noChangeShapeType="1" noTextEdit="1"/>
              </p:cNvSpPr>
              <p:nvPr/>
            </p:nvSpPr>
            <p:spPr>
              <a:xfrm>
                <a:off x="116308" y="5627680"/>
                <a:ext cx="3569001" cy="361381"/>
              </a:xfrm>
              <a:prstGeom prst="rect">
                <a:avLst/>
              </a:prstGeom>
              <a:blipFill>
                <a:blip r:embed="rId10"/>
                <a:stretch>
                  <a:fillRect l="-512" b="-11864"/>
                </a:stretch>
              </a:blipFill>
            </p:spPr>
            <p:txBody>
              <a:bodyPr/>
              <a:lstStyle/>
              <a:p>
                <a:r>
                  <a:rPr lang="es-AR">
                    <a:noFill/>
                  </a:rPr>
                  <a:t> </a:t>
                </a:r>
              </a:p>
            </p:txBody>
          </p:sp>
        </mc:Fallback>
      </mc:AlternateContent>
      <p:cxnSp>
        <p:nvCxnSpPr>
          <p:cNvPr id="45" name="Conector recto de flecha 44">
            <a:extLst>
              <a:ext uri="{FF2B5EF4-FFF2-40B4-BE49-F238E27FC236}">
                <a16:creationId xmlns:a16="http://schemas.microsoft.com/office/drawing/2014/main" id="{2E1051EE-7218-44BD-BE0E-BB91E963D4DA}"/>
              </a:ext>
            </a:extLst>
          </p:cNvPr>
          <p:cNvCxnSpPr>
            <a:cxnSpLocks/>
          </p:cNvCxnSpPr>
          <p:nvPr/>
        </p:nvCxnSpPr>
        <p:spPr>
          <a:xfrm flipV="1">
            <a:off x="8350933" y="2072916"/>
            <a:ext cx="838787" cy="490030"/>
          </a:xfrm>
          <a:prstGeom prst="straightConnector1">
            <a:avLst/>
          </a:prstGeom>
          <a:ln w="28575">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888F6384-439E-45EE-B6DC-C716EC598DAA}"/>
              </a:ext>
            </a:extLst>
          </p:cNvPr>
          <p:cNvCxnSpPr>
            <a:cxnSpLocks/>
          </p:cNvCxnSpPr>
          <p:nvPr/>
        </p:nvCxnSpPr>
        <p:spPr>
          <a:xfrm flipH="1" flipV="1">
            <a:off x="8007331" y="1989246"/>
            <a:ext cx="335632" cy="575050"/>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1" name="Conector recto de flecha 50">
            <a:extLst>
              <a:ext uri="{FF2B5EF4-FFF2-40B4-BE49-F238E27FC236}">
                <a16:creationId xmlns:a16="http://schemas.microsoft.com/office/drawing/2014/main" id="{47DD752A-6418-48BB-8C73-02AD020934D7}"/>
              </a:ext>
            </a:extLst>
          </p:cNvPr>
          <p:cNvCxnSpPr>
            <a:cxnSpLocks/>
          </p:cNvCxnSpPr>
          <p:nvPr/>
        </p:nvCxnSpPr>
        <p:spPr>
          <a:xfrm>
            <a:off x="8342963" y="2564296"/>
            <a:ext cx="427363" cy="769454"/>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6" name="Conector recto de flecha 55">
            <a:extLst>
              <a:ext uri="{FF2B5EF4-FFF2-40B4-BE49-F238E27FC236}">
                <a16:creationId xmlns:a16="http://schemas.microsoft.com/office/drawing/2014/main" id="{1B258A5D-490F-4705-BED9-2DD35F099708}"/>
              </a:ext>
            </a:extLst>
          </p:cNvPr>
          <p:cNvCxnSpPr>
            <a:cxnSpLocks/>
          </p:cNvCxnSpPr>
          <p:nvPr/>
        </p:nvCxnSpPr>
        <p:spPr>
          <a:xfrm flipH="1" flipV="1">
            <a:off x="9497060" y="1143000"/>
            <a:ext cx="773369" cy="1341619"/>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Marcador de contenido 2">
                <a:extLst>
                  <a:ext uri="{FF2B5EF4-FFF2-40B4-BE49-F238E27FC236}">
                    <a16:creationId xmlns:a16="http://schemas.microsoft.com/office/drawing/2014/main" id="{DD2C210C-8DB8-4CF2-B275-FD1BD9B7DD9B}"/>
                  </a:ext>
                </a:extLst>
              </p:cNvPr>
              <p:cNvSpPr txBox="1">
                <a:spLocks/>
              </p:cNvSpPr>
              <p:nvPr/>
            </p:nvSpPr>
            <p:spPr>
              <a:xfrm>
                <a:off x="116307" y="5926328"/>
                <a:ext cx="6265038" cy="626197"/>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nSpc>
                    <a:spcPct val="120000"/>
                  </a:lnSpc>
                  <a:buNone/>
                </a:pPr>
                <a:r>
                  <a:rPr lang="es-AR" sz="1400" dirty="0">
                    <a:solidFill>
                      <a:srgbClr val="2B241F"/>
                    </a:solidFill>
                    <a:latin typeface="Bahnschrift" panose="020B0502040204020203" pitchFamily="34" charset="0"/>
                  </a:rPr>
                  <a:t>10. Se obtiene </a:t>
                </a:r>
                <a14:m>
                  <m:oMath xmlns:m="http://schemas.openxmlformats.org/officeDocument/2006/math">
                    <m:sSub>
                      <m:sSubPr>
                        <m:ctrlPr>
                          <a:rPr lang="en-US" i="1">
                            <a:solidFill>
                              <a:srgbClr val="2B241F"/>
                            </a:solidFill>
                            <a:latin typeface="Cambria Math" panose="02040503050406030204" pitchFamily="18" charset="0"/>
                          </a:rPr>
                        </m:ctrlPr>
                      </m:sSubPr>
                      <m:e>
                        <m:r>
                          <a:rPr lang="en-US" i="1">
                            <a:solidFill>
                              <a:srgbClr val="2B241F"/>
                            </a:solidFill>
                            <a:latin typeface="Cambria Math" panose="02040503050406030204" pitchFamily="18" charset="0"/>
                          </a:rPr>
                          <m:t>𝜔</m:t>
                        </m:r>
                      </m:e>
                      <m:sub>
                        <m:r>
                          <a:rPr lang="en-US" i="1">
                            <a:solidFill>
                              <a:srgbClr val="2B241F"/>
                            </a:solidFill>
                            <a:latin typeface="Cambria Math" panose="02040503050406030204" pitchFamily="18" charset="0"/>
                          </a:rPr>
                          <m:t>3</m:t>
                        </m:r>
                      </m:sub>
                    </m:sSub>
                    <m:r>
                      <a:rPr lang="en-US" i="1">
                        <a:solidFill>
                          <a:srgbClr val="2B241F"/>
                        </a:solidFill>
                        <a:latin typeface="Cambria Math" panose="02040503050406030204" pitchFamily="18" charset="0"/>
                      </a:rPr>
                      <m:t>=</m:t>
                    </m:r>
                    <m:sSub>
                      <m:sSubPr>
                        <m:ctrlPr>
                          <a:rPr lang="en-US" i="1">
                            <a:solidFill>
                              <a:srgbClr val="2B241F"/>
                            </a:solidFill>
                            <a:latin typeface="Cambria Math" panose="02040503050406030204" pitchFamily="18" charset="0"/>
                          </a:rPr>
                        </m:ctrlPr>
                      </m:sSubPr>
                      <m:e>
                        <m:r>
                          <a:rPr lang="en-US" i="1">
                            <a:solidFill>
                              <a:srgbClr val="2B241F"/>
                            </a:solidFill>
                            <a:latin typeface="Cambria Math" panose="02040503050406030204" pitchFamily="18" charset="0"/>
                          </a:rPr>
                          <m:t>𝜔</m:t>
                        </m:r>
                      </m:e>
                      <m:sub>
                        <m:r>
                          <a:rPr lang="en-US" i="1">
                            <a:solidFill>
                              <a:srgbClr val="2B241F"/>
                            </a:solidFill>
                            <a:latin typeface="Cambria Math" panose="02040503050406030204" pitchFamily="18" charset="0"/>
                          </a:rPr>
                          <m:t>4</m:t>
                        </m:r>
                      </m:sub>
                    </m:sSub>
                    <m:r>
                      <a:rPr lang="en-US" b="0" i="1" smtClean="0">
                        <a:solidFill>
                          <a:srgbClr val="2B241F"/>
                        </a:solidFill>
                        <a:latin typeface="Cambria Math" panose="02040503050406030204" pitchFamily="18" charset="0"/>
                      </a:rPr>
                      <m:t>=</m:t>
                    </m:r>
                    <m:f>
                      <m:fPr>
                        <m:ctrlPr>
                          <a:rPr lang="en-US" b="0" i="1" smtClean="0">
                            <a:solidFill>
                              <a:srgbClr val="2B241F"/>
                            </a:solidFill>
                            <a:latin typeface="Cambria Math" panose="02040503050406030204" pitchFamily="18" charset="0"/>
                          </a:rPr>
                        </m:ctrlPr>
                      </m:fPr>
                      <m:num>
                        <m:sSub>
                          <m:sSubPr>
                            <m:ctrlPr>
                              <a:rPr lang="en-US" i="1">
                                <a:solidFill>
                                  <a:srgbClr val="2B241F"/>
                                </a:solidFill>
                                <a:latin typeface="Cambria Math" panose="02040503050406030204" pitchFamily="18" charset="0"/>
                              </a:rPr>
                            </m:ctrlPr>
                          </m:sSubPr>
                          <m:e>
                            <m:r>
                              <a:rPr lang="en-US" i="1">
                                <a:solidFill>
                                  <a:srgbClr val="2B241F"/>
                                </a:solidFill>
                                <a:latin typeface="Cambria Math" panose="02040503050406030204" pitchFamily="18" charset="0"/>
                              </a:rPr>
                              <m:t>𝑉</m:t>
                            </m:r>
                          </m:e>
                          <m:sub>
                            <m:sSub>
                              <m:sSubPr>
                                <m:ctrlPr>
                                  <a:rPr lang="en-US" i="1">
                                    <a:solidFill>
                                      <a:srgbClr val="2B241F"/>
                                    </a:solidFill>
                                    <a:latin typeface="Cambria Math" panose="02040503050406030204" pitchFamily="18" charset="0"/>
                                  </a:rPr>
                                </m:ctrlPr>
                              </m:sSubPr>
                              <m:e>
                                <m:r>
                                  <a:rPr lang="en-US" i="1">
                                    <a:solidFill>
                                      <a:srgbClr val="2B241F"/>
                                    </a:solidFill>
                                    <a:latin typeface="Cambria Math" panose="02040503050406030204" pitchFamily="18" charset="0"/>
                                  </a:rPr>
                                  <m:t>𝐴</m:t>
                                </m:r>
                              </m:e>
                              <m:sub>
                                <m:r>
                                  <a:rPr lang="en-US" i="1">
                                    <a:solidFill>
                                      <a:srgbClr val="2B241F"/>
                                    </a:solidFill>
                                    <a:latin typeface="Cambria Math" panose="02040503050406030204" pitchFamily="18" charset="0"/>
                                  </a:rPr>
                                  <m:t>4</m:t>
                                </m:r>
                              </m:sub>
                            </m:sSub>
                          </m:sub>
                        </m:sSub>
                      </m:num>
                      <m:den>
                        <m:sSub>
                          <m:sSubPr>
                            <m:ctrlPr>
                              <a:rPr lang="en-US" b="0" i="1" smtClean="0">
                                <a:solidFill>
                                  <a:srgbClr val="2B241F"/>
                                </a:solidFill>
                                <a:latin typeface="Cambria Math" panose="02040503050406030204" pitchFamily="18" charset="0"/>
                              </a:rPr>
                            </m:ctrlPr>
                          </m:sSubPr>
                          <m:e>
                            <m:r>
                              <a:rPr lang="en-US" b="0" i="1" smtClean="0">
                                <a:solidFill>
                                  <a:srgbClr val="2B241F"/>
                                </a:solidFill>
                                <a:latin typeface="Cambria Math" panose="02040503050406030204" pitchFamily="18" charset="0"/>
                              </a:rPr>
                              <m:t>𝐴</m:t>
                            </m:r>
                          </m:e>
                          <m:sub>
                            <m:r>
                              <a:rPr lang="en-US" b="0" i="1" smtClean="0">
                                <a:solidFill>
                                  <a:srgbClr val="2B241F"/>
                                </a:solidFill>
                                <a:latin typeface="Cambria Math" panose="02040503050406030204" pitchFamily="18" charset="0"/>
                              </a:rPr>
                              <m:t>4</m:t>
                            </m:r>
                          </m:sub>
                        </m:sSub>
                        <m:sSub>
                          <m:sSubPr>
                            <m:ctrlPr>
                              <a:rPr lang="en-US" b="0" i="1" smtClean="0">
                                <a:solidFill>
                                  <a:srgbClr val="2B241F"/>
                                </a:solidFill>
                                <a:latin typeface="Cambria Math" panose="02040503050406030204" pitchFamily="18" charset="0"/>
                              </a:rPr>
                            </m:ctrlPr>
                          </m:sSubPr>
                          <m:e>
                            <m:r>
                              <a:rPr lang="en-US" b="0" i="1" smtClean="0">
                                <a:solidFill>
                                  <a:srgbClr val="2B241F"/>
                                </a:solidFill>
                                <a:latin typeface="Cambria Math" panose="02040503050406030204" pitchFamily="18" charset="0"/>
                              </a:rPr>
                              <m:t>𝑂</m:t>
                            </m:r>
                          </m:e>
                          <m:sub>
                            <m:r>
                              <a:rPr lang="en-US" b="0" i="1" smtClean="0">
                                <a:solidFill>
                                  <a:srgbClr val="2B241F"/>
                                </a:solidFill>
                                <a:latin typeface="Cambria Math" panose="02040503050406030204" pitchFamily="18" charset="0"/>
                              </a:rPr>
                              <m:t>4</m:t>
                            </m:r>
                          </m:sub>
                        </m:sSub>
                      </m:den>
                    </m:f>
                  </m:oMath>
                </a14:m>
                <a:endParaRPr lang="es-AR" dirty="0">
                  <a:latin typeface="Bahnschrift" panose="020B0502040204020203" pitchFamily="34" charset="0"/>
                </a:endParaRPr>
              </a:p>
            </p:txBody>
          </p:sp>
        </mc:Choice>
        <mc:Fallback xmlns="">
          <p:sp>
            <p:nvSpPr>
              <p:cNvPr id="65" name="Marcador de contenido 2">
                <a:extLst>
                  <a:ext uri="{FF2B5EF4-FFF2-40B4-BE49-F238E27FC236}">
                    <a16:creationId xmlns:a16="http://schemas.microsoft.com/office/drawing/2014/main" id="{DD2C210C-8DB8-4CF2-B275-FD1BD9B7DD9B}"/>
                  </a:ext>
                </a:extLst>
              </p:cNvPr>
              <p:cNvSpPr txBox="1">
                <a:spLocks noRot="1" noChangeAspect="1" noMove="1" noResize="1" noEditPoints="1" noAdjustHandles="1" noChangeArrowheads="1" noChangeShapeType="1" noTextEdit="1"/>
              </p:cNvSpPr>
              <p:nvPr/>
            </p:nvSpPr>
            <p:spPr>
              <a:xfrm>
                <a:off x="116307" y="5926328"/>
                <a:ext cx="6265038" cy="626197"/>
              </a:xfrm>
              <a:prstGeom prst="rect">
                <a:avLst/>
              </a:prstGeom>
              <a:blipFill>
                <a:blip r:embed="rId11"/>
                <a:stretch>
                  <a:fillRect l="-292"/>
                </a:stretch>
              </a:blipFill>
            </p:spPr>
            <p:txBody>
              <a:bodyPr/>
              <a:lstStyle/>
              <a:p>
                <a:r>
                  <a:rPr lang="es-AR">
                    <a:noFill/>
                  </a:rPr>
                  <a:t> </a:t>
                </a:r>
              </a:p>
            </p:txBody>
          </p:sp>
        </mc:Fallback>
      </mc:AlternateContent>
    </p:spTree>
    <p:extLst>
      <p:ext uri="{BB962C8B-B14F-4D97-AF65-F5344CB8AC3E}">
        <p14:creationId xmlns:p14="http://schemas.microsoft.com/office/powerpoint/2010/main" val="379426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p:bldP spid="27" grpId="0"/>
      <p:bldP spid="28" grpId="0"/>
      <p:bldP spid="29" grpId="0"/>
      <p:bldP spid="30" grpId="0"/>
      <p:bldP spid="31" grpId="0"/>
      <p:bldP spid="41" grpId="0"/>
      <p:bldP spid="42" grpId="0"/>
      <p:bldP spid="6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8A20427-3754-4626-A973-0309D7564CC3}"/>
              </a:ext>
            </a:extLst>
          </p:cNvPr>
          <p:cNvPicPr>
            <a:picLocks noChangeAspect="1"/>
          </p:cNvPicPr>
          <p:nvPr/>
        </p:nvPicPr>
        <p:blipFill>
          <a:blip r:embed="rId2"/>
          <a:stretch>
            <a:fillRect/>
          </a:stretch>
        </p:blipFill>
        <p:spPr>
          <a:xfrm>
            <a:off x="6255922" y="919286"/>
            <a:ext cx="4733575" cy="3125496"/>
          </a:xfrm>
          <a:prstGeom prst="rect">
            <a:avLst/>
          </a:prstGeom>
        </p:spPr>
      </p:pic>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3" y="853440"/>
            <a:ext cx="6187739"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5979688"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RELACIÓN DE VELOCIDAD ANGULAR (VR)</a:t>
            </a:r>
          </a:p>
        </p:txBody>
      </p:sp>
      <mc:AlternateContent xmlns:mc="http://schemas.openxmlformats.org/markup-compatibility/2006" xmlns:a14="http://schemas.microsoft.com/office/drawing/2010/main">
        <mc:Choice Requires="a14">
          <p:sp>
            <p:nvSpPr>
              <p:cNvPr id="25" name="Marcador de contenido 2">
                <a:extLst>
                  <a:ext uri="{FF2B5EF4-FFF2-40B4-BE49-F238E27FC236}">
                    <a16:creationId xmlns:a16="http://schemas.microsoft.com/office/drawing/2014/main" id="{AFB18A2C-0660-42D7-BFF1-6CA024A12E0F}"/>
                  </a:ext>
                </a:extLst>
              </p:cNvPr>
              <p:cNvSpPr>
                <a:spLocks noGrp="1"/>
              </p:cNvSpPr>
              <p:nvPr>
                <p:ph idx="1"/>
              </p:nvPr>
            </p:nvSpPr>
            <p:spPr>
              <a:xfrm>
                <a:off x="184422" y="1419808"/>
                <a:ext cx="5373000" cy="5352876"/>
              </a:xfrm>
            </p:spPr>
            <p:txBody>
              <a:bodyPr wrap="square">
                <a:spAutoFit/>
              </a:bodyPr>
              <a:lstStyle/>
              <a:p>
                <a:pPr algn="just">
                  <a:lnSpc>
                    <a:spcPct val="120000"/>
                  </a:lnSpc>
                  <a:buFontTx/>
                  <a:buChar char="-"/>
                </a:pPr>
                <a:r>
                  <a:rPr lang="es-AR" sz="1400" dirty="0">
                    <a:latin typeface="Bahnschrift" panose="020B0502040204020203" pitchFamily="34" charset="0"/>
                  </a:rPr>
                  <a:t>Relación entre la velocidad angular de salida y velocidad angular de entrada.</a:t>
                </a:r>
              </a:p>
              <a:p>
                <a:pPr marL="0" indent="0" algn="just">
                  <a:lnSpc>
                    <a:spcPct val="120000"/>
                  </a:lnSpc>
                  <a:buNone/>
                </a:pPr>
                <a14:m>
                  <m:oMathPara xmlns:m="http://schemas.openxmlformats.org/officeDocument/2006/math">
                    <m:oMathParaPr>
                      <m:jc m:val="centerGroup"/>
                    </m:oMathParaPr>
                    <m:oMath xmlns:m="http://schemas.openxmlformats.org/officeDocument/2006/math">
                      <m:r>
                        <a:rPr lang="es-AR" sz="1400" b="0" i="1" smtClean="0">
                          <a:latin typeface="Cambria Math" panose="02040503050406030204" pitchFamily="18" charset="0"/>
                        </a:rPr>
                        <m:t>𝑉𝑅</m:t>
                      </m:r>
                      <m:r>
                        <a:rPr lang="es-AR" sz="1400" b="0" i="1" smtClean="0">
                          <a:latin typeface="Cambria Math" panose="02040503050406030204" pitchFamily="18" charset="0"/>
                        </a:rPr>
                        <m:t>=</m:t>
                      </m:r>
                      <m:f>
                        <m:fPr>
                          <m:ctrlPr>
                            <a:rPr lang="es-AR" sz="1400" b="0" i="1" smtClean="0">
                              <a:latin typeface="Cambria Math" panose="02040503050406030204" pitchFamily="18" charset="0"/>
                            </a:rPr>
                          </m:ctrlPr>
                        </m:fPr>
                        <m:num>
                          <m:sSub>
                            <m:sSubPr>
                              <m:ctrlPr>
                                <a:rPr lang="es-AR" sz="1400" b="0" i="1" smtClean="0">
                                  <a:latin typeface="Cambria Math" panose="02040503050406030204" pitchFamily="18" charset="0"/>
                                </a:rPr>
                              </m:ctrlPr>
                            </m:sSubPr>
                            <m:e>
                              <m:r>
                                <a:rPr lang="es-AR" sz="1400" b="0" i="1" smtClean="0">
                                  <a:latin typeface="Cambria Math" panose="02040503050406030204" pitchFamily="18" charset="0"/>
                                </a:rPr>
                                <m:t>𝜔</m:t>
                              </m:r>
                            </m:e>
                            <m:sub>
                              <m:r>
                                <a:rPr lang="es-AR" sz="1400" b="0" i="1" smtClean="0">
                                  <a:latin typeface="Cambria Math" panose="02040503050406030204" pitchFamily="18" charset="0"/>
                                </a:rPr>
                                <m:t>4</m:t>
                              </m:r>
                            </m:sub>
                          </m:sSub>
                        </m:num>
                        <m:den>
                          <m:sSub>
                            <m:sSubPr>
                              <m:ctrlPr>
                                <a:rPr lang="es-AR" sz="1400" b="0" i="1" smtClean="0">
                                  <a:latin typeface="Cambria Math" panose="02040503050406030204" pitchFamily="18" charset="0"/>
                                </a:rPr>
                              </m:ctrlPr>
                            </m:sSubPr>
                            <m:e>
                              <m:r>
                                <a:rPr lang="es-AR" sz="1400" b="0" i="1" smtClean="0">
                                  <a:latin typeface="Cambria Math" panose="02040503050406030204" pitchFamily="18" charset="0"/>
                                </a:rPr>
                                <m:t>𝜔</m:t>
                              </m:r>
                            </m:e>
                            <m:sub>
                              <m:r>
                                <a:rPr lang="es-AR" sz="1400" b="0" i="1" smtClean="0">
                                  <a:latin typeface="Cambria Math" panose="02040503050406030204" pitchFamily="18" charset="0"/>
                                </a:rPr>
                                <m:t>2</m:t>
                              </m:r>
                            </m:sub>
                          </m:sSub>
                        </m:den>
                      </m:f>
                    </m:oMath>
                  </m:oMathPara>
                </a14:m>
                <a:endParaRPr lang="es-AR" sz="1400" dirty="0">
                  <a:latin typeface="Bahnschrift" panose="020B0502040204020203" pitchFamily="34" charset="0"/>
                </a:endParaRPr>
              </a:p>
              <a:p>
                <a:pPr algn="just">
                  <a:lnSpc>
                    <a:spcPct val="120000"/>
                  </a:lnSpc>
                  <a:buFontTx/>
                  <a:buChar char="-"/>
                </a:pPr>
                <a:r>
                  <a:rPr lang="es-AR" sz="1400" dirty="0">
                    <a:latin typeface="Bahnschrift" panose="020B0502040204020203" pitchFamily="34" charset="0"/>
                  </a:rPr>
                  <a:t>Para deducir esta ecuación para un eslabonamiento de 4 eslabones, deben definirse un par de </a:t>
                </a:r>
                <a:r>
                  <a:rPr lang="es-AR" sz="1400" dirty="0">
                    <a:highlight>
                      <a:srgbClr val="FFC000"/>
                    </a:highlight>
                    <a:latin typeface="Bahnschrift" panose="020B0502040204020203" pitchFamily="34" charset="0"/>
                  </a:rPr>
                  <a:t>ESLABONES EFECTIVOS </a:t>
                </a:r>
                <a:r>
                  <a:rPr lang="es-AR" sz="1400" dirty="0">
                    <a:latin typeface="Bahnschrift" panose="020B0502040204020203" pitchFamily="34" charset="0"/>
                  </a:rPr>
                  <a:t>(dos </a:t>
                </a:r>
                <a:r>
                  <a:rPr lang="es-AR" sz="1400" b="1" dirty="0">
                    <a:latin typeface="Bahnschrift" panose="020B0502040204020203" pitchFamily="34" charset="0"/>
                  </a:rPr>
                  <a:t>rectas paralelas</a:t>
                </a:r>
                <a:r>
                  <a:rPr lang="es-AR" sz="1400" dirty="0">
                    <a:latin typeface="Bahnschrift" panose="020B0502040204020203" pitchFamily="34" charset="0"/>
                  </a:rPr>
                  <a:t> trazadas </a:t>
                </a:r>
                <a:r>
                  <a:rPr lang="es-AR" sz="1400" b="1" dirty="0">
                    <a:latin typeface="Bahnschrift" panose="020B0502040204020203" pitchFamily="34" charset="0"/>
                  </a:rPr>
                  <a:t>por los pivotes fijos</a:t>
                </a:r>
                <a:r>
                  <a:rPr lang="es-AR" sz="1400" dirty="0">
                    <a:latin typeface="Bahnschrift" panose="020B0502040204020203" pitchFamily="34" charset="0"/>
                  </a:rPr>
                  <a:t>, que se interceptan con el acoplador prolongado). De los infinitos posibles, se elige el par que es </a:t>
                </a:r>
                <a:r>
                  <a:rPr lang="es-AR" sz="1400" b="1" dirty="0">
                    <a:latin typeface="Bahnschrift" panose="020B0502040204020203" pitchFamily="34" charset="0"/>
                  </a:rPr>
                  <a:t>normal al acoplador,</a:t>
                </a:r>
                <a:r>
                  <a:rPr lang="es-AR" sz="1400" dirty="0">
                    <a:latin typeface="Bahnschrift" panose="020B0502040204020203" pitchFamily="34" charset="0"/>
                  </a:rPr>
                  <a:t> definiendo los radios O</a:t>
                </a:r>
                <a:r>
                  <a:rPr lang="es-AR" sz="1400" baseline="-25000" dirty="0">
                    <a:latin typeface="Bahnschrift" panose="020B0502040204020203" pitchFamily="34" charset="0"/>
                  </a:rPr>
                  <a:t>2</a:t>
                </a:r>
                <a:r>
                  <a:rPr lang="es-AR" sz="1400" dirty="0">
                    <a:latin typeface="Bahnschrift" panose="020B0502040204020203" pitchFamily="34" charset="0"/>
                  </a:rPr>
                  <a:t>A’ y O</a:t>
                </a:r>
                <a:r>
                  <a:rPr lang="es-AR" sz="1400" baseline="-25000" dirty="0">
                    <a:latin typeface="Bahnschrift" panose="020B0502040204020203" pitchFamily="34" charset="0"/>
                  </a:rPr>
                  <a:t>4</a:t>
                </a:r>
                <a:r>
                  <a:rPr lang="es-AR" sz="1400" dirty="0">
                    <a:latin typeface="Bahnschrift" panose="020B0502040204020203" pitchFamily="34" charset="0"/>
                  </a:rPr>
                  <a:t>B’.</a:t>
                </a:r>
              </a:p>
              <a:p>
                <a:pPr algn="just">
                  <a:lnSpc>
                    <a:spcPct val="120000"/>
                  </a:lnSpc>
                  <a:buFontTx/>
                  <a:buChar char="-"/>
                </a:pPr>
                <a:r>
                  <a:rPr lang="es-AR" sz="1400" dirty="0">
                    <a:latin typeface="Bahnschrift" panose="020B0502040204020203" pitchFamily="34" charset="0"/>
                  </a:rPr>
                  <a:t>Se define entonces una expresión para VR en función de los eslabones efectivos, las longitudes reales de los eslabones, y los ángulos </a:t>
                </a:r>
                <a:r>
                  <a:rPr lang="es-AR" sz="1400" dirty="0">
                    <a:latin typeface="Bahnschrift" panose="020B0502040204020203" pitchFamily="34" charset="0"/>
                    <a:ea typeface="Cambria Math" panose="02040503050406030204" pitchFamily="18" charset="0"/>
                  </a:rPr>
                  <a:t>μ y υ. </a:t>
                </a:r>
              </a:p>
              <a:p>
                <a:pPr algn="just">
                  <a:lnSpc>
                    <a:spcPct val="120000"/>
                  </a:lnSpc>
                  <a:buFontTx/>
                  <a:buChar char="-"/>
                </a:pPr>
                <a:r>
                  <a:rPr lang="es-AR" sz="1400" dirty="0">
                    <a:latin typeface="Bahnschrift" panose="020B0502040204020203" pitchFamily="34" charset="0"/>
                    <a:ea typeface="Cambria Math" panose="02040503050406030204" pitchFamily="18" charset="0"/>
                  </a:rPr>
                  <a:t>Aplicando trigonometría, se obtienen las siguientes expresiones:</a:t>
                </a: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es-AR" sz="1400" b="0" i="1" smtClean="0">
                              <a:latin typeface="Cambria Math" panose="02040503050406030204" pitchFamily="18" charset="0"/>
                            </a:rPr>
                          </m:ctrlPr>
                        </m:sSubPr>
                        <m:e>
                          <m:r>
                            <a:rPr lang="es-AR" sz="1400" b="0" i="1" smtClean="0">
                              <a:latin typeface="Cambria Math" panose="02040503050406030204" pitchFamily="18" charset="0"/>
                            </a:rPr>
                            <m:t>𝑂</m:t>
                          </m:r>
                        </m:e>
                        <m:sub>
                          <m:r>
                            <a:rPr lang="es-AR" sz="1400" b="0" i="1" smtClean="0">
                              <a:latin typeface="Cambria Math" panose="02040503050406030204" pitchFamily="18" charset="0"/>
                            </a:rPr>
                            <m:t>2</m:t>
                          </m:r>
                        </m:sub>
                      </m:sSub>
                      <m:sSup>
                        <m:sSupPr>
                          <m:ctrlPr>
                            <a:rPr lang="es-AR" sz="1400" b="0" i="1" smtClean="0">
                              <a:latin typeface="Cambria Math" panose="02040503050406030204" pitchFamily="18" charset="0"/>
                            </a:rPr>
                          </m:ctrlPr>
                        </m:sSupPr>
                        <m:e>
                          <m:r>
                            <a:rPr lang="es-AR" sz="1400" b="0" i="1" smtClean="0">
                              <a:latin typeface="Cambria Math" panose="02040503050406030204" pitchFamily="18" charset="0"/>
                            </a:rPr>
                            <m:t>𝐴</m:t>
                          </m:r>
                        </m:e>
                        <m:sup>
                          <m:r>
                            <a:rPr lang="es-AR" sz="1400" b="0" i="1" smtClean="0">
                              <a:latin typeface="Cambria Math" panose="02040503050406030204" pitchFamily="18" charset="0"/>
                            </a:rPr>
                            <m:t>′</m:t>
                          </m:r>
                        </m:sup>
                      </m:sSup>
                      <m:r>
                        <a:rPr lang="es-AR" sz="1400" b="0" i="1" smtClean="0">
                          <a:latin typeface="Cambria Math" panose="02040503050406030204" pitchFamily="18" charset="0"/>
                        </a:rPr>
                        <m:t>=</m:t>
                      </m:r>
                      <m:sSub>
                        <m:sSubPr>
                          <m:ctrlPr>
                            <a:rPr lang="es-AR" sz="1400" b="0" i="1" smtClean="0">
                              <a:latin typeface="Cambria Math" panose="02040503050406030204" pitchFamily="18" charset="0"/>
                            </a:rPr>
                          </m:ctrlPr>
                        </m:sSubPr>
                        <m:e>
                          <m:r>
                            <a:rPr lang="es-AR" sz="1400" b="0" i="1" smtClean="0">
                              <a:latin typeface="Cambria Math" panose="02040503050406030204" pitchFamily="18" charset="0"/>
                            </a:rPr>
                            <m:t>𝑂</m:t>
                          </m:r>
                        </m:e>
                        <m:sub>
                          <m:r>
                            <a:rPr lang="es-AR" sz="1400" b="0" i="1" smtClean="0">
                              <a:latin typeface="Cambria Math" panose="02040503050406030204" pitchFamily="18" charset="0"/>
                            </a:rPr>
                            <m:t>2</m:t>
                          </m:r>
                        </m:sub>
                      </m:sSub>
                      <m:r>
                        <a:rPr lang="es-AR" sz="1400" b="0" i="1" smtClean="0">
                          <a:latin typeface="Cambria Math" panose="02040503050406030204" pitchFamily="18" charset="0"/>
                        </a:rPr>
                        <m:t>𝐴</m:t>
                      </m:r>
                      <m:r>
                        <a:rPr lang="es-AR" sz="1400" b="0" i="1" smtClean="0">
                          <a:latin typeface="Cambria Math" panose="02040503050406030204" pitchFamily="18" charset="0"/>
                        </a:rPr>
                        <m:t>∗</m:t>
                      </m:r>
                      <m:func>
                        <m:funcPr>
                          <m:ctrlPr>
                            <a:rPr lang="es-AR" sz="1400" b="0" i="1" smtClean="0">
                              <a:latin typeface="Cambria Math" panose="02040503050406030204" pitchFamily="18" charset="0"/>
                            </a:rPr>
                          </m:ctrlPr>
                        </m:funcPr>
                        <m:fName>
                          <m:r>
                            <m:rPr>
                              <m:sty m:val="p"/>
                            </m:rPr>
                            <a:rPr lang="es-AR" sz="1400" b="0" i="0" smtClean="0">
                              <a:latin typeface="Cambria Math" panose="02040503050406030204" pitchFamily="18" charset="0"/>
                            </a:rPr>
                            <m:t>sin</m:t>
                          </m:r>
                        </m:fName>
                        <m:e>
                          <m:r>
                            <a:rPr lang="es-AR" sz="1400" b="0" i="1" smtClean="0">
                              <a:latin typeface="Cambria Math" panose="02040503050406030204" pitchFamily="18" charset="0"/>
                              <a:ea typeface="Cambria Math" panose="02040503050406030204" pitchFamily="18" charset="0"/>
                            </a:rPr>
                            <m:t>𝜐</m:t>
                          </m:r>
                        </m:e>
                      </m:func>
                    </m:oMath>
                    <m:oMath xmlns:m="http://schemas.openxmlformats.org/officeDocument/2006/math">
                      <m:sSub>
                        <m:sSubPr>
                          <m:ctrlPr>
                            <a:rPr lang="es-AR" sz="1400" b="0" i="1" smtClean="0">
                              <a:latin typeface="Cambria Math" panose="02040503050406030204" pitchFamily="18" charset="0"/>
                            </a:rPr>
                          </m:ctrlPr>
                        </m:sSubPr>
                        <m:e>
                          <m:r>
                            <a:rPr lang="es-AR" sz="1400" b="0" i="1" smtClean="0">
                              <a:latin typeface="Cambria Math" panose="02040503050406030204" pitchFamily="18" charset="0"/>
                            </a:rPr>
                            <m:t>𝑂</m:t>
                          </m:r>
                        </m:e>
                        <m:sub>
                          <m:r>
                            <a:rPr lang="es-AR" sz="1400" b="0" i="1" smtClean="0">
                              <a:latin typeface="Cambria Math" panose="02040503050406030204" pitchFamily="18" charset="0"/>
                            </a:rPr>
                            <m:t>4</m:t>
                          </m:r>
                        </m:sub>
                      </m:sSub>
                      <m:sSup>
                        <m:sSupPr>
                          <m:ctrlPr>
                            <a:rPr lang="es-AR" sz="1400" b="0" i="1" smtClean="0">
                              <a:latin typeface="Cambria Math" panose="02040503050406030204" pitchFamily="18" charset="0"/>
                            </a:rPr>
                          </m:ctrlPr>
                        </m:sSupPr>
                        <m:e>
                          <m:r>
                            <a:rPr lang="es-AR" sz="1400" b="0" i="1" smtClean="0">
                              <a:latin typeface="Cambria Math" panose="02040503050406030204" pitchFamily="18" charset="0"/>
                            </a:rPr>
                            <m:t>𝐵</m:t>
                          </m:r>
                        </m:e>
                        <m:sup>
                          <m:r>
                            <a:rPr lang="es-AR" sz="1400" b="0" i="1" smtClean="0">
                              <a:latin typeface="Cambria Math" panose="02040503050406030204" pitchFamily="18" charset="0"/>
                            </a:rPr>
                            <m:t>′</m:t>
                          </m:r>
                        </m:sup>
                      </m:sSup>
                      <m:r>
                        <a:rPr lang="es-AR" sz="1400" b="0" i="1" smtClean="0">
                          <a:latin typeface="Cambria Math" panose="02040503050406030204" pitchFamily="18" charset="0"/>
                        </a:rPr>
                        <m:t>=</m:t>
                      </m:r>
                      <m:sSub>
                        <m:sSubPr>
                          <m:ctrlPr>
                            <a:rPr lang="es-AR" sz="1400" b="0" i="1" smtClean="0">
                              <a:latin typeface="Cambria Math" panose="02040503050406030204" pitchFamily="18" charset="0"/>
                            </a:rPr>
                          </m:ctrlPr>
                        </m:sSubPr>
                        <m:e>
                          <m:r>
                            <a:rPr lang="es-AR" sz="1400" b="0" i="1" smtClean="0">
                              <a:latin typeface="Cambria Math" panose="02040503050406030204" pitchFamily="18" charset="0"/>
                            </a:rPr>
                            <m:t>𝑂</m:t>
                          </m:r>
                        </m:e>
                        <m:sub>
                          <m:r>
                            <a:rPr lang="es-AR" sz="1400" b="0" i="1" smtClean="0">
                              <a:latin typeface="Cambria Math" panose="02040503050406030204" pitchFamily="18" charset="0"/>
                            </a:rPr>
                            <m:t>4</m:t>
                          </m:r>
                        </m:sub>
                      </m:sSub>
                      <m:r>
                        <a:rPr lang="es-AR" sz="1400" b="0" i="1" smtClean="0">
                          <a:latin typeface="Cambria Math" panose="02040503050406030204" pitchFamily="18" charset="0"/>
                        </a:rPr>
                        <m:t>𝐵</m:t>
                      </m:r>
                      <m:r>
                        <a:rPr lang="es-AR" sz="1400" b="0" i="1" smtClean="0">
                          <a:latin typeface="Cambria Math" panose="02040503050406030204" pitchFamily="18" charset="0"/>
                        </a:rPr>
                        <m:t>∗</m:t>
                      </m:r>
                      <m:func>
                        <m:funcPr>
                          <m:ctrlPr>
                            <a:rPr lang="es-AR" sz="1400" b="0" i="1" smtClean="0">
                              <a:latin typeface="Cambria Math" panose="02040503050406030204" pitchFamily="18" charset="0"/>
                            </a:rPr>
                          </m:ctrlPr>
                        </m:funcPr>
                        <m:fName>
                          <m:r>
                            <m:rPr>
                              <m:sty m:val="p"/>
                            </m:rPr>
                            <a:rPr lang="es-AR" sz="1400" b="0" i="0" smtClean="0">
                              <a:latin typeface="Cambria Math" panose="02040503050406030204" pitchFamily="18" charset="0"/>
                            </a:rPr>
                            <m:t>sin</m:t>
                          </m:r>
                        </m:fName>
                        <m:e>
                          <m:r>
                            <a:rPr lang="es-AR" sz="1400" b="0" i="1" smtClean="0">
                              <a:latin typeface="Cambria Math" panose="02040503050406030204" pitchFamily="18" charset="0"/>
                            </a:rPr>
                            <m:t>𝜇</m:t>
                          </m:r>
                        </m:e>
                      </m:func>
                    </m:oMath>
                  </m:oMathPara>
                </a14:m>
                <a:endParaRPr lang="es-AR" sz="1400" dirty="0">
                  <a:latin typeface="Bahnschrift" panose="020B0502040204020203" pitchFamily="34" charset="0"/>
                </a:endParaRPr>
              </a:p>
            </p:txBody>
          </p:sp>
        </mc:Choice>
        <mc:Fallback xmlns="">
          <p:sp>
            <p:nvSpPr>
              <p:cNvPr id="25" name="Marcador de contenido 2">
                <a:extLst>
                  <a:ext uri="{FF2B5EF4-FFF2-40B4-BE49-F238E27FC236}">
                    <a16:creationId xmlns:a16="http://schemas.microsoft.com/office/drawing/2014/main" id="{AFB18A2C-0660-42D7-BFF1-6CA024A12E0F}"/>
                  </a:ext>
                </a:extLst>
              </p:cNvPr>
              <p:cNvSpPr>
                <a:spLocks noGrp="1" noRot="1" noChangeAspect="1" noMove="1" noResize="1" noEditPoints="1" noAdjustHandles="1" noChangeArrowheads="1" noChangeShapeType="1" noTextEdit="1"/>
              </p:cNvSpPr>
              <p:nvPr>
                <p:ph idx="1"/>
              </p:nvPr>
            </p:nvSpPr>
            <p:spPr>
              <a:xfrm>
                <a:off x="184422" y="1419808"/>
                <a:ext cx="5373000" cy="5352876"/>
              </a:xfrm>
              <a:blipFill>
                <a:blip r:embed="rId3"/>
                <a:stretch>
                  <a:fillRect r="-12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Marcador de contenido 2">
                <a:extLst>
                  <a:ext uri="{FF2B5EF4-FFF2-40B4-BE49-F238E27FC236}">
                    <a16:creationId xmlns:a16="http://schemas.microsoft.com/office/drawing/2014/main" id="{D2B6BB88-C48D-4CB2-9CE4-62CF4A636B84}"/>
                  </a:ext>
                </a:extLst>
              </p:cNvPr>
              <p:cNvSpPr txBox="1">
                <a:spLocks/>
              </p:cNvSpPr>
              <p:nvPr/>
            </p:nvSpPr>
            <p:spPr>
              <a:xfrm>
                <a:off x="5776419" y="4370832"/>
                <a:ext cx="5373000" cy="2664768"/>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20000"/>
                  </a:lnSpc>
                  <a:buFontTx/>
                  <a:buChar char="-"/>
                </a:pPr>
                <a:r>
                  <a:rPr lang="es-AR" sz="1400" dirty="0">
                    <a:latin typeface="Bahnschrift" panose="020B0502040204020203" pitchFamily="34" charset="0"/>
                  </a:rPr>
                  <a:t>De la grafica se puede ver que la única componente de V</a:t>
                </a:r>
                <a:r>
                  <a:rPr lang="es-AR" sz="1400" baseline="-25000" dirty="0">
                    <a:latin typeface="Bahnschrift" panose="020B0502040204020203" pitchFamily="34" charset="0"/>
                  </a:rPr>
                  <a:t>A</a:t>
                </a:r>
                <a:r>
                  <a:rPr lang="es-AR" sz="1400" dirty="0">
                    <a:latin typeface="Bahnschrift" panose="020B0502040204020203" pitchFamily="34" charset="0"/>
                  </a:rPr>
                  <a:t> que se transmite a lo largo del acoplador hasta la junta B es:</a:t>
                </a:r>
                <a:endParaRPr lang="es-AR" sz="1400" dirty="0">
                  <a:latin typeface="Bahnschrift" panose="020B0502040204020203" pitchFamily="34" charset="0"/>
                  <a:ea typeface="Cambria Math" panose="02040503050406030204" pitchFamily="18" charset="0"/>
                </a:endParaRPr>
              </a:p>
              <a:p>
                <a:pPr marL="0" indent="0" algn="just">
                  <a:lnSpc>
                    <a:spcPct val="120000"/>
                  </a:lnSpc>
                  <a:buFont typeface="Arial" pitchFamily="34" charset="0"/>
                  <a:buNone/>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sSup>
                            <m:sSupPr>
                              <m:ctrlPr>
                                <a:rPr lang="es-AR" sz="1400" i="1" smtClean="0">
                                  <a:latin typeface="Cambria Math" panose="02040503050406030204" pitchFamily="18" charset="0"/>
                                </a:rPr>
                              </m:ctrlPr>
                            </m:sSupPr>
                            <m:e>
                              <m:r>
                                <a:rPr lang="es-AR" sz="1400" i="1" smtClean="0">
                                  <a:latin typeface="Cambria Math" panose="02040503050406030204" pitchFamily="18" charset="0"/>
                                </a:rPr>
                                <m:t>𝐴</m:t>
                              </m:r>
                            </m:e>
                            <m:sup>
                              <m:r>
                                <a:rPr lang="es-AR" sz="1400" i="1" smtClean="0">
                                  <a:latin typeface="Cambria Math" panose="02040503050406030204" pitchFamily="18" charset="0"/>
                                </a:rPr>
                                <m:t>′</m:t>
                              </m:r>
                            </m:sup>
                          </m:sSup>
                        </m:sub>
                      </m:sSub>
                      <m:r>
                        <a:rPr lang="es-AR" sz="1400" i="1" smtClean="0">
                          <a:latin typeface="Cambria Math" panose="02040503050406030204" pitchFamily="18" charset="0"/>
                        </a:rPr>
                        <m:t>=</m:t>
                      </m:r>
                      <m:sSub>
                        <m:sSubPr>
                          <m:ctrlPr>
                            <a:rPr lang="es-AR" sz="1400" i="1" smtClean="0">
                              <a:latin typeface="Cambria Math" panose="02040503050406030204" pitchFamily="18" charset="0"/>
                            </a:rPr>
                          </m:ctrlPr>
                        </m:sSubPr>
                        <m:e>
                          <m:r>
                            <a:rPr lang="es-AR" sz="1400" i="1" smtClean="0">
                              <a:latin typeface="Cambria Math" panose="02040503050406030204" pitchFamily="18" charset="0"/>
                            </a:rPr>
                            <m:t>𝑂</m:t>
                          </m:r>
                        </m:e>
                        <m:sub>
                          <m:r>
                            <a:rPr lang="es-AR" sz="1400" i="1" smtClean="0">
                              <a:latin typeface="Cambria Math" panose="02040503050406030204" pitchFamily="18" charset="0"/>
                            </a:rPr>
                            <m:t>2</m:t>
                          </m:r>
                        </m:sub>
                      </m:sSub>
                      <m:sSup>
                        <m:sSupPr>
                          <m:ctrlPr>
                            <a:rPr lang="en-US" sz="1400" b="0" i="1" smtClean="0">
                              <a:latin typeface="Cambria Math" panose="02040503050406030204" pitchFamily="18" charset="0"/>
                            </a:rPr>
                          </m:ctrlPr>
                        </m:sSupPr>
                        <m:e>
                          <m:r>
                            <a:rPr lang="es-AR" sz="1400" i="1" smtClean="0">
                              <a:latin typeface="Cambria Math" panose="02040503050406030204" pitchFamily="18" charset="0"/>
                            </a:rPr>
                            <m:t>𝐴</m:t>
                          </m:r>
                        </m:e>
                        <m:sup>
                          <m:r>
                            <a:rPr lang="en-US" sz="1400" b="0" i="1" smtClean="0">
                              <a:latin typeface="Cambria Math" panose="02040503050406030204" pitchFamily="18" charset="0"/>
                            </a:rPr>
                            <m:t>′</m:t>
                          </m:r>
                        </m:sup>
                      </m:sSup>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𝜔</m:t>
                          </m:r>
                        </m:e>
                        <m:sub>
                          <m:r>
                            <a:rPr lang="en-US" sz="1400" b="0" i="1" smtClean="0">
                              <a:latin typeface="Cambria Math" panose="02040503050406030204" pitchFamily="18" charset="0"/>
                            </a:rPr>
                            <m:t>2</m:t>
                          </m:r>
                        </m:sub>
                      </m:sSub>
                    </m:oMath>
                  </m:oMathPara>
                </a14:m>
                <a:endParaRPr lang="es-AR" sz="1400" dirty="0">
                  <a:latin typeface="Bahnschrift" panose="020B0502040204020203" pitchFamily="34" charset="0"/>
                </a:endParaRPr>
              </a:p>
              <a:p>
                <a:pPr algn="just">
                  <a:lnSpc>
                    <a:spcPct val="120000"/>
                  </a:lnSpc>
                  <a:buFontTx/>
                  <a:buChar char="-"/>
                </a:pPr>
                <a:r>
                  <a:rPr lang="es-AR" sz="1400" dirty="0">
                    <a:latin typeface="Bahnschrift" panose="020B0502040204020203" pitchFamily="34" charset="0"/>
                  </a:rPr>
                  <a:t>Por lo tanto, </a:t>
                </a:r>
                <a:endParaRPr lang="en-US" sz="1400" b="0" i="1" dirty="0">
                  <a:latin typeface="Cambria Math" panose="02040503050406030204" pitchFamily="18"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sSup>
                            <m:sSupPr>
                              <m:ctrlPr>
                                <a:rPr lang="es-AR" sz="1400" i="1" smtClean="0">
                                  <a:latin typeface="Cambria Math" panose="02040503050406030204" pitchFamily="18" charset="0"/>
                                </a:rPr>
                              </m:ctrlPr>
                            </m:sSupPr>
                            <m:e>
                              <m:r>
                                <a:rPr lang="es-AR" sz="1400" i="1" smtClean="0">
                                  <a:latin typeface="Cambria Math" panose="02040503050406030204" pitchFamily="18" charset="0"/>
                                </a:rPr>
                                <m:t>𝐴</m:t>
                              </m:r>
                            </m:e>
                            <m:sup>
                              <m:r>
                                <a:rPr lang="es-AR" sz="1400" i="1" smtClean="0">
                                  <a:latin typeface="Cambria Math" panose="02040503050406030204" pitchFamily="18" charset="0"/>
                                </a:rPr>
                                <m:t>′</m:t>
                              </m:r>
                            </m:sup>
                          </m:sSup>
                        </m:sub>
                      </m:sSub>
                      <m:r>
                        <a:rPr lang="es-AR" sz="140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𝐵</m:t>
                              </m:r>
                            </m:e>
                            <m:sup>
                              <m:r>
                                <a:rPr lang="en-US" sz="1400" b="0" i="1" smtClean="0">
                                  <a:latin typeface="Cambria Math" panose="02040503050406030204" pitchFamily="18" charset="0"/>
                                </a:rPr>
                                <m:t>′</m:t>
                              </m:r>
                            </m:sup>
                          </m:sSup>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𝑂</m:t>
                          </m:r>
                        </m:e>
                        <m:sub>
                          <m:r>
                            <a:rPr lang="en-US" sz="1400" b="0" i="1" smtClean="0">
                              <a:latin typeface="Cambria Math" panose="02040503050406030204" pitchFamily="18" charset="0"/>
                            </a:rPr>
                            <m:t>2</m:t>
                          </m:r>
                        </m:sub>
                      </m:sSub>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𝐴</m:t>
                          </m:r>
                        </m:e>
                        <m:sup>
                          <m:r>
                            <a:rPr lang="en-US" sz="1400" b="0" i="1" smtClean="0">
                              <a:latin typeface="Cambria Math" panose="02040503050406030204" pitchFamily="18" charset="0"/>
                            </a:rPr>
                            <m:t>′</m:t>
                          </m:r>
                        </m:sup>
                      </m:sSup>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𝜔</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𝑂</m:t>
                          </m:r>
                        </m:e>
                        <m:sub>
                          <m:r>
                            <a:rPr lang="en-US" sz="1400" b="0" i="1" smtClean="0">
                              <a:latin typeface="Cambria Math" panose="02040503050406030204" pitchFamily="18" charset="0"/>
                            </a:rPr>
                            <m:t>4</m:t>
                          </m:r>
                        </m:sub>
                      </m:sSub>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𝐵</m:t>
                          </m:r>
                        </m:e>
                        <m:sup>
                          <m:r>
                            <a:rPr lang="en-US" sz="1400" b="0" i="1" smtClean="0">
                              <a:latin typeface="Cambria Math" panose="02040503050406030204" pitchFamily="18" charset="0"/>
                            </a:rPr>
                            <m:t>′</m:t>
                          </m:r>
                        </m:sup>
                      </m:sSup>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𝜔</m:t>
                          </m:r>
                        </m:e>
                        <m:sub>
                          <m:r>
                            <a:rPr lang="en-US" sz="1400" b="0" i="1" smtClean="0">
                              <a:latin typeface="Cambria Math" panose="02040503050406030204" pitchFamily="18" charset="0"/>
                            </a:rPr>
                            <m:t>4</m:t>
                          </m:r>
                        </m:sub>
                      </m:sSub>
                    </m:oMath>
                    <m:oMath xmlns:m="http://schemas.openxmlformats.org/officeDocument/2006/math">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𝜔</m:t>
                              </m:r>
                            </m:e>
                            <m:sub>
                              <m:r>
                                <a:rPr lang="en-US" sz="1400" b="0" i="1" smtClean="0">
                                  <a:latin typeface="Cambria Math" panose="02040503050406030204" pitchFamily="18" charset="0"/>
                                </a:rPr>
                                <m:t>4</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𝜔</m:t>
                              </m:r>
                            </m:e>
                            <m:sub>
                              <m:r>
                                <a:rPr lang="en-US" sz="1400" b="0" i="1" smtClean="0">
                                  <a:latin typeface="Cambria Math" panose="02040503050406030204" pitchFamily="18" charset="0"/>
                                </a:rPr>
                                <m:t>2</m:t>
                              </m:r>
                            </m:sub>
                          </m:sSub>
                        </m:den>
                      </m:f>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𝑂</m:t>
                              </m:r>
                            </m:e>
                            <m:sub>
                              <m:r>
                                <a:rPr lang="en-US" sz="1400" b="0" i="1" smtClean="0">
                                  <a:latin typeface="Cambria Math" panose="02040503050406030204" pitchFamily="18" charset="0"/>
                                </a:rPr>
                                <m:t>2</m:t>
                              </m:r>
                            </m:sub>
                          </m:sSub>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𝐴</m:t>
                              </m:r>
                            </m:e>
                            <m:sup>
                              <m:r>
                                <a:rPr lang="en-US" sz="1400" b="0" i="1" smtClean="0">
                                  <a:latin typeface="Cambria Math" panose="02040503050406030204" pitchFamily="18" charset="0"/>
                                </a:rPr>
                                <m:t>′</m:t>
                              </m:r>
                            </m:sup>
                          </m:sSup>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𝑂</m:t>
                              </m:r>
                            </m:e>
                            <m:sub>
                              <m:r>
                                <a:rPr lang="en-US" sz="1400" b="0" i="1" smtClean="0">
                                  <a:latin typeface="Cambria Math" panose="02040503050406030204" pitchFamily="18" charset="0"/>
                                </a:rPr>
                                <m:t>4</m:t>
                              </m:r>
                            </m:sub>
                          </m:sSub>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𝐵</m:t>
                              </m:r>
                            </m:e>
                            <m:sup>
                              <m:r>
                                <a:rPr lang="en-US" sz="1400" b="0" i="1" smtClean="0">
                                  <a:latin typeface="Cambria Math" panose="02040503050406030204" pitchFamily="18" charset="0"/>
                                </a:rPr>
                                <m:t>′</m:t>
                              </m:r>
                            </m:sup>
                          </m:sSup>
                        </m:den>
                      </m:f>
                      <m:r>
                        <a:rPr lang="en-US" sz="1400" b="0" i="1" smtClean="0">
                          <a:latin typeface="Cambria Math" panose="02040503050406030204" pitchFamily="18" charset="0"/>
                        </a:rPr>
                        <m:t> →</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𝜔</m:t>
                              </m:r>
                            </m:e>
                            <m:sub>
                              <m:r>
                                <a:rPr lang="en-US" sz="1400" i="1">
                                  <a:latin typeface="Cambria Math" panose="02040503050406030204" pitchFamily="18" charset="0"/>
                                </a:rPr>
                                <m:t>4</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𝜔</m:t>
                              </m:r>
                            </m:e>
                            <m:sub>
                              <m:r>
                                <a:rPr lang="en-US" sz="1400" i="1">
                                  <a:latin typeface="Cambria Math" panose="02040503050406030204" pitchFamily="18" charset="0"/>
                                </a:rPr>
                                <m:t>2</m:t>
                              </m:r>
                            </m:sub>
                          </m:sSub>
                        </m:den>
                      </m:f>
                      <m:r>
                        <a:rPr lang="en-US" sz="1400" i="1">
                          <a:latin typeface="Cambria Math" panose="02040503050406030204" pitchFamily="18" charset="0"/>
                        </a:rPr>
                        <m:t>=</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𝑂</m:t>
                              </m:r>
                            </m:e>
                            <m:sub>
                              <m:r>
                                <a:rPr lang="en-US" sz="1400" i="1">
                                  <a:latin typeface="Cambria Math" panose="02040503050406030204" pitchFamily="18" charset="0"/>
                                </a:rPr>
                                <m:t>2</m:t>
                              </m:r>
                            </m:sub>
                          </m:sSub>
                          <m:r>
                            <a:rPr lang="en-US" sz="1400" b="0" i="1" smtClean="0">
                              <a:latin typeface="Cambria Math" panose="02040503050406030204" pitchFamily="18" charset="0"/>
                            </a:rPr>
                            <m:t>𝐴</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sin</m:t>
                              </m:r>
                            </m:fName>
                            <m:e>
                              <m:r>
                                <a:rPr lang="en-US" sz="1400" b="0" i="1" smtClean="0">
                                  <a:latin typeface="Cambria Math" panose="02040503050406030204" pitchFamily="18" charset="0"/>
                                  <a:ea typeface="Cambria Math" panose="02040503050406030204" pitchFamily="18" charset="0"/>
                                </a:rPr>
                                <m:t>𝜈</m:t>
                              </m:r>
                            </m:e>
                          </m:func>
                        </m:num>
                        <m:den>
                          <m:sSub>
                            <m:sSubPr>
                              <m:ctrlPr>
                                <a:rPr lang="en-US" sz="1400" i="1">
                                  <a:latin typeface="Cambria Math" panose="02040503050406030204" pitchFamily="18" charset="0"/>
                                </a:rPr>
                              </m:ctrlPr>
                            </m:sSubPr>
                            <m:e>
                              <m:r>
                                <a:rPr lang="en-US" sz="1400" i="1">
                                  <a:latin typeface="Cambria Math" panose="02040503050406030204" pitchFamily="18" charset="0"/>
                                </a:rPr>
                                <m:t>𝑂</m:t>
                              </m:r>
                            </m:e>
                            <m:sub>
                              <m:r>
                                <a:rPr lang="en-US" sz="1400" b="0" i="1" smtClean="0">
                                  <a:latin typeface="Cambria Math" panose="02040503050406030204" pitchFamily="18" charset="0"/>
                                </a:rPr>
                                <m:t>4</m:t>
                              </m:r>
                            </m:sub>
                          </m:sSub>
                          <m:r>
                            <a:rPr lang="en-US" sz="1400" b="0" i="1" smtClean="0">
                              <a:latin typeface="Cambria Math" panose="02040503050406030204" pitchFamily="18" charset="0"/>
                            </a:rPr>
                            <m:t>𝐵</m:t>
                          </m:r>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sin</m:t>
                              </m:r>
                            </m:fName>
                            <m:e>
                              <m:r>
                                <a:rPr lang="en-US" sz="1400" i="1" smtClean="0">
                                  <a:latin typeface="Cambria Math" panose="02040503050406030204" pitchFamily="18" charset="0"/>
                                  <a:ea typeface="Cambria Math" panose="02040503050406030204" pitchFamily="18" charset="0"/>
                                </a:rPr>
                                <m:t>𝜇</m:t>
                              </m:r>
                            </m:e>
                          </m:func>
                        </m:den>
                      </m:f>
                    </m:oMath>
                  </m:oMathPara>
                </a14:m>
                <a:endParaRPr lang="es-AR" sz="1400" dirty="0">
                  <a:latin typeface="Bahnschrift" panose="020B0502040204020203" pitchFamily="34" charset="0"/>
                </a:endParaRPr>
              </a:p>
              <a:p>
                <a:pPr algn="just">
                  <a:lnSpc>
                    <a:spcPct val="120000"/>
                  </a:lnSpc>
                  <a:buFontTx/>
                  <a:buChar char="-"/>
                </a:pPr>
                <a:endParaRPr lang="es-AR" sz="1400" dirty="0">
                  <a:latin typeface="Bahnschrift" panose="020B0502040204020203" pitchFamily="34" charset="0"/>
                </a:endParaRPr>
              </a:p>
            </p:txBody>
          </p:sp>
        </mc:Choice>
        <mc:Fallback xmlns="">
          <p:sp>
            <p:nvSpPr>
              <p:cNvPr id="14" name="Marcador de contenido 2">
                <a:extLst>
                  <a:ext uri="{FF2B5EF4-FFF2-40B4-BE49-F238E27FC236}">
                    <a16:creationId xmlns:a16="http://schemas.microsoft.com/office/drawing/2014/main" id="{D2B6BB88-C48D-4CB2-9CE4-62CF4A636B84}"/>
                  </a:ext>
                </a:extLst>
              </p:cNvPr>
              <p:cNvSpPr txBox="1">
                <a:spLocks noRot="1" noChangeAspect="1" noMove="1" noResize="1" noEditPoints="1" noAdjustHandles="1" noChangeArrowheads="1" noChangeShapeType="1" noTextEdit="1"/>
              </p:cNvSpPr>
              <p:nvPr/>
            </p:nvSpPr>
            <p:spPr>
              <a:xfrm>
                <a:off x="5776419" y="4370832"/>
                <a:ext cx="5373000" cy="2664768"/>
              </a:xfrm>
              <a:prstGeom prst="rect">
                <a:avLst/>
              </a:prstGeom>
              <a:blipFill>
                <a:blip r:embed="rId4"/>
                <a:stretch>
                  <a:fillRect r="-341"/>
                </a:stretch>
              </a:blipFill>
            </p:spPr>
            <p:txBody>
              <a:bodyPr/>
              <a:lstStyle/>
              <a:p>
                <a:r>
                  <a:rPr lang="es-AR">
                    <a:noFill/>
                  </a:rPr>
                  <a:t> </a:t>
                </a:r>
              </a:p>
            </p:txBody>
          </p:sp>
        </mc:Fallback>
      </mc:AlternateContent>
    </p:spTree>
    <p:extLst>
      <p:ext uri="{BB962C8B-B14F-4D97-AF65-F5344CB8AC3E}">
        <p14:creationId xmlns:p14="http://schemas.microsoft.com/office/powerpoint/2010/main" val="1918750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3" y="853440"/>
            <a:ext cx="6187739"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5979688"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RELACIÓN DE VELOCIDAD ANGULAR (VR)</a:t>
            </a:r>
          </a:p>
        </p:txBody>
      </p:sp>
      <p:sp>
        <p:nvSpPr>
          <p:cNvPr id="25" name="Marcador de contenido 2">
            <a:extLst>
              <a:ext uri="{FF2B5EF4-FFF2-40B4-BE49-F238E27FC236}">
                <a16:creationId xmlns:a16="http://schemas.microsoft.com/office/drawing/2014/main" id="{AFB18A2C-0660-42D7-BFF1-6CA024A12E0F}"/>
              </a:ext>
            </a:extLst>
          </p:cNvPr>
          <p:cNvSpPr>
            <a:spLocks noGrp="1"/>
          </p:cNvSpPr>
          <p:nvPr>
            <p:ph idx="1"/>
          </p:nvPr>
        </p:nvSpPr>
        <p:spPr>
          <a:xfrm>
            <a:off x="184422" y="1419808"/>
            <a:ext cx="5373000" cy="581762"/>
          </a:xfrm>
        </p:spPr>
        <p:txBody>
          <a:bodyPr wrap="square">
            <a:spAutoFit/>
          </a:bodyPr>
          <a:lstStyle/>
          <a:p>
            <a:pPr algn="just">
              <a:lnSpc>
                <a:spcPct val="120000"/>
              </a:lnSpc>
              <a:buFontTx/>
              <a:buChar char="-"/>
            </a:pPr>
            <a:r>
              <a:rPr lang="es-AR" sz="1400" dirty="0">
                <a:latin typeface="Bahnschrift" panose="020B0502040204020203" pitchFamily="34" charset="0"/>
              </a:rPr>
              <a:t>Si se analiza la ecuación de relación de velocidad angular, se puede deducir lo siguiente.</a:t>
            </a:r>
          </a:p>
        </p:txBody>
      </p:sp>
      <p:sp>
        <p:nvSpPr>
          <p:cNvPr id="14" name="Marcador de contenido 2">
            <a:extLst>
              <a:ext uri="{FF2B5EF4-FFF2-40B4-BE49-F238E27FC236}">
                <a16:creationId xmlns:a16="http://schemas.microsoft.com/office/drawing/2014/main" id="{D2B6BB88-C48D-4CB2-9CE4-62CF4A636B84}"/>
              </a:ext>
            </a:extLst>
          </p:cNvPr>
          <p:cNvSpPr txBox="1">
            <a:spLocks/>
          </p:cNvSpPr>
          <p:nvPr/>
        </p:nvSpPr>
        <p:spPr>
          <a:xfrm>
            <a:off x="6643664" y="2012077"/>
            <a:ext cx="4596303" cy="581762"/>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s-AR" sz="1400" dirty="0">
                <a:latin typeface="Bahnschrift" panose="020B0502040204020203" pitchFamily="34" charset="0"/>
              </a:rPr>
              <a:t>Eslabones 2 y 3 </a:t>
            </a:r>
            <a:r>
              <a:rPr lang="es-AR" sz="1400" dirty="0">
                <a:highlight>
                  <a:srgbClr val="FFC000"/>
                </a:highlight>
                <a:latin typeface="Bahnschrift" panose="020B0502040204020203" pitchFamily="34" charset="0"/>
              </a:rPr>
              <a:t>COLINEALES EXTENDIDOS</a:t>
            </a:r>
            <a:br>
              <a:rPr lang="es-AR" sz="1400" dirty="0">
                <a:latin typeface="Bahnschrift" panose="020B0502040204020203" pitchFamily="34" charset="0"/>
              </a:rPr>
            </a:br>
            <a:r>
              <a:rPr lang="es-AR" sz="1400" dirty="0">
                <a:latin typeface="Bahnschrift" panose="020B0502040204020203" pitchFamily="34" charset="0"/>
              </a:rPr>
              <a:t>POSICIÓN LIMITE</a:t>
            </a:r>
          </a:p>
        </p:txBody>
      </p:sp>
      <mc:AlternateContent xmlns:mc="http://schemas.openxmlformats.org/markup-compatibility/2006" xmlns:a14="http://schemas.microsoft.com/office/drawing/2010/main">
        <mc:Choice Requires="a14">
          <p:sp>
            <p:nvSpPr>
              <p:cNvPr id="11" name="Marcador de contenido 2">
                <a:extLst>
                  <a:ext uri="{FF2B5EF4-FFF2-40B4-BE49-F238E27FC236}">
                    <a16:creationId xmlns:a16="http://schemas.microsoft.com/office/drawing/2014/main" id="{11BF6936-651E-46B7-975F-CDE6A6A0FEAD}"/>
                  </a:ext>
                </a:extLst>
              </p:cNvPr>
              <p:cNvSpPr txBox="1">
                <a:spLocks/>
              </p:cNvSpPr>
              <p:nvPr/>
            </p:nvSpPr>
            <p:spPr>
              <a:xfrm>
                <a:off x="2451432" y="2062481"/>
                <a:ext cx="3733466" cy="450380"/>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𝑆𝑖</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=0→</m:t>
                      </m:r>
                      <m:func>
                        <m:funcPr>
                          <m:ctrlPr>
                            <a:rPr lang="en-US" i="1" smtClean="0">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𝜈</m:t>
                          </m:r>
                        </m:e>
                      </m:func>
                      <m:r>
                        <a:rPr lang="en-US" b="0" i="1" smtClean="0">
                          <a:latin typeface="Cambria Math" panose="02040503050406030204" pitchFamily="18" charset="0"/>
                          <a:ea typeface="Cambria Math" panose="02040503050406030204" pitchFamily="18" charset="0"/>
                        </a:rPr>
                        <m:t>=0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=0</m:t>
                      </m:r>
                    </m:oMath>
                  </m:oMathPara>
                </a14:m>
                <a:endParaRPr lang="es-AR" dirty="0">
                  <a:latin typeface="Bahnschrift" panose="020B0502040204020203" pitchFamily="34" charset="0"/>
                </a:endParaRPr>
              </a:p>
            </p:txBody>
          </p:sp>
        </mc:Choice>
        <mc:Fallback xmlns="">
          <p:sp>
            <p:nvSpPr>
              <p:cNvPr id="11" name="Marcador de contenido 2">
                <a:extLst>
                  <a:ext uri="{FF2B5EF4-FFF2-40B4-BE49-F238E27FC236}">
                    <a16:creationId xmlns:a16="http://schemas.microsoft.com/office/drawing/2014/main" id="{11BF6936-651E-46B7-975F-CDE6A6A0FEAD}"/>
                  </a:ext>
                </a:extLst>
              </p:cNvPr>
              <p:cNvSpPr txBox="1">
                <a:spLocks noRot="1" noChangeAspect="1" noMove="1" noResize="1" noEditPoints="1" noAdjustHandles="1" noChangeArrowheads="1" noChangeShapeType="1" noTextEdit="1"/>
              </p:cNvSpPr>
              <p:nvPr/>
            </p:nvSpPr>
            <p:spPr>
              <a:xfrm>
                <a:off x="2451432" y="2062481"/>
                <a:ext cx="3733466" cy="450380"/>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 name="Marcador de contenido 2">
                <a:extLst>
                  <a:ext uri="{FF2B5EF4-FFF2-40B4-BE49-F238E27FC236}">
                    <a16:creationId xmlns:a16="http://schemas.microsoft.com/office/drawing/2014/main" id="{511106CF-7B4B-4273-A083-AD73FD9B43C9}"/>
                  </a:ext>
                </a:extLst>
              </p:cNvPr>
              <p:cNvSpPr txBox="1">
                <a:spLocks/>
              </p:cNvSpPr>
              <p:nvPr/>
            </p:nvSpPr>
            <p:spPr>
              <a:xfrm>
                <a:off x="2451432" y="3199886"/>
                <a:ext cx="3733466" cy="450380"/>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𝑆𝑖</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=0→</m:t>
                      </m:r>
                      <m:func>
                        <m:funcPr>
                          <m:ctrlPr>
                            <a:rPr lang="en-US" i="1" smtClean="0">
                              <a:latin typeface="Cambria Math" panose="02040503050406030204" pitchFamily="18" charset="0"/>
                            </a:rPr>
                          </m:ctrlPr>
                        </m:funcPr>
                        <m:fName>
                          <m:r>
                            <m:rPr>
                              <m:sty m:val="p"/>
                            </m:rPr>
                            <a:rPr lang="en-US">
                              <a:latin typeface="Cambria Math" panose="02040503050406030204" pitchFamily="18" charset="0"/>
                            </a:rPr>
                            <m:t>sin</m:t>
                          </m:r>
                        </m:fName>
                        <m:e>
                          <m:r>
                            <a:rPr lang="en-US" i="1" smtClean="0">
                              <a:latin typeface="Cambria Math" panose="02040503050406030204" pitchFamily="18" charset="0"/>
                              <a:ea typeface="Cambria Math" panose="02040503050406030204" pitchFamily="18" charset="0"/>
                            </a:rPr>
                            <m:t>𝜇</m:t>
                          </m:r>
                        </m:e>
                      </m:func>
                      <m:r>
                        <a:rPr lang="en-US" b="0" i="1" smtClean="0">
                          <a:latin typeface="Cambria Math" panose="02040503050406030204" pitchFamily="18" charset="0"/>
                          <a:ea typeface="Cambria Math" panose="02040503050406030204" pitchFamily="18" charset="0"/>
                        </a:rPr>
                        <m:t>=0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oMath>
                  </m:oMathPara>
                </a14:m>
                <a:endParaRPr lang="es-AR" dirty="0">
                  <a:latin typeface="Bahnschrift" panose="020B0502040204020203" pitchFamily="34" charset="0"/>
                </a:endParaRPr>
              </a:p>
            </p:txBody>
          </p:sp>
        </mc:Choice>
        <mc:Fallback xmlns="">
          <p:sp>
            <p:nvSpPr>
              <p:cNvPr id="2" name="Marcador de contenido 2">
                <a:extLst>
                  <a:ext uri="{FF2B5EF4-FFF2-40B4-BE49-F238E27FC236}">
                    <a16:creationId xmlns:a16="http://schemas.microsoft.com/office/drawing/2014/main" id="{511106CF-7B4B-4273-A083-AD73FD9B43C9}"/>
                  </a:ext>
                </a:extLst>
              </p:cNvPr>
              <p:cNvSpPr txBox="1">
                <a:spLocks noRot="1" noChangeAspect="1" noMove="1" noResize="1" noEditPoints="1" noAdjustHandles="1" noChangeArrowheads="1" noChangeShapeType="1" noTextEdit="1"/>
              </p:cNvSpPr>
              <p:nvPr/>
            </p:nvSpPr>
            <p:spPr>
              <a:xfrm>
                <a:off x="2451432" y="3199886"/>
                <a:ext cx="3733466" cy="450380"/>
              </a:xfrm>
              <a:prstGeom prst="rect">
                <a:avLst/>
              </a:prstGeom>
              <a:blipFill>
                <a:blip r:embed="rId3"/>
                <a:stretch>
                  <a:fillRect/>
                </a:stretch>
              </a:blipFill>
            </p:spPr>
            <p:txBody>
              <a:bodyPr/>
              <a:lstStyle/>
              <a:p>
                <a:r>
                  <a:rPr lang="es-AR">
                    <a:noFill/>
                  </a:rPr>
                  <a:t> </a:t>
                </a:r>
              </a:p>
            </p:txBody>
          </p:sp>
        </mc:Fallback>
      </mc:AlternateContent>
      <p:pic>
        <p:nvPicPr>
          <p:cNvPr id="15" name="Imagen 14" descr="Imagen que contiene cuchillo, dibujo&#10;&#10;Descripción generada automáticamente">
            <a:extLst>
              <a:ext uri="{FF2B5EF4-FFF2-40B4-BE49-F238E27FC236}">
                <a16:creationId xmlns:a16="http://schemas.microsoft.com/office/drawing/2014/main" id="{8D0530C5-789A-481F-BC63-5C29EBD6A9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16188" y="2203578"/>
            <a:ext cx="593638" cy="275288"/>
          </a:xfrm>
          <a:prstGeom prst="rect">
            <a:avLst/>
          </a:prstGeom>
        </p:spPr>
      </p:pic>
      <p:sp>
        <p:nvSpPr>
          <p:cNvPr id="5" name="Marcador de contenido 2">
            <a:extLst>
              <a:ext uri="{FF2B5EF4-FFF2-40B4-BE49-F238E27FC236}">
                <a16:creationId xmlns:a16="http://schemas.microsoft.com/office/drawing/2014/main" id="{6B9A32CD-C968-46C7-BC1B-D03DB030A424}"/>
              </a:ext>
            </a:extLst>
          </p:cNvPr>
          <p:cNvSpPr txBox="1">
            <a:spLocks/>
          </p:cNvSpPr>
          <p:nvPr/>
        </p:nvSpPr>
        <p:spPr>
          <a:xfrm>
            <a:off x="6643664" y="2564839"/>
            <a:ext cx="4596303" cy="581762"/>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s-AR" sz="1400" dirty="0">
                <a:latin typeface="Bahnschrift" panose="020B0502040204020203" pitchFamily="34" charset="0"/>
              </a:rPr>
              <a:t>Eslabones 2 y 3 </a:t>
            </a:r>
            <a:r>
              <a:rPr lang="es-AR" sz="1400" dirty="0">
                <a:highlight>
                  <a:srgbClr val="FFC000"/>
                </a:highlight>
                <a:latin typeface="Bahnschrift" panose="020B0502040204020203" pitchFamily="34" charset="0"/>
              </a:rPr>
              <a:t>COLINEALES TRASLAPADOS </a:t>
            </a:r>
            <a:r>
              <a:rPr lang="es-AR" sz="1400" dirty="0">
                <a:latin typeface="Bahnschrift" panose="020B0502040204020203" pitchFamily="34" charset="0"/>
              </a:rPr>
              <a:t>POSICIÓN LIMITE</a:t>
            </a:r>
          </a:p>
        </p:txBody>
      </p:sp>
      <p:pic>
        <p:nvPicPr>
          <p:cNvPr id="20" name="Imagen 19" descr="Imagen que contiene dibujo&#10;&#10;Descripción generada automáticamente">
            <a:extLst>
              <a:ext uri="{FF2B5EF4-FFF2-40B4-BE49-F238E27FC236}">
                <a16:creationId xmlns:a16="http://schemas.microsoft.com/office/drawing/2014/main" id="{8DAC2650-05D1-4EF9-8C36-71D9087D45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1202566" flipH="1" flipV="1">
            <a:off x="6078782" y="2419392"/>
            <a:ext cx="555118" cy="574121"/>
          </a:xfrm>
          <a:prstGeom prst="rect">
            <a:avLst/>
          </a:prstGeom>
        </p:spPr>
      </p:pic>
      <p:sp>
        <p:nvSpPr>
          <p:cNvPr id="26" name="Marcador de contenido 2">
            <a:extLst>
              <a:ext uri="{FF2B5EF4-FFF2-40B4-BE49-F238E27FC236}">
                <a16:creationId xmlns:a16="http://schemas.microsoft.com/office/drawing/2014/main" id="{77E4E4FE-B9A0-4F1A-B99C-52BFB255009F}"/>
              </a:ext>
            </a:extLst>
          </p:cNvPr>
          <p:cNvSpPr txBox="1">
            <a:spLocks/>
          </p:cNvSpPr>
          <p:nvPr/>
        </p:nvSpPr>
        <p:spPr>
          <a:xfrm>
            <a:off x="6643664" y="3129638"/>
            <a:ext cx="4596303" cy="581762"/>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s-AR" sz="1400" dirty="0">
                <a:latin typeface="Bahnschrift" panose="020B0502040204020203" pitchFamily="34" charset="0"/>
              </a:rPr>
              <a:t>Eslabones 3 y 4 </a:t>
            </a:r>
            <a:r>
              <a:rPr lang="es-AR" sz="1400" dirty="0">
                <a:highlight>
                  <a:srgbClr val="FFC000"/>
                </a:highlight>
                <a:latin typeface="Bahnschrift" panose="020B0502040204020203" pitchFamily="34" charset="0"/>
              </a:rPr>
              <a:t>COLINEALES EXTENDIDOS</a:t>
            </a:r>
            <a:br>
              <a:rPr lang="es-AR" sz="1400" dirty="0">
                <a:latin typeface="Bahnschrift" panose="020B0502040204020203" pitchFamily="34" charset="0"/>
              </a:rPr>
            </a:br>
            <a:r>
              <a:rPr lang="es-AR" sz="1400" dirty="0">
                <a:latin typeface="Bahnschrift" panose="020B0502040204020203" pitchFamily="34" charset="0"/>
              </a:rPr>
              <a:t>POSICIÓN LIMITE</a:t>
            </a:r>
          </a:p>
        </p:txBody>
      </p:sp>
      <p:pic>
        <p:nvPicPr>
          <p:cNvPr id="27" name="Imagen 26" descr="Imagen que contiene cuchillo, dibujo&#10;&#10;Descripción generada automáticamente">
            <a:extLst>
              <a:ext uri="{FF2B5EF4-FFF2-40B4-BE49-F238E27FC236}">
                <a16:creationId xmlns:a16="http://schemas.microsoft.com/office/drawing/2014/main" id="{E8E07456-9C90-43BA-BAED-AF85AAC56E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16188" y="3321139"/>
            <a:ext cx="593638" cy="275288"/>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087D9B02-9B22-445A-A60A-99A2146F16D4}"/>
                  </a:ext>
                </a:extLst>
              </p:cNvPr>
              <p:cNvSpPr txBox="1"/>
              <p:nvPr/>
            </p:nvSpPr>
            <p:spPr>
              <a:xfrm>
                <a:off x="301487" y="2464691"/>
                <a:ext cx="1861174" cy="6580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4</m:t>
                              </m:r>
                            </m:sub>
                          </m:sSub>
                        </m:num>
                        <m:den>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2</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2</m:t>
                              </m:r>
                            </m:sub>
                          </m:sSub>
                          <m:r>
                            <a:rPr lang="en-US" i="1">
                              <a:latin typeface="Cambria Math" panose="02040503050406030204" pitchFamily="18" charset="0"/>
                            </a:rPr>
                            <m:t>𝐴</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𝜈</m:t>
                              </m:r>
                            </m:e>
                          </m:func>
                        </m:num>
                        <m:den>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4</m:t>
                              </m:r>
                            </m:sub>
                          </m:sSub>
                          <m:r>
                            <a:rPr lang="en-US" i="1">
                              <a:latin typeface="Cambria Math" panose="02040503050406030204" pitchFamily="18" charset="0"/>
                            </a:rPr>
                            <m:t>𝐵</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𝜇</m:t>
                              </m:r>
                            </m:e>
                          </m:func>
                        </m:den>
                      </m:f>
                    </m:oMath>
                  </m:oMathPara>
                </a14:m>
                <a:endParaRPr lang="es-AR" dirty="0"/>
              </a:p>
            </p:txBody>
          </p:sp>
        </mc:Choice>
        <mc:Fallback xmlns="">
          <p:sp>
            <p:nvSpPr>
              <p:cNvPr id="28" name="CuadroTexto 27">
                <a:extLst>
                  <a:ext uri="{FF2B5EF4-FFF2-40B4-BE49-F238E27FC236}">
                    <a16:creationId xmlns:a16="http://schemas.microsoft.com/office/drawing/2014/main" id="{087D9B02-9B22-445A-A60A-99A2146F16D4}"/>
                  </a:ext>
                </a:extLst>
              </p:cNvPr>
              <p:cNvSpPr txBox="1">
                <a:spLocks noRot="1" noChangeAspect="1" noMove="1" noResize="1" noEditPoints="1" noAdjustHandles="1" noChangeArrowheads="1" noChangeShapeType="1" noTextEdit="1"/>
              </p:cNvSpPr>
              <p:nvPr/>
            </p:nvSpPr>
            <p:spPr>
              <a:xfrm>
                <a:off x="301487" y="2464691"/>
                <a:ext cx="1861174" cy="658065"/>
              </a:xfrm>
              <a:prstGeom prst="rect">
                <a:avLst/>
              </a:prstGeom>
              <a:blipFill>
                <a:blip r:embed="rId6"/>
                <a:stretch>
                  <a:fillRect/>
                </a:stretch>
              </a:blipFill>
            </p:spPr>
            <p:txBody>
              <a:bodyPr/>
              <a:lstStyle/>
              <a:p>
                <a:r>
                  <a:rPr lang="es-AR">
                    <a:noFill/>
                  </a:rPr>
                  <a:t> </a:t>
                </a:r>
              </a:p>
            </p:txBody>
          </p:sp>
        </mc:Fallback>
      </mc:AlternateContent>
      <p:pic>
        <p:nvPicPr>
          <p:cNvPr id="29" name="Imagen 28" descr="Imagen que contiene reloj&#10;&#10;Descripción generada automáticamente">
            <a:extLst>
              <a:ext uri="{FF2B5EF4-FFF2-40B4-BE49-F238E27FC236}">
                <a16:creationId xmlns:a16="http://schemas.microsoft.com/office/drawing/2014/main" id="{6312A632-13D8-4B17-A18B-2248E23CBC8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21329550" flipV="1">
            <a:off x="2077014" y="3099410"/>
            <a:ext cx="528030" cy="322720"/>
          </a:xfrm>
          <a:prstGeom prst="rect">
            <a:avLst/>
          </a:prstGeom>
        </p:spPr>
      </p:pic>
      <p:pic>
        <p:nvPicPr>
          <p:cNvPr id="30" name="Imagen 29" descr="Imagen que contiene reloj&#10;&#10;Descripción generada automáticamente">
            <a:extLst>
              <a:ext uri="{FF2B5EF4-FFF2-40B4-BE49-F238E27FC236}">
                <a16:creationId xmlns:a16="http://schemas.microsoft.com/office/drawing/2014/main" id="{80CC589F-3CB4-49B3-8E0F-102E16F0C11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684491">
            <a:off x="2093298" y="2244923"/>
            <a:ext cx="528030" cy="337369"/>
          </a:xfrm>
          <a:prstGeom prst="rect">
            <a:avLst/>
          </a:prstGeom>
        </p:spPr>
      </p:pic>
      <p:pic>
        <p:nvPicPr>
          <p:cNvPr id="7" name="Imagen 6">
            <a:extLst>
              <a:ext uri="{FF2B5EF4-FFF2-40B4-BE49-F238E27FC236}">
                <a16:creationId xmlns:a16="http://schemas.microsoft.com/office/drawing/2014/main" id="{E2DB70C9-C48A-4249-A35A-AF6DB72558F6}"/>
              </a:ext>
            </a:extLst>
          </p:cNvPr>
          <p:cNvPicPr>
            <a:picLocks noChangeAspect="1"/>
          </p:cNvPicPr>
          <p:nvPr/>
        </p:nvPicPr>
        <p:blipFill>
          <a:blip r:embed="rId9"/>
          <a:stretch>
            <a:fillRect/>
          </a:stretch>
        </p:blipFill>
        <p:spPr>
          <a:xfrm>
            <a:off x="1491737" y="3702438"/>
            <a:ext cx="4412202" cy="3155562"/>
          </a:xfrm>
          <a:prstGeom prst="rect">
            <a:avLst/>
          </a:prstGeom>
        </p:spPr>
      </p:pic>
      <p:pic>
        <p:nvPicPr>
          <p:cNvPr id="31" name="Imagen 30" descr="Imagen que contiene dibujo&#10;&#10;Descripción generada automáticamente">
            <a:extLst>
              <a:ext uri="{FF2B5EF4-FFF2-40B4-BE49-F238E27FC236}">
                <a16:creationId xmlns:a16="http://schemas.microsoft.com/office/drawing/2014/main" id="{1CADE017-C10F-435F-B4BE-06AB130DBB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2733466" flipH="1" flipV="1">
            <a:off x="445888" y="3711875"/>
            <a:ext cx="1018374" cy="1053235"/>
          </a:xfrm>
          <a:prstGeom prst="rect">
            <a:avLst/>
          </a:pr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18E830E9-B342-412A-A344-FA6F3061522C}"/>
                  </a:ext>
                </a:extLst>
              </p:cNvPr>
              <p:cNvSpPr txBox="1"/>
              <p:nvPr/>
            </p:nvSpPr>
            <p:spPr>
              <a:xfrm>
                <a:off x="7341869" y="5297750"/>
                <a:ext cx="1861174" cy="6807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4</m:t>
                              </m:r>
                            </m:sub>
                          </m:sSub>
                        </m:num>
                        <m:den>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2</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2</m:t>
                              </m:r>
                            </m:sub>
                          </m:sSub>
                          <m:sSub>
                            <m:sSubPr>
                              <m:ctrlPr>
                                <a:rPr lang="en-US" b="0" i="1" smtClean="0">
                                  <a:latin typeface="Cambria Math" panose="02040503050406030204" pitchFamily="18" charset="0"/>
                                </a:rPr>
                              </m:ctrlPr>
                            </m:sSubPr>
                            <m:e>
                              <m:r>
                                <a:rPr lang="es-AR" b="0" i="1" smtClean="0">
                                  <a:latin typeface="Cambria Math" panose="02040503050406030204" pitchFamily="18" charset="0"/>
                                </a:rPr>
                                <m:t>𝐼</m:t>
                              </m:r>
                            </m:e>
                            <m:sub>
                              <m:r>
                                <a:rPr lang="en-US" b="0" i="1" smtClean="0">
                                  <a:latin typeface="Cambria Math" panose="02040503050406030204" pitchFamily="18" charset="0"/>
                                </a:rPr>
                                <m:t>2,4</m:t>
                              </m:r>
                            </m:sub>
                          </m:sSub>
                        </m:num>
                        <m:den>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4</m:t>
                              </m:r>
                            </m:sub>
                          </m:sSub>
                          <m:sSub>
                            <m:sSubPr>
                              <m:ctrlPr>
                                <a:rPr lang="en-US" i="1">
                                  <a:latin typeface="Cambria Math" panose="02040503050406030204" pitchFamily="18" charset="0"/>
                                </a:rPr>
                              </m:ctrlPr>
                            </m:sSubPr>
                            <m:e>
                              <m:r>
                                <a:rPr lang="es-AR" i="1">
                                  <a:latin typeface="Cambria Math" panose="02040503050406030204" pitchFamily="18" charset="0"/>
                                </a:rPr>
                                <m:t>𝐼</m:t>
                              </m:r>
                            </m:e>
                            <m:sub>
                              <m:r>
                                <a:rPr lang="en-US" i="1">
                                  <a:latin typeface="Cambria Math" panose="02040503050406030204" pitchFamily="18" charset="0"/>
                                </a:rPr>
                                <m:t>2,4</m:t>
                              </m:r>
                            </m:sub>
                          </m:sSub>
                        </m:den>
                      </m:f>
                    </m:oMath>
                  </m:oMathPara>
                </a14:m>
                <a:endParaRPr lang="es-AR" dirty="0"/>
              </a:p>
            </p:txBody>
          </p:sp>
        </mc:Choice>
        <mc:Fallback xmlns="">
          <p:sp>
            <p:nvSpPr>
              <p:cNvPr id="8" name="CuadroTexto 7">
                <a:extLst>
                  <a:ext uri="{FF2B5EF4-FFF2-40B4-BE49-F238E27FC236}">
                    <a16:creationId xmlns:a16="http://schemas.microsoft.com/office/drawing/2014/main" id="{18E830E9-B342-412A-A344-FA6F3061522C}"/>
                  </a:ext>
                </a:extLst>
              </p:cNvPr>
              <p:cNvSpPr txBox="1">
                <a:spLocks noRot="1" noChangeAspect="1" noMove="1" noResize="1" noEditPoints="1" noAdjustHandles="1" noChangeArrowheads="1" noChangeShapeType="1" noTextEdit="1"/>
              </p:cNvSpPr>
              <p:nvPr/>
            </p:nvSpPr>
            <p:spPr>
              <a:xfrm>
                <a:off x="7341869" y="5297750"/>
                <a:ext cx="1861174" cy="680764"/>
              </a:xfrm>
              <a:prstGeom prst="rect">
                <a:avLst/>
              </a:prstGeom>
              <a:blipFill>
                <a:blip r:embed="rId10"/>
                <a:stretch>
                  <a:fillRect/>
                </a:stretch>
              </a:blipFill>
            </p:spPr>
            <p:txBody>
              <a:bodyPr/>
              <a:lstStyle/>
              <a:p>
                <a:r>
                  <a:rPr lang="es-AR">
                    <a:noFill/>
                  </a:rPr>
                  <a:t> </a:t>
                </a:r>
              </a:p>
            </p:txBody>
          </p:sp>
        </mc:Fallback>
      </mc:AlternateContent>
      <p:sp>
        <p:nvSpPr>
          <p:cNvPr id="34" name="Marcador de contenido 2">
            <a:extLst>
              <a:ext uri="{FF2B5EF4-FFF2-40B4-BE49-F238E27FC236}">
                <a16:creationId xmlns:a16="http://schemas.microsoft.com/office/drawing/2014/main" id="{4BEE9328-6AC5-4859-B9DA-03BFEC6490A9}"/>
              </a:ext>
            </a:extLst>
          </p:cNvPr>
          <p:cNvSpPr txBox="1">
            <a:spLocks/>
          </p:cNvSpPr>
          <p:nvPr/>
        </p:nvSpPr>
        <p:spPr>
          <a:xfrm>
            <a:off x="5755415" y="4000201"/>
            <a:ext cx="5373000" cy="1098827"/>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20000"/>
              </a:lnSpc>
              <a:buFontTx/>
              <a:buChar char="-"/>
            </a:pPr>
            <a:r>
              <a:rPr lang="es-AR" sz="1400" dirty="0">
                <a:latin typeface="Bahnschrift" panose="020B0502040204020203" pitchFamily="34" charset="0"/>
              </a:rPr>
              <a:t>Si se trazan los eslabones efectivos de tal manera que sean colineales, ambos interceptan al acoplador prolongado en un punto, que es el Centro Instantáneo I</a:t>
            </a:r>
            <a:r>
              <a:rPr lang="es-AR" sz="1400" baseline="-25000" dirty="0">
                <a:latin typeface="Bahnschrift" panose="020B0502040204020203" pitchFamily="34" charset="0"/>
              </a:rPr>
              <a:t>2,4</a:t>
            </a:r>
            <a:r>
              <a:rPr lang="es-AR" sz="1400" dirty="0">
                <a:latin typeface="Bahnschrift" panose="020B0502040204020203" pitchFamily="34" charset="0"/>
              </a:rPr>
              <a:t>, por lo tanto la ecuación de relación de velocidades tendrá la forma:</a:t>
            </a:r>
          </a:p>
        </p:txBody>
      </p:sp>
    </p:spTree>
    <p:extLst>
      <p:ext uri="{BB962C8B-B14F-4D97-AF65-F5344CB8AC3E}">
        <p14:creationId xmlns:p14="http://schemas.microsoft.com/office/powerpoint/2010/main" val="142492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P spid="14" grpId="0"/>
      <p:bldP spid="11" grpId="0"/>
      <p:bldP spid="2" grpId="0"/>
      <p:bldP spid="5" grpId="0"/>
      <p:bldP spid="26" grpId="0"/>
      <p:bldP spid="28" grpId="0"/>
      <p:bldP spid="8" grpId="0"/>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3289958"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3069948"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VENTAJA MECÁNICA</a:t>
            </a:r>
          </a:p>
        </p:txBody>
      </p:sp>
      <mc:AlternateContent xmlns:mc="http://schemas.openxmlformats.org/markup-compatibility/2006" xmlns:a14="http://schemas.microsoft.com/office/drawing/2010/main">
        <mc:Choice Requires="a14">
          <p:sp>
            <p:nvSpPr>
              <p:cNvPr id="25" name="Marcador de contenido 2">
                <a:extLst>
                  <a:ext uri="{FF2B5EF4-FFF2-40B4-BE49-F238E27FC236}">
                    <a16:creationId xmlns:a16="http://schemas.microsoft.com/office/drawing/2014/main" id="{AFB18A2C-0660-42D7-BFF1-6CA024A12E0F}"/>
                  </a:ext>
                </a:extLst>
              </p:cNvPr>
              <p:cNvSpPr>
                <a:spLocks noGrp="1"/>
              </p:cNvSpPr>
              <p:nvPr>
                <p:ph idx="1"/>
              </p:nvPr>
            </p:nvSpPr>
            <p:spPr>
              <a:xfrm>
                <a:off x="251841" y="1389765"/>
                <a:ext cx="11055545" cy="760849"/>
              </a:xfrm>
            </p:spPr>
            <p:txBody>
              <a:bodyPr wrap="square">
                <a:spAutoFit/>
              </a:bodyPr>
              <a:lstStyle/>
              <a:p>
                <a:pPr algn="just">
                  <a:lnSpc>
                    <a:spcPct val="120000"/>
                  </a:lnSpc>
                  <a:buFontTx/>
                  <a:buChar char="-"/>
                </a:pPr>
                <a:r>
                  <a:rPr lang="es-AR" sz="1400" dirty="0">
                    <a:latin typeface="Bahnschrift" panose="020B0502040204020203" pitchFamily="34" charset="0"/>
                  </a:rPr>
                  <a:t>En un sistema mecánico POTENCIA se define como el producto punto o escalar del vector de fuerza F y el vector de velocidad V.</a:t>
                </a: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𝐹𝑉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𝑥</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𝑦</m:t>
                          </m:r>
                        </m:sub>
                      </m:sSub>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𝑦</m:t>
                          </m:r>
                        </m:sub>
                      </m:sSub>
                    </m:oMath>
                  </m:oMathPara>
                </a14:m>
                <a:endParaRPr lang="es-AR" dirty="0">
                  <a:latin typeface="Bahnschrift" panose="020B0502040204020203" pitchFamily="34" charset="0"/>
                </a:endParaRPr>
              </a:p>
            </p:txBody>
          </p:sp>
        </mc:Choice>
        <mc:Fallback xmlns="">
          <p:sp>
            <p:nvSpPr>
              <p:cNvPr id="25" name="Marcador de contenido 2">
                <a:extLst>
                  <a:ext uri="{FF2B5EF4-FFF2-40B4-BE49-F238E27FC236}">
                    <a16:creationId xmlns:a16="http://schemas.microsoft.com/office/drawing/2014/main" id="{AFB18A2C-0660-42D7-BFF1-6CA024A12E0F}"/>
                  </a:ext>
                </a:extLst>
              </p:cNvPr>
              <p:cNvSpPr>
                <a:spLocks noGrp="1" noRot="1" noChangeAspect="1" noMove="1" noResize="1" noEditPoints="1" noAdjustHandles="1" noChangeArrowheads="1" noChangeShapeType="1" noTextEdit="1"/>
              </p:cNvSpPr>
              <p:nvPr>
                <p:ph idx="1"/>
              </p:nvPr>
            </p:nvSpPr>
            <p:spPr>
              <a:xfrm>
                <a:off x="251841" y="1389765"/>
                <a:ext cx="11055545" cy="760849"/>
              </a:xfr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Marcador de contenido 2">
                <a:extLst>
                  <a:ext uri="{FF2B5EF4-FFF2-40B4-BE49-F238E27FC236}">
                    <a16:creationId xmlns:a16="http://schemas.microsoft.com/office/drawing/2014/main" id="{73C79452-6D4E-4C71-BAA1-3C10EC3211E0}"/>
                  </a:ext>
                </a:extLst>
              </p:cNvPr>
              <p:cNvSpPr txBox="1">
                <a:spLocks/>
              </p:cNvSpPr>
              <p:nvPr/>
            </p:nvSpPr>
            <p:spPr>
              <a:xfrm>
                <a:off x="251841" y="2144825"/>
                <a:ext cx="11055545" cy="993092"/>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20000"/>
                  </a:lnSpc>
                  <a:buFontTx/>
                  <a:buChar char="-"/>
                </a:pPr>
                <a:r>
                  <a:rPr lang="es-AR" sz="1400" dirty="0">
                    <a:latin typeface="Bahnschrift" panose="020B0502040204020203" pitchFamily="34" charset="0"/>
                  </a:rPr>
                  <a:t>En el caso de un sistema rotatorio, la variable FUERZA se convierte en CUPLA (T), y la variable VELOCIDAD LINEAL se convierte en VELOCIDAD ANGULAR (</a:t>
                </a:r>
                <a:r>
                  <a:rPr lang="el-GR" sz="1400" dirty="0">
                    <a:latin typeface="Bahnschrift" panose="020B0502040204020203" pitchFamily="34" charset="0"/>
                    <a:ea typeface="Cambria Math" panose="02040503050406030204" pitchFamily="18" charset="0"/>
                  </a:rPr>
                  <a:t>ω</a:t>
                </a:r>
                <a:r>
                  <a:rPr lang="en-US" sz="1400" dirty="0">
                    <a:latin typeface="Bahnschrift" panose="020B0502040204020203" pitchFamily="34" charset="0"/>
                    <a:ea typeface="Cambria Math" panose="02040503050406030204" pitchFamily="18" charset="0"/>
                  </a:rPr>
                  <a:t>) (</a:t>
                </a:r>
                <a:r>
                  <a:rPr lang="en-US" sz="1400" dirty="0" err="1">
                    <a:latin typeface="Bahnschrift" panose="020B0502040204020203" pitchFamily="34" charset="0"/>
                    <a:ea typeface="Cambria Math" panose="02040503050406030204" pitchFamily="18" charset="0"/>
                  </a:rPr>
                  <a:t>en</a:t>
                </a:r>
                <a:r>
                  <a:rPr lang="en-US" sz="1400" dirty="0">
                    <a:latin typeface="Bahnschrift" panose="020B0502040204020203" pitchFamily="34" charset="0"/>
                    <a:ea typeface="Cambria Math" panose="02040503050406030204" pitchFamily="18" charset="0"/>
                  </a:rPr>
                  <a:t> un </a:t>
                </a:r>
                <a:r>
                  <a:rPr lang="en-US" sz="1400" dirty="0" err="1">
                    <a:latin typeface="Bahnschrift" panose="020B0502040204020203" pitchFamily="34" charset="0"/>
                    <a:ea typeface="Cambria Math" panose="02040503050406030204" pitchFamily="18" charset="0"/>
                  </a:rPr>
                  <a:t>sistema</a:t>
                </a:r>
                <a:r>
                  <a:rPr lang="en-US" sz="1400" dirty="0">
                    <a:latin typeface="Bahnschrift" panose="020B0502040204020203" pitchFamily="34" charset="0"/>
                    <a:ea typeface="Cambria Math" panose="02040503050406030204" pitchFamily="18" charset="0"/>
                  </a:rPr>
                  <a:t> de dos </a:t>
                </a:r>
                <a:r>
                  <a:rPr lang="en-US" sz="1400" dirty="0" err="1">
                    <a:latin typeface="Bahnschrift" panose="020B0502040204020203" pitchFamily="34" charset="0"/>
                    <a:ea typeface="Cambria Math" panose="02040503050406030204" pitchFamily="18" charset="0"/>
                  </a:rPr>
                  <a:t>dimensiones</a:t>
                </a:r>
                <a:r>
                  <a:rPr lang="en-US" sz="1400" dirty="0">
                    <a:latin typeface="Bahnschrift" panose="020B0502040204020203" pitchFamily="34" charset="0"/>
                    <a:ea typeface="Cambria Math" panose="02040503050406030204" pitchFamily="18" charset="0"/>
                  </a:rPr>
                  <a:t>, ambas </a:t>
                </a:r>
                <a:r>
                  <a:rPr lang="en-US" sz="1400" dirty="0" err="1">
                    <a:latin typeface="Bahnschrift" panose="020B0502040204020203" pitchFamily="34" charset="0"/>
                    <a:ea typeface="Cambria Math" panose="02040503050406030204" pitchFamily="18" charset="0"/>
                  </a:rPr>
                  <a:t>tienen</a:t>
                </a:r>
                <a:r>
                  <a:rPr lang="en-US" sz="1400" dirty="0">
                    <a:latin typeface="Bahnschrift" panose="020B0502040204020203" pitchFamily="34" charset="0"/>
                    <a:ea typeface="Cambria Math" panose="02040503050406030204" pitchFamily="18" charset="0"/>
                  </a:rPr>
                  <a:t> la </a:t>
                </a:r>
                <a:r>
                  <a:rPr lang="en-US" sz="1400" dirty="0" err="1">
                    <a:latin typeface="Bahnschrift" panose="020B0502040204020203" pitchFamily="34" charset="0"/>
                    <a:ea typeface="Cambria Math" panose="02040503050406030204" pitchFamily="18" charset="0"/>
                  </a:rPr>
                  <a:t>misma</a:t>
                </a:r>
                <a:r>
                  <a:rPr lang="en-US" sz="1400" dirty="0">
                    <a:latin typeface="Bahnschrift" panose="020B0502040204020203" pitchFamily="34" charset="0"/>
                    <a:ea typeface="Cambria Math" panose="02040503050406030204" pitchFamily="18" charset="0"/>
                  </a:rPr>
                  <a:t> </a:t>
                </a:r>
                <a:r>
                  <a:rPr lang="en-US" sz="1400" dirty="0" err="1">
                    <a:latin typeface="Bahnschrift" panose="020B0502040204020203" pitchFamily="34" charset="0"/>
                    <a:ea typeface="Cambria Math" panose="02040503050406030204" pitchFamily="18" charset="0"/>
                  </a:rPr>
                  <a:t>direccion</a:t>
                </a:r>
                <a:r>
                  <a:rPr lang="en-US" sz="1400" dirty="0">
                    <a:latin typeface="Bahnschrift" panose="020B0502040204020203" pitchFamily="34" charset="0"/>
                    <a:ea typeface="Cambria Math" panose="02040503050406030204" pitchFamily="18" charset="0"/>
                  </a:rPr>
                  <a:t> z). </a:t>
                </a:r>
                <a:endParaRPr lang="en-US" sz="1400" i="1" dirty="0">
                  <a:latin typeface="Cambria Math" panose="02040503050406030204" pitchFamily="18"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𝑇</m:t>
                      </m:r>
                      <m:r>
                        <m:rPr>
                          <m:sty m:val="p"/>
                        </m:rPr>
                        <a:rPr lang="en-US" b="0" i="1" smtClean="0">
                          <a:latin typeface="Cambria Math" panose="02040503050406030204" pitchFamily="18" charset="0"/>
                        </a:rPr>
                        <m:t>ω</m:t>
                      </m:r>
                    </m:oMath>
                  </m:oMathPara>
                </a14:m>
                <a:endParaRPr lang="en-US" b="0" i="1" dirty="0">
                  <a:latin typeface="Cambria Math" panose="02040503050406030204" pitchFamily="18" charset="0"/>
                </a:endParaRPr>
              </a:p>
            </p:txBody>
          </p:sp>
        </mc:Choice>
        <mc:Fallback xmlns="">
          <p:sp>
            <p:nvSpPr>
              <p:cNvPr id="12" name="Marcador de contenido 2">
                <a:extLst>
                  <a:ext uri="{FF2B5EF4-FFF2-40B4-BE49-F238E27FC236}">
                    <a16:creationId xmlns:a16="http://schemas.microsoft.com/office/drawing/2014/main" id="{73C79452-6D4E-4C71-BAA1-3C10EC3211E0}"/>
                  </a:ext>
                </a:extLst>
              </p:cNvPr>
              <p:cNvSpPr txBox="1">
                <a:spLocks noRot="1" noChangeAspect="1" noMove="1" noResize="1" noEditPoints="1" noAdjustHandles="1" noChangeArrowheads="1" noChangeShapeType="1" noTextEdit="1"/>
              </p:cNvSpPr>
              <p:nvPr/>
            </p:nvSpPr>
            <p:spPr>
              <a:xfrm>
                <a:off x="251841" y="2144825"/>
                <a:ext cx="11055545" cy="993092"/>
              </a:xfrm>
              <a:prstGeom prst="rect">
                <a:avLst/>
              </a:prstGeom>
              <a:blipFill>
                <a:blip r:embed="rId3"/>
                <a:stretch>
                  <a:fillRect r="-110"/>
                </a:stretch>
              </a:blipFill>
            </p:spPr>
            <p:txBody>
              <a:bodyPr/>
              <a:lstStyle/>
              <a:p>
                <a:r>
                  <a:rPr lang="es-AR">
                    <a:noFill/>
                  </a:rPr>
                  <a:t> </a:t>
                </a:r>
              </a:p>
            </p:txBody>
          </p:sp>
        </mc:Fallback>
      </mc:AlternateContent>
      <p:pic>
        <p:nvPicPr>
          <p:cNvPr id="4" name="Imagen 3" descr="Logotipo&#10;&#10;Descripción generada automáticamente">
            <a:extLst>
              <a:ext uri="{FF2B5EF4-FFF2-40B4-BE49-F238E27FC236}">
                <a16:creationId xmlns:a16="http://schemas.microsoft.com/office/drawing/2014/main" id="{8CC29BA0-CE88-473B-A255-F07C1CAEDC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21216" y="3437872"/>
            <a:ext cx="780437" cy="444008"/>
          </a:xfrm>
          <a:prstGeom prst="rect">
            <a:avLst/>
          </a:prstGeom>
        </p:spPr>
      </p:pic>
      <p:sp>
        <p:nvSpPr>
          <p:cNvPr id="2" name="Marcador de contenido 2">
            <a:extLst>
              <a:ext uri="{FF2B5EF4-FFF2-40B4-BE49-F238E27FC236}">
                <a16:creationId xmlns:a16="http://schemas.microsoft.com/office/drawing/2014/main" id="{D9BEFC30-3930-42CD-AD20-16B183B47260}"/>
              </a:ext>
            </a:extLst>
          </p:cNvPr>
          <p:cNvSpPr txBox="1">
            <a:spLocks/>
          </p:cNvSpPr>
          <p:nvPr/>
        </p:nvSpPr>
        <p:spPr>
          <a:xfrm>
            <a:off x="1567716" y="3340366"/>
            <a:ext cx="695232" cy="488147"/>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n-US" sz="2400" b="1" dirty="0">
                <a:solidFill>
                  <a:srgbClr val="0070C0"/>
                </a:solidFill>
                <a:latin typeface="Bahnschrift" panose="020B0502040204020203" pitchFamily="34" charset="0"/>
              </a:rPr>
              <a:t>P</a:t>
            </a:r>
            <a:r>
              <a:rPr lang="en-US" sz="2400" b="1" baseline="-25000" dirty="0">
                <a:solidFill>
                  <a:srgbClr val="0070C0"/>
                </a:solidFill>
                <a:latin typeface="Bahnschrift" panose="020B0502040204020203" pitchFamily="34" charset="0"/>
              </a:rPr>
              <a:t>ent</a:t>
            </a:r>
            <a:endParaRPr lang="en-US" sz="2400" b="1" dirty="0">
              <a:solidFill>
                <a:srgbClr val="0070C0"/>
              </a:solidFill>
              <a:latin typeface="Bahnschrift" panose="020B0502040204020203" pitchFamily="34" charset="0"/>
            </a:endParaRPr>
          </a:p>
        </p:txBody>
      </p:sp>
      <p:sp>
        <p:nvSpPr>
          <p:cNvPr id="5" name="Marcador de contenido 2">
            <a:extLst>
              <a:ext uri="{FF2B5EF4-FFF2-40B4-BE49-F238E27FC236}">
                <a16:creationId xmlns:a16="http://schemas.microsoft.com/office/drawing/2014/main" id="{738E636D-5101-496D-9450-869A476D04BD}"/>
              </a:ext>
            </a:extLst>
          </p:cNvPr>
          <p:cNvSpPr txBox="1">
            <a:spLocks/>
          </p:cNvSpPr>
          <p:nvPr/>
        </p:nvSpPr>
        <p:spPr>
          <a:xfrm>
            <a:off x="3028239" y="3331445"/>
            <a:ext cx="999937" cy="488147"/>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n-US" sz="2400" b="1" dirty="0" err="1">
                <a:solidFill>
                  <a:srgbClr val="00B050"/>
                </a:solidFill>
                <a:latin typeface="Bahnschrift" panose="020B0502040204020203" pitchFamily="34" charset="0"/>
              </a:rPr>
              <a:t>P</a:t>
            </a:r>
            <a:r>
              <a:rPr lang="en-US" sz="2400" b="1" baseline="-25000" dirty="0" err="1">
                <a:solidFill>
                  <a:srgbClr val="00B050"/>
                </a:solidFill>
                <a:latin typeface="Bahnschrift" panose="020B0502040204020203" pitchFamily="34" charset="0"/>
              </a:rPr>
              <a:t>sal</a:t>
            </a:r>
            <a:endParaRPr lang="en-US" sz="2400" b="1" dirty="0">
              <a:solidFill>
                <a:srgbClr val="00B050"/>
              </a:solidFill>
              <a:latin typeface="Bahnschrift" panose="020B0502040204020203" pitchFamily="34" charset="0"/>
            </a:endParaRPr>
          </a:p>
        </p:txBody>
      </p:sp>
      <p:sp>
        <p:nvSpPr>
          <p:cNvPr id="6" name="Marcador de contenido 2">
            <a:extLst>
              <a:ext uri="{FF2B5EF4-FFF2-40B4-BE49-F238E27FC236}">
                <a16:creationId xmlns:a16="http://schemas.microsoft.com/office/drawing/2014/main" id="{B2D106CB-07AC-4BF0-82AD-90AE72B94073}"/>
              </a:ext>
            </a:extLst>
          </p:cNvPr>
          <p:cNvSpPr txBox="1">
            <a:spLocks/>
          </p:cNvSpPr>
          <p:nvPr/>
        </p:nvSpPr>
        <p:spPr>
          <a:xfrm>
            <a:off x="2324576" y="3828513"/>
            <a:ext cx="1138756" cy="323230"/>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s-AR" sz="1400" b="1" dirty="0">
                <a:solidFill>
                  <a:srgbClr val="C00000"/>
                </a:solidFill>
                <a:latin typeface="Bahnschrift" panose="020B0502040204020203" pitchFamily="34" charset="0"/>
              </a:rPr>
              <a:t>Perdidas</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7959EB8-A5AE-487D-A063-205BA06323E6}"/>
                  </a:ext>
                </a:extLst>
              </p:cNvPr>
              <p:cNvSpPr txBox="1"/>
              <p:nvPr/>
            </p:nvSpPr>
            <p:spPr>
              <a:xfrm>
                <a:off x="4308016" y="3392423"/>
                <a:ext cx="3279184" cy="424732"/>
              </a:xfrm>
              <a:prstGeom prst="rect">
                <a:avLst/>
              </a:prstGeom>
              <a:noFill/>
            </p:spPr>
            <p:txBody>
              <a:bodyPr wrap="square">
                <a:spAutoFit/>
              </a:bodyPr>
              <a:lstStyle/>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𝑒𝑛𝑡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𝑠𝑎𝑙</m:t>
                          </m:r>
                        </m:sub>
                      </m:sSub>
                      <m:r>
                        <a:rPr lang="en-US" b="0" i="1" smtClean="0">
                          <a:latin typeface="Cambria Math" panose="02040503050406030204" pitchFamily="18" charset="0"/>
                        </a:rPr>
                        <m:t>+</m:t>
                      </m:r>
                      <m:r>
                        <a:rPr lang="en-US" b="0" i="1" smtClean="0">
                          <a:latin typeface="Cambria Math" panose="02040503050406030204" pitchFamily="18" charset="0"/>
                        </a:rPr>
                        <m:t>𝑝𝑒𝑟𝑑𝑖𝑑𝑎𝑠</m:t>
                      </m:r>
                    </m:oMath>
                  </m:oMathPara>
                </a14:m>
                <a:endParaRPr lang="en-US" b="0" i="1" dirty="0">
                  <a:latin typeface="Cambria Math" panose="02040503050406030204" pitchFamily="18" charset="0"/>
                </a:endParaRPr>
              </a:p>
            </p:txBody>
          </p:sp>
        </mc:Choice>
        <mc:Fallback xmlns="">
          <p:sp>
            <p:nvSpPr>
              <p:cNvPr id="26" name="CuadroTexto 25">
                <a:extLst>
                  <a:ext uri="{FF2B5EF4-FFF2-40B4-BE49-F238E27FC236}">
                    <a16:creationId xmlns:a16="http://schemas.microsoft.com/office/drawing/2014/main" id="{C7959EB8-A5AE-487D-A063-205BA06323E6}"/>
                  </a:ext>
                </a:extLst>
              </p:cNvPr>
              <p:cNvSpPr txBox="1">
                <a:spLocks noRot="1" noChangeAspect="1" noMove="1" noResize="1" noEditPoints="1" noAdjustHandles="1" noChangeArrowheads="1" noChangeShapeType="1" noTextEdit="1"/>
              </p:cNvSpPr>
              <p:nvPr/>
            </p:nvSpPr>
            <p:spPr>
              <a:xfrm>
                <a:off x="4308016" y="3392423"/>
                <a:ext cx="3279184" cy="424732"/>
              </a:xfrm>
              <a:prstGeom prst="rect">
                <a:avLst/>
              </a:prstGeom>
              <a:blipFill>
                <a:blip r:embed="rId5"/>
                <a:stretch>
                  <a:fillRect b="-714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2F46E78-5BA0-47FD-898B-775A46BC3358}"/>
                  </a:ext>
                </a:extLst>
              </p:cNvPr>
              <p:cNvSpPr txBox="1"/>
              <p:nvPr/>
            </p:nvSpPr>
            <p:spPr>
              <a:xfrm>
                <a:off x="7976781" y="3190156"/>
                <a:ext cx="1543883" cy="770724"/>
              </a:xfrm>
              <a:prstGeom prst="rect">
                <a:avLst/>
              </a:prstGeom>
              <a:noFill/>
            </p:spPr>
            <p:txBody>
              <a:bodyPr wrap="square">
                <a:spAutoFit/>
              </a:bodyPr>
              <a:lstStyle/>
              <a:p>
                <a:pPr marL="0" indent="0" algn="just">
                  <a:lnSpc>
                    <a:spcPct val="12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𝑠𝑎𝑙</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𝑒𝑛𝑡</m:t>
                              </m:r>
                            </m:sub>
                          </m:sSub>
                        </m:den>
                      </m:f>
                    </m:oMath>
                  </m:oMathPara>
                </a14:m>
                <a:endParaRPr lang="en-US" b="0" i="1" dirty="0">
                  <a:latin typeface="Cambria Math" panose="02040503050406030204" pitchFamily="18" charset="0"/>
                </a:endParaRPr>
              </a:p>
            </p:txBody>
          </p:sp>
        </mc:Choice>
        <mc:Fallback xmlns="">
          <p:sp>
            <p:nvSpPr>
              <p:cNvPr id="8" name="CuadroTexto 7">
                <a:extLst>
                  <a:ext uri="{FF2B5EF4-FFF2-40B4-BE49-F238E27FC236}">
                    <a16:creationId xmlns:a16="http://schemas.microsoft.com/office/drawing/2014/main" id="{52F46E78-5BA0-47FD-898B-775A46BC3358}"/>
                  </a:ext>
                </a:extLst>
              </p:cNvPr>
              <p:cNvSpPr txBox="1">
                <a:spLocks noRot="1" noChangeAspect="1" noMove="1" noResize="1" noEditPoints="1" noAdjustHandles="1" noChangeArrowheads="1" noChangeShapeType="1" noTextEdit="1"/>
              </p:cNvSpPr>
              <p:nvPr/>
            </p:nvSpPr>
            <p:spPr>
              <a:xfrm>
                <a:off x="7976781" y="3190156"/>
                <a:ext cx="1543883" cy="770724"/>
              </a:xfrm>
              <a:prstGeom prst="rect">
                <a:avLst/>
              </a:prstGeom>
              <a:blipFill>
                <a:blip r:embed="rId6"/>
                <a:stretch>
                  <a:fillRect/>
                </a:stretch>
              </a:blipFill>
            </p:spPr>
            <p:txBody>
              <a:bodyPr/>
              <a:lstStyle/>
              <a:p>
                <a:r>
                  <a:rPr lang="es-AR">
                    <a:noFill/>
                  </a:rPr>
                  <a:t> </a:t>
                </a:r>
              </a:p>
            </p:txBody>
          </p:sp>
        </mc:Fallback>
      </mc:AlternateContent>
      <p:pic>
        <p:nvPicPr>
          <p:cNvPr id="30" name="Imagen 29" descr="Imagen que contiene cuchillo, dibujo&#10;&#10;Descripción generada automáticamente">
            <a:extLst>
              <a:ext uri="{FF2B5EF4-FFF2-40B4-BE49-F238E27FC236}">
                <a16:creationId xmlns:a16="http://schemas.microsoft.com/office/drawing/2014/main" id="{FE742A33-6EB4-4502-9D75-0EE709A943C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43943" y="3553225"/>
            <a:ext cx="593638" cy="275288"/>
          </a:xfrm>
          <a:prstGeom prst="rect">
            <a:avLst/>
          </a:prstGeom>
        </p:spPr>
      </p:pic>
      <p:pic>
        <p:nvPicPr>
          <p:cNvPr id="32" name="Imagen 31" descr="Imagen que contiene cuchillo, dibujo&#10;&#10;Descripción generada automáticamente">
            <a:extLst>
              <a:ext uri="{FF2B5EF4-FFF2-40B4-BE49-F238E27FC236}">
                <a16:creationId xmlns:a16="http://schemas.microsoft.com/office/drawing/2014/main" id="{76623ADD-DB7B-4246-ABA4-1CA99088402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40642" y="3554005"/>
            <a:ext cx="593638" cy="275288"/>
          </a:xfrm>
          <a:prstGeom prst="rect">
            <a:avLst/>
          </a:prstGeom>
        </p:spPr>
      </p:pic>
      <mc:AlternateContent xmlns:mc="http://schemas.openxmlformats.org/markup-compatibility/2006" xmlns:a14="http://schemas.microsoft.com/office/drawing/2010/main">
        <mc:Choice Requires="a14">
          <p:sp>
            <p:nvSpPr>
              <p:cNvPr id="33" name="Marcador de contenido 2">
                <a:extLst>
                  <a:ext uri="{FF2B5EF4-FFF2-40B4-BE49-F238E27FC236}">
                    <a16:creationId xmlns:a16="http://schemas.microsoft.com/office/drawing/2014/main" id="{9FD7CF5D-C20E-48D5-92D2-6B015FD5DD89}"/>
                  </a:ext>
                </a:extLst>
              </p:cNvPr>
              <p:cNvSpPr txBox="1">
                <a:spLocks/>
              </p:cNvSpPr>
              <p:nvPr/>
            </p:nvSpPr>
            <p:spPr>
              <a:xfrm>
                <a:off x="251841" y="4293498"/>
                <a:ext cx="11055545" cy="2413225"/>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20000"/>
                  </a:lnSpc>
                  <a:buFontTx/>
                  <a:buChar char="-"/>
                </a:pPr>
                <a:r>
                  <a:rPr lang="es-AR" sz="1400" dirty="0">
                    <a:latin typeface="Bahnschrift" panose="020B0502040204020203" pitchFamily="34" charset="0"/>
                  </a:rPr>
                  <a:t>En la realidad, los sistemas articulados actuales son muy eficientes, con perdidas en el orden del 10%. Para simplificar el análisis, estas perdidas se tomaran iguales a cero. Se puede definir entonces:</a:t>
                </a: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𝑒𝑛𝑡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𝑠𝑎𝑙</m:t>
                          </m:r>
                        </m:sub>
                      </m:sSub>
                    </m:oMath>
                  </m:oMathPara>
                </a14:m>
                <a:endParaRPr lang="es-AR" dirty="0">
                  <a:latin typeface="Bahnschrift" panose="020B0502040204020203"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𝑃</m:t>
                          </m:r>
                        </m:e>
                        <m:sub>
                          <m:r>
                            <a:rPr lang="en-US" b="0" i="1" smtClean="0">
                              <a:latin typeface="Cambria Math" panose="02040503050406030204" pitchFamily="18" charset="0"/>
                            </a:rPr>
                            <m:t>𝑒𝑛𝑡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𝑒𝑛𝑡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𝑒𝑛𝑡</m:t>
                          </m:r>
                        </m:sub>
                      </m:sSub>
                      <m:r>
                        <a:rPr lang="en-US" b="0" i="1" smtClean="0">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b="0" i="1" smtClean="0">
                              <a:latin typeface="Cambria Math" panose="02040503050406030204" pitchFamily="18" charset="0"/>
                            </a:rPr>
                            <m:t>𝑠𝑎𝑙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𝑠𝑎𝑙</m:t>
                          </m:r>
                        </m:sub>
                      </m:sSub>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𝑠𝑎𝑙</m:t>
                          </m:r>
                        </m:sub>
                      </m:sSub>
                    </m:oMath>
                  </m:oMathPara>
                </a14:m>
                <a:endParaRPr lang="es-AR" dirty="0">
                  <a:latin typeface="Bahnschrift" panose="020B0502040204020203"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𝑒𝑛𝑡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𝑒𝑛𝑡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𝑠𝑎𝑙</m:t>
                          </m:r>
                        </m:sub>
                      </m:sSub>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𝑠𝑎𝑙</m:t>
                          </m:r>
                        </m:sub>
                      </m:sSub>
                    </m:oMath>
                  </m:oMathPara>
                </a14:m>
                <a:endParaRPr lang="es-AR" dirty="0">
                  <a:latin typeface="Bahnschrift" panose="020B0502040204020203"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𝑒𝑛𝑡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𝑠𝑎𝑙</m:t>
                              </m:r>
                            </m:sub>
                          </m:sSub>
                        </m:den>
                      </m:f>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𝜔</m:t>
                              </m:r>
                            </m:e>
                            <m:sub>
                              <m:r>
                                <a:rPr lang="en-US" i="1">
                                  <a:latin typeface="Cambria Math" panose="02040503050406030204" pitchFamily="18" charset="0"/>
                                </a:rPr>
                                <m:t>𝑠𝑎𝑙</m:t>
                              </m:r>
                            </m:sub>
                          </m:sSub>
                        </m:num>
                        <m:den>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𝑒𝑛𝑡</m:t>
                              </m:r>
                            </m:sub>
                          </m:sSub>
                        </m:den>
                      </m:f>
                    </m:oMath>
                  </m:oMathPara>
                </a14:m>
                <a:endParaRPr lang="es-AR" dirty="0">
                  <a:latin typeface="Bahnschrift" panose="020B0502040204020203" pitchFamily="34" charset="0"/>
                </a:endParaRPr>
              </a:p>
            </p:txBody>
          </p:sp>
        </mc:Choice>
        <mc:Fallback xmlns="">
          <p:sp>
            <p:nvSpPr>
              <p:cNvPr id="33" name="Marcador de contenido 2">
                <a:extLst>
                  <a:ext uri="{FF2B5EF4-FFF2-40B4-BE49-F238E27FC236}">
                    <a16:creationId xmlns:a16="http://schemas.microsoft.com/office/drawing/2014/main" id="{9FD7CF5D-C20E-48D5-92D2-6B015FD5DD89}"/>
                  </a:ext>
                </a:extLst>
              </p:cNvPr>
              <p:cNvSpPr txBox="1">
                <a:spLocks noRot="1" noChangeAspect="1" noMove="1" noResize="1" noEditPoints="1" noAdjustHandles="1" noChangeArrowheads="1" noChangeShapeType="1" noTextEdit="1"/>
              </p:cNvSpPr>
              <p:nvPr/>
            </p:nvSpPr>
            <p:spPr>
              <a:xfrm>
                <a:off x="251841" y="4293498"/>
                <a:ext cx="11055545" cy="2413225"/>
              </a:xfrm>
              <a:prstGeom prst="rect">
                <a:avLst/>
              </a:prstGeom>
              <a:blipFill>
                <a:blip r:embed="rId8"/>
                <a:stretch>
                  <a:fillRect r="-110"/>
                </a:stretch>
              </a:blipFill>
            </p:spPr>
            <p:txBody>
              <a:bodyPr/>
              <a:lstStyle/>
              <a:p>
                <a:r>
                  <a:rPr lang="es-AR">
                    <a:noFill/>
                  </a:rPr>
                  <a:t> </a:t>
                </a:r>
              </a:p>
            </p:txBody>
          </p:sp>
        </mc:Fallback>
      </mc:AlternateContent>
      <p:sp>
        <p:nvSpPr>
          <p:cNvPr id="3" name="Marcador de contenido 2">
            <a:extLst>
              <a:ext uri="{FF2B5EF4-FFF2-40B4-BE49-F238E27FC236}">
                <a16:creationId xmlns:a16="http://schemas.microsoft.com/office/drawing/2014/main" id="{A1D4444B-2E55-4CF2-A047-5D1E647AC9F2}"/>
              </a:ext>
            </a:extLst>
          </p:cNvPr>
          <p:cNvSpPr txBox="1">
            <a:spLocks/>
          </p:cNvSpPr>
          <p:nvPr/>
        </p:nvSpPr>
        <p:spPr>
          <a:xfrm>
            <a:off x="9308757" y="3546995"/>
            <a:ext cx="1295573" cy="466124"/>
          </a:xfrm>
          <a:prstGeom prst="rect">
            <a:avLst/>
          </a:prstGeom>
        </p:spPr>
        <p:txBody>
          <a:bodyPr vert="horz" lIns="91440" tIns="45720" rIns="91440" bIns="45720" rtlCol="0">
            <a:normAutofit fontScale="62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EFICIENCIA</a:t>
            </a:r>
          </a:p>
        </p:txBody>
      </p:sp>
    </p:spTree>
    <p:extLst>
      <p:ext uri="{BB962C8B-B14F-4D97-AF65-F5344CB8AC3E}">
        <p14:creationId xmlns:p14="http://schemas.microsoft.com/office/powerpoint/2010/main" val="290330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5" grpId="0"/>
      <p:bldP spid="6" grpId="0"/>
      <p:bldP spid="26" grpId="0"/>
      <p:bldP spid="8" grpId="0"/>
      <p:bldP spid="33"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3289958"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3069948"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VENTAJA MECÁNICA</a:t>
            </a:r>
          </a:p>
        </p:txBody>
      </p:sp>
      <p:sp>
        <p:nvSpPr>
          <p:cNvPr id="25" name="Marcador de contenido 2">
            <a:extLst>
              <a:ext uri="{FF2B5EF4-FFF2-40B4-BE49-F238E27FC236}">
                <a16:creationId xmlns:a16="http://schemas.microsoft.com/office/drawing/2014/main" id="{AFB18A2C-0660-42D7-BFF1-6CA024A12E0F}"/>
              </a:ext>
            </a:extLst>
          </p:cNvPr>
          <p:cNvSpPr>
            <a:spLocks noGrp="1"/>
          </p:cNvSpPr>
          <p:nvPr>
            <p:ph idx="1"/>
          </p:nvPr>
        </p:nvSpPr>
        <p:spPr>
          <a:xfrm>
            <a:off x="251841" y="1389765"/>
            <a:ext cx="11055545" cy="323230"/>
          </a:xfrm>
        </p:spPr>
        <p:txBody>
          <a:bodyPr wrap="square">
            <a:spAutoFit/>
          </a:bodyPr>
          <a:lstStyle/>
          <a:p>
            <a:pPr algn="just">
              <a:lnSpc>
                <a:spcPct val="120000"/>
              </a:lnSpc>
              <a:buFontTx/>
              <a:buChar char="-"/>
            </a:pPr>
            <a:r>
              <a:rPr lang="es-AR" sz="1400" dirty="0">
                <a:latin typeface="Bahnschrift" panose="020B0502040204020203" pitchFamily="34" charset="0"/>
              </a:rPr>
              <a:t>Se define entonces </a:t>
            </a:r>
            <a:r>
              <a:rPr lang="es-AR" sz="1400" b="1" dirty="0">
                <a:solidFill>
                  <a:srgbClr val="FFC000"/>
                </a:solidFill>
                <a:latin typeface="Bahnschrift" panose="020B0502040204020203" pitchFamily="34" charset="0"/>
              </a:rPr>
              <a:t>VENTAJA MECANICA MV </a:t>
            </a:r>
            <a:r>
              <a:rPr lang="es-AR" sz="1400" dirty="0">
                <a:latin typeface="Bahnschrift" panose="020B0502040204020203" pitchFamily="34" charset="0"/>
              </a:rPr>
              <a:t>como la relación entre la </a:t>
            </a:r>
            <a:r>
              <a:rPr lang="es-AR" sz="1400" dirty="0">
                <a:highlight>
                  <a:srgbClr val="FFC000"/>
                </a:highlight>
                <a:latin typeface="Bahnschrift" panose="020B0502040204020203" pitchFamily="34" charset="0"/>
              </a:rPr>
              <a:t>Torque de Salida en relación a la Torque de Entrada</a:t>
            </a:r>
            <a:r>
              <a:rPr lang="es-AR" sz="1400" dirty="0">
                <a:latin typeface="Bahnschrift" panose="020B0502040204020203" pitchFamily="34" charset="0"/>
              </a:rPr>
              <a:t>.</a:t>
            </a:r>
          </a:p>
        </p:txBody>
      </p:sp>
      <p:pic>
        <p:nvPicPr>
          <p:cNvPr id="3" name="Imagen 2">
            <a:extLst>
              <a:ext uri="{FF2B5EF4-FFF2-40B4-BE49-F238E27FC236}">
                <a16:creationId xmlns:a16="http://schemas.microsoft.com/office/drawing/2014/main" id="{70B984B9-28FB-468D-BBFB-1E16F4156505}"/>
              </a:ext>
            </a:extLst>
          </p:cNvPr>
          <p:cNvPicPr>
            <a:picLocks noChangeAspect="1"/>
          </p:cNvPicPr>
          <p:nvPr/>
        </p:nvPicPr>
        <p:blipFill>
          <a:blip r:embed="rId2"/>
          <a:stretch>
            <a:fillRect/>
          </a:stretch>
        </p:blipFill>
        <p:spPr>
          <a:xfrm>
            <a:off x="6490702" y="2846783"/>
            <a:ext cx="4689769" cy="2044402"/>
          </a:xfrm>
          <a:prstGeom prst="rect">
            <a:avLst/>
          </a:prstGeom>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CF029B7-66F5-4BA6-A97C-E7EA8930AB35}"/>
                  </a:ext>
                </a:extLst>
              </p:cNvPr>
              <p:cNvSpPr txBox="1"/>
              <p:nvPr/>
            </p:nvSpPr>
            <p:spPr>
              <a:xfrm>
                <a:off x="2270466" y="1914656"/>
                <a:ext cx="1316115" cy="6576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𝑠𝑎𝑙</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𝑒𝑛𝑡</m:t>
                              </m:r>
                            </m:sub>
                          </m:sSub>
                        </m:den>
                      </m:f>
                    </m:oMath>
                  </m:oMathPara>
                </a14:m>
                <a:endParaRPr lang="es-AR" dirty="0"/>
              </a:p>
            </p:txBody>
          </p:sp>
        </mc:Choice>
        <mc:Fallback xmlns="">
          <p:sp>
            <p:nvSpPr>
              <p:cNvPr id="10" name="CuadroTexto 9">
                <a:extLst>
                  <a:ext uri="{FF2B5EF4-FFF2-40B4-BE49-F238E27FC236}">
                    <a16:creationId xmlns:a16="http://schemas.microsoft.com/office/drawing/2014/main" id="{9CF029B7-66F5-4BA6-A97C-E7EA8930AB35}"/>
                  </a:ext>
                </a:extLst>
              </p:cNvPr>
              <p:cNvSpPr txBox="1">
                <a:spLocks noRot="1" noChangeAspect="1" noMove="1" noResize="1" noEditPoints="1" noAdjustHandles="1" noChangeArrowheads="1" noChangeShapeType="1" noTextEdit="1"/>
              </p:cNvSpPr>
              <p:nvPr/>
            </p:nvSpPr>
            <p:spPr>
              <a:xfrm>
                <a:off x="2270466" y="1914656"/>
                <a:ext cx="1316115" cy="657681"/>
              </a:xfrm>
              <a:prstGeom prst="rect">
                <a:avLst/>
              </a:prstGeom>
              <a:blipFill>
                <a:blip r:embed="rId3"/>
                <a:stretch>
                  <a:fillRect/>
                </a:stretch>
              </a:blipFill>
            </p:spPr>
            <p:txBody>
              <a:bodyPr/>
              <a:lstStyle/>
              <a:p>
                <a:r>
                  <a:rPr lang="es-AR">
                    <a:noFill/>
                  </a:rPr>
                  <a:t> </a:t>
                </a:r>
              </a:p>
            </p:txBody>
          </p:sp>
        </mc:Fallback>
      </mc:AlternateContent>
      <p:pic>
        <p:nvPicPr>
          <p:cNvPr id="11" name="Imagen 10" descr="Imagen que contiene cuchillo, dibujo&#10;&#10;Descripción generada automáticamente">
            <a:extLst>
              <a:ext uri="{FF2B5EF4-FFF2-40B4-BE49-F238E27FC236}">
                <a16:creationId xmlns:a16="http://schemas.microsoft.com/office/drawing/2014/main" id="{1567490D-4289-47AD-826C-F6CD2B7041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1831" y="2105852"/>
            <a:ext cx="593638" cy="275288"/>
          </a:xfrm>
          <a:prstGeom prst="rect">
            <a:avLst/>
          </a:prstGeom>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C18E755-E496-4AED-A093-6D34F016CCD6}"/>
                  </a:ext>
                </a:extLst>
              </p:cNvPr>
              <p:cNvSpPr txBox="1"/>
              <p:nvPr/>
            </p:nvSpPr>
            <p:spPr>
              <a:xfrm>
                <a:off x="4510719" y="1914655"/>
                <a:ext cx="1280604" cy="6135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𝑒𝑛𝑡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𝑠𝑎𝑙</m:t>
                              </m:r>
                            </m:sub>
                          </m:sSub>
                        </m:den>
                      </m:f>
                    </m:oMath>
                  </m:oMathPara>
                </a14:m>
                <a:endParaRPr lang="es-AR" dirty="0"/>
              </a:p>
            </p:txBody>
          </p:sp>
        </mc:Choice>
        <mc:Fallback xmlns="">
          <p:sp>
            <p:nvSpPr>
              <p:cNvPr id="13" name="CuadroTexto 12">
                <a:extLst>
                  <a:ext uri="{FF2B5EF4-FFF2-40B4-BE49-F238E27FC236}">
                    <a16:creationId xmlns:a16="http://schemas.microsoft.com/office/drawing/2014/main" id="{AC18E755-E496-4AED-A093-6D34F016CCD6}"/>
                  </a:ext>
                </a:extLst>
              </p:cNvPr>
              <p:cNvSpPr txBox="1">
                <a:spLocks noRot="1" noChangeAspect="1" noMove="1" noResize="1" noEditPoints="1" noAdjustHandles="1" noChangeArrowheads="1" noChangeShapeType="1" noTextEdit="1"/>
              </p:cNvSpPr>
              <p:nvPr/>
            </p:nvSpPr>
            <p:spPr>
              <a:xfrm>
                <a:off x="4510719" y="1914655"/>
                <a:ext cx="1280604" cy="613501"/>
              </a:xfrm>
              <a:prstGeom prst="rect">
                <a:avLst/>
              </a:prstGeom>
              <a:blipFill>
                <a:blip r:embed="rId5"/>
                <a:stretch>
                  <a:fillRect/>
                </a:stretch>
              </a:blipFill>
            </p:spPr>
            <p:txBody>
              <a:bodyPr/>
              <a:lstStyle/>
              <a:p>
                <a:r>
                  <a:rPr lang="es-AR">
                    <a:noFill/>
                  </a:rPr>
                  <a:t> </a:t>
                </a:r>
              </a:p>
            </p:txBody>
          </p:sp>
        </mc:Fallback>
      </mc:AlternateContent>
      <p:pic>
        <p:nvPicPr>
          <p:cNvPr id="14" name="Imagen 13" descr="Imagen que contiene cuchillo, dibujo&#10;&#10;Descripción generada automáticamente">
            <a:extLst>
              <a:ext uri="{FF2B5EF4-FFF2-40B4-BE49-F238E27FC236}">
                <a16:creationId xmlns:a16="http://schemas.microsoft.com/office/drawing/2014/main" id="{ADCEE26A-8308-4AD7-90C9-E5A7A6FD8C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56573" y="2105852"/>
            <a:ext cx="593638" cy="275288"/>
          </a:xfrm>
          <a:prstGeom prst="rect">
            <a:avLst/>
          </a:prstGeom>
        </p:spPr>
      </p:pic>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0AF32F8-8D57-4B78-9DB6-626019242FF3}"/>
                  </a:ext>
                </a:extLst>
              </p:cNvPr>
              <p:cNvSpPr txBox="1"/>
              <p:nvPr/>
            </p:nvSpPr>
            <p:spPr>
              <a:xfrm>
                <a:off x="6712851" y="1888087"/>
                <a:ext cx="1752042" cy="6819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𝑀𝑉</m:t>
                      </m:r>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4</m:t>
                              </m:r>
                            </m:sub>
                          </m:sSub>
                          <m:r>
                            <a:rPr lang="en-US" i="1">
                              <a:latin typeface="Cambria Math" panose="02040503050406030204" pitchFamily="18" charset="0"/>
                            </a:rPr>
                            <m:t>𝐵</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𝜇</m:t>
                              </m:r>
                            </m:e>
                          </m:func>
                        </m:num>
                        <m:den>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2</m:t>
                              </m:r>
                            </m:sub>
                          </m:sSub>
                          <m:r>
                            <a:rPr lang="en-US" i="1">
                              <a:latin typeface="Cambria Math" panose="02040503050406030204" pitchFamily="18" charset="0"/>
                            </a:rPr>
                            <m:t>𝐴</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𝜈</m:t>
                              </m:r>
                            </m:e>
                          </m:func>
                        </m:den>
                      </m:f>
                    </m:oMath>
                  </m:oMathPara>
                </a14:m>
                <a:endParaRPr lang="es-AR" dirty="0"/>
              </a:p>
            </p:txBody>
          </p:sp>
        </mc:Choice>
        <mc:Fallback xmlns="">
          <p:sp>
            <p:nvSpPr>
              <p:cNvPr id="5" name="CuadroTexto 4">
                <a:extLst>
                  <a:ext uri="{FF2B5EF4-FFF2-40B4-BE49-F238E27FC236}">
                    <a16:creationId xmlns:a16="http://schemas.microsoft.com/office/drawing/2014/main" id="{B0AF32F8-8D57-4B78-9DB6-626019242FF3}"/>
                  </a:ext>
                </a:extLst>
              </p:cNvPr>
              <p:cNvSpPr txBox="1">
                <a:spLocks noRot="1" noChangeAspect="1" noMove="1" noResize="1" noEditPoints="1" noAdjustHandles="1" noChangeArrowheads="1" noChangeShapeType="1" noTextEdit="1"/>
              </p:cNvSpPr>
              <p:nvPr/>
            </p:nvSpPr>
            <p:spPr>
              <a:xfrm>
                <a:off x="6712851" y="1888087"/>
                <a:ext cx="1752042" cy="681918"/>
              </a:xfrm>
              <a:prstGeom prst="rect">
                <a:avLst/>
              </a:prstGeom>
              <a:blipFill>
                <a:blip r:embed="rId6"/>
                <a:stretch>
                  <a:fillRect/>
                </a:stretch>
              </a:blipFill>
            </p:spPr>
            <p:txBody>
              <a:bodyPr/>
              <a:lstStyle/>
              <a:p>
                <a:r>
                  <a:rPr lang="es-AR">
                    <a:noFill/>
                  </a:rPr>
                  <a:t> </a:t>
                </a:r>
              </a:p>
            </p:txBody>
          </p:sp>
        </mc:Fallback>
      </mc:AlternateContent>
      <p:sp>
        <p:nvSpPr>
          <p:cNvPr id="17" name="Marcador de contenido 2">
            <a:extLst>
              <a:ext uri="{FF2B5EF4-FFF2-40B4-BE49-F238E27FC236}">
                <a16:creationId xmlns:a16="http://schemas.microsoft.com/office/drawing/2014/main" id="{F1E9B773-81D3-464F-94D2-F642F41586A5}"/>
              </a:ext>
            </a:extLst>
          </p:cNvPr>
          <p:cNvSpPr txBox="1">
            <a:spLocks/>
          </p:cNvSpPr>
          <p:nvPr/>
        </p:nvSpPr>
        <p:spPr>
          <a:xfrm>
            <a:off x="257524" y="3791772"/>
            <a:ext cx="1488605" cy="422167"/>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s-AR" sz="2000" b="1" dirty="0">
                <a:solidFill>
                  <a:srgbClr val="FFC000"/>
                </a:solidFill>
                <a:latin typeface="Bahnschrift" panose="020B0502040204020203" pitchFamily="34" charset="0"/>
              </a:rPr>
              <a:t>ANALISIS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9868615-F0AC-457C-8653-C8431090E1F0}"/>
                  </a:ext>
                </a:extLst>
              </p:cNvPr>
              <p:cNvSpPr txBox="1"/>
              <p:nvPr/>
            </p:nvSpPr>
            <p:spPr>
              <a:xfrm>
                <a:off x="1617042" y="3503843"/>
                <a:ext cx="289367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𝑆𝑖</m:t>
                      </m:r>
                      <m:r>
                        <a:rPr lang="en-US" sz="2800" b="0" i="1" smtClean="0">
                          <a:latin typeface="Cambria Math" panose="02040503050406030204" pitchFamily="18" charset="0"/>
                          <a:ea typeface="Cambria Math" panose="02040503050406030204" pitchFamily="18" charset="0"/>
                        </a:rPr>
                        <m:t> </m:t>
                      </m:r>
                      <m:r>
                        <a:rPr lang="es-AR" sz="2800" i="1" smtClean="0">
                          <a:latin typeface="Cambria Math" panose="02040503050406030204" pitchFamily="18" charset="0"/>
                          <a:ea typeface="Cambria Math" panose="02040503050406030204" pitchFamily="18" charset="0"/>
                        </a:rPr>
                        <m:t>𝜇</m:t>
                      </m:r>
                      <m:r>
                        <a:rPr lang="en-US" sz="2800" b="0" i="1" smtClean="0">
                          <a:latin typeface="Cambria Math" panose="02040503050406030204" pitchFamily="18" charset="0"/>
                          <a:ea typeface="Cambria Math" panose="02040503050406030204" pitchFamily="18" charset="0"/>
                        </a:rPr>
                        <m:t>→0, </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𝑇</m:t>
                          </m:r>
                        </m:e>
                        <m:sub>
                          <m:r>
                            <a:rPr lang="en-US" sz="2800" b="0" i="1" smtClean="0">
                              <a:latin typeface="Cambria Math" panose="02040503050406030204" pitchFamily="18" charset="0"/>
                              <a:ea typeface="Cambria Math" panose="02040503050406030204" pitchFamily="18" charset="0"/>
                            </a:rPr>
                            <m:t>𝑠𝑎𝑙</m:t>
                          </m:r>
                        </m:sub>
                      </m:sSub>
                      <m:r>
                        <a:rPr lang="en-US" sz="2800" b="0" i="1" smtClean="0">
                          <a:latin typeface="Cambria Math" panose="02040503050406030204" pitchFamily="18" charset="0"/>
                          <a:ea typeface="Cambria Math" panose="02040503050406030204" pitchFamily="18" charset="0"/>
                        </a:rPr>
                        <m:t>→0 </m:t>
                      </m:r>
                    </m:oMath>
                  </m:oMathPara>
                </a14:m>
                <a:endParaRPr lang="es-AR" sz="2800" dirty="0"/>
              </a:p>
            </p:txBody>
          </p:sp>
        </mc:Choice>
        <mc:Fallback xmlns="">
          <p:sp>
            <p:nvSpPr>
              <p:cNvPr id="6" name="CuadroTexto 5">
                <a:extLst>
                  <a:ext uri="{FF2B5EF4-FFF2-40B4-BE49-F238E27FC236}">
                    <a16:creationId xmlns:a16="http://schemas.microsoft.com/office/drawing/2014/main" id="{F9868615-F0AC-457C-8653-C8431090E1F0}"/>
                  </a:ext>
                </a:extLst>
              </p:cNvPr>
              <p:cNvSpPr txBox="1">
                <a:spLocks noRot="1" noChangeAspect="1" noMove="1" noResize="1" noEditPoints="1" noAdjustHandles="1" noChangeArrowheads="1" noChangeShapeType="1" noTextEdit="1"/>
              </p:cNvSpPr>
              <p:nvPr/>
            </p:nvSpPr>
            <p:spPr>
              <a:xfrm>
                <a:off x="1617042" y="3503843"/>
                <a:ext cx="2893677" cy="430887"/>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5F9EC771-9B52-4CB2-83D7-9DAF0B1E1844}"/>
                  </a:ext>
                </a:extLst>
              </p:cNvPr>
              <p:cNvSpPr txBox="1"/>
              <p:nvPr/>
            </p:nvSpPr>
            <p:spPr>
              <a:xfrm>
                <a:off x="1610991" y="4065043"/>
                <a:ext cx="298754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𝑆𝑖</m:t>
                      </m:r>
                      <m:r>
                        <a:rPr lang="en-US" sz="2800" b="0" i="1" smtClean="0">
                          <a:latin typeface="Cambria Math" panose="02040503050406030204" pitchFamily="18" charset="0"/>
                          <a:ea typeface="Cambria Math" panose="02040503050406030204" pitchFamily="18" charset="0"/>
                        </a:rPr>
                        <m:t> </m:t>
                      </m:r>
                      <m:r>
                        <a:rPr lang="es-AR" sz="2800" i="1" smtClean="0">
                          <a:latin typeface="Cambria Math" panose="02040503050406030204" pitchFamily="18" charset="0"/>
                          <a:ea typeface="Cambria Math" panose="02040503050406030204" pitchFamily="18" charset="0"/>
                        </a:rPr>
                        <m:t>𝜈</m:t>
                      </m:r>
                      <m:r>
                        <a:rPr lang="en-US" sz="2800" b="0" i="1" smtClean="0">
                          <a:latin typeface="Cambria Math" panose="02040503050406030204" pitchFamily="18" charset="0"/>
                          <a:ea typeface="Cambria Math" panose="02040503050406030204" pitchFamily="18" charset="0"/>
                        </a:rPr>
                        <m:t>→0, </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𝑇</m:t>
                          </m:r>
                        </m:e>
                        <m:sub>
                          <m:r>
                            <a:rPr lang="en-US" sz="2800" b="0" i="1" smtClean="0">
                              <a:latin typeface="Cambria Math" panose="02040503050406030204" pitchFamily="18" charset="0"/>
                              <a:ea typeface="Cambria Math" panose="02040503050406030204" pitchFamily="18" charset="0"/>
                            </a:rPr>
                            <m:t>𝑠𝑎𝑙</m:t>
                          </m:r>
                        </m:sub>
                      </m:sSub>
                      <m:r>
                        <a:rPr lang="en-US" sz="2800" b="0" i="1" smtClean="0">
                          <a:latin typeface="Cambria Math" panose="02040503050406030204" pitchFamily="18" charset="0"/>
                          <a:ea typeface="Cambria Math" panose="02040503050406030204" pitchFamily="18" charset="0"/>
                        </a:rPr>
                        <m:t>→∞ </m:t>
                      </m:r>
                    </m:oMath>
                  </m:oMathPara>
                </a14:m>
                <a:endParaRPr lang="es-AR" sz="2800" dirty="0"/>
              </a:p>
            </p:txBody>
          </p:sp>
        </mc:Choice>
        <mc:Fallback xmlns="">
          <p:sp>
            <p:nvSpPr>
              <p:cNvPr id="7" name="CuadroTexto 6">
                <a:extLst>
                  <a:ext uri="{FF2B5EF4-FFF2-40B4-BE49-F238E27FC236}">
                    <a16:creationId xmlns:a16="http://schemas.microsoft.com/office/drawing/2014/main" id="{5F9EC771-9B52-4CB2-83D7-9DAF0B1E1844}"/>
                  </a:ext>
                </a:extLst>
              </p:cNvPr>
              <p:cNvSpPr txBox="1">
                <a:spLocks noRot="1" noChangeAspect="1" noMove="1" noResize="1" noEditPoints="1" noAdjustHandles="1" noChangeArrowheads="1" noChangeShapeType="1" noTextEdit="1"/>
              </p:cNvSpPr>
              <p:nvPr/>
            </p:nvSpPr>
            <p:spPr>
              <a:xfrm>
                <a:off x="1610991" y="4065043"/>
                <a:ext cx="2987548" cy="430887"/>
              </a:xfrm>
              <a:prstGeom prst="rect">
                <a:avLst/>
              </a:prstGeom>
              <a:blipFill>
                <a:blip r:embed="rId8"/>
                <a:stretch>
                  <a:fillRect/>
                </a:stretch>
              </a:blipFill>
            </p:spPr>
            <p:txBody>
              <a:bodyPr/>
              <a:lstStyle/>
              <a:p>
                <a:r>
                  <a:rPr lang="es-AR">
                    <a:noFill/>
                  </a:rPr>
                  <a:t> </a:t>
                </a:r>
              </a:p>
            </p:txBody>
          </p:sp>
        </mc:Fallback>
      </mc:AlternateContent>
      <p:sp>
        <p:nvSpPr>
          <p:cNvPr id="26" name="Marcador de contenido 2">
            <a:extLst>
              <a:ext uri="{FF2B5EF4-FFF2-40B4-BE49-F238E27FC236}">
                <a16:creationId xmlns:a16="http://schemas.microsoft.com/office/drawing/2014/main" id="{F329DFD7-D1C3-474A-8DB0-5B6F6E07029F}"/>
              </a:ext>
            </a:extLst>
          </p:cNvPr>
          <p:cNvSpPr txBox="1">
            <a:spLocks/>
          </p:cNvSpPr>
          <p:nvPr/>
        </p:nvSpPr>
        <p:spPr>
          <a:xfrm>
            <a:off x="4510719" y="3557671"/>
            <a:ext cx="2469689" cy="323230"/>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s-AR" sz="1400" b="1" dirty="0">
                <a:latin typeface="Bahnschrift" panose="020B0502040204020203" pitchFamily="34" charset="0"/>
              </a:rPr>
              <a:t>Para T</a:t>
            </a:r>
            <a:r>
              <a:rPr lang="es-AR" sz="1400" b="1" baseline="-25000" dirty="0">
                <a:latin typeface="Bahnschrift" panose="020B0502040204020203" pitchFamily="34" charset="0"/>
              </a:rPr>
              <a:t>ENT  </a:t>
            </a:r>
            <a:r>
              <a:rPr lang="es-AR" sz="1400" b="1" dirty="0">
                <a:latin typeface="Bahnschrift" panose="020B0502040204020203" pitchFamily="34" charset="0"/>
              </a:rPr>
              <a:t>distinto de cero </a:t>
            </a:r>
          </a:p>
        </p:txBody>
      </p:sp>
      <p:sp>
        <p:nvSpPr>
          <p:cNvPr id="9" name="Marcador de contenido 2">
            <a:extLst>
              <a:ext uri="{FF2B5EF4-FFF2-40B4-BE49-F238E27FC236}">
                <a16:creationId xmlns:a16="http://schemas.microsoft.com/office/drawing/2014/main" id="{B2F993F6-5369-49B6-BC31-9A7841CEFC2F}"/>
              </a:ext>
            </a:extLst>
          </p:cNvPr>
          <p:cNvSpPr txBox="1">
            <a:spLocks/>
          </p:cNvSpPr>
          <p:nvPr/>
        </p:nvSpPr>
        <p:spPr>
          <a:xfrm>
            <a:off x="4510719" y="4116384"/>
            <a:ext cx="2469689" cy="323230"/>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20000"/>
              </a:lnSpc>
              <a:buNone/>
            </a:pPr>
            <a:r>
              <a:rPr lang="es-AR" sz="1400" b="1" dirty="0">
                <a:latin typeface="Bahnschrift" panose="020B0502040204020203" pitchFamily="34" charset="0"/>
              </a:rPr>
              <a:t>Para T</a:t>
            </a:r>
            <a:r>
              <a:rPr lang="es-AR" sz="1400" b="1" baseline="-25000" dirty="0">
                <a:latin typeface="Bahnschrift" panose="020B0502040204020203" pitchFamily="34" charset="0"/>
              </a:rPr>
              <a:t>ENT  </a:t>
            </a:r>
            <a:r>
              <a:rPr lang="es-AR" sz="1400" b="1" dirty="0">
                <a:latin typeface="Bahnschrift" panose="020B0502040204020203" pitchFamily="34" charset="0"/>
              </a:rPr>
              <a:t>moderado</a:t>
            </a:r>
          </a:p>
        </p:txBody>
      </p:sp>
      <p:sp>
        <p:nvSpPr>
          <p:cNvPr id="28" name="Marcador de contenido 2">
            <a:extLst>
              <a:ext uri="{FF2B5EF4-FFF2-40B4-BE49-F238E27FC236}">
                <a16:creationId xmlns:a16="http://schemas.microsoft.com/office/drawing/2014/main" id="{A3120305-5603-4DD6-A96F-256F96FC73B5}"/>
              </a:ext>
            </a:extLst>
          </p:cNvPr>
          <p:cNvSpPr txBox="1">
            <a:spLocks/>
          </p:cNvSpPr>
          <p:nvPr/>
        </p:nvSpPr>
        <p:spPr>
          <a:xfrm>
            <a:off x="124926" y="5506068"/>
            <a:ext cx="11055545" cy="721608"/>
          </a:xfrm>
          <a:prstGeom prst="rect">
            <a:avLst/>
          </a:prstGeom>
        </p:spPr>
        <p:txBody>
          <a:bodyPr vert="horz" wrap="square" lIns="91440" tIns="45720" rIns="91440" bIns="45720" rtlCol="0">
            <a:sp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lnSpc>
                <a:spcPct val="120000"/>
              </a:lnSpc>
              <a:buNone/>
            </a:pPr>
            <a:r>
              <a:rPr lang="es-AR" b="1" dirty="0">
                <a:latin typeface="Bahnschrift" panose="020B0502040204020203" pitchFamily="34" charset="0"/>
              </a:rPr>
              <a:t>Estos dos conceptos, </a:t>
            </a:r>
            <a:r>
              <a:rPr lang="es-AR" b="1" dirty="0">
                <a:solidFill>
                  <a:srgbClr val="FFC000"/>
                </a:solidFill>
                <a:latin typeface="Bahnschrift" panose="020B0502040204020203" pitchFamily="34" charset="0"/>
              </a:rPr>
              <a:t>RELACION DE VELOCIDAD ANGULAR</a:t>
            </a:r>
            <a:r>
              <a:rPr lang="es-AR" b="1" dirty="0">
                <a:latin typeface="Bahnschrift" panose="020B0502040204020203" pitchFamily="34" charset="0"/>
              </a:rPr>
              <a:t> y </a:t>
            </a:r>
            <a:r>
              <a:rPr lang="es-AR" b="1" dirty="0">
                <a:solidFill>
                  <a:srgbClr val="FFC000"/>
                </a:solidFill>
                <a:latin typeface="Bahnschrift" panose="020B0502040204020203" pitchFamily="34" charset="0"/>
              </a:rPr>
              <a:t>VENTAJA MECANICA</a:t>
            </a:r>
            <a:r>
              <a:rPr lang="es-AR" b="1" dirty="0">
                <a:latin typeface="Bahnschrift" panose="020B0502040204020203" pitchFamily="34" charset="0"/>
              </a:rPr>
              <a:t>, son parámetros que nos permiten juzgar la </a:t>
            </a:r>
            <a:r>
              <a:rPr lang="es-AR" b="1" dirty="0">
                <a:highlight>
                  <a:srgbClr val="FFC000"/>
                </a:highlight>
                <a:latin typeface="Bahnschrift" panose="020B0502040204020203" pitchFamily="34" charset="0"/>
              </a:rPr>
              <a:t>calidad del diseño</a:t>
            </a:r>
            <a:r>
              <a:rPr lang="es-AR" b="1" dirty="0">
                <a:latin typeface="Bahnschrift" panose="020B0502040204020203" pitchFamily="34" charset="0"/>
              </a:rPr>
              <a:t> propuesto como solución. </a:t>
            </a:r>
          </a:p>
        </p:txBody>
      </p:sp>
      <p:sp>
        <p:nvSpPr>
          <p:cNvPr id="12" name="Abrir corchete 11">
            <a:extLst>
              <a:ext uri="{FF2B5EF4-FFF2-40B4-BE49-F238E27FC236}">
                <a16:creationId xmlns:a16="http://schemas.microsoft.com/office/drawing/2014/main" id="{DD2CDC66-8421-4143-ABD8-395B18EB233F}"/>
              </a:ext>
            </a:extLst>
          </p:cNvPr>
          <p:cNvSpPr/>
          <p:nvPr/>
        </p:nvSpPr>
        <p:spPr>
          <a:xfrm>
            <a:off x="1568864" y="3481965"/>
            <a:ext cx="177265" cy="1136773"/>
          </a:xfrm>
          <a:prstGeom prst="lef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Tree>
    <p:extLst>
      <p:ext uri="{BB962C8B-B14F-4D97-AF65-F5344CB8AC3E}">
        <p14:creationId xmlns:p14="http://schemas.microsoft.com/office/powerpoint/2010/main" val="105182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17" grpId="0"/>
      <p:bldP spid="6" grpId="0"/>
      <p:bldP spid="7" grpId="0"/>
      <p:bldP spid="26" grpId="0"/>
      <p:bldP spid="9" grpId="0"/>
      <p:bldP spid="28" grpId="0"/>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34547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4144603"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DETERMINACIÓN ANALÍTICA</a:t>
            </a:r>
          </a:p>
        </p:txBody>
      </p:sp>
      <p:sp>
        <p:nvSpPr>
          <p:cNvPr id="25" name="Marcador de contenido 2">
            <a:extLst>
              <a:ext uri="{FF2B5EF4-FFF2-40B4-BE49-F238E27FC236}">
                <a16:creationId xmlns:a16="http://schemas.microsoft.com/office/drawing/2014/main" id="{AFB18A2C-0660-42D7-BFF1-6CA024A12E0F}"/>
              </a:ext>
            </a:extLst>
          </p:cNvPr>
          <p:cNvSpPr>
            <a:spLocks noGrp="1"/>
          </p:cNvSpPr>
          <p:nvPr>
            <p:ph idx="1"/>
          </p:nvPr>
        </p:nvSpPr>
        <p:spPr>
          <a:xfrm>
            <a:off x="251841" y="1389765"/>
            <a:ext cx="11055545" cy="581762"/>
          </a:xfrm>
        </p:spPr>
        <p:txBody>
          <a:bodyPr wrap="square">
            <a:spAutoFit/>
          </a:bodyPr>
          <a:lstStyle/>
          <a:p>
            <a:pPr algn="just">
              <a:lnSpc>
                <a:spcPct val="120000"/>
              </a:lnSpc>
              <a:buFontTx/>
              <a:buChar char="-"/>
            </a:pPr>
            <a:r>
              <a:rPr lang="es-AR" sz="1400" dirty="0">
                <a:latin typeface="Bahnschrift" panose="020B0502040204020203" pitchFamily="34" charset="0"/>
              </a:rPr>
              <a:t>Se realizara el análisis de velocidades para un </a:t>
            </a:r>
            <a:r>
              <a:rPr lang="es-AR" sz="1400" b="1" dirty="0">
                <a:solidFill>
                  <a:srgbClr val="FFC000"/>
                </a:solidFill>
                <a:latin typeface="Bahnschrift" panose="020B0502040204020203" pitchFamily="34" charset="0"/>
              </a:rPr>
              <a:t>CUADRILATERO ARTICULADO</a:t>
            </a:r>
            <a:r>
              <a:rPr lang="es-AR" sz="1400" dirty="0">
                <a:latin typeface="Bahnschrift" panose="020B0502040204020203" pitchFamily="34" charset="0"/>
              </a:rPr>
              <a:t> considerando como variables conocidas las longitudes de los eslabones, las posiciones, y la velocidad angular del eslabón de entrada.</a:t>
            </a:r>
          </a:p>
        </p:txBody>
      </p:sp>
      <p:grpSp>
        <p:nvGrpSpPr>
          <p:cNvPr id="15" name="Grupo 14">
            <a:extLst>
              <a:ext uri="{FF2B5EF4-FFF2-40B4-BE49-F238E27FC236}">
                <a16:creationId xmlns:a16="http://schemas.microsoft.com/office/drawing/2014/main" id="{D82A67B6-7D25-4493-8790-C82584517BF9}"/>
              </a:ext>
            </a:extLst>
          </p:cNvPr>
          <p:cNvGrpSpPr/>
          <p:nvPr/>
        </p:nvGrpSpPr>
        <p:grpSpPr>
          <a:xfrm>
            <a:off x="1947140" y="2290713"/>
            <a:ext cx="7664945" cy="4494135"/>
            <a:chOff x="1460201" y="2290713"/>
            <a:chExt cx="7664945" cy="4494135"/>
          </a:xfrm>
        </p:grpSpPr>
        <p:pic>
          <p:nvPicPr>
            <p:cNvPr id="2" name="Imagen 1">
              <a:extLst>
                <a:ext uri="{FF2B5EF4-FFF2-40B4-BE49-F238E27FC236}">
                  <a16:creationId xmlns:a16="http://schemas.microsoft.com/office/drawing/2014/main" id="{DE943581-9827-491F-BDB7-93D36312004B}"/>
                </a:ext>
              </a:extLst>
            </p:cNvPr>
            <p:cNvPicPr>
              <a:picLocks noChangeAspect="1"/>
            </p:cNvPicPr>
            <p:nvPr/>
          </p:nvPicPr>
          <p:blipFill rotWithShape="1">
            <a:blip r:embed="rId2"/>
            <a:srcRect r="23844"/>
            <a:stretch/>
          </p:blipFill>
          <p:spPr>
            <a:xfrm>
              <a:off x="1460201" y="2290713"/>
              <a:ext cx="6562009" cy="4494135"/>
            </a:xfrm>
            <a:prstGeom prst="rect">
              <a:avLst/>
            </a:prstGeom>
          </p:spPr>
        </p:pic>
        <p:pic>
          <p:nvPicPr>
            <p:cNvPr id="8" name="Imagen 7">
              <a:extLst>
                <a:ext uri="{FF2B5EF4-FFF2-40B4-BE49-F238E27FC236}">
                  <a16:creationId xmlns:a16="http://schemas.microsoft.com/office/drawing/2014/main" id="{18298C59-78D2-4F21-8542-3D5CD1D60956}"/>
                </a:ext>
              </a:extLst>
            </p:cNvPr>
            <p:cNvPicPr>
              <a:picLocks noChangeAspect="1"/>
            </p:cNvPicPr>
            <p:nvPr/>
          </p:nvPicPr>
          <p:blipFill rotWithShape="1">
            <a:blip r:embed="rId2"/>
            <a:srcRect l="76219" t="70704" r="10980"/>
            <a:stretch/>
          </p:blipFill>
          <p:spPr>
            <a:xfrm>
              <a:off x="8022210" y="5468235"/>
              <a:ext cx="1102936" cy="1316613"/>
            </a:xfrm>
            <a:prstGeom prst="rect">
              <a:avLst/>
            </a:prstGeom>
          </p:spPr>
        </p:pic>
      </p:grpSp>
    </p:spTree>
    <p:extLst>
      <p:ext uri="{BB962C8B-B14F-4D97-AF65-F5344CB8AC3E}">
        <p14:creationId xmlns:p14="http://schemas.microsoft.com/office/powerpoint/2010/main" val="2729425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34547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4144603"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DETERMINACIÓN ANALÍTICA</a:t>
            </a:r>
          </a:p>
        </p:txBody>
      </p:sp>
      <p:sp>
        <p:nvSpPr>
          <p:cNvPr id="10" name="Marcador de contenido 2">
            <a:extLst>
              <a:ext uri="{FF2B5EF4-FFF2-40B4-BE49-F238E27FC236}">
                <a16:creationId xmlns:a16="http://schemas.microsoft.com/office/drawing/2014/main" id="{49A7EF95-9529-4287-B7CF-F670F46BA820}"/>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11" name="Marcador de contenido 2">
            <a:extLst>
              <a:ext uri="{FF2B5EF4-FFF2-40B4-BE49-F238E27FC236}">
                <a16:creationId xmlns:a16="http://schemas.microsoft.com/office/drawing/2014/main" id="{4BA9AC60-3101-4E17-AC0E-4D4BCBE7CD39}"/>
              </a:ext>
            </a:extLst>
          </p:cNvPr>
          <p:cNvSpPr txBox="1">
            <a:spLocks/>
          </p:cNvSpPr>
          <p:nvPr/>
        </p:nvSpPr>
        <p:spPr>
          <a:xfrm>
            <a:off x="326737" y="1431624"/>
            <a:ext cx="10647322" cy="62270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Para la configuración mostrada, la ecuación de lazo cerrado es la siguiente:</a:t>
            </a: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B3972F2-F502-4A0A-913C-9EE422350C8F}"/>
                  </a:ext>
                </a:extLst>
              </p:cNvPr>
              <p:cNvSpPr txBox="1"/>
              <p:nvPr/>
            </p:nvSpPr>
            <p:spPr>
              <a:xfrm>
                <a:off x="4069964" y="1777334"/>
                <a:ext cx="23189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m:oMathPara>
                </a14:m>
                <a:endParaRPr lang="es-AR" dirty="0"/>
              </a:p>
            </p:txBody>
          </p:sp>
        </mc:Choice>
        <mc:Fallback xmlns="">
          <p:sp>
            <p:nvSpPr>
              <p:cNvPr id="12" name="CuadroTexto 11">
                <a:extLst>
                  <a:ext uri="{FF2B5EF4-FFF2-40B4-BE49-F238E27FC236}">
                    <a16:creationId xmlns:a16="http://schemas.microsoft.com/office/drawing/2014/main" id="{BB3972F2-F502-4A0A-913C-9EE422350C8F}"/>
                  </a:ext>
                </a:extLst>
              </p:cNvPr>
              <p:cNvSpPr txBox="1">
                <a:spLocks noRot="1" noChangeAspect="1" noMove="1" noResize="1" noEditPoints="1" noAdjustHandles="1" noChangeArrowheads="1" noChangeShapeType="1" noTextEdit="1"/>
              </p:cNvSpPr>
              <p:nvPr/>
            </p:nvSpPr>
            <p:spPr>
              <a:xfrm>
                <a:off x="4069964" y="1777334"/>
                <a:ext cx="2318905" cy="276999"/>
              </a:xfrm>
              <a:prstGeom prst="rect">
                <a:avLst/>
              </a:prstGeom>
              <a:blipFill>
                <a:blip r:embed="rId2"/>
                <a:stretch>
                  <a:fillRect l="-1842" r="-1579" b="-17778"/>
                </a:stretch>
              </a:blipFill>
            </p:spPr>
            <p:txBody>
              <a:bodyPr/>
              <a:lstStyle/>
              <a:p>
                <a:r>
                  <a:rPr lang="es-AR">
                    <a:noFill/>
                  </a:rPr>
                  <a:t> </a:t>
                </a:r>
              </a:p>
            </p:txBody>
          </p:sp>
        </mc:Fallback>
      </mc:AlternateContent>
      <p:sp>
        <p:nvSpPr>
          <p:cNvPr id="13" name="Marcador de contenido 2">
            <a:extLst>
              <a:ext uri="{FF2B5EF4-FFF2-40B4-BE49-F238E27FC236}">
                <a16:creationId xmlns:a16="http://schemas.microsoft.com/office/drawing/2014/main" id="{EAFB4071-4E29-48F0-9A80-8C082CD13630}"/>
              </a:ext>
            </a:extLst>
          </p:cNvPr>
          <p:cNvSpPr txBox="1">
            <a:spLocks/>
          </p:cNvSpPr>
          <p:nvPr/>
        </p:nvSpPr>
        <p:spPr>
          <a:xfrm>
            <a:off x="326737" y="2152195"/>
            <a:ext cx="10647322"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Se expresan los vectores con notación polar compleja, y se indican las longitudes con las letras a, b, c y d, dando forma a la </a:t>
            </a:r>
            <a:r>
              <a:rPr lang="es-AR" sz="1400" dirty="0">
                <a:highlight>
                  <a:srgbClr val="FFC000"/>
                </a:highlight>
                <a:latin typeface="Bahnschrift" panose="020B0502040204020203" pitchFamily="34" charset="0"/>
              </a:rPr>
              <a:t>ecuación de </a:t>
            </a:r>
            <a:r>
              <a:rPr lang="es-AR" sz="1400" dirty="0" err="1">
                <a:highlight>
                  <a:srgbClr val="FFC000"/>
                </a:highlight>
                <a:latin typeface="Bahnschrift" panose="020B0502040204020203" pitchFamily="34" charset="0"/>
              </a:rPr>
              <a:t>posicion</a:t>
            </a:r>
            <a:r>
              <a:rPr lang="es-AR" sz="1400" dirty="0">
                <a:latin typeface="Bahnschrift" panose="020B0502040204020203" pitchFamily="34" charset="0"/>
              </a:rPr>
              <a:t>.</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C695BDB-3C29-4AF4-ACB0-914969E3D216}"/>
                  </a:ext>
                </a:extLst>
              </p:cNvPr>
              <p:cNvSpPr txBox="1"/>
              <p:nvPr/>
            </p:nvSpPr>
            <p:spPr>
              <a:xfrm>
                <a:off x="3368434" y="2586282"/>
                <a:ext cx="3721963"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sup>
                      </m:sSup>
                      <m:r>
                        <a:rPr lang="en-US" b="0" i="1" smtClean="0">
                          <a:latin typeface="Cambria Math" panose="02040503050406030204" pitchFamily="18" charset="0"/>
                        </a:rPr>
                        <m:t>=0</m:t>
                      </m:r>
                    </m:oMath>
                  </m:oMathPara>
                </a14:m>
                <a:endParaRPr lang="es-AR" dirty="0"/>
              </a:p>
            </p:txBody>
          </p:sp>
        </mc:Choice>
        <mc:Fallback xmlns="">
          <p:sp>
            <p:nvSpPr>
              <p:cNvPr id="14" name="CuadroTexto 13">
                <a:extLst>
                  <a:ext uri="{FF2B5EF4-FFF2-40B4-BE49-F238E27FC236}">
                    <a16:creationId xmlns:a16="http://schemas.microsoft.com/office/drawing/2014/main" id="{8C695BDB-3C29-4AF4-ACB0-914969E3D216}"/>
                  </a:ext>
                </a:extLst>
              </p:cNvPr>
              <p:cNvSpPr txBox="1">
                <a:spLocks noRot="1" noChangeAspect="1" noMove="1" noResize="1" noEditPoints="1" noAdjustHandles="1" noChangeArrowheads="1" noChangeShapeType="1" noTextEdit="1"/>
              </p:cNvSpPr>
              <p:nvPr/>
            </p:nvSpPr>
            <p:spPr>
              <a:xfrm>
                <a:off x="3368434" y="2586282"/>
                <a:ext cx="3721963" cy="381451"/>
              </a:xfrm>
              <a:prstGeom prst="rect">
                <a:avLst/>
              </a:prstGeom>
              <a:blipFill>
                <a:blip r:embed="rId3"/>
                <a:stretch>
                  <a:fillRect/>
                </a:stretch>
              </a:blipFill>
            </p:spPr>
            <p:txBody>
              <a:bodyPr/>
              <a:lstStyle/>
              <a:p>
                <a:r>
                  <a:rPr lang="es-AR">
                    <a:noFill/>
                  </a:rPr>
                  <a:t> </a:t>
                </a:r>
              </a:p>
            </p:txBody>
          </p:sp>
        </mc:Fallback>
      </mc:AlternateContent>
      <p:sp>
        <p:nvSpPr>
          <p:cNvPr id="15" name="Marcador de contenido 2">
            <a:extLst>
              <a:ext uri="{FF2B5EF4-FFF2-40B4-BE49-F238E27FC236}">
                <a16:creationId xmlns:a16="http://schemas.microsoft.com/office/drawing/2014/main" id="{E0909D18-1777-44A4-AF9C-057D767E6664}"/>
              </a:ext>
            </a:extLst>
          </p:cNvPr>
          <p:cNvSpPr txBox="1">
            <a:spLocks/>
          </p:cNvSpPr>
          <p:nvPr/>
        </p:nvSpPr>
        <p:spPr>
          <a:xfrm>
            <a:off x="326737" y="3126749"/>
            <a:ext cx="6368703"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Se deriva esta ecuación respecto al tiempo para obtener la </a:t>
            </a:r>
            <a:r>
              <a:rPr lang="es-AR" sz="1400" dirty="0">
                <a:highlight>
                  <a:srgbClr val="FFC000"/>
                </a:highlight>
                <a:latin typeface="Bahnschrift" panose="020B0502040204020203" pitchFamily="34" charset="0"/>
              </a:rPr>
              <a:t>velocidad</a:t>
            </a:r>
            <a:r>
              <a:rPr lang="es-AR" sz="1400" dirty="0">
                <a:latin typeface="Bahnschrift" panose="020B0502040204020203" pitchFamily="34" charset="0"/>
              </a:rPr>
              <a:t>.</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ABF9E5DF-F575-496F-94E0-A778AEE260D0}"/>
                  </a:ext>
                </a:extLst>
              </p:cNvPr>
              <p:cNvSpPr txBox="1"/>
              <p:nvPr/>
            </p:nvSpPr>
            <p:spPr>
              <a:xfrm>
                <a:off x="3081485" y="4384827"/>
                <a:ext cx="4295860"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rPr>
                        <m:t>=0</m:t>
                      </m:r>
                    </m:oMath>
                  </m:oMathPara>
                </a14:m>
                <a:endParaRPr lang="es-AR" dirty="0"/>
              </a:p>
            </p:txBody>
          </p:sp>
        </mc:Choice>
        <mc:Fallback xmlns="">
          <p:sp>
            <p:nvSpPr>
              <p:cNvPr id="16" name="CuadroTexto 15">
                <a:extLst>
                  <a:ext uri="{FF2B5EF4-FFF2-40B4-BE49-F238E27FC236}">
                    <a16:creationId xmlns:a16="http://schemas.microsoft.com/office/drawing/2014/main" id="{ABF9E5DF-F575-496F-94E0-A778AEE260D0}"/>
                  </a:ext>
                </a:extLst>
              </p:cNvPr>
              <p:cNvSpPr txBox="1">
                <a:spLocks noRot="1" noChangeAspect="1" noMove="1" noResize="1" noEditPoints="1" noAdjustHandles="1" noChangeArrowheads="1" noChangeShapeType="1" noTextEdit="1"/>
              </p:cNvSpPr>
              <p:nvPr/>
            </p:nvSpPr>
            <p:spPr>
              <a:xfrm>
                <a:off x="3081485" y="4384827"/>
                <a:ext cx="4295860" cy="381451"/>
              </a:xfrm>
              <a:prstGeom prst="rect">
                <a:avLst/>
              </a:prstGeom>
              <a:blipFill>
                <a:blip r:embed="rId4"/>
                <a:stretch>
                  <a:fillRect b="-14286"/>
                </a:stretch>
              </a:blipFill>
            </p:spPr>
            <p:txBody>
              <a:bodyPr/>
              <a:lstStyle/>
              <a:p>
                <a:r>
                  <a:rPr lang="es-AR">
                    <a:noFill/>
                  </a:rPr>
                  <a:t> </a:t>
                </a:r>
              </a:p>
            </p:txBody>
          </p:sp>
        </mc:Fallback>
      </mc:AlternateContent>
      <p:sp>
        <p:nvSpPr>
          <p:cNvPr id="20" name="Marcador de contenido 2">
            <a:extLst>
              <a:ext uri="{FF2B5EF4-FFF2-40B4-BE49-F238E27FC236}">
                <a16:creationId xmlns:a16="http://schemas.microsoft.com/office/drawing/2014/main" id="{582920E0-D5F7-42C7-AEA7-9971913B6DE4}"/>
              </a:ext>
            </a:extLst>
          </p:cNvPr>
          <p:cNvSpPr txBox="1">
            <a:spLocks/>
          </p:cNvSpPr>
          <p:nvPr/>
        </p:nvSpPr>
        <p:spPr>
          <a:xfrm>
            <a:off x="326736" y="4946742"/>
            <a:ext cx="8947941" cy="33640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Esta ultima ecuación representa la ecuación de diferencia de velocidades de la forma </a:t>
            </a:r>
            <a:r>
              <a:rPr lang="es-AR" sz="2000" dirty="0">
                <a:highlight>
                  <a:srgbClr val="FFC000"/>
                </a:highlight>
                <a:latin typeface="Bahnschrift" panose="020B0502040204020203" pitchFamily="34" charset="0"/>
              </a:rPr>
              <a:t>V</a:t>
            </a:r>
            <a:r>
              <a:rPr lang="es-AR" sz="2000" baseline="-25000" dirty="0">
                <a:highlight>
                  <a:srgbClr val="FFC000"/>
                </a:highlight>
                <a:latin typeface="Bahnschrift" panose="020B0502040204020203" pitchFamily="34" charset="0"/>
              </a:rPr>
              <a:t>A</a:t>
            </a:r>
            <a:r>
              <a:rPr lang="es-AR" sz="2000" dirty="0">
                <a:highlight>
                  <a:srgbClr val="FFC000"/>
                </a:highlight>
                <a:latin typeface="Bahnschrift" panose="020B0502040204020203" pitchFamily="34" charset="0"/>
              </a:rPr>
              <a:t>+V</a:t>
            </a:r>
            <a:r>
              <a:rPr lang="es-AR" sz="2000" baseline="-25000" dirty="0">
                <a:highlight>
                  <a:srgbClr val="FFC000"/>
                </a:highlight>
                <a:latin typeface="Bahnschrift" panose="020B0502040204020203" pitchFamily="34" charset="0"/>
              </a:rPr>
              <a:t>BA</a:t>
            </a:r>
            <a:r>
              <a:rPr lang="es-AR" sz="2000" dirty="0">
                <a:highlight>
                  <a:srgbClr val="FFC000"/>
                </a:highlight>
                <a:latin typeface="Bahnschrift" panose="020B0502040204020203" pitchFamily="34" charset="0"/>
              </a:rPr>
              <a:t>-V</a:t>
            </a:r>
            <a:r>
              <a:rPr lang="es-AR" sz="2000" baseline="-25000" dirty="0">
                <a:highlight>
                  <a:srgbClr val="FFC000"/>
                </a:highlight>
                <a:latin typeface="Bahnschrift" panose="020B0502040204020203" pitchFamily="34" charset="0"/>
              </a:rPr>
              <a:t>B</a:t>
            </a:r>
            <a:r>
              <a:rPr lang="es-AR" sz="2000" dirty="0">
                <a:highlight>
                  <a:srgbClr val="FFC000"/>
                </a:highlight>
                <a:latin typeface="Bahnschrift" panose="020B0502040204020203" pitchFamily="34" charset="0"/>
              </a:rPr>
              <a:t>=0.</a:t>
            </a:r>
            <a:endParaRPr lang="es-AR" sz="2000" dirty="0">
              <a:latin typeface="Bahnschrift" panose="020B0502040204020203" pitchFamily="34" charset="0"/>
            </a:endParaRPr>
          </a:p>
        </p:txBody>
      </p:sp>
      <p:sp>
        <p:nvSpPr>
          <p:cNvPr id="28" name="Marcador de contenido 2">
            <a:extLst>
              <a:ext uri="{FF2B5EF4-FFF2-40B4-BE49-F238E27FC236}">
                <a16:creationId xmlns:a16="http://schemas.microsoft.com/office/drawing/2014/main" id="{4AB433AF-5927-41E2-A2FC-5B54071317EC}"/>
              </a:ext>
            </a:extLst>
          </p:cNvPr>
          <p:cNvSpPr txBox="1">
            <a:spLocks/>
          </p:cNvSpPr>
          <p:nvPr/>
        </p:nvSpPr>
        <p:spPr>
          <a:xfrm>
            <a:off x="326734" y="5522881"/>
            <a:ext cx="8542055"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Cada uno de los componentes de la velocidad en la ecuación anterior pueden apreciarse en solución obtenida a través del trazado grafico.</a:t>
            </a:r>
          </a:p>
        </p:txBody>
      </p:sp>
      <p:pic>
        <p:nvPicPr>
          <p:cNvPr id="5" name="Imagen 4">
            <a:extLst>
              <a:ext uri="{FF2B5EF4-FFF2-40B4-BE49-F238E27FC236}">
                <a16:creationId xmlns:a16="http://schemas.microsoft.com/office/drawing/2014/main" id="{9195EA7C-9434-46D2-93E3-980EF37FADB7}"/>
              </a:ext>
            </a:extLst>
          </p:cNvPr>
          <p:cNvPicPr>
            <a:picLocks noChangeAspect="1"/>
          </p:cNvPicPr>
          <p:nvPr/>
        </p:nvPicPr>
        <p:blipFill rotWithShape="1">
          <a:blip r:embed="rId5"/>
          <a:srcRect l="74934" t="4579" r="1769" b="63118"/>
          <a:stretch/>
        </p:blipFill>
        <p:spPr>
          <a:xfrm>
            <a:off x="9184778" y="5090466"/>
            <a:ext cx="2007432" cy="1451728"/>
          </a:xfrm>
          <a:prstGeom prst="rect">
            <a:avLst/>
          </a:prstGeom>
        </p:spPr>
      </p:pic>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ADCC5DBC-2C4B-4878-9FF8-8F4BDB244593}"/>
                  </a:ext>
                </a:extLst>
              </p:cNvPr>
              <p:cNvSpPr txBox="1"/>
              <p:nvPr/>
            </p:nvSpPr>
            <p:spPr>
              <a:xfrm>
                <a:off x="443151" y="3610738"/>
                <a:ext cx="5049055"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f>
                        <m:fPr>
                          <m:ctrlPr>
                            <a:rPr lang="en-US" i="1">
                              <a:latin typeface="Cambria Math" panose="02040503050406030204" pitchFamily="18" charset="0"/>
                            </a:rPr>
                          </m:ctrlPr>
                        </m:fPr>
                        <m:num>
                          <m:r>
                            <a:rPr lang="es-AR"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num>
                        <m:den>
                          <m:r>
                            <a:rPr lang="en-US" i="1">
                              <a:latin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f>
                        <m:fPr>
                          <m:ctrlPr>
                            <a:rPr lang="en-US" i="1">
                              <a:latin typeface="Cambria Math" panose="02040503050406030204" pitchFamily="18" charset="0"/>
                            </a:rPr>
                          </m:ctrlPr>
                        </m:fPr>
                        <m:num>
                          <m:r>
                            <a:rPr lang="es-AR"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num>
                        <m:den>
                          <m:r>
                            <a:rPr lang="en-US" i="1">
                              <a:latin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f>
                        <m:fPr>
                          <m:ctrlPr>
                            <a:rPr lang="en-US" i="1">
                              <a:latin typeface="Cambria Math" panose="02040503050406030204" pitchFamily="18" charset="0"/>
                            </a:rPr>
                          </m:ctrlPr>
                        </m:fPr>
                        <m:num>
                          <m:r>
                            <a:rPr lang="es-AR"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4</m:t>
                              </m:r>
                            </m:sub>
                          </m:sSub>
                        </m:num>
                        <m:den>
                          <m:r>
                            <a:rPr lang="en-US" i="1">
                              <a:latin typeface="Cambria Math" panose="02040503050406030204" pitchFamily="18" charset="0"/>
                            </a:rPr>
                            <m:t>𝑑𝑡</m:t>
                          </m:r>
                        </m:den>
                      </m:f>
                      <m:r>
                        <a:rPr lang="en-US" b="0" i="1" smtClean="0">
                          <a:latin typeface="Cambria Math" panose="02040503050406030204" pitchFamily="18" charset="0"/>
                        </a:rPr>
                        <m:t>=0</m:t>
                      </m:r>
                    </m:oMath>
                  </m:oMathPara>
                </a14:m>
                <a:endParaRPr lang="es-AR" dirty="0"/>
              </a:p>
            </p:txBody>
          </p:sp>
        </mc:Choice>
        <mc:Fallback xmlns="">
          <p:sp>
            <p:nvSpPr>
              <p:cNvPr id="30" name="CuadroTexto 29">
                <a:extLst>
                  <a:ext uri="{FF2B5EF4-FFF2-40B4-BE49-F238E27FC236}">
                    <a16:creationId xmlns:a16="http://schemas.microsoft.com/office/drawing/2014/main" id="{ADCC5DBC-2C4B-4878-9FF8-8F4BDB244593}"/>
                  </a:ext>
                </a:extLst>
              </p:cNvPr>
              <p:cNvSpPr txBox="1">
                <a:spLocks noRot="1" noChangeAspect="1" noMove="1" noResize="1" noEditPoints="1" noAdjustHandles="1" noChangeArrowheads="1" noChangeShapeType="1" noTextEdit="1"/>
              </p:cNvSpPr>
              <p:nvPr/>
            </p:nvSpPr>
            <p:spPr>
              <a:xfrm>
                <a:off x="443151" y="3610738"/>
                <a:ext cx="5049055" cy="618246"/>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2EE80C0-103B-4125-9C25-E3758F03DDFC}"/>
                  </a:ext>
                </a:extLst>
              </p:cNvPr>
              <p:cNvSpPr txBox="1"/>
              <p:nvPr/>
            </p:nvSpPr>
            <p:spPr>
              <a:xfrm>
                <a:off x="5898094" y="3614080"/>
                <a:ext cx="1348526"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s-AR"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2</m:t>
                              </m:r>
                            </m:sub>
                          </m:sSub>
                        </m:num>
                        <m:den>
                          <m:r>
                            <a:rPr lang="en-US" i="1">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oMath>
                  </m:oMathPara>
                </a14:m>
                <a:endParaRPr lang="es-AR" dirty="0"/>
              </a:p>
            </p:txBody>
          </p:sp>
        </mc:Choice>
        <mc:Fallback xmlns="">
          <p:sp>
            <p:nvSpPr>
              <p:cNvPr id="31" name="CuadroTexto 30">
                <a:extLst>
                  <a:ext uri="{FF2B5EF4-FFF2-40B4-BE49-F238E27FC236}">
                    <a16:creationId xmlns:a16="http://schemas.microsoft.com/office/drawing/2014/main" id="{22EE80C0-103B-4125-9C25-E3758F03DDFC}"/>
                  </a:ext>
                </a:extLst>
              </p:cNvPr>
              <p:cNvSpPr txBox="1">
                <a:spLocks noRot="1" noChangeAspect="1" noMove="1" noResize="1" noEditPoints="1" noAdjustHandles="1" noChangeArrowheads="1" noChangeShapeType="1" noTextEdit="1"/>
              </p:cNvSpPr>
              <p:nvPr/>
            </p:nvSpPr>
            <p:spPr>
              <a:xfrm>
                <a:off x="5898094" y="3614080"/>
                <a:ext cx="1348526" cy="618246"/>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32457F7-F30C-451C-82AE-B4DAB9D20F86}"/>
                  </a:ext>
                </a:extLst>
              </p:cNvPr>
              <p:cNvSpPr txBox="1"/>
              <p:nvPr/>
            </p:nvSpPr>
            <p:spPr>
              <a:xfrm>
                <a:off x="7340465" y="3613081"/>
                <a:ext cx="1348526"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s-AR" i="1">
                              <a:latin typeface="Cambria Math" panose="02040503050406030204" pitchFamily="18" charset="0"/>
                            </a:rPr>
                            <m:t>𝑑</m:t>
                          </m:r>
                          <m:sSub>
                            <m:sSubPr>
                              <m:ctrlPr>
                                <a:rPr lang="en-US" i="1" smtClean="0">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3</m:t>
                              </m:r>
                            </m:sub>
                          </m:sSub>
                        </m:num>
                        <m:den>
                          <m:r>
                            <a:rPr lang="en-US" i="1">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3</m:t>
                          </m:r>
                        </m:sub>
                      </m:sSub>
                    </m:oMath>
                  </m:oMathPara>
                </a14:m>
                <a:endParaRPr lang="es-AR" dirty="0"/>
              </a:p>
            </p:txBody>
          </p:sp>
        </mc:Choice>
        <mc:Fallback xmlns="">
          <p:sp>
            <p:nvSpPr>
              <p:cNvPr id="7" name="CuadroTexto 6">
                <a:extLst>
                  <a:ext uri="{FF2B5EF4-FFF2-40B4-BE49-F238E27FC236}">
                    <a16:creationId xmlns:a16="http://schemas.microsoft.com/office/drawing/2014/main" id="{432457F7-F30C-451C-82AE-B4DAB9D20F86}"/>
                  </a:ext>
                </a:extLst>
              </p:cNvPr>
              <p:cNvSpPr txBox="1">
                <a:spLocks noRot="1" noChangeAspect="1" noMove="1" noResize="1" noEditPoints="1" noAdjustHandles="1" noChangeArrowheads="1" noChangeShapeType="1" noTextEdit="1"/>
              </p:cNvSpPr>
              <p:nvPr/>
            </p:nvSpPr>
            <p:spPr>
              <a:xfrm>
                <a:off x="7340465" y="3613081"/>
                <a:ext cx="1348526" cy="618246"/>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44ADD43-24ED-4577-8A7A-DC38193AF929}"/>
                  </a:ext>
                </a:extLst>
              </p:cNvPr>
              <p:cNvSpPr txBox="1"/>
              <p:nvPr/>
            </p:nvSpPr>
            <p:spPr>
              <a:xfrm>
                <a:off x="8782836" y="3620312"/>
                <a:ext cx="1348526"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s-AR" i="1">
                              <a:latin typeface="Cambria Math" panose="02040503050406030204" pitchFamily="18" charset="0"/>
                            </a:rPr>
                            <m:t>𝑑</m:t>
                          </m:r>
                          <m:sSub>
                            <m:sSubPr>
                              <m:ctrlPr>
                                <a:rPr lang="en-US" i="1" smtClean="0">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4</m:t>
                              </m:r>
                            </m:sub>
                          </m:sSub>
                        </m:num>
                        <m:den>
                          <m:r>
                            <a:rPr lang="en-US" i="1">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4</m:t>
                          </m:r>
                        </m:sub>
                      </m:sSub>
                    </m:oMath>
                  </m:oMathPara>
                </a14:m>
                <a:endParaRPr lang="es-AR" dirty="0"/>
              </a:p>
            </p:txBody>
          </p:sp>
        </mc:Choice>
        <mc:Fallback xmlns="">
          <p:sp>
            <p:nvSpPr>
              <p:cNvPr id="8" name="CuadroTexto 7">
                <a:extLst>
                  <a:ext uri="{FF2B5EF4-FFF2-40B4-BE49-F238E27FC236}">
                    <a16:creationId xmlns:a16="http://schemas.microsoft.com/office/drawing/2014/main" id="{544ADD43-24ED-4577-8A7A-DC38193AF929}"/>
                  </a:ext>
                </a:extLst>
              </p:cNvPr>
              <p:cNvSpPr txBox="1">
                <a:spLocks noRot="1" noChangeAspect="1" noMove="1" noResize="1" noEditPoints="1" noAdjustHandles="1" noChangeArrowheads="1" noChangeShapeType="1" noTextEdit="1"/>
              </p:cNvSpPr>
              <p:nvPr/>
            </p:nvSpPr>
            <p:spPr>
              <a:xfrm>
                <a:off x="8782836" y="3620312"/>
                <a:ext cx="1348526" cy="618246"/>
              </a:xfrm>
              <a:prstGeom prst="rect">
                <a:avLst/>
              </a:prstGeom>
              <a:blipFill>
                <a:blip r:embed="rId9"/>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236964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20" grpId="0"/>
      <p:bldP spid="28" grpId="0"/>
      <p:bldP spid="30" grpId="0"/>
      <p:bldP spid="31"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34547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4144603"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DETERMINACIÓN ANALÍTICA</a:t>
            </a:r>
          </a:p>
        </p:txBody>
      </p:sp>
      <p:sp>
        <p:nvSpPr>
          <p:cNvPr id="10" name="Marcador de contenido 2">
            <a:extLst>
              <a:ext uri="{FF2B5EF4-FFF2-40B4-BE49-F238E27FC236}">
                <a16:creationId xmlns:a16="http://schemas.microsoft.com/office/drawing/2014/main" id="{49A7EF95-9529-4287-B7CF-F670F46BA820}"/>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25" name="Marcador de contenido 2">
            <a:extLst>
              <a:ext uri="{FF2B5EF4-FFF2-40B4-BE49-F238E27FC236}">
                <a16:creationId xmlns:a16="http://schemas.microsoft.com/office/drawing/2014/main" id="{1EA3600D-2573-401B-99B8-67673B5BC45B}"/>
              </a:ext>
            </a:extLst>
          </p:cNvPr>
          <p:cNvSpPr txBox="1">
            <a:spLocks/>
          </p:cNvSpPr>
          <p:nvPr/>
        </p:nvSpPr>
        <p:spPr>
          <a:xfrm>
            <a:off x="632265" y="144232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26" name="Marcador de contenido 2">
                <a:extLst>
                  <a:ext uri="{FF2B5EF4-FFF2-40B4-BE49-F238E27FC236}">
                    <a16:creationId xmlns:a16="http://schemas.microsoft.com/office/drawing/2014/main" id="{74B836FA-1AB9-41BE-82B2-0D155907BF4B}"/>
                  </a:ext>
                </a:extLst>
              </p:cNvPr>
              <p:cNvSpPr txBox="1">
                <a:spLocks/>
              </p:cNvSpPr>
              <p:nvPr/>
            </p:nvSpPr>
            <p:spPr>
              <a:xfrm>
                <a:off x="326737" y="1411304"/>
                <a:ext cx="10647322" cy="93321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Las </a:t>
                </a:r>
                <a:r>
                  <a:rPr lang="es-AR" sz="1400" b="1" dirty="0">
                    <a:highlight>
                      <a:srgbClr val="FFC000"/>
                    </a:highlight>
                    <a:latin typeface="Bahnschrift" panose="020B0502040204020203" pitchFamily="34" charset="0"/>
                    <a:ea typeface="Cambria Math" panose="02040503050406030204" pitchFamily="18" charset="0"/>
                  </a:rPr>
                  <a:t>variables desconocidas</a:t>
                </a:r>
                <a:r>
                  <a:rPr lang="es-AR" sz="1400" dirty="0">
                    <a:highlight>
                      <a:srgbClr val="FFC000"/>
                    </a:highlight>
                    <a:latin typeface="Bahnschrift" panose="020B0502040204020203" pitchFamily="34" charset="0"/>
                    <a:ea typeface="Cambria Math" panose="02040503050406030204" pitchFamily="18" charset="0"/>
                  </a:rPr>
                  <a:t> </a:t>
                </a:r>
                <a:r>
                  <a:rPr lang="es-AR" sz="1400" dirty="0">
                    <a:latin typeface="Bahnschrift" panose="020B0502040204020203" pitchFamily="34" charset="0"/>
                    <a:ea typeface="Cambria Math" panose="02040503050406030204" pitchFamily="18" charset="0"/>
                  </a:rPr>
                  <a:t>en estas ecuaciones son </a:t>
                </a:r>
                <a14:m>
                  <m:oMath xmlns:m="http://schemas.openxmlformats.org/officeDocument/2006/math">
                    <m:sSub>
                      <m:sSubPr>
                        <m:ctrlPr>
                          <a:rPr lang="en-US" sz="1400" b="1" i="1">
                            <a:latin typeface="Cambria Math" panose="02040503050406030204" pitchFamily="18" charset="0"/>
                            <a:ea typeface="Cambria Math" panose="02040503050406030204" pitchFamily="18" charset="0"/>
                          </a:rPr>
                        </m:ctrlPr>
                      </m:sSubPr>
                      <m:e>
                        <m:r>
                          <a:rPr lang="en-US" sz="1400" b="1" i="1" smtClean="0">
                            <a:latin typeface="Cambria Math" panose="02040503050406030204" pitchFamily="18" charset="0"/>
                            <a:ea typeface="Cambria Math" panose="02040503050406030204" pitchFamily="18" charset="0"/>
                          </a:rPr>
                          <m:t>𝝎</m:t>
                        </m:r>
                      </m:e>
                      <m:sub>
                        <m:r>
                          <a:rPr lang="en-US" sz="1400" b="1" i="1" smtClean="0">
                            <a:latin typeface="Cambria Math" panose="02040503050406030204" pitchFamily="18" charset="0"/>
                            <a:ea typeface="Cambria Math" panose="02040503050406030204" pitchFamily="18" charset="0"/>
                          </a:rPr>
                          <m:t>𝟑</m:t>
                        </m:r>
                      </m:sub>
                    </m:sSub>
                  </m:oMath>
                </a14:m>
                <a:r>
                  <a:rPr lang="es-AR" sz="1400" b="1" dirty="0">
                    <a:latin typeface="Bahnschrift" panose="020B0502040204020203" pitchFamily="34" charset="0"/>
                    <a:ea typeface="Cambria Math" panose="02040503050406030204" pitchFamily="18" charset="0"/>
                  </a:rPr>
                  <a:t> y </a:t>
                </a:r>
                <a14:m>
                  <m:oMath xmlns:m="http://schemas.openxmlformats.org/officeDocument/2006/math">
                    <m:sSub>
                      <m:sSubPr>
                        <m:ctrlPr>
                          <a:rPr lang="en-US" sz="1400" b="1" i="1">
                            <a:latin typeface="Cambria Math" panose="02040503050406030204" pitchFamily="18" charset="0"/>
                            <a:ea typeface="Cambria Math" panose="02040503050406030204" pitchFamily="18" charset="0"/>
                          </a:rPr>
                        </m:ctrlPr>
                      </m:sSubPr>
                      <m:e>
                        <m:r>
                          <a:rPr lang="en-US" sz="1400" b="1" i="1" smtClean="0">
                            <a:latin typeface="Cambria Math" panose="02040503050406030204" pitchFamily="18" charset="0"/>
                            <a:ea typeface="Cambria Math" panose="02040503050406030204" pitchFamily="18" charset="0"/>
                          </a:rPr>
                          <m:t>𝝎</m:t>
                        </m:r>
                      </m:e>
                      <m:sub>
                        <m:r>
                          <a:rPr lang="en-US" sz="1400" b="1" i="1" smtClean="0">
                            <a:latin typeface="Cambria Math" panose="02040503050406030204" pitchFamily="18" charset="0"/>
                            <a:ea typeface="Cambria Math" panose="02040503050406030204" pitchFamily="18" charset="0"/>
                          </a:rPr>
                          <m:t>𝟒</m:t>
                        </m:r>
                      </m:sub>
                    </m:sSub>
                  </m:oMath>
                </a14:m>
                <a:r>
                  <a:rPr lang="es-AR" sz="1400" dirty="0">
                    <a:latin typeface="Bahnschrift" panose="020B0502040204020203" pitchFamily="34" charset="0"/>
                    <a:ea typeface="Cambria Math" panose="02040503050406030204" pitchFamily="18" charset="0"/>
                  </a:rPr>
                  <a:t>, siendo las </a:t>
                </a:r>
                <a:r>
                  <a:rPr lang="es-AR" sz="1400" dirty="0">
                    <a:highlight>
                      <a:srgbClr val="FFC000"/>
                    </a:highlight>
                    <a:latin typeface="Bahnschrift" panose="020B0502040204020203" pitchFamily="34" charset="0"/>
                    <a:ea typeface="Cambria Math" panose="02040503050406030204" pitchFamily="18" charset="0"/>
                  </a:rPr>
                  <a:t>variables conocidas</a:t>
                </a:r>
                <a:r>
                  <a:rPr lang="es-AR" sz="1400" dirty="0">
                    <a:latin typeface="Bahnschrift" panose="020B0502040204020203" pitchFamily="34" charset="0"/>
                    <a:ea typeface="Cambria Math" panose="02040503050406030204" pitchFamily="18" charset="0"/>
                  </a:rPr>
                  <a:t> las </a:t>
                </a:r>
                <a:r>
                  <a:rPr lang="es-AR" sz="1400" b="1" dirty="0">
                    <a:latin typeface="Bahnschrift" panose="020B0502040204020203" pitchFamily="34" charset="0"/>
                    <a:ea typeface="Cambria Math" panose="02040503050406030204" pitchFamily="18" charset="0"/>
                  </a:rPr>
                  <a:t>longitudes, ángulos y velocidad del eslabón de entrada</a:t>
                </a:r>
                <a:r>
                  <a:rPr lang="es-AR" sz="1400" dirty="0">
                    <a:latin typeface="Bahnschrift" panose="020B0502040204020203" pitchFamily="34" charset="0"/>
                    <a:ea typeface="Cambria Math" panose="02040503050406030204" pitchFamily="18" charset="0"/>
                  </a:rPr>
                  <a:t>. </a:t>
                </a:r>
              </a:p>
              <a:p>
                <a:pPr algn="just">
                  <a:buFontTx/>
                  <a:buChar char="-"/>
                </a:pPr>
                <a:r>
                  <a:rPr lang="es-AR" sz="1400" dirty="0">
                    <a:latin typeface="Bahnschrift" panose="020B0502040204020203" pitchFamily="34" charset="0"/>
                  </a:rPr>
                  <a:t>Se deben encontrar entonces expresiones en las cuales se tenga a las variables desconocidas en función de las conocidas.</a:t>
                </a:r>
              </a:p>
            </p:txBody>
          </p:sp>
        </mc:Choice>
        <mc:Fallback xmlns="">
          <p:sp>
            <p:nvSpPr>
              <p:cNvPr id="26" name="Marcador de contenido 2">
                <a:extLst>
                  <a:ext uri="{FF2B5EF4-FFF2-40B4-BE49-F238E27FC236}">
                    <a16:creationId xmlns:a16="http://schemas.microsoft.com/office/drawing/2014/main" id="{74B836FA-1AB9-41BE-82B2-0D155907BF4B}"/>
                  </a:ext>
                </a:extLst>
              </p:cNvPr>
              <p:cNvSpPr txBox="1">
                <a:spLocks noRot="1" noChangeAspect="1" noMove="1" noResize="1" noEditPoints="1" noAdjustHandles="1" noChangeArrowheads="1" noChangeShapeType="1" noTextEdit="1"/>
              </p:cNvSpPr>
              <p:nvPr/>
            </p:nvSpPr>
            <p:spPr>
              <a:xfrm>
                <a:off x="326737" y="1411304"/>
                <a:ext cx="10647322" cy="933216"/>
              </a:xfrm>
              <a:prstGeom prst="rect">
                <a:avLst/>
              </a:prstGeom>
              <a:blipFill>
                <a:blip r:embed="rId2"/>
                <a:stretch>
                  <a:fillRect t="-2614" r="-172" b="-326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5FCD022D-703F-4C9E-B46B-587ACCEB8C45}"/>
                  </a:ext>
                </a:extLst>
              </p:cNvPr>
              <p:cNvSpPr txBox="1"/>
              <p:nvPr/>
            </p:nvSpPr>
            <p:spPr>
              <a:xfrm>
                <a:off x="1305305" y="2459934"/>
                <a:ext cx="42191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e>
                      </m:d>
                    </m:oMath>
                  </m:oMathPara>
                </a14:m>
                <a:endParaRPr lang="es-AR" dirty="0"/>
              </a:p>
            </p:txBody>
          </p:sp>
        </mc:Choice>
        <mc:Fallback xmlns="">
          <p:sp>
            <p:nvSpPr>
              <p:cNvPr id="27" name="CuadroTexto 26">
                <a:extLst>
                  <a:ext uri="{FF2B5EF4-FFF2-40B4-BE49-F238E27FC236}">
                    <a16:creationId xmlns:a16="http://schemas.microsoft.com/office/drawing/2014/main" id="{5FCD022D-703F-4C9E-B46B-587ACCEB8C45}"/>
                  </a:ext>
                </a:extLst>
              </p:cNvPr>
              <p:cNvSpPr txBox="1">
                <a:spLocks noRot="1" noChangeAspect="1" noMove="1" noResize="1" noEditPoints="1" noAdjustHandles="1" noChangeArrowheads="1" noChangeShapeType="1" noTextEdit="1"/>
              </p:cNvSpPr>
              <p:nvPr/>
            </p:nvSpPr>
            <p:spPr>
              <a:xfrm>
                <a:off x="1305305" y="2459934"/>
                <a:ext cx="4219195" cy="369332"/>
              </a:xfrm>
              <a:prstGeom prst="rect">
                <a:avLst/>
              </a:prstGeom>
              <a:blipFill>
                <a:blip r:embed="rId3"/>
                <a:stretch>
                  <a:fillRect b="-8333"/>
                </a:stretch>
              </a:blipFill>
            </p:spPr>
            <p:txBody>
              <a:bodyPr/>
              <a:lstStyle/>
              <a:p>
                <a:r>
                  <a:rPr lang="es-AR">
                    <a:noFill/>
                  </a:rPr>
                  <a:t> </a:t>
                </a:r>
              </a:p>
            </p:txBody>
          </p:sp>
        </mc:Fallback>
      </mc:AlternateContent>
      <p:sp>
        <p:nvSpPr>
          <p:cNvPr id="29" name="Marcador de contenido 2">
            <a:extLst>
              <a:ext uri="{FF2B5EF4-FFF2-40B4-BE49-F238E27FC236}">
                <a16:creationId xmlns:a16="http://schemas.microsoft.com/office/drawing/2014/main" id="{43F533BD-6BA0-472B-AF26-2E8AA68B27D0}"/>
              </a:ext>
            </a:extLst>
          </p:cNvPr>
          <p:cNvSpPr txBox="1">
            <a:spLocks/>
          </p:cNvSpPr>
          <p:nvPr/>
        </p:nvSpPr>
        <p:spPr>
          <a:xfrm>
            <a:off x="326738" y="3032869"/>
            <a:ext cx="10647322" cy="60699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El procedimiento a seguir para encontrar estas ecuaciones es el mismo que para posición, por lo que </a:t>
            </a:r>
            <a:r>
              <a:rPr lang="es-AR" sz="1400" dirty="0">
                <a:highlight>
                  <a:srgbClr val="FFC000"/>
                </a:highlight>
                <a:latin typeface="Bahnschrift" panose="020B0502040204020203" pitchFamily="34" charset="0"/>
              </a:rPr>
              <a:t>se introduce la identidad de Euler </a:t>
            </a:r>
            <a:r>
              <a:rPr lang="es-AR" sz="1400" dirty="0">
                <a:latin typeface="Bahnschrift" panose="020B0502040204020203" pitchFamily="34" charset="0"/>
              </a:rPr>
              <a:t>en la ecuación de velocidad.</a:t>
            </a:r>
          </a:p>
        </p:txBody>
      </p:sp>
      <p:sp>
        <p:nvSpPr>
          <p:cNvPr id="33" name="Marcador de contenido 2">
            <a:extLst>
              <a:ext uri="{FF2B5EF4-FFF2-40B4-BE49-F238E27FC236}">
                <a16:creationId xmlns:a16="http://schemas.microsoft.com/office/drawing/2014/main" id="{327E9053-AD3E-4853-83CC-FF8FF208FC56}"/>
              </a:ext>
            </a:extLst>
          </p:cNvPr>
          <p:cNvSpPr txBox="1">
            <a:spLocks/>
          </p:cNvSpPr>
          <p:nvPr/>
        </p:nvSpPr>
        <p:spPr>
          <a:xfrm>
            <a:off x="326735" y="4824826"/>
            <a:ext cx="10647324"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En cada termino de la velocidad </a:t>
            </a:r>
            <a:r>
              <a:rPr lang="es-AR" sz="1400" dirty="0">
                <a:highlight>
                  <a:srgbClr val="FFC000"/>
                </a:highlight>
                <a:latin typeface="Bahnschrift" panose="020B0502040204020203" pitchFamily="34" charset="0"/>
              </a:rPr>
              <a:t>se introduce el operador j </a:t>
            </a:r>
            <a:r>
              <a:rPr lang="es-AR" sz="1400" dirty="0">
                <a:latin typeface="Bahnschrift" panose="020B0502040204020203" pitchFamily="34" charset="0"/>
              </a:rPr>
              <a:t>dentro del paréntesis. </a:t>
            </a:r>
          </a:p>
        </p:txBody>
      </p: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051D1CC1-FDBE-45C9-8E34-34F144DC33DC}"/>
                  </a:ext>
                </a:extLst>
              </p:cNvPr>
              <p:cNvSpPr txBox="1"/>
              <p:nvPr/>
            </p:nvSpPr>
            <p:spPr>
              <a:xfrm>
                <a:off x="5499896" y="2459934"/>
                <a:ext cx="45335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e>
                      </m:d>
                    </m:oMath>
                  </m:oMathPara>
                </a14:m>
                <a:endParaRPr lang="es-AR" dirty="0"/>
              </a:p>
            </p:txBody>
          </p:sp>
        </mc:Choice>
        <mc:Fallback xmlns="">
          <p:sp>
            <p:nvSpPr>
              <p:cNvPr id="35" name="CuadroTexto 34">
                <a:extLst>
                  <a:ext uri="{FF2B5EF4-FFF2-40B4-BE49-F238E27FC236}">
                    <a16:creationId xmlns:a16="http://schemas.microsoft.com/office/drawing/2014/main" id="{051D1CC1-FDBE-45C9-8E34-34F144DC33DC}"/>
                  </a:ext>
                </a:extLst>
              </p:cNvPr>
              <p:cNvSpPr txBox="1">
                <a:spLocks noRot="1" noChangeAspect="1" noMove="1" noResize="1" noEditPoints="1" noAdjustHandles="1" noChangeArrowheads="1" noChangeShapeType="1" noTextEdit="1"/>
              </p:cNvSpPr>
              <p:nvPr/>
            </p:nvSpPr>
            <p:spPr>
              <a:xfrm>
                <a:off x="5499896" y="2459934"/>
                <a:ext cx="4533520" cy="369332"/>
              </a:xfrm>
              <a:prstGeom prst="rect">
                <a:avLst/>
              </a:prstGeom>
              <a:blipFill>
                <a:blip r:embed="rId4"/>
                <a:stretch>
                  <a:fillRect b="-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A1F758F0-1806-4028-896D-527458402B7A}"/>
                  </a:ext>
                </a:extLst>
              </p:cNvPr>
              <p:cNvSpPr txBox="1"/>
              <p:nvPr/>
            </p:nvSpPr>
            <p:spPr>
              <a:xfrm>
                <a:off x="2027635" y="3748931"/>
                <a:ext cx="4295860"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rPr>
                        <m:t>=0</m:t>
                      </m:r>
                    </m:oMath>
                  </m:oMathPara>
                </a14:m>
                <a:endParaRPr lang="es-AR" dirty="0"/>
              </a:p>
            </p:txBody>
          </p:sp>
        </mc:Choice>
        <mc:Fallback xmlns="">
          <p:sp>
            <p:nvSpPr>
              <p:cNvPr id="41" name="CuadroTexto 40">
                <a:extLst>
                  <a:ext uri="{FF2B5EF4-FFF2-40B4-BE49-F238E27FC236}">
                    <a16:creationId xmlns:a16="http://schemas.microsoft.com/office/drawing/2014/main" id="{A1F758F0-1806-4028-896D-527458402B7A}"/>
                  </a:ext>
                </a:extLst>
              </p:cNvPr>
              <p:cNvSpPr txBox="1">
                <a:spLocks noRot="1" noChangeAspect="1" noMove="1" noResize="1" noEditPoints="1" noAdjustHandles="1" noChangeArrowheads="1" noChangeShapeType="1" noTextEdit="1"/>
              </p:cNvSpPr>
              <p:nvPr/>
            </p:nvSpPr>
            <p:spPr>
              <a:xfrm>
                <a:off x="2027635" y="3748931"/>
                <a:ext cx="4295860" cy="381451"/>
              </a:xfrm>
              <a:prstGeom prst="rect">
                <a:avLst/>
              </a:prstGeom>
              <a:blipFill>
                <a:blip r:embed="rId5"/>
                <a:stretch>
                  <a:fillRect b="-1269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E9E33A0E-0A9E-4D91-B6A2-31F8792D8ECD}"/>
                  </a:ext>
                </a:extLst>
              </p:cNvPr>
              <p:cNvSpPr txBox="1"/>
              <p:nvPr/>
            </p:nvSpPr>
            <p:spPr>
              <a:xfrm>
                <a:off x="6582694" y="3761714"/>
                <a:ext cx="2580163"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r>
                            <a:rPr lang="en-US" b="0" i="1" smtClean="0">
                              <a:latin typeface="Cambria Math" panose="02040503050406030204" pitchFamily="18" charset="0"/>
                              <a:ea typeface="Cambria Math" panose="02040503050406030204" pitchFamily="18" charset="0"/>
                            </a:rPr>
                            <m:t>𝜃</m:t>
                          </m:r>
                        </m:e>
                      </m:func>
                    </m:oMath>
                  </m:oMathPara>
                </a14:m>
                <a:endParaRPr lang="es-AR" dirty="0"/>
              </a:p>
            </p:txBody>
          </p:sp>
        </mc:Choice>
        <mc:Fallback xmlns="">
          <p:sp>
            <p:nvSpPr>
              <p:cNvPr id="42" name="CuadroTexto 41">
                <a:extLst>
                  <a:ext uri="{FF2B5EF4-FFF2-40B4-BE49-F238E27FC236}">
                    <a16:creationId xmlns:a16="http://schemas.microsoft.com/office/drawing/2014/main" id="{E9E33A0E-0A9E-4D91-B6A2-31F8792D8ECD}"/>
                  </a:ext>
                </a:extLst>
              </p:cNvPr>
              <p:cNvSpPr txBox="1">
                <a:spLocks noRot="1" noChangeAspect="1" noMove="1" noResize="1" noEditPoints="1" noAdjustHandles="1" noChangeArrowheads="1" noChangeShapeType="1" noTextEdit="1"/>
              </p:cNvSpPr>
              <p:nvPr/>
            </p:nvSpPr>
            <p:spPr>
              <a:xfrm>
                <a:off x="6582694" y="3761714"/>
                <a:ext cx="2580163" cy="381451"/>
              </a:xfrm>
              <a:prstGeom prst="rect">
                <a:avLst/>
              </a:prstGeom>
              <a:blipFill>
                <a:blip r:embed="rId6"/>
                <a:stretch>
                  <a:fillRect b="-1428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3AEDEFF7-AAB1-42AC-8BA5-A08D22FE24B2}"/>
                  </a:ext>
                </a:extLst>
              </p:cNvPr>
              <p:cNvSpPr txBox="1"/>
              <p:nvPr/>
            </p:nvSpPr>
            <p:spPr>
              <a:xfrm>
                <a:off x="1503664" y="4210001"/>
                <a:ext cx="829346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r>
                        <a:rPr lang="en-US" i="1" smtClean="0">
                          <a:latin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r>
                        <a:rPr lang="en-US" i="1" smtClean="0">
                          <a:latin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𝑐</m:t>
                      </m:r>
                      <m:r>
                        <a:rPr lang="en-US" i="1" smtClean="0">
                          <a:latin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func>
                      <m:r>
                        <a:rPr lang="en-US" b="0" i="1" smtClean="0">
                          <a:latin typeface="Cambria Math" panose="02040503050406030204" pitchFamily="18" charset="0"/>
                        </a:rPr>
                        <m:t>)=0</m:t>
                      </m:r>
                    </m:oMath>
                  </m:oMathPara>
                </a14:m>
                <a:endParaRPr lang="es-AR" dirty="0"/>
              </a:p>
            </p:txBody>
          </p:sp>
        </mc:Choice>
        <mc:Fallback xmlns="">
          <p:sp>
            <p:nvSpPr>
              <p:cNvPr id="43" name="CuadroTexto 42">
                <a:extLst>
                  <a:ext uri="{FF2B5EF4-FFF2-40B4-BE49-F238E27FC236}">
                    <a16:creationId xmlns:a16="http://schemas.microsoft.com/office/drawing/2014/main" id="{3AEDEFF7-AAB1-42AC-8BA5-A08D22FE24B2}"/>
                  </a:ext>
                </a:extLst>
              </p:cNvPr>
              <p:cNvSpPr txBox="1">
                <a:spLocks noRot="1" noChangeAspect="1" noMove="1" noResize="1" noEditPoints="1" noAdjustHandles="1" noChangeArrowheads="1" noChangeShapeType="1" noTextEdit="1"/>
              </p:cNvSpPr>
              <p:nvPr/>
            </p:nvSpPr>
            <p:spPr>
              <a:xfrm>
                <a:off x="1503664" y="4210001"/>
                <a:ext cx="8293461" cy="369332"/>
              </a:xfrm>
              <a:prstGeom prst="rect">
                <a:avLst/>
              </a:prstGeom>
              <a:blipFill>
                <a:blip r:embed="rId7"/>
                <a:stretch>
                  <a:fillRect b="-15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F14E50AE-4BFE-45E7-9029-9A7AFD963E6F}"/>
                  </a:ext>
                </a:extLst>
              </p:cNvPr>
              <p:cNvSpPr txBox="1"/>
              <p:nvPr/>
            </p:nvSpPr>
            <p:spPr>
              <a:xfrm>
                <a:off x="587354" y="5197553"/>
                <a:ext cx="101260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d>
                        <m:dPr>
                          <m:ctrlPr>
                            <a:rPr lang="en-US" i="1" smtClean="0">
                              <a:latin typeface="Cambria Math" panose="02040503050406030204" pitchFamily="18" charset="0"/>
                            </a:rPr>
                          </m:ctrlPr>
                        </m:dPr>
                        <m:e>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2</m:t>
                              </m:r>
                            </m:sup>
                          </m:sSup>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2</m:t>
                              </m:r>
                            </m:sup>
                          </m:sSup>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𝑐</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func>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2</m:t>
                              </m:r>
                            </m:sup>
                          </m:sSup>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func>
                        </m:e>
                      </m:d>
                      <m:r>
                        <a:rPr lang="en-US" b="0" i="1" smtClean="0">
                          <a:latin typeface="Cambria Math" panose="02040503050406030204" pitchFamily="18" charset="0"/>
                        </a:rPr>
                        <m:t>=0  ;       </m:t>
                      </m:r>
                      <m:r>
                        <a:rPr lang="en-US" b="0" i="1" smtClean="0">
                          <a:latin typeface="Cambria Math" panose="02040503050406030204" pitchFamily="18" charset="0"/>
                        </a:rPr>
                        <m:t>𝑠𝑖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𝑗</m:t>
                          </m:r>
                        </m:e>
                        <m:sup>
                          <m:r>
                            <a:rPr lang="en-US" b="0" i="1" smtClean="0">
                              <a:latin typeface="Cambria Math" panose="02040503050406030204" pitchFamily="18" charset="0"/>
                            </a:rPr>
                            <m:t>2</m:t>
                          </m:r>
                        </m:sup>
                      </m:sSup>
                      <m:r>
                        <a:rPr lang="en-US" b="0" i="1" smtClean="0">
                          <a:latin typeface="Cambria Math" panose="02040503050406030204" pitchFamily="18" charset="0"/>
                        </a:rPr>
                        <m:t>=−1</m:t>
                      </m:r>
                    </m:oMath>
                  </m:oMathPara>
                </a14:m>
                <a:endParaRPr lang="es-AR" dirty="0"/>
              </a:p>
            </p:txBody>
          </p:sp>
        </mc:Choice>
        <mc:Fallback xmlns="">
          <p:sp>
            <p:nvSpPr>
              <p:cNvPr id="44" name="CuadroTexto 43">
                <a:extLst>
                  <a:ext uri="{FF2B5EF4-FFF2-40B4-BE49-F238E27FC236}">
                    <a16:creationId xmlns:a16="http://schemas.microsoft.com/office/drawing/2014/main" id="{F14E50AE-4BFE-45E7-9029-9A7AFD963E6F}"/>
                  </a:ext>
                </a:extLst>
              </p:cNvPr>
              <p:cNvSpPr txBox="1">
                <a:spLocks noRot="1" noChangeAspect="1" noMove="1" noResize="1" noEditPoints="1" noAdjustHandles="1" noChangeArrowheads="1" noChangeShapeType="1" noTextEdit="1"/>
              </p:cNvSpPr>
              <p:nvPr/>
            </p:nvSpPr>
            <p:spPr>
              <a:xfrm>
                <a:off x="587354" y="5197553"/>
                <a:ext cx="10126082" cy="369332"/>
              </a:xfrm>
              <a:prstGeom prst="rect">
                <a:avLst/>
              </a:prstGeom>
              <a:blipFill>
                <a:blip r:embed="rId8"/>
                <a:stretch>
                  <a:fillRect b="-15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62DBBBA3-2CA7-4297-9366-357D7774517A}"/>
                  </a:ext>
                </a:extLst>
              </p:cNvPr>
              <p:cNvSpPr txBox="1"/>
              <p:nvPr/>
            </p:nvSpPr>
            <p:spPr>
              <a:xfrm>
                <a:off x="587354" y="5688540"/>
                <a:ext cx="101260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d>
                        <m:dPr>
                          <m:ctrlPr>
                            <a:rPr lang="en-US" i="1" smtClean="0">
                              <a:latin typeface="Cambria Math" panose="02040503050406030204" pitchFamily="18" charset="0"/>
                            </a:rPr>
                          </m:ctrlPr>
                        </m:dPr>
                        <m:e>
                          <m:r>
                            <a:rPr lang="en-US" b="0" i="1" smtClean="0">
                              <a:latin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𝑐</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e>
                          </m:func>
                        </m:e>
                      </m:d>
                      <m:r>
                        <a:rPr lang="en-US" b="0" i="1" smtClean="0">
                          <a:latin typeface="Cambria Math" panose="02040503050406030204" pitchFamily="18" charset="0"/>
                        </a:rPr>
                        <m:t>=0</m:t>
                      </m:r>
                    </m:oMath>
                  </m:oMathPara>
                </a14:m>
                <a:endParaRPr lang="es-AR" dirty="0"/>
              </a:p>
            </p:txBody>
          </p:sp>
        </mc:Choice>
        <mc:Fallback xmlns="">
          <p:sp>
            <p:nvSpPr>
              <p:cNvPr id="45" name="CuadroTexto 44">
                <a:extLst>
                  <a:ext uri="{FF2B5EF4-FFF2-40B4-BE49-F238E27FC236}">
                    <a16:creationId xmlns:a16="http://schemas.microsoft.com/office/drawing/2014/main" id="{62DBBBA3-2CA7-4297-9366-357D7774517A}"/>
                  </a:ext>
                </a:extLst>
              </p:cNvPr>
              <p:cNvSpPr txBox="1">
                <a:spLocks noRot="1" noChangeAspect="1" noMove="1" noResize="1" noEditPoints="1" noAdjustHandles="1" noChangeArrowheads="1" noChangeShapeType="1" noTextEdit="1"/>
              </p:cNvSpPr>
              <p:nvPr/>
            </p:nvSpPr>
            <p:spPr>
              <a:xfrm>
                <a:off x="587354" y="5688540"/>
                <a:ext cx="10126082" cy="369332"/>
              </a:xfrm>
              <a:prstGeom prst="rect">
                <a:avLst/>
              </a:prstGeom>
              <a:blipFill>
                <a:blip r:embed="rId9"/>
                <a:stretch>
                  <a:fillRect b="-14754"/>
                </a:stretch>
              </a:blipFill>
            </p:spPr>
            <p:txBody>
              <a:bodyPr/>
              <a:lstStyle/>
              <a:p>
                <a:r>
                  <a:rPr lang="es-AR">
                    <a:noFill/>
                  </a:rPr>
                  <a:t> </a:t>
                </a:r>
              </a:p>
            </p:txBody>
          </p:sp>
        </mc:Fallback>
      </mc:AlternateContent>
    </p:spTree>
    <p:extLst>
      <p:ext uri="{BB962C8B-B14F-4D97-AF65-F5344CB8AC3E}">
        <p14:creationId xmlns:p14="http://schemas.microsoft.com/office/powerpoint/2010/main" val="350961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9" grpId="0"/>
      <p:bldP spid="33" grpId="0"/>
      <p:bldP spid="35" grpId="0"/>
      <p:bldP spid="41" grpId="0"/>
      <p:bldP spid="42" grpId="0"/>
      <p:bldP spid="43" grpId="0"/>
      <p:bldP spid="44" grpId="0"/>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34547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4144603"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DETERMINACIÓN ANALÍTICA</a:t>
            </a:r>
          </a:p>
        </p:txBody>
      </p:sp>
      <p:sp>
        <p:nvSpPr>
          <p:cNvPr id="10" name="Marcador de contenido 2">
            <a:extLst>
              <a:ext uri="{FF2B5EF4-FFF2-40B4-BE49-F238E27FC236}">
                <a16:creationId xmlns:a16="http://schemas.microsoft.com/office/drawing/2014/main" id="{49A7EF95-9529-4287-B7CF-F670F46BA820}"/>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18" name="Marcador de contenido 2">
            <a:extLst>
              <a:ext uri="{FF2B5EF4-FFF2-40B4-BE49-F238E27FC236}">
                <a16:creationId xmlns:a16="http://schemas.microsoft.com/office/drawing/2014/main" id="{2F68E04D-DB79-4E7C-B8FD-96FE8B510CCD}"/>
              </a:ext>
            </a:extLst>
          </p:cNvPr>
          <p:cNvSpPr txBox="1">
            <a:spLocks/>
          </p:cNvSpPr>
          <p:nvPr/>
        </p:nvSpPr>
        <p:spPr>
          <a:xfrm>
            <a:off x="229807" y="1360137"/>
            <a:ext cx="10647323" cy="50728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A continuación se separa parte imaginaria de parte real para generar un sistema de ecuaciones lineales que permitan resolver y encontrar los valores de </a:t>
            </a:r>
            <a:r>
              <a:rPr lang="el-GR" sz="1400" dirty="0">
                <a:latin typeface="Cambria Math" panose="02040503050406030204" pitchFamily="18" charset="0"/>
                <a:ea typeface="Cambria Math" panose="02040503050406030204" pitchFamily="18" charset="0"/>
              </a:rPr>
              <a:t>ω</a:t>
            </a:r>
            <a:r>
              <a:rPr lang="en-US" sz="1400" baseline="-25000" dirty="0">
                <a:latin typeface="Cambria Math" panose="02040503050406030204" pitchFamily="18" charset="0"/>
                <a:ea typeface="Cambria Math" panose="02040503050406030204" pitchFamily="18" charset="0"/>
              </a:rPr>
              <a:t>3</a:t>
            </a:r>
            <a:r>
              <a:rPr lang="es-AR" sz="1400" dirty="0">
                <a:latin typeface="Bahnschrift" panose="020B0502040204020203" pitchFamily="34" charset="0"/>
              </a:rPr>
              <a:t> y </a:t>
            </a:r>
            <a:r>
              <a:rPr lang="el-GR" sz="1400" dirty="0">
                <a:latin typeface="Cambria Math" panose="02040503050406030204" pitchFamily="18" charset="0"/>
                <a:ea typeface="Cambria Math" panose="02040503050406030204" pitchFamily="18" charset="0"/>
              </a:rPr>
              <a:t>ω</a:t>
            </a:r>
            <a:r>
              <a:rPr lang="en-US" sz="1400" baseline="-25000" dirty="0">
                <a:latin typeface="Cambria Math" panose="02040503050406030204" pitchFamily="18" charset="0"/>
                <a:ea typeface="Cambria Math" panose="02040503050406030204" pitchFamily="18" charset="0"/>
              </a:rPr>
              <a:t>4</a:t>
            </a:r>
            <a:r>
              <a:rPr lang="en-US" sz="1400" dirty="0">
                <a:latin typeface="Cambria Math" panose="02040503050406030204" pitchFamily="18" charset="0"/>
                <a:ea typeface="Cambria Math" panose="02040503050406030204" pitchFamily="18" charset="0"/>
              </a:rPr>
              <a:t>.</a:t>
            </a: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9AE2421-488F-4599-9507-8595845B3210}"/>
                  </a:ext>
                </a:extLst>
              </p:cNvPr>
              <p:cNvSpPr txBox="1"/>
              <p:nvPr/>
            </p:nvSpPr>
            <p:spPr>
              <a:xfrm>
                <a:off x="4405796" y="1931416"/>
                <a:ext cx="4531102" cy="3744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𝑐</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4</m:t>
                          </m:r>
                        </m:sub>
                      </m:sSub>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e>
                      </m:func>
                      <m:r>
                        <a:rPr lang="en-US" b="0" i="1" smtClean="0">
                          <a:latin typeface="Cambria Math" panose="02040503050406030204" pitchFamily="18" charset="0"/>
                        </a:rPr>
                        <m:t>=0</m:t>
                      </m:r>
                    </m:oMath>
                  </m:oMathPara>
                </a14:m>
                <a:endParaRPr lang="es-AR" dirty="0"/>
              </a:p>
            </p:txBody>
          </p:sp>
        </mc:Choice>
        <mc:Fallback xmlns="">
          <p:sp>
            <p:nvSpPr>
              <p:cNvPr id="19" name="CuadroTexto 18">
                <a:extLst>
                  <a:ext uri="{FF2B5EF4-FFF2-40B4-BE49-F238E27FC236}">
                    <a16:creationId xmlns:a16="http://schemas.microsoft.com/office/drawing/2014/main" id="{B9AE2421-488F-4599-9507-8595845B3210}"/>
                  </a:ext>
                </a:extLst>
              </p:cNvPr>
              <p:cNvSpPr txBox="1">
                <a:spLocks noRot="1" noChangeAspect="1" noMove="1" noResize="1" noEditPoints="1" noAdjustHandles="1" noChangeArrowheads="1" noChangeShapeType="1" noTextEdit="1"/>
              </p:cNvSpPr>
              <p:nvPr/>
            </p:nvSpPr>
            <p:spPr>
              <a:xfrm>
                <a:off x="4405796" y="1931416"/>
                <a:ext cx="4531102" cy="374461"/>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B3C1FF4-FC31-4EE2-9ED8-EF996943E931}"/>
                  </a:ext>
                </a:extLst>
              </p:cNvPr>
              <p:cNvSpPr txBox="1"/>
              <p:nvPr/>
            </p:nvSpPr>
            <p:spPr>
              <a:xfrm>
                <a:off x="4405796" y="2358032"/>
                <a:ext cx="4531102" cy="3744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4</m:t>
                          </m:r>
                        </m:sub>
                      </m:sSub>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4</m:t>
                              </m:r>
                            </m:sub>
                          </m:sSub>
                        </m:e>
                      </m:func>
                      <m:r>
                        <a:rPr lang="en-US" b="0" i="1" smtClean="0">
                          <a:latin typeface="Cambria Math" panose="02040503050406030204" pitchFamily="18" charset="0"/>
                        </a:rPr>
                        <m:t>=0</m:t>
                      </m:r>
                    </m:oMath>
                  </m:oMathPara>
                </a14:m>
                <a:endParaRPr lang="es-AR" dirty="0"/>
              </a:p>
            </p:txBody>
          </p:sp>
        </mc:Choice>
        <mc:Fallback xmlns="">
          <p:sp>
            <p:nvSpPr>
              <p:cNvPr id="20" name="CuadroTexto 19">
                <a:extLst>
                  <a:ext uri="{FF2B5EF4-FFF2-40B4-BE49-F238E27FC236}">
                    <a16:creationId xmlns:a16="http://schemas.microsoft.com/office/drawing/2014/main" id="{DB3C1FF4-FC31-4EE2-9ED8-EF996943E931}"/>
                  </a:ext>
                </a:extLst>
              </p:cNvPr>
              <p:cNvSpPr txBox="1">
                <a:spLocks noRot="1" noChangeAspect="1" noMove="1" noResize="1" noEditPoints="1" noAdjustHandles="1" noChangeArrowheads="1" noChangeShapeType="1" noTextEdit="1"/>
              </p:cNvSpPr>
              <p:nvPr/>
            </p:nvSpPr>
            <p:spPr>
              <a:xfrm>
                <a:off x="4405796" y="2358032"/>
                <a:ext cx="4531102" cy="374461"/>
              </a:xfrm>
              <a:prstGeom prst="rect">
                <a:avLst/>
              </a:prstGeom>
              <a:blipFill>
                <a:blip r:embed="rId3"/>
                <a:stretch>
                  <a:fillRect/>
                </a:stretch>
              </a:blipFill>
            </p:spPr>
            <p:txBody>
              <a:bodyPr/>
              <a:lstStyle/>
              <a:p>
                <a:r>
                  <a:rPr lang="es-AR">
                    <a:noFill/>
                  </a:rPr>
                  <a:t> </a:t>
                </a:r>
              </a:p>
            </p:txBody>
          </p:sp>
        </mc:Fallback>
      </mc:AlternateContent>
      <p:sp>
        <p:nvSpPr>
          <p:cNvPr id="28" name="Marcador de contenido 2">
            <a:extLst>
              <a:ext uri="{FF2B5EF4-FFF2-40B4-BE49-F238E27FC236}">
                <a16:creationId xmlns:a16="http://schemas.microsoft.com/office/drawing/2014/main" id="{353E0F33-07FB-48AB-9A86-0B8EA0D52C45}"/>
              </a:ext>
            </a:extLst>
          </p:cNvPr>
          <p:cNvSpPr txBox="1">
            <a:spLocks/>
          </p:cNvSpPr>
          <p:nvPr/>
        </p:nvSpPr>
        <p:spPr>
          <a:xfrm>
            <a:off x="2561343" y="1951819"/>
            <a:ext cx="2225447"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REAL (X)</a:t>
            </a:r>
            <a:endParaRPr lang="en-US" sz="1600" dirty="0">
              <a:latin typeface="Bahnschrift" panose="020B0502040204020203" pitchFamily="34" charset="0"/>
              <a:sym typeface="Wingdings" panose="05000000000000000000" pitchFamily="2" charset="2"/>
            </a:endParaRPr>
          </a:p>
        </p:txBody>
      </p:sp>
      <p:sp>
        <p:nvSpPr>
          <p:cNvPr id="30" name="Marcador de contenido 2">
            <a:extLst>
              <a:ext uri="{FF2B5EF4-FFF2-40B4-BE49-F238E27FC236}">
                <a16:creationId xmlns:a16="http://schemas.microsoft.com/office/drawing/2014/main" id="{915B9D71-4166-415B-A374-ED3E9C8A7685}"/>
              </a:ext>
            </a:extLst>
          </p:cNvPr>
          <p:cNvSpPr txBox="1">
            <a:spLocks/>
          </p:cNvSpPr>
          <p:nvPr/>
        </p:nvSpPr>
        <p:spPr>
          <a:xfrm>
            <a:off x="2212267" y="2388556"/>
            <a:ext cx="2317073"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IMAGINARIA (Y)</a:t>
            </a:r>
            <a:endParaRPr lang="en-US" sz="1600" dirty="0">
              <a:latin typeface="Bahnschrift" panose="020B0502040204020203" pitchFamily="34" charset="0"/>
              <a:sym typeface="Wingdings" panose="05000000000000000000" pitchFamily="2" charset="2"/>
            </a:endParaRPr>
          </a:p>
        </p:txBody>
      </p:sp>
    </p:spTree>
    <p:extLst>
      <p:ext uri="{BB962C8B-B14F-4D97-AF65-F5344CB8AC3E}">
        <p14:creationId xmlns:p14="http://schemas.microsoft.com/office/powerpoint/2010/main" val="412067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8" grpId="0"/>
      <p:bldP spid="3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34547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4144603"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DETERMINACIÓN ANALÍTICA</a:t>
            </a:r>
          </a:p>
        </p:txBody>
      </p:sp>
      <p:sp>
        <p:nvSpPr>
          <p:cNvPr id="12" name="Marcador de contenido 2">
            <a:extLst>
              <a:ext uri="{FF2B5EF4-FFF2-40B4-BE49-F238E27FC236}">
                <a16:creationId xmlns:a16="http://schemas.microsoft.com/office/drawing/2014/main" id="{F225BE66-DD40-4EF3-8EA4-41A2157B700F}"/>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13" name="Marcador de contenido 2">
            <a:extLst>
              <a:ext uri="{FF2B5EF4-FFF2-40B4-BE49-F238E27FC236}">
                <a16:creationId xmlns:a16="http://schemas.microsoft.com/office/drawing/2014/main" id="{D2E57FF1-C986-4192-B458-BB5A1942EA79}"/>
              </a:ext>
            </a:extLst>
          </p:cNvPr>
          <p:cNvSpPr txBox="1">
            <a:spLocks/>
          </p:cNvSpPr>
          <p:nvPr/>
        </p:nvSpPr>
        <p:spPr>
          <a:xfrm>
            <a:off x="326738" y="1766138"/>
            <a:ext cx="5595637" cy="159688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20000"/>
              </a:lnSpc>
              <a:buFontTx/>
              <a:buChar char="-"/>
            </a:pPr>
            <a:r>
              <a:rPr lang="es-AR" sz="1400" dirty="0">
                <a:latin typeface="Bahnschrift" panose="020B0502040204020203" pitchFamily="34" charset="0"/>
              </a:rPr>
              <a:t>Se realizara el análisis de velocidades considerando como variables conocidas las longitudes de los eslabones, las posiciones, y la velocidad angular del eslabón de entrada.</a:t>
            </a:r>
          </a:p>
          <a:p>
            <a:pPr algn="just">
              <a:buFontTx/>
              <a:buChar char="-"/>
            </a:pPr>
            <a:r>
              <a:rPr lang="es-AR" sz="1400" dirty="0">
                <a:latin typeface="Bahnschrift" panose="020B0502040204020203" pitchFamily="34" charset="0"/>
                <a:ea typeface="Cambria Math" panose="02040503050406030204" pitchFamily="18" charset="0"/>
              </a:rPr>
              <a:t>Al igual que para el caso de cuadrilátero articulado, se comienza planteando la ecuación de lazo cerrado.</a:t>
            </a:r>
          </a:p>
        </p:txBody>
      </p:sp>
      <p:sp>
        <p:nvSpPr>
          <p:cNvPr id="14" name="Marcador de contenido 2">
            <a:extLst>
              <a:ext uri="{FF2B5EF4-FFF2-40B4-BE49-F238E27FC236}">
                <a16:creationId xmlns:a16="http://schemas.microsoft.com/office/drawing/2014/main" id="{E2326E62-6D9F-410D-BD51-32F584A7D25D}"/>
              </a:ext>
            </a:extLst>
          </p:cNvPr>
          <p:cNvSpPr txBox="1">
            <a:spLocks/>
          </p:cNvSpPr>
          <p:nvPr/>
        </p:nvSpPr>
        <p:spPr>
          <a:xfrm>
            <a:off x="83486" y="4249035"/>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8856D00D-BF86-4387-99F6-37DDE74DEAD6}"/>
                  </a:ext>
                </a:extLst>
              </p:cNvPr>
              <p:cNvSpPr txBox="1"/>
              <p:nvPr/>
            </p:nvSpPr>
            <p:spPr>
              <a:xfrm>
                <a:off x="1721786" y="3552306"/>
                <a:ext cx="23189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m:oMathPara>
                </a14:m>
                <a:endParaRPr lang="es-AR" dirty="0"/>
              </a:p>
            </p:txBody>
          </p:sp>
        </mc:Choice>
        <mc:Fallback xmlns="">
          <p:sp>
            <p:nvSpPr>
              <p:cNvPr id="16" name="CuadroTexto 15">
                <a:extLst>
                  <a:ext uri="{FF2B5EF4-FFF2-40B4-BE49-F238E27FC236}">
                    <a16:creationId xmlns:a16="http://schemas.microsoft.com/office/drawing/2014/main" id="{8856D00D-BF86-4387-99F6-37DDE74DEAD6}"/>
                  </a:ext>
                </a:extLst>
              </p:cNvPr>
              <p:cNvSpPr txBox="1">
                <a:spLocks noRot="1" noChangeAspect="1" noMove="1" noResize="1" noEditPoints="1" noAdjustHandles="1" noChangeArrowheads="1" noChangeShapeType="1" noTextEdit="1"/>
              </p:cNvSpPr>
              <p:nvPr/>
            </p:nvSpPr>
            <p:spPr>
              <a:xfrm>
                <a:off x="1721786" y="3552306"/>
                <a:ext cx="2318905" cy="276999"/>
              </a:xfrm>
              <a:prstGeom prst="rect">
                <a:avLst/>
              </a:prstGeom>
              <a:blipFill>
                <a:blip r:embed="rId2"/>
                <a:stretch>
                  <a:fillRect l="-1575" r="-1575"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C3BE4E19-CF33-45E5-BC6B-7F7ACD4AA260}"/>
                  </a:ext>
                </a:extLst>
              </p:cNvPr>
              <p:cNvSpPr txBox="1"/>
              <p:nvPr/>
            </p:nvSpPr>
            <p:spPr>
              <a:xfrm>
                <a:off x="1068678" y="4236917"/>
                <a:ext cx="3721963"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sup>
                      </m:sSup>
                      <m:r>
                        <a:rPr lang="en-US" b="0" i="1" smtClean="0">
                          <a:latin typeface="Cambria Math" panose="02040503050406030204" pitchFamily="18" charset="0"/>
                        </a:rPr>
                        <m:t>=0</m:t>
                      </m:r>
                    </m:oMath>
                  </m:oMathPara>
                </a14:m>
                <a:endParaRPr lang="es-AR" dirty="0"/>
              </a:p>
            </p:txBody>
          </p:sp>
        </mc:Choice>
        <mc:Fallback xmlns="">
          <p:sp>
            <p:nvSpPr>
              <p:cNvPr id="17" name="CuadroTexto 16">
                <a:extLst>
                  <a:ext uri="{FF2B5EF4-FFF2-40B4-BE49-F238E27FC236}">
                    <a16:creationId xmlns:a16="http://schemas.microsoft.com/office/drawing/2014/main" id="{C3BE4E19-CF33-45E5-BC6B-7F7ACD4AA260}"/>
                  </a:ext>
                </a:extLst>
              </p:cNvPr>
              <p:cNvSpPr txBox="1">
                <a:spLocks noRot="1" noChangeAspect="1" noMove="1" noResize="1" noEditPoints="1" noAdjustHandles="1" noChangeArrowheads="1" noChangeShapeType="1" noTextEdit="1"/>
              </p:cNvSpPr>
              <p:nvPr/>
            </p:nvSpPr>
            <p:spPr>
              <a:xfrm>
                <a:off x="1068678" y="4236917"/>
                <a:ext cx="3721963" cy="381451"/>
              </a:xfrm>
              <a:prstGeom prst="rect">
                <a:avLst/>
              </a:prstGeom>
              <a:blipFill>
                <a:blip r:embed="rId3"/>
                <a:stretch>
                  <a:fillRect/>
                </a:stretch>
              </a:blipFill>
            </p:spPr>
            <p:txBody>
              <a:bodyPr/>
              <a:lstStyle/>
              <a:p>
                <a:r>
                  <a:rPr lang="es-AR">
                    <a:noFill/>
                  </a:rPr>
                  <a:t> </a:t>
                </a:r>
              </a:p>
            </p:txBody>
          </p:sp>
        </mc:Fallback>
      </mc:AlternateContent>
      <p:sp>
        <p:nvSpPr>
          <p:cNvPr id="18" name="Marcador de contenido 2">
            <a:extLst>
              <a:ext uri="{FF2B5EF4-FFF2-40B4-BE49-F238E27FC236}">
                <a16:creationId xmlns:a16="http://schemas.microsoft.com/office/drawing/2014/main" id="{B03E48E6-67E0-403E-8182-66098E7D44E9}"/>
              </a:ext>
            </a:extLst>
          </p:cNvPr>
          <p:cNvSpPr txBox="1">
            <a:spLocks/>
          </p:cNvSpPr>
          <p:nvPr/>
        </p:nvSpPr>
        <p:spPr>
          <a:xfrm>
            <a:off x="26336" y="4683558"/>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109EB4E-FB06-41D6-9544-698407966EF8}"/>
                  </a:ext>
                </a:extLst>
              </p:cNvPr>
              <p:cNvSpPr txBox="1"/>
              <p:nvPr/>
            </p:nvSpPr>
            <p:spPr>
              <a:xfrm>
                <a:off x="1153204" y="4630704"/>
                <a:ext cx="3721963" cy="385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r>
                        <a:rPr lang="en-US" b="0" i="0"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19" name="CuadroTexto 18">
                <a:extLst>
                  <a:ext uri="{FF2B5EF4-FFF2-40B4-BE49-F238E27FC236}">
                    <a16:creationId xmlns:a16="http://schemas.microsoft.com/office/drawing/2014/main" id="{D109EB4E-FB06-41D6-9544-698407966EF8}"/>
                  </a:ext>
                </a:extLst>
              </p:cNvPr>
              <p:cNvSpPr txBox="1">
                <a:spLocks noRot="1" noChangeAspect="1" noMove="1" noResize="1" noEditPoints="1" noAdjustHandles="1" noChangeArrowheads="1" noChangeShapeType="1" noTextEdit="1"/>
              </p:cNvSpPr>
              <p:nvPr/>
            </p:nvSpPr>
            <p:spPr>
              <a:xfrm>
                <a:off x="1153204" y="4630704"/>
                <a:ext cx="3721963" cy="385362"/>
              </a:xfrm>
              <a:prstGeom prst="rect">
                <a:avLst/>
              </a:prstGeom>
              <a:blipFill>
                <a:blip r:embed="rId4"/>
                <a:stretch>
                  <a:fillRect b="-14286"/>
                </a:stretch>
              </a:blipFill>
            </p:spPr>
            <p:txBody>
              <a:bodyPr/>
              <a:lstStyle/>
              <a:p>
                <a:r>
                  <a:rPr lang="es-AR">
                    <a:noFill/>
                  </a:rPr>
                  <a:t> </a:t>
                </a:r>
              </a:p>
            </p:txBody>
          </p:sp>
        </mc:Fallback>
      </mc:AlternateContent>
      <p:sp>
        <p:nvSpPr>
          <p:cNvPr id="20" name="Marcador de contenido 2">
            <a:extLst>
              <a:ext uri="{FF2B5EF4-FFF2-40B4-BE49-F238E27FC236}">
                <a16:creationId xmlns:a16="http://schemas.microsoft.com/office/drawing/2014/main" id="{5106AE19-77B6-4F77-9BDA-080AD7CB2D4C}"/>
              </a:ext>
            </a:extLst>
          </p:cNvPr>
          <p:cNvSpPr txBox="1">
            <a:spLocks/>
          </p:cNvSpPr>
          <p:nvPr/>
        </p:nvSpPr>
        <p:spPr>
          <a:xfrm>
            <a:off x="4615761" y="4590245"/>
            <a:ext cx="6674533" cy="52087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buNone/>
            </a:pPr>
            <a:r>
              <a:rPr lang="en-US" sz="1400" dirty="0">
                <a:latin typeface="Bahnschrift" panose="020B0502040204020203" pitchFamily="34" charset="0"/>
                <a:ea typeface="Cambria Math" panose="02040503050406030204" pitchFamily="18" charset="0"/>
              </a:rPr>
              <a:t>a</a:t>
            </a:r>
            <a:r>
              <a:rPr lang="es-AR" sz="1400" dirty="0">
                <a:latin typeface="Bahnschrift" panose="020B0502040204020203" pitchFamily="34" charset="0"/>
                <a:ea typeface="Cambria Math" panose="02040503050406030204" pitchFamily="18" charset="0"/>
              </a:rPr>
              <a:t>, b, c, θ</a:t>
            </a:r>
            <a:r>
              <a:rPr lang="es-AR" sz="1400" baseline="-25000" dirty="0">
                <a:latin typeface="Bahnschrift" panose="020B0502040204020203" pitchFamily="34" charset="0"/>
                <a:ea typeface="Cambria Math" panose="02040503050406030204" pitchFamily="18" charset="0"/>
              </a:rPr>
              <a:t>1</a:t>
            </a:r>
            <a:r>
              <a:rPr lang="es-AR" sz="1400" dirty="0">
                <a:latin typeface="Bahnschrift" panose="020B0502040204020203" pitchFamily="34" charset="0"/>
                <a:ea typeface="Cambria Math" panose="02040503050406030204" pitchFamily="18" charset="0"/>
              </a:rPr>
              <a:t> y θ</a:t>
            </a:r>
            <a:r>
              <a:rPr lang="es-AR" sz="1400" baseline="-25000" dirty="0">
                <a:latin typeface="Bahnschrift" panose="020B0502040204020203" pitchFamily="34" charset="0"/>
                <a:ea typeface="Cambria Math" panose="02040503050406030204" pitchFamily="18" charset="0"/>
              </a:rPr>
              <a:t>4</a:t>
            </a:r>
            <a:r>
              <a:rPr lang="es-AR" sz="1400" dirty="0">
                <a:latin typeface="Bahnschrift" panose="020B0502040204020203" pitchFamily="34" charset="0"/>
                <a:ea typeface="Cambria Math" panose="02040503050406030204" pitchFamily="18" charset="0"/>
              </a:rPr>
              <a:t> son constantes, mientras que d varia con el tiempo, y su derivada representa la velocidad de la corredera.</a:t>
            </a:r>
          </a:p>
        </p:txBody>
      </p:sp>
      <p:sp>
        <p:nvSpPr>
          <p:cNvPr id="30" name="Marcador de contenido 2">
            <a:extLst>
              <a:ext uri="{FF2B5EF4-FFF2-40B4-BE49-F238E27FC236}">
                <a16:creationId xmlns:a16="http://schemas.microsoft.com/office/drawing/2014/main" id="{DE0369A4-3BCE-4063-A049-285C931A7113}"/>
              </a:ext>
            </a:extLst>
          </p:cNvPr>
          <p:cNvSpPr txBox="1">
            <a:spLocks/>
          </p:cNvSpPr>
          <p:nvPr/>
        </p:nvSpPr>
        <p:spPr>
          <a:xfrm>
            <a:off x="-15805" y="1371232"/>
            <a:ext cx="3616844"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n-US" b="1" dirty="0">
                <a:solidFill>
                  <a:srgbClr val="FFC000"/>
                </a:solidFill>
                <a:latin typeface="Bahnschrift" panose="020B0502040204020203" pitchFamily="34" charset="0"/>
              </a:rPr>
              <a:t>MANIVELA BIELA CORREDERA</a:t>
            </a:r>
            <a:endParaRPr lang="es-AR" b="1" dirty="0">
              <a:solidFill>
                <a:srgbClr val="FFC000"/>
              </a:solidFill>
              <a:latin typeface="Bahnschrift" panose="020B0502040204020203" pitchFamily="34" charset="0"/>
            </a:endParaRPr>
          </a:p>
        </p:txBody>
      </p:sp>
      <p:pic>
        <p:nvPicPr>
          <p:cNvPr id="4" name="Imagen 3">
            <a:extLst>
              <a:ext uri="{FF2B5EF4-FFF2-40B4-BE49-F238E27FC236}">
                <a16:creationId xmlns:a16="http://schemas.microsoft.com/office/drawing/2014/main" id="{A90BC557-6B11-4C8B-90F4-E508A654057D}"/>
              </a:ext>
            </a:extLst>
          </p:cNvPr>
          <p:cNvPicPr>
            <a:picLocks noChangeAspect="1"/>
          </p:cNvPicPr>
          <p:nvPr/>
        </p:nvPicPr>
        <p:blipFill rotWithShape="1">
          <a:blip r:embed="rId5"/>
          <a:srcRect r="23509" b="9622"/>
          <a:stretch/>
        </p:blipFill>
        <p:spPr>
          <a:xfrm>
            <a:off x="6306993" y="969434"/>
            <a:ext cx="4917706" cy="2662758"/>
          </a:xfrm>
          <a:prstGeom prst="rect">
            <a:avLst/>
          </a:prstGeom>
        </p:spPr>
      </p:pic>
      <p:pic>
        <p:nvPicPr>
          <p:cNvPr id="5" name="Imagen 4">
            <a:extLst>
              <a:ext uri="{FF2B5EF4-FFF2-40B4-BE49-F238E27FC236}">
                <a16:creationId xmlns:a16="http://schemas.microsoft.com/office/drawing/2014/main" id="{87AC8B69-6A56-458B-9198-96DD574C6DB7}"/>
              </a:ext>
            </a:extLst>
          </p:cNvPr>
          <p:cNvPicPr>
            <a:picLocks noChangeAspect="1"/>
          </p:cNvPicPr>
          <p:nvPr/>
        </p:nvPicPr>
        <p:blipFill rotWithShape="1">
          <a:blip r:embed="rId5"/>
          <a:srcRect l="79904" t="35814" b="34986"/>
          <a:stretch/>
        </p:blipFill>
        <p:spPr>
          <a:xfrm>
            <a:off x="8273339" y="3630059"/>
            <a:ext cx="1455490" cy="969142"/>
          </a:xfrm>
          <a:prstGeom prst="rect">
            <a:avLst/>
          </a:prstGeom>
        </p:spPr>
      </p:pic>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B8D25126-6F06-463F-AABE-4E1391FDC7C2}"/>
                  </a:ext>
                </a:extLst>
              </p:cNvPr>
              <p:cNvSpPr txBox="1"/>
              <p:nvPr/>
            </p:nvSpPr>
            <p:spPr>
              <a:xfrm>
                <a:off x="1714184" y="5278113"/>
                <a:ext cx="67982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𝐴𝐵</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rPr>
                        <m:t>=0</m:t>
                      </m:r>
                      <m:r>
                        <a:rPr lang="en-US" b="0" i="0" smtClean="0">
                          <a:latin typeface="Cambria Math" panose="02040503050406030204" pitchFamily="18" charset="0"/>
                        </a:rPr>
                        <m:t>→</m:t>
                      </m:r>
                      <m:r>
                        <m:rPr>
                          <m:sty m:val="p"/>
                        </m:rPr>
                        <a:rPr lang="en-US" b="0" i="0" smtClean="0">
                          <a:latin typeface="Cambria Math" panose="02040503050406030204" pitchFamily="18" charset="0"/>
                        </a:rPr>
                        <m:t>Debido</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que</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BA</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AB</m:t>
                          </m:r>
                        </m:sub>
                      </m:sSub>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𝐵</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𝐵𝐴</m:t>
                          </m:r>
                        </m:sub>
                      </m:sSub>
                    </m:oMath>
                  </m:oMathPara>
                </a14:m>
                <a:endParaRPr lang="es-AR" dirty="0"/>
              </a:p>
            </p:txBody>
          </p:sp>
        </mc:Choice>
        <mc:Fallback xmlns="">
          <p:sp>
            <p:nvSpPr>
              <p:cNvPr id="33" name="CuadroTexto 32">
                <a:extLst>
                  <a:ext uri="{FF2B5EF4-FFF2-40B4-BE49-F238E27FC236}">
                    <a16:creationId xmlns:a16="http://schemas.microsoft.com/office/drawing/2014/main" id="{B8D25126-6F06-463F-AABE-4E1391FDC7C2}"/>
                  </a:ext>
                </a:extLst>
              </p:cNvPr>
              <p:cNvSpPr txBox="1">
                <a:spLocks noRot="1" noChangeAspect="1" noMove="1" noResize="1" noEditPoints="1" noAdjustHandles="1" noChangeArrowheads="1" noChangeShapeType="1" noTextEdit="1"/>
              </p:cNvSpPr>
              <p:nvPr/>
            </p:nvSpPr>
            <p:spPr>
              <a:xfrm>
                <a:off x="1714184" y="5278113"/>
                <a:ext cx="6798220" cy="369332"/>
              </a:xfrm>
              <a:prstGeom prst="rect">
                <a:avLst/>
              </a:prstGeom>
              <a:blipFill>
                <a:blip r:embed="rId6"/>
                <a:stretch>
                  <a:fillRect b="-8333"/>
                </a:stretch>
              </a:blipFill>
            </p:spPr>
            <p:txBody>
              <a:bodyPr/>
              <a:lstStyle/>
              <a:p>
                <a:r>
                  <a:rPr lang="es-AR">
                    <a:noFill/>
                  </a:rPr>
                  <a:t> </a:t>
                </a:r>
              </a:p>
            </p:txBody>
          </p:sp>
        </mc:Fallback>
      </mc:AlternateContent>
    </p:spTree>
    <p:extLst>
      <p:ext uri="{BB962C8B-B14F-4D97-AF65-F5344CB8AC3E}">
        <p14:creationId xmlns:p14="http://schemas.microsoft.com/office/powerpoint/2010/main" val="58865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ítulo 1">
            <a:extLst>
              <a:ext uri="{FF2B5EF4-FFF2-40B4-BE49-F238E27FC236}">
                <a16:creationId xmlns:a16="http://schemas.microsoft.com/office/drawing/2014/main" id="{3F0D5B22-2D2D-46EE-AD33-2D89B7B7B44F}"/>
              </a:ext>
            </a:extLst>
          </p:cNvPr>
          <p:cNvSpPr>
            <a:spLocks noGrp="1"/>
          </p:cNvSpPr>
          <p:nvPr>
            <p:ph type="title"/>
          </p:nvPr>
        </p:nvSpPr>
        <p:spPr>
          <a:xfrm>
            <a:off x="116312" y="234924"/>
            <a:ext cx="8578969" cy="684362"/>
          </a:xfrm>
        </p:spPr>
        <p:txBody>
          <a:bodyPr>
            <a:normAutofit fontScale="90000"/>
          </a:bodyPr>
          <a:lstStyle/>
          <a:p>
            <a:r>
              <a:rPr lang="es-AR" sz="6000" b="1" dirty="0">
                <a:latin typeface="Bahnschrift" panose="020B0502040204020203" pitchFamily="34" charset="0"/>
              </a:rPr>
              <a:t>ANÁLISIS DE VELOCIDAD</a:t>
            </a:r>
          </a:p>
        </p:txBody>
      </p:sp>
      <p:sp>
        <p:nvSpPr>
          <p:cNvPr id="22" name="Marcador de pie de página 2">
            <a:extLst>
              <a:ext uri="{FF2B5EF4-FFF2-40B4-BE49-F238E27FC236}">
                <a16:creationId xmlns:a16="http://schemas.microsoft.com/office/drawing/2014/main" id="{393E4E66-3F73-478C-8BB2-77648F7577A7}"/>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23" name="Rectángulo 22">
            <a:extLst>
              <a:ext uri="{FF2B5EF4-FFF2-40B4-BE49-F238E27FC236}">
                <a16:creationId xmlns:a16="http://schemas.microsoft.com/office/drawing/2014/main" id="{C9E12664-4AF2-43FB-8F9B-F2E60493BB58}"/>
              </a:ext>
            </a:extLst>
          </p:cNvPr>
          <p:cNvSpPr/>
          <p:nvPr/>
        </p:nvSpPr>
        <p:spPr>
          <a:xfrm>
            <a:off x="-2" y="853440"/>
            <a:ext cx="4345471"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Marcador de contenido 2">
            <a:extLst>
              <a:ext uri="{FF2B5EF4-FFF2-40B4-BE49-F238E27FC236}">
                <a16:creationId xmlns:a16="http://schemas.microsoft.com/office/drawing/2014/main" id="{6AD31B07-53F4-4641-9792-4D3BE71C2264}"/>
              </a:ext>
            </a:extLst>
          </p:cNvPr>
          <p:cNvSpPr txBox="1">
            <a:spLocks/>
          </p:cNvSpPr>
          <p:nvPr/>
        </p:nvSpPr>
        <p:spPr>
          <a:xfrm>
            <a:off x="116312" y="830016"/>
            <a:ext cx="4144603" cy="46612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AR" sz="2400" b="1" dirty="0">
                <a:latin typeface="Bahnschrift" panose="020B0502040204020203" pitchFamily="34" charset="0"/>
              </a:rPr>
              <a:t>DETERMINACIÓN ANALÍTICA</a:t>
            </a:r>
          </a:p>
        </p:txBody>
      </p:sp>
      <p:sp>
        <p:nvSpPr>
          <p:cNvPr id="10" name="Marcador de contenido 2">
            <a:extLst>
              <a:ext uri="{FF2B5EF4-FFF2-40B4-BE49-F238E27FC236}">
                <a16:creationId xmlns:a16="http://schemas.microsoft.com/office/drawing/2014/main" id="{49A7EF95-9529-4287-B7CF-F670F46BA820}"/>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12" name="Marcador de contenido 2">
            <a:extLst>
              <a:ext uri="{FF2B5EF4-FFF2-40B4-BE49-F238E27FC236}">
                <a16:creationId xmlns:a16="http://schemas.microsoft.com/office/drawing/2014/main" id="{18FC0A46-8E1D-4CAD-9586-1BF3BDD8D299}"/>
              </a:ext>
            </a:extLst>
          </p:cNvPr>
          <p:cNvSpPr txBox="1">
            <a:spLocks/>
          </p:cNvSpPr>
          <p:nvPr/>
        </p:nvSpPr>
        <p:spPr>
          <a:xfrm>
            <a:off x="116312" y="1537803"/>
            <a:ext cx="10541288" cy="32291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Se introduce la identidad de Euler para así definir el sistema de ecuaciones y resolver el problema. </a:t>
            </a:r>
          </a:p>
        </p:txBody>
      </p:sp>
      <p:sp>
        <p:nvSpPr>
          <p:cNvPr id="17" name="Marcador de contenido 2">
            <a:extLst>
              <a:ext uri="{FF2B5EF4-FFF2-40B4-BE49-F238E27FC236}">
                <a16:creationId xmlns:a16="http://schemas.microsoft.com/office/drawing/2014/main" id="{CC534075-F35E-4F0F-A5FE-71E1E12604D5}"/>
              </a:ext>
            </a:extLst>
          </p:cNvPr>
          <p:cNvSpPr txBox="1">
            <a:spLocks/>
          </p:cNvSpPr>
          <p:nvPr/>
        </p:nvSpPr>
        <p:spPr>
          <a:xfrm>
            <a:off x="2666109" y="4690115"/>
            <a:ext cx="2225447"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REAL (X)</a:t>
            </a:r>
            <a:endParaRPr lang="en-US" sz="1600" dirty="0">
              <a:latin typeface="Bahnschrift" panose="020B0502040204020203" pitchFamily="34" charset="0"/>
              <a:sym typeface="Wingdings" panose="05000000000000000000" pitchFamily="2" charset="2"/>
            </a:endParaRPr>
          </a:p>
        </p:txBody>
      </p:sp>
      <p:sp>
        <p:nvSpPr>
          <p:cNvPr id="25" name="Marcador de contenido 2">
            <a:extLst>
              <a:ext uri="{FF2B5EF4-FFF2-40B4-BE49-F238E27FC236}">
                <a16:creationId xmlns:a16="http://schemas.microsoft.com/office/drawing/2014/main" id="{45DF8674-EDB3-404A-B67F-8FFE1FD182B5}"/>
              </a:ext>
            </a:extLst>
          </p:cNvPr>
          <p:cNvSpPr txBox="1">
            <a:spLocks/>
          </p:cNvSpPr>
          <p:nvPr/>
        </p:nvSpPr>
        <p:spPr>
          <a:xfrm>
            <a:off x="2317033" y="5126852"/>
            <a:ext cx="2317073"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PARTE IMAGINARIA (Y)</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36DD1270-9627-432F-AC6C-1E13E1F6A1FE}"/>
                  </a:ext>
                </a:extLst>
              </p:cNvPr>
              <p:cNvSpPr txBox="1"/>
              <p:nvPr/>
            </p:nvSpPr>
            <p:spPr>
              <a:xfrm>
                <a:off x="4291900" y="5698397"/>
                <a:ext cx="1892242" cy="532582"/>
              </a:xfrm>
              <a:prstGeom prst="rect">
                <a:avLst/>
              </a:prstGeom>
              <a:noFill/>
            </p:spPr>
            <p:txBody>
              <a:bodyPr wrap="square">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num>
                      <m:den>
                        <m:r>
                          <a:rPr lang="en-US" i="1">
                            <a:latin typeface="Cambria Math" panose="02040503050406030204" pitchFamily="18" charset="0"/>
                            <a:ea typeface="Cambria Math" panose="02040503050406030204" pitchFamily="18" charset="0"/>
                          </a:rPr>
                          <m:t>𝑏</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den>
                    </m:f>
                  </m:oMath>
                </a14:m>
                <a:r>
                  <a:rPr lang="es-AR" dirty="0"/>
                  <a:t> </a:t>
                </a:r>
              </a:p>
            </p:txBody>
          </p:sp>
        </mc:Choice>
        <mc:Fallback xmlns="">
          <p:sp>
            <p:nvSpPr>
              <p:cNvPr id="26" name="CuadroTexto 25">
                <a:extLst>
                  <a:ext uri="{FF2B5EF4-FFF2-40B4-BE49-F238E27FC236}">
                    <a16:creationId xmlns:a16="http://schemas.microsoft.com/office/drawing/2014/main" id="{36DD1270-9627-432F-AC6C-1E13E1F6A1FE}"/>
                  </a:ext>
                </a:extLst>
              </p:cNvPr>
              <p:cNvSpPr txBox="1">
                <a:spLocks noRot="1" noChangeAspect="1" noMove="1" noResize="1" noEditPoints="1" noAdjustHandles="1" noChangeArrowheads="1" noChangeShapeType="1" noTextEdit="1"/>
              </p:cNvSpPr>
              <p:nvPr/>
            </p:nvSpPr>
            <p:spPr>
              <a:xfrm>
                <a:off x="4291900" y="5698397"/>
                <a:ext cx="1892242" cy="532582"/>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D2C630F3-125C-4D73-8077-36500CB3809F}"/>
                  </a:ext>
                </a:extLst>
              </p:cNvPr>
              <p:cNvSpPr txBox="1"/>
              <p:nvPr/>
            </p:nvSpPr>
            <p:spPr>
              <a:xfrm>
                <a:off x="4164009" y="6198816"/>
                <a:ext cx="3281298" cy="386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oMath>
                  </m:oMathPara>
                </a14:m>
                <a:endParaRPr lang="es-AR" dirty="0"/>
              </a:p>
            </p:txBody>
          </p:sp>
        </mc:Choice>
        <mc:Fallback xmlns="">
          <p:sp>
            <p:nvSpPr>
              <p:cNvPr id="27" name="CuadroTexto 26">
                <a:extLst>
                  <a:ext uri="{FF2B5EF4-FFF2-40B4-BE49-F238E27FC236}">
                    <a16:creationId xmlns:a16="http://schemas.microsoft.com/office/drawing/2014/main" id="{D2C630F3-125C-4D73-8077-36500CB3809F}"/>
                  </a:ext>
                </a:extLst>
              </p:cNvPr>
              <p:cNvSpPr txBox="1">
                <a:spLocks noRot="1" noChangeAspect="1" noMove="1" noResize="1" noEditPoints="1" noAdjustHandles="1" noChangeArrowheads="1" noChangeShapeType="1" noTextEdit="1"/>
              </p:cNvSpPr>
              <p:nvPr/>
            </p:nvSpPr>
            <p:spPr>
              <a:xfrm>
                <a:off x="4164009" y="6198816"/>
                <a:ext cx="3281298" cy="386965"/>
              </a:xfrm>
              <a:prstGeom prst="rect">
                <a:avLst/>
              </a:prstGeom>
              <a:blipFill>
                <a:blip r:embed="rId3"/>
                <a:stretch>
                  <a:fillRect b="-158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F5973D57-95FA-4116-B40F-744520E68429}"/>
                  </a:ext>
                </a:extLst>
              </p:cNvPr>
              <p:cNvSpPr txBox="1"/>
              <p:nvPr/>
            </p:nvSpPr>
            <p:spPr>
              <a:xfrm>
                <a:off x="2082695" y="1859281"/>
                <a:ext cx="3721963" cy="385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oMath>
                  </m:oMathPara>
                </a14:m>
                <a:endParaRPr lang="es-AR" dirty="0"/>
              </a:p>
            </p:txBody>
          </p:sp>
        </mc:Choice>
        <mc:Fallback xmlns="">
          <p:sp>
            <p:nvSpPr>
              <p:cNvPr id="29" name="CuadroTexto 28">
                <a:extLst>
                  <a:ext uri="{FF2B5EF4-FFF2-40B4-BE49-F238E27FC236}">
                    <a16:creationId xmlns:a16="http://schemas.microsoft.com/office/drawing/2014/main" id="{F5973D57-95FA-4116-B40F-744520E68429}"/>
                  </a:ext>
                </a:extLst>
              </p:cNvPr>
              <p:cNvSpPr txBox="1">
                <a:spLocks noRot="1" noChangeAspect="1" noMove="1" noResize="1" noEditPoints="1" noAdjustHandles="1" noChangeArrowheads="1" noChangeShapeType="1" noTextEdit="1"/>
              </p:cNvSpPr>
              <p:nvPr/>
            </p:nvSpPr>
            <p:spPr>
              <a:xfrm>
                <a:off x="2082695" y="1859281"/>
                <a:ext cx="3721963" cy="385362"/>
              </a:xfrm>
              <a:prstGeom prst="rect">
                <a:avLst/>
              </a:prstGeom>
              <a:blipFill>
                <a:blip r:embed="rId4"/>
                <a:stretch>
                  <a:fillRect b="-1428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F179D285-1FAD-4D5A-8BC6-F91F2907168E}"/>
                  </a:ext>
                </a:extLst>
              </p:cNvPr>
              <p:cNvSpPr txBox="1"/>
              <p:nvPr/>
            </p:nvSpPr>
            <p:spPr>
              <a:xfrm>
                <a:off x="5994011" y="1863346"/>
                <a:ext cx="2580163" cy="3814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𝜃</m:t>
                          </m:r>
                        </m:sup>
                      </m:sSup>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r>
                            <a:rPr lang="en-US" b="0" i="1" smtClean="0">
                              <a:latin typeface="Cambria Math" panose="02040503050406030204" pitchFamily="18" charset="0"/>
                              <a:ea typeface="Cambria Math" panose="02040503050406030204" pitchFamily="18" charset="0"/>
                            </a:rPr>
                            <m:t>𝜃</m:t>
                          </m:r>
                        </m:e>
                      </m:func>
                    </m:oMath>
                  </m:oMathPara>
                </a14:m>
                <a:endParaRPr lang="es-AR" dirty="0"/>
              </a:p>
            </p:txBody>
          </p:sp>
        </mc:Choice>
        <mc:Fallback xmlns="">
          <p:sp>
            <p:nvSpPr>
              <p:cNvPr id="31" name="CuadroTexto 30">
                <a:extLst>
                  <a:ext uri="{FF2B5EF4-FFF2-40B4-BE49-F238E27FC236}">
                    <a16:creationId xmlns:a16="http://schemas.microsoft.com/office/drawing/2014/main" id="{F179D285-1FAD-4D5A-8BC6-F91F2907168E}"/>
                  </a:ext>
                </a:extLst>
              </p:cNvPr>
              <p:cNvSpPr txBox="1">
                <a:spLocks noRot="1" noChangeAspect="1" noMove="1" noResize="1" noEditPoints="1" noAdjustHandles="1" noChangeArrowheads="1" noChangeShapeType="1" noTextEdit="1"/>
              </p:cNvSpPr>
              <p:nvPr/>
            </p:nvSpPr>
            <p:spPr>
              <a:xfrm>
                <a:off x="5994011" y="1863346"/>
                <a:ext cx="2580163" cy="381451"/>
              </a:xfrm>
              <a:prstGeom prst="rect">
                <a:avLst/>
              </a:prstGeom>
              <a:blipFill>
                <a:blip r:embed="rId5"/>
                <a:stretch>
                  <a:fillRect b="-1451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2EB3CE9C-8A9C-4C09-BE43-E5A898055D25}"/>
                  </a:ext>
                </a:extLst>
              </p:cNvPr>
              <p:cNvSpPr txBox="1"/>
              <p:nvPr/>
            </p:nvSpPr>
            <p:spPr>
              <a:xfrm>
                <a:off x="2369338" y="2290477"/>
                <a:ext cx="5947371" cy="385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r>
                        <a:rPr lang="en-US" i="1" smtClean="0">
                          <a:latin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r>
                        <a:rPr lang="en-US" i="1" smtClean="0">
                          <a:latin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oMath>
                  </m:oMathPara>
                </a14:m>
                <a:endParaRPr lang="es-AR" dirty="0"/>
              </a:p>
            </p:txBody>
          </p:sp>
        </mc:Choice>
        <mc:Fallback xmlns="">
          <p:sp>
            <p:nvSpPr>
              <p:cNvPr id="32" name="CuadroTexto 31">
                <a:extLst>
                  <a:ext uri="{FF2B5EF4-FFF2-40B4-BE49-F238E27FC236}">
                    <a16:creationId xmlns:a16="http://schemas.microsoft.com/office/drawing/2014/main" id="{2EB3CE9C-8A9C-4C09-BE43-E5A898055D25}"/>
                  </a:ext>
                </a:extLst>
              </p:cNvPr>
              <p:cNvSpPr txBox="1">
                <a:spLocks noRot="1" noChangeAspect="1" noMove="1" noResize="1" noEditPoints="1" noAdjustHandles="1" noChangeArrowheads="1" noChangeShapeType="1" noTextEdit="1"/>
              </p:cNvSpPr>
              <p:nvPr/>
            </p:nvSpPr>
            <p:spPr>
              <a:xfrm>
                <a:off x="2369338" y="2290477"/>
                <a:ext cx="5947371" cy="385362"/>
              </a:xfrm>
              <a:prstGeom prst="rect">
                <a:avLst/>
              </a:prstGeom>
              <a:blipFill>
                <a:blip r:embed="rId6"/>
                <a:stretch>
                  <a:fillRect b="-14286"/>
                </a:stretch>
              </a:blipFill>
            </p:spPr>
            <p:txBody>
              <a:bodyPr/>
              <a:lstStyle/>
              <a:p>
                <a:r>
                  <a:rPr lang="es-AR">
                    <a:noFill/>
                  </a:rPr>
                  <a:t> </a:t>
                </a:r>
              </a:p>
            </p:txBody>
          </p:sp>
        </mc:Fallback>
      </mc:AlternateContent>
      <p:sp>
        <p:nvSpPr>
          <p:cNvPr id="33" name="Marcador de contenido 2">
            <a:extLst>
              <a:ext uri="{FF2B5EF4-FFF2-40B4-BE49-F238E27FC236}">
                <a16:creationId xmlns:a16="http://schemas.microsoft.com/office/drawing/2014/main" id="{6CB593D2-4FA7-4018-883F-CE9704C9CFFB}"/>
              </a:ext>
            </a:extLst>
          </p:cNvPr>
          <p:cNvSpPr txBox="1">
            <a:spLocks/>
          </p:cNvSpPr>
          <p:nvPr/>
        </p:nvSpPr>
        <p:spPr>
          <a:xfrm>
            <a:off x="116312" y="2767468"/>
            <a:ext cx="10647324" cy="38145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En cada termino de la velocidad </a:t>
            </a:r>
            <a:r>
              <a:rPr lang="es-AR" sz="1400" dirty="0">
                <a:highlight>
                  <a:srgbClr val="FFC000"/>
                </a:highlight>
                <a:latin typeface="Bahnschrift" panose="020B0502040204020203" pitchFamily="34" charset="0"/>
              </a:rPr>
              <a:t>se introduce el operador j </a:t>
            </a:r>
            <a:r>
              <a:rPr lang="es-AR" sz="1400" dirty="0">
                <a:latin typeface="Bahnschrift" panose="020B0502040204020203" pitchFamily="34" charset="0"/>
              </a:rPr>
              <a:t>dentro del paréntesis. </a:t>
            </a:r>
          </a:p>
        </p:txBody>
      </p:sp>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62069F9C-1CB3-4744-B2B0-5E5259D21A0C}"/>
                  </a:ext>
                </a:extLst>
              </p:cNvPr>
              <p:cNvSpPr txBox="1"/>
              <p:nvPr/>
            </p:nvSpPr>
            <p:spPr>
              <a:xfrm>
                <a:off x="376931" y="3140195"/>
                <a:ext cx="10126082" cy="385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d>
                        <m:dPr>
                          <m:ctrlPr>
                            <a:rPr lang="en-US" i="1" smtClean="0">
                              <a:latin typeface="Cambria Math" panose="02040503050406030204" pitchFamily="18" charset="0"/>
                            </a:rPr>
                          </m:ctrlPr>
                        </m:dPr>
                        <m:e>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2</m:t>
                              </m:r>
                            </m:sup>
                          </m:sSup>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2</m:t>
                              </m:r>
                            </m:sup>
                          </m:sSup>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e>
                      </m:d>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  ;       </m:t>
                      </m:r>
                      <m:r>
                        <a:rPr lang="en-US" b="0" i="1" smtClean="0">
                          <a:latin typeface="Cambria Math" panose="02040503050406030204" pitchFamily="18" charset="0"/>
                        </a:rPr>
                        <m:t>𝑠𝑖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𝑗</m:t>
                          </m:r>
                        </m:e>
                        <m:sup>
                          <m:r>
                            <a:rPr lang="en-US" b="0" i="1" smtClean="0">
                              <a:latin typeface="Cambria Math" panose="02040503050406030204" pitchFamily="18" charset="0"/>
                            </a:rPr>
                            <m:t>2</m:t>
                          </m:r>
                        </m:sup>
                      </m:sSup>
                      <m:r>
                        <a:rPr lang="en-US" b="0" i="1" smtClean="0">
                          <a:latin typeface="Cambria Math" panose="02040503050406030204" pitchFamily="18" charset="0"/>
                        </a:rPr>
                        <m:t>=−1</m:t>
                      </m:r>
                    </m:oMath>
                  </m:oMathPara>
                </a14:m>
                <a:endParaRPr lang="es-AR" dirty="0"/>
              </a:p>
            </p:txBody>
          </p:sp>
        </mc:Choice>
        <mc:Fallback xmlns="">
          <p:sp>
            <p:nvSpPr>
              <p:cNvPr id="34" name="CuadroTexto 33">
                <a:extLst>
                  <a:ext uri="{FF2B5EF4-FFF2-40B4-BE49-F238E27FC236}">
                    <a16:creationId xmlns:a16="http://schemas.microsoft.com/office/drawing/2014/main" id="{62069F9C-1CB3-4744-B2B0-5E5259D21A0C}"/>
                  </a:ext>
                </a:extLst>
              </p:cNvPr>
              <p:cNvSpPr txBox="1">
                <a:spLocks noRot="1" noChangeAspect="1" noMove="1" noResize="1" noEditPoints="1" noAdjustHandles="1" noChangeArrowheads="1" noChangeShapeType="1" noTextEdit="1"/>
              </p:cNvSpPr>
              <p:nvPr/>
            </p:nvSpPr>
            <p:spPr>
              <a:xfrm>
                <a:off x="376931" y="3140195"/>
                <a:ext cx="10126082" cy="385362"/>
              </a:xfrm>
              <a:prstGeom prst="rect">
                <a:avLst/>
              </a:prstGeom>
              <a:blipFill>
                <a:blip r:embed="rId7"/>
                <a:stretch>
                  <a:fillRect b="-1587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64E3395F-CEF0-4C35-8154-750E18D4D0F5}"/>
                  </a:ext>
                </a:extLst>
              </p:cNvPr>
              <p:cNvSpPr txBox="1"/>
              <p:nvPr/>
            </p:nvSpPr>
            <p:spPr>
              <a:xfrm>
                <a:off x="376931" y="3631182"/>
                <a:ext cx="10126082" cy="385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r>
                        <a:rPr lang="en-US" i="1" smtClean="0">
                          <a:latin typeface="Cambria Math" panose="02040503050406030204" pitchFamily="18" charset="0"/>
                        </a:rPr>
                        <m:t>𝑎</m:t>
                      </m:r>
                      <m:d>
                        <m:dPr>
                          <m:ctrlPr>
                            <a:rPr lang="en-US" i="1" smtClean="0">
                              <a:latin typeface="Cambria Math" panose="02040503050406030204" pitchFamily="18" charset="0"/>
                            </a:rPr>
                          </m:ctrlPr>
                        </m:dPr>
                        <m:e>
                          <m:r>
                            <a:rPr lang="en-US" b="0" i="1" smtClean="0">
                              <a:latin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func>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𝑏</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sin</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𝑗</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cos</m:t>
                              </m:r>
                            </m:fName>
                            <m:e>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e>
                          </m:func>
                        </m:e>
                      </m:d>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oMath>
                  </m:oMathPara>
                </a14:m>
                <a:endParaRPr lang="es-AR" dirty="0"/>
              </a:p>
            </p:txBody>
          </p:sp>
        </mc:Choice>
        <mc:Fallback xmlns="">
          <p:sp>
            <p:nvSpPr>
              <p:cNvPr id="35" name="CuadroTexto 34">
                <a:extLst>
                  <a:ext uri="{FF2B5EF4-FFF2-40B4-BE49-F238E27FC236}">
                    <a16:creationId xmlns:a16="http://schemas.microsoft.com/office/drawing/2014/main" id="{64E3395F-CEF0-4C35-8154-750E18D4D0F5}"/>
                  </a:ext>
                </a:extLst>
              </p:cNvPr>
              <p:cNvSpPr txBox="1">
                <a:spLocks noRot="1" noChangeAspect="1" noMove="1" noResize="1" noEditPoints="1" noAdjustHandles="1" noChangeArrowheads="1" noChangeShapeType="1" noTextEdit="1"/>
              </p:cNvSpPr>
              <p:nvPr/>
            </p:nvSpPr>
            <p:spPr>
              <a:xfrm>
                <a:off x="376931" y="3631182"/>
                <a:ext cx="10126082" cy="385362"/>
              </a:xfrm>
              <a:prstGeom prst="rect">
                <a:avLst/>
              </a:prstGeom>
              <a:blipFill>
                <a:blip r:embed="rId8"/>
                <a:stretch>
                  <a:fillRect b="-14286"/>
                </a:stretch>
              </a:blipFill>
            </p:spPr>
            <p:txBody>
              <a:bodyPr/>
              <a:lstStyle/>
              <a:p>
                <a:r>
                  <a:rPr lang="es-AR">
                    <a:noFill/>
                  </a:rPr>
                  <a:t> </a:t>
                </a:r>
              </a:p>
            </p:txBody>
          </p:sp>
        </mc:Fallback>
      </mc:AlternateContent>
      <p:sp>
        <p:nvSpPr>
          <p:cNvPr id="36" name="Marcador de contenido 2">
            <a:extLst>
              <a:ext uri="{FF2B5EF4-FFF2-40B4-BE49-F238E27FC236}">
                <a16:creationId xmlns:a16="http://schemas.microsoft.com/office/drawing/2014/main" id="{FA9FD586-2812-4A8D-8494-32FA1126ED6D}"/>
              </a:ext>
            </a:extLst>
          </p:cNvPr>
          <p:cNvSpPr txBox="1">
            <a:spLocks/>
          </p:cNvSpPr>
          <p:nvPr/>
        </p:nvSpPr>
        <p:spPr>
          <a:xfrm>
            <a:off x="116313" y="4072761"/>
            <a:ext cx="10647323" cy="507282"/>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rPr>
              <a:t>A continuación se separa parte imaginaria de parte real para generar un sistema de ecuaciones lineales que permitan resolver y encontrar los valores de </a:t>
            </a:r>
            <a:r>
              <a:rPr lang="el-GR" sz="1400" dirty="0">
                <a:latin typeface="Cambria Math" panose="02040503050406030204" pitchFamily="18" charset="0"/>
                <a:ea typeface="Cambria Math" panose="02040503050406030204" pitchFamily="18" charset="0"/>
              </a:rPr>
              <a:t>ω</a:t>
            </a:r>
            <a:r>
              <a:rPr lang="en-US" sz="1400" baseline="-25000" dirty="0">
                <a:latin typeface="Cambria Math" panose="02040503050406030204" pitchFamily="18" charset="0"/>
                <a:ea typeface="Cambria Math" panose="02040503050406030204" pitchFamily="18" charset="0"/>
              </a:rPr>
              <a:t>3</a:t>
            </a:r>
            <a:r>
              <a:rPr lang="es-AR" sz="1400" dirty="0">
                <a:latin typeface="Bahnschrift" panose="020B0502040204020203" pitchFamily="34" charset="0"/>
              </a:rPr>
              <a:t> y </a:t>
            </a:r>
            <a:r>
              <a:rPr lang="el-GR" sz="1400" dirty="0">
                <a:latin typeface="Cambria Math" panose="02040503050406030204" pitchFamily="18" charset="0"/>
                <a:ea typeface="Cambria Math" panose="02040503050406030204" pitchFamily="18" charset="0"/>
              </a:rPr>
              <a:t>ω</a:t>
            </a:r>
            <a:r>
              <a:rPr lang="en-US" sz="1400" baseline="-25000" dirty="0">
                <a:latin typeface="Cambria Math" panose="02040503050406030204" pitchFamily="18" charset="0"/>
                <a:ea typeface="Cambria Math" panose="02040503050406030204" pitchFamily="18" charset="0"/>
              </a:rPr>
              <a:t>4</a:t>
            </a:r>
            <a:r>
              <a:rPr lang="en-US" sz="1400" dirty="0">
                <a:latin typeface="Cambria Math" panose="02040503050406030204" pitchFamily="18" charset="0"/>
                <a:ea typeface="Cambria Math" panose="02040503050406030204" pitchFamily="18" charset="0"/>
              </a:rPr>
              <a:t>.</a:t>
            </a:r>
            <a:endParaRPr lang="es-AR" sz="14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9B5AE44-2FF7-4D51-9C37-3B018C33A0B3}"/>
                  </a:ext>
                </a:extLst>
              </p:cNvPr>
              <p:cNvSpPr txBox="1"/>
              <p:nvPr/>
            </p:nvSpPr>
            <p:spPr>
              <a:xfrm>
                <a:off x="4466631" y="4643860"/>
                <a:ext cx="3796213" cy="385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𝑑</m:t>
                          </m:r>
                        </m:e>
                      </m:acc>
                      <m:r>
                        <a:rPr lang="en-US" b="0" i="1" smtClean="0">
                          <a:latin typeface="Cambria Math" panose="02040503050406030204" pitchFamily="18" charset="0"/>
                        </a:rPr>
                        <m:t>=0</m:t>
                      </m:r>
                    </m:oMath>
                  </m:oMathPara>
                </a14:m>
                <a:endParaRPr lang="es-AR" dirty="0"/>
              </a:p>
            </p:txBody>
          </p:sp>
        </mc:Choice>
        <mc:Fallback xmlns="">
          <p:sp>
            <p:nvSpPr>
              <p:cNvPr id="37" name="CuadroTexto 36">
                <a:extLst>
                  <a:ext uri="{FF2B5EF4-FFF2-40B4-BE49-F238E27FC236}">
                    <a16:creationId xmlns:a16="http://schemas.microsoft.com/office/drawing/2014/main" id="{A9B5AE44-2FF7-4D51-9C37-3B018C33A0B3}"/>
                  </a:ext>
                </a:extLst>
              </p:cNvPr>
              <p:cNvSpPr txBox="1">
                <a:spLocks noRot="1" noChangeAspect="1" noMove="1" noResize="1" noEditPoints="1" noAdjustHandles="1" noChangeArrowheads="1" noChangeShapeType="1" noTextEdit="1"/>
              </p:cNvSpPr>
              <p:nvPr/>
            </p:nvSpPr>
            <p:spPr>
              <a:xfrm>
                <a:off x="4466631" y="4643860"/>
                <a:ext cx="3796213" cy="385362"/>
              </a:xfrm>
              <a:prstGeom prst="rect">
                <a:avLst/>
              </a:prstGeom>
              <a:blipFill>
                <a:blip r:embed="rId9"/>
                <a:stretch>
                  <a:fillRect b="-158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304B6B4A-69DC-4D42-AACC-4BB96A4C3D16}"/>
                  </a:ext>
                </a:extLst>
              </p:cNvPr>
              <p:cNvSpPr txBox="1"/>
              <p:nvPr/>
            </p:nvSpPr>
            <p:spPr>
              <a:xfrm>
                <a:off x="4466631" y="5070476"/>
                <a:ext cx="3281298" cy="3744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𝑎</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2</m:t>
                              </m:r>
                            </m:sub>
                          </m:sSub>
                        </m:e>
                      </m:func>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𝑏</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3</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sub>
                          </m:sSub>
                        </m:e>
                      </m:func>
                      <m:r>
                        <a:rPr lang="en-US" b="0" i="1" smtClean="0">
                          <a:latin typeface="Cambria Math" panose="02040503050406030204" pitchFamily="18" charset="0"/>
                        </a:rPr>
                        <m:t>=0</m:t>
                      </m:r>
                    </m:oMath>
                  </m:oMathPara>
                </a14:m>
                <a:endParaRPr lang="es-AR" dirty="0"/>
              </a:p>
            </p:txBody>
          </p:sp>
        </mc:Choice>
        <mc:Fallback xmlns="">
          <p:sp>
            <p:nvSpPr>
              <p:cNvPr id="38" name="CuadroTexto 37">
                <a:extLst>
                  <a:ext uri="{FF2B5EF4-FFF2-40B4-BE49-F238E27FC236}">
                    <a16:creationId xmlns:a16="http://schemas.microsoft.com/office/drawing/2014/main" id="{304B6B4A-69DC-4D42-AACC-4BB96A4C3D16}"/>
                  </a:ext>
                </a:extLst>
              </p:cNvPr>
              <p:cNvSpPr txBox="1">
                <a:spLocks noRot="1" noChangeAspect="1" noMove="1" noResize="1" noEditPoints="1" noAdjustHandles="1" noChangeArrowheads="1" noChangeShapeType="1" noTextEdit="1"/>
              </p:cNvSpPr>
              <p:nvPr/>
            </p:nvSpPr>
            <p:spPr>
              <a:xfrm>
                <a:off x="4466631" y="5070476"/>
                <a:ext cx="3281298" cy="374461"/>
              </a:xfrm>
              <a:prstGeom prst="rect">
                <a:avLst/>
              </a:prstGeom>
              <a:blipFill>
                <a:blip r:embed="rId10"/>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39253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26" grpId="0"/>
      <p:bldP spid="27" grpId="0"/>
      <p:bldP spid="29" grpId="0"/>
      <p:bldP spid="31" grpId="0"/>
      <p:bldP spid="32" grpId="0"/>
      <p:bldP spid="33" grpId="0"/>
      <p:bldP spid="34" grpId="0"/>
      <p:bldP spid="35" grpId="0"/>
      <p:bldP spid="36" grpId="0"/>
      <p:bldP spid="37" grpId="0"/>
      <p:bldP spid="3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FCB81FE-32C0-4EC8-9482-914B88FB573F}"/>
              </a:ext>
            </a:extLst>
          </p:cNvPr>
          <p:cNvPicPr>
            <a:picLocks noChangeAspect="1"/>
          </p:cNvPicPr>
          <p:nvPr/>
        </p:nvPicPr>
        <p:blipFill rotWithShape="1">
          <a:blip r:embed="rId2"/>
          <a:srcRect l="3485" r="36122"/>
          <a:stretch/>
        </p:blipFill>
        <p:spPr>
          <a:xfrm>
            <a:off x="6723605" y="1353117"/>
            <a:ext cx="4432477" cy="3132017"/>
          </a:xfrm>
          <a:prstGeom prst="rect">
            <a:avLst/>
          </a:prstGeom>
        </p:spPr>
      </p:pic>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VELOCIDAD</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8" name="Marcador de contenido 2">
            <a:extLst>
              <a:ext uri="{FF2B5EF4-FFF2-40B4-BE49-F238E27FC236}">
                <a16:creationId xmlns:a16="http://schemas.microsoft.com/office/drawing/2014/main" id="{DBC5DD57-6377-41E1-B4CA-6E5032B7A48B}"/>
              </a:ext>
            </a:extLst>
          </p:cNvPr>
          <p:cNvSpPr txBox="1">
            <a:spLocks/>
          </p:cNvSpPr>
          <p:nvPr/>
        </p:nvSpPr>
        <p:spPr>
          <a:xfrm>
            <a:off x="326738" y="1766137"/>
            <a:ext cx="6293137" cy="287733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Obtenidas las velocidades angulares de todos los eslabones del mecanismo, puede calcularse la velocidad de un punto dentro del eslabón con una posición particular, por ejemplo, ser el centro de inercia del eslabón.</a:t>
            </a:r>
          </a:p>
          <a:p>
            <a:pPr algn="just">
              <a:buFontTx/>
              <a:buChar char="-"/>
            </a:pPr>
            <a:r>
              <a:rPr lang="es-AR" sz="1400" dirty="0">
                <a:latin typeface="Bahnschrift" panose="020B0502040204020203" pitchFamily="34" charset="0"/>
                <a:ea typeface="Cambria Math" panose="02040503050406030204" pitchFamily="18" charset="0"/>
              </a:rPr>
              <a:t>Se definen entonces 3 puntos S, P y U dentro de los eslabones, de los cuales desea conocerse la velocidad. La definición de la posición de estos puntos se realiza a través de un ángulo conocido dentro del eslabón, </a:t>
            </a:r>
            <a:r>
              <a:rPr lang="es-AR" sz="1400" dirty="0">
                <a:latin typeface="Cambria Math" panose="02040503050406030204" pitchFamily="18" charset="0"/>
                <a:ea typeface="Cambria Math" panose="02040503050406030204" pitchFamily="18" charset="0"/>
              </a:rPr>
              <a:t>δ</a:t>
            </a:r>
            <a:r>
              <a:rPr lang="es-AR" sz="1400" dirty="0">
                <a:latin typeface="Bahnschrift" panose="020B0502040204020203" pitchFamily="34" charset="0"/>
                <a:ea typeface="Cambria Math" panose="02040503050406030204" pitchFamily="18" charset="0"/>
              </a:rPr>
              <a:t> definido respecto de la línea que representa al eslabón en cada caso. </a:t>
            </a:r>
          </a:p>
          <a:p>
            <a:pPr algn="just">
              <a:buFontTx/>
              <a:buChar char="-"/>
            </a:pPr>
            <a:r>
              <a:rPr lang="es-AR" sz="1400" dirty="0">
                <a:latin typeface="Bahnschrift" panose="020B0502040204020203" pitchFamily="34" charset="0"/>
                <a:ea typeface="Cambria Math" panose="02040503050406030204" pitchFamily="18" charset="0"/>
              </a:rPr>
              <a:t>Por ejemplo, para definir la posición del punto S en el eslabón 2, se utiliza el vector R</a:t>
            </a:r>
            <a:r>
              <a:rPr lang="es-AR" sz="1400" baseline="-25000" dirty="0">
                <a:latin typeface="Bahnschrift" panose="020B0502040204020203" pitchFamily="34" charset="0"/>
                <a:ea typeface="Cambria Math" panose="02040503050406030204" pitchFamily="18" charset="0"/>
              </a:rPr>
              <a:t>SO2</a:t>
            </a:r>
            <a:r>
              <a:rPr lang="es-AR" sz="1400" dirty="0">
                <a:latin typeface="Bahnschrift" panose="020B0502040204020203" pitchFamily="34" charset="0"/>
                <a:ea typeface="Cambria Math" panose="02040503050406030204" pitchFamily="18" charset="0"/>
              </a:rPr>
              <a:t> que forma un ángulo </a:t>
            </a:r>
            <a:r>
              <a:rPr lang="es-AR" sz="1400" dirty="0">
                <a:latin typeface="Cambria Math" panose="02040503050406030204" pitchFamily="18" charset="0"/>
                <a:ea typeface="Cambria Math" panose="02040503050406030204" pitchFamily="18" charset="0"/>
              </a:rPr>
              <a:t>δ</a:t>
            </a:r>
            <a:r>
              <a:rPr lang="es-AR" sz="1400" baseline="-25000" dirty="0">
                <a:latin typeface="Cambria Math" panose="02040503050406030204" pitchFamily="18" charset="0"/>
                <a:ea typeface="Cambria Math" panose="02040503050406030204" pitchFamily="18" charset="0"/>
              </a:rPr>
              <a:t>2</a:t>
            </a:r>
            <a:r>
              <a:rPr lang="es-AR" sz="1400" dirty="0">
                <a:latin typeface="Bahnschrift" panose="020B0502040204020203" pitchFamily="34" charset="0"/>
                <a:ea typeface="Cambria Math" panose="02040503050406030204" pitchFamily="18" charset="0"/>
              </a:rPr>
              <a:t> respecto del vector R</a:t>
            </a:r>
            <a:r>
              <a:rPr lang="es-AR" sz="1400" baseline="-25000" dirty="0">
                <a:latin typeface="Bahnschrift" panose="020B0502040204020203" pitchFamily="34" charset="0"/>
                <a:ea typeface="Cambria Math" panose="02040503050406030204" pitchFamily="18" charset="0"/>
              </a:rPr>
              <a:t>AO2</a:t>
            </a:r>
            <a:r>
              <a:rPr lang="es-AR" sz="1400" dirty="0">
                <a:latin typeface="Bahnschrift" panose="020B0502040204020203" pitchFamily="34" charset="0"/>
                <a:ea typeface="Cambria Math" panose="02040503050406030204" pitchFamily="18" charset="0"/>
              </a:rPr>
              <a:t>.</a:t>
            </a:r>
          </a:p>
        </p:txBody>
      </p:sp>
      <p:sp>
        <p:nvSpPr>
          <p:cNvPr id="12" name="Marcador de contenido 2">
            <a:extLst>
              <a:ext uri="{FF2B5EF4-FFF2-40B4-BE49-F238E27FC236}">
                <a16:creationId xmlns:a16="http://schemas.microsoft.com/office/drawing/2014/main" id="{7289123C-58D2-4C12-895D-968A25B2C96A}"/>
              </a:ext>
            </a:extLst>
          </p:cNvPr>
          <p:cNvSpPr txBox="1">
            <a:spLocks/>
          </p:cNvSpPr>
          <p:nvPr/>
        </p:nvSpPr>
        <p:spPr>
          <a:xfrm>
            <a:off x="1464814" y="4980975"/>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F5F3E4A-BA43-46DB-B75D-AFDB9D1E11D6}"/>
                  </a:ext>
                </a:extLst>
              </p:cNvPr>
              <p:cNvSpPr txBox="1"/>
              <p:nvPr/>
            </p:nvSpPr>
            <p:spPr>
              <a:xfrm>
                <a:off x="2622435" y="4964884"/>
                <a:ext cx="5750099" cy="3203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2</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𝑆</m:t>
                          </m:r>
                        </m:sub>
                      </m:sSub>
                      <m:r>
                        <a:rPr lang="en-US" b="0" i="1" smtClean="0">
                          <a:latin typeface="Cambria Math" panose="02040503050406030204" pitchFamily="18" charset="0"/>
                        </a:rPr>
                        <m:t>=</m:t>
                      </m:r>
                      <m:r>
                        <a:rPr lang="en-US" b="0" i="1" smtClean="0">
                          <a:latin typeface="Cambria Math" panose="02040503050406030204" pitchFamily="18" charset="0"/>
                        </a:rPr>
                        <m:t>𝑠</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8" name="CuadroTexto 7">
                <a:extLst>
                  <a:ext uri="{FF2B5EF4-FFF2-40B4-BE49-F238E27FC236}">
                    <a16:creationId xmlns:a16="http://schemas.microsoft.com/office/drawing/2014/main" id="{DF5F3E4A-BA43-46DB-B75D-AFDB9D1E11D6}"/>
                  </a:ext>
                </a:extLst>
              </p:cNvPr>
              <p:cNvSpPr txBox="1">
                <a:spLocks noRot="1" noChangeAspect="1" noMove="1" noResize="1" noEditPoints="1" noAdjustHandles="1" noChangeArrowheads="1" noChangeShapeType="1" noTextEdit="1"/>
              </p:cNvSpPr>
              <p:nvPr/>
            </p:nvSpPr>
            <p:spPr>
              <a:xfrm>
                <a:off x="2622435" y="4964884"/>
                <a:ext cx="5750099" cy="320344"/>
              </a:xfrm>
              <a:prstGeom prst="rect">
                <a:avLst/>
              </a:prstGeom>
              <a:blipFill>
                <a:blip r:embed="rId3"/>
                <a:stretch>
                  <a:fillRect l="-318" t="-3774" r="-1060" b="-26415"/>
                </a:stretch>
              </a:blipFill>
            </p:spPr>
            <p:txBody>
              <a:bodyPr/>
              <a:lstStyle/>
              <a:p>
                <a:r>
                  <a:rPr lang="es-AR">
                    <a:noFill/>
                  </a:rPr>
                  <a:t> </a:t>
                </a:r>
              </a:p>
            </p:txBody>
          </p:sp>
        </mc:Fallback>
      </mc:AlternateContent>
      <p:sp>
        <p:nvSpPr>
          <p:cNvPr id="27" name="Marcador de contenido 2">
            <a:extLst>
              <a:ext uri="{FF2B5EF4-FFF2-40B4-BE49-F238E27FC236}">
                <a16:creationId xmlns:a16="http://schemas.microsoft.com/office/drawing/2014/main" id="{244269AF-E4E1-4B0C-BAFA-96F7767FE6C4}"/>
              </a:ext>
            </a:extLst>
          </p:cNvPr>
          <p:cNvSpPr txBox="1">
            <a:spLocks/>
          </p:cNvSpPr>
          <p:nvPr/>
        </p:nvSpPr>
        <p:spPr>
          <a:xfrm>
            <a:off x="1237647" y="5410810"/>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p:sp>
        <p:nvSpPr>
          <p:cNvPr id="19" name="Marcador de contenido 2">
            <a:extLst>
              <a:ext uri="{FF2B5EF4-FFF2-40B4-BE49-F238E27FC236}">
                <a16:creationId xmlns:a16="http://schemas.microsoft.com/office/drawing/2014/main" id="{E9DEC608-14D8-4614-9FA5-3DDE7263E9A7}"/>
              </a:ext>
            </a:extLst>
          </p:cNvPr>
          <p:cNvSpPr txBox="1">
            <a:spLocks/>
          </p:cNvSpPr>
          <p:nvPr/>
        </p:nvSpPr>
        <p:spPr>
          <a:xfrm>
            <a:off x="-15805" y="1352182"/>
            <a:ext cx="3368492"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n-US" b="1" dirty="0">
                <a:solidFill>
                  <a:srgbClr val="FFC000"/>
                </a:solidFill>
                <a:latin typeface="Bahnschrift" panose="020B0502040204020203" pitchFamily="34" charset="0"/>
              </a:rPr>
              <a:t>CUADRILATERO ARTICULADO</a:t>
            </a:r>
            <a:endParaRPr lang="es-AR" b="1" dirty="0">
              <a:solidFill>
                <a:srgbClr val="FFC000"/>
              </a:solidFill>
              <a:latin typeface="Bahnschrift" panose="020B0502040204020203" pitchFamily="34" charset="0"/>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6CCFB71-7872-4934-BFCB-1D6C2FCD8E21}"/>
                  </a:ext>
                </a:extLst>
              </p:cNvPr>
              <p:cNvSpPr txBox="1"/>
              <p:nvPr/>
            </p:nvSpPr>
            <p:spPr>
              <a:xfrm>
                <a:off x="2619170" y="5383292"/>
                <a:ext cx="5821594" cy="2905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𝑆</m:t>
                          </m:r>
                        </m:sub>
                      </m:sSub>
                      <m:r>
                        <a:rPr lang="en-US" b="0" i="1" smtClean="0">
                          <a:latin typeface="Cambria Math" panose="02040503050406030204" pitchFamily="18" charset="0"/>
                        </a:rPr>
                        <m:t>=</m:t>
                      </m:r>
                      <m:r>
                        <a:rPr lang="en-US" b="0" i="1" smtClean="0">
                          <a:latin typeface="Cambria Math" panose="02040503050406030204" pitchFamily="18" charset="0"/>
                        </a:rPr>
                        <m:t>𝑗𝑠</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2</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10" name="CuadroTexto 9">
                <a:extLst>
                  <a:ext uri="{FF2B5EF4-FFF2-40B4-BE49-F238E27FC236}">
                    <a16:creationId xmlns:a16="http://schemas.microsoft.com/office/drawing/2014/main" id="{F6CCFB71-7872-4934-BFCB-1D6C2FCD8E21}"/>
                  </a:ext>
                </a:extLst>
              </p:cNvPr>
              <p:cNvSpPr txBox="1">
                <a:spLocks noRot="1" noChangeAspect="1" noMove="1" noResize="1" noEditPoints="1" noAdjustHandles="1" noChangeArrowheads="1" noChangeShapeType="1" noTextEdit="1"/>
              </p:cNvSpPr>
              <p:nvPr/>
            </p:nvSpPr>
            <p:spPr>
              <a:xfrm>
                <a:off x="2619170" y="5383292"/>
                <a:ext cx="5821594" cy="290529"/>
              </a:xfrm>
              <a:prstGeom prst="rect">
                <a:avLst/>
              </a:prstGeom>
              <a:blipFill>
                <a:blip r:embed="rId4"/>
                <a:stretch>
                  <a:fillRect l="-419" t="-4167" r="-942" b="-39583"/>
                </a:stretch>
              </a:blipFill>
            </p:spPr>
            <p:txBody>
              <a:bodyPr/>
              <a:lstStyle/>
              <a:p>
                <a:r>
                  <a:rPr lang="es-AR">
                    <a:noFill/>
                  </a:rPr>
                  <a:t> </a:t>
                </a:r>
              </a:p>
            </p:txBody>
          </p:sp>
        </mc:Fallback>
      </mc:AlternateContent>
      <p:sp>
        <p:nvSpPr>
          <p:cNvPr id="25" name="Título 1">
            <a:extLst>
              <a:ext uri="{FF2B5EF4-FFF2-40B4-BE49-F238E27FC236}">
                <a16:creationId xmlns:a16="http://schemas.microsoft.com/office/drawing/2014/main" id="{50AAAF99-1DD0-4917-AB1A-41BE210FB4FD}"/>
              </a:ext>
            </a:extLst>
          </p:cNvPr>
          <p:cNvSpPr txBox="1">
            <a:spLocks/>
          </p:cNvSpPr>
          <p:nvPr/>
        </p:nvSpPr>
        <p:spPr>
          <a:xfrm>
            <a:off x="59084" y="5165641"/>
            <a:ext cx="1223850" cy="684362"/>
          </a:xfrm>
          <a:prstGeom prst="rect">
            <a:avLst/>
          </a:prstGeom>
        </p:spPr>
        <p:txBody>
          <a:bodyPr vert="horz" lIns="91440" tIns="45720" rIns="91440" bIns="45720" rtlCol="0" anchor="b">
            <a:normAutofit fontScale="600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algn="ctr"/>
            <a:r>
              <a:rPr lang="es-AR" sz="3100" b="1" dirty="0">
                <a:latin typeface="Bahnschrift" panose="020B0502040204020203" pitchFamily="34" charset="0"/>
              </a:rPr>
              <a:t>PUNTO</a:t>
            </a:r>
          </a:p>
          <a:p>
            <a:pPr algn="ctr"/>
            <a:r>
              <a:rPr lang="es-AR" sz="6000" b="1" dirty="0">
                <a:latin typeface="Bahnschrift" panose="020B0502040204020203" pitchFamily="34" charset="0"/>
              </a:rPr>
              <a:t>S</a:t>
            </a:r>
          </a:p>
        </p:txBody>
      </p:sp>
    </p:spTree>
    <p:extLst>
      <p:ext uri="{BB962C8B-B14F-4D97-AF65-F5344CB8AC3E}">
        <p14:creationId xmlns:p14="http://schemas.microsoft.com/office/powerpoint/2010/main" val="402110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27" grpId="0"/>
      <p:bldP spid="10" grpId="0"/>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CCAE51A-2BA3-4542-9556-57577F336225}"/>
              </a:ext>
            </a:extLst>
          </p:cNvPr>
          <p:cNvSpPr/>
          <p:nvPr/>
        </p:nvSpPr>
        <p:spPr>
          <a:xfrm>
            <a:off x="-1" y="853440"/>
            <a:ext cx="4332304" cy="36938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Título 1"/>
          <p:cNvSpPr>
            <a:spLocks noGrp="1"/>
          </p:cNvSpPr>
          <p:nvPr>
            <p:ph type="title"/>
          </p:nvPr>
        </p:nvSpPr>
        <p:spPr>
          <a:xfrm>
            <a:off x="116312" y="234924"/>
            <a:ext cx="9329529" cy="684362"/>
          </a:xfrm>
        </p:spPr>
        <p:txBody>
          <a:bodyPr>
            <a:normAutofit fontScale="90000"/>
          </a:bodyPr>
          <a:lstStyle/>
          <a:p>
            <a:r>
              <a:rPr lang="es-AR" sz="6000" b="1" dirty="0">
                <a:latin typeface="Bahnschrift" panose="020B0502040204020203" pitchFamily="34" charset="0"/>
              </a:rPr>
              <a:t>ANÁLISIS DE VELOCIDAD</a:t>
            </a:r>
          </a:p>
        </p:txBody>
      </p:sp>
      <p:sp>
        <p:nvSpPr>
          <p:cNvPr id="3" name="Marcador de contenido 2"/>
          <p:cNvSpPr>
            <a:spLocks noGrp="1"/>
          </p:cNvSpPr>
          <p:nvPr>
            <p:ph idx="1"/>
          </p:nvPr>
        </p:nvSpPr>
        <p:spPr>
          <a:xfrm>
            <a:off x="116312" y="830016"/>
            <a:ext cx="4153847" cy="466124"/>
          </a:xfrm>
        </p:spPr>
        <p:txBody>
          <a:bodyPr>
            <a:normAutofit/>
          </a:bodyPr>
          <a:lstStyle/>
          <a:p>
            <a:pPr marL="0" indent="0">
              <a:buNone/>
            </a:pPr>
            <a:r>
              <a:rPr lang="es-AR" sz="2400" b="1" dirty="0">
                <a:latin typeface="Bahnschrift" panose="020B0502040204020203" pitchFamily="34" charset="0"/>
              </a:rPr>
              <a:t>DETERMINACIÓ</a:t>
            </a:r>
            <a:r>
              <a:rPr lang="en-US" sz="2400" b="1" dirty="0">
                <a:latin typeface="Bahnschrift" panose="020B0502040204020203" pitchFamily="34" charset="0"/>
              </a:rPr>
              <a:t>N ANAL</a:t>
            </a:r>
            <a:r>
              <a:rPr lang="es-AR" sz="2400" b="1" dirty="0">
                <a:latin typeface="Bahnschrift" panose="020B0502040204020203" pitchFamily="34" charset="0"/>
              </a:rPr>
              <a:t>Í</a:t>
            </a:r>
            <a:r>
              <a:rPr lang="en-US" sz="2400" b="1" dirty="0">
                <a:latin typeface="Bahnschrift" panose="020B0502040204020203" pitchFamily="34" charset="0"/>
              </a:rPr>
              <a:t>TICA</a:t>
            </a:r>
            <a:endParaRPr lang="es-AR" sz="2400" b="1" dirty="0">
              <a:latin typeface="Bahnschrift" panose="020B0502040204020203" pitchFamily="34" charset="0"/>
            </a:endParaRPr>
          </a:p>
        </p:txBody>
      </p:sp>
      <p:sp>
        <p:nvSpPr>
          <p:cNvPr id="4" name="Marcador de contenido 2">
            <a:extLst>
              <a:ext uri="{FF2B5EF4-FFF2-40B4-BE49-F238E27FC236}">
                <a16:creationId xmlns:a16="http://schemas.microsoft.com/office/drawing/2014/main" id="{6F29601B-6F87-4863-8F58-E656D3704523}"/>
              </a:ext>
            </a:extLst>
          </p:cNvPr>
          <p:cNvSpPr txBox="1">
            <a:spLocks/>
          </p:cNvSpPr>
          <p:nvPr/>
        </p:nvSpPr>
        <p:spPr>
          <a:xfrm>
            <a:off x="632265" y="1310241"/>
            <a:ext cx="6519525"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s-AR" b="1" dirty="0">
              <a:latin typeface="Bahnschrift" panose="020B0502040204020203" pitchFamily="34" charset="0"/>
            </a:endParaRPr>
          </a:p>
        </p:txBody>
      </p:sp>
      <p:sp>
        <p:nvSpPr>
          <p:cNvPr id="9" name="Marcador de pie de página 2">
            <a:extLst>
              <a:ext uri="{FF2B5EF4-FFF2-40B4-BE49-F238E27FC236}">
                <a16:creationId xmlns:a16="http://schemas.microsoft.com/office/drawing/2014/main" id="{7D2D5D7E-5F89-4B5A-87F5-5A55507E7B50}"/>
              </a:ext>
            </a:extLst>
          </p:cNvPr>
          <p:cNvSpPr txBox="1">
            <a:spLocks/>
          </p:cNvSpPr>
          <p:nvPr/>
        </p:nvSpPr>
        <p:spPr>
          <a:xfrm rot="16200000">
            <a:off x="8384205" y="3303791"/>
            <a:ext cx="6784849" cy="177264"/>
          </a:xfrm>
          <a:prstGeom prst="rect">
            <a:avLst/>
          </a:prstGeom>
        </p:spPr>
        <p:txBody>
          <a:bodyPr vert="horz" lIns="91440" tIns="45720" rIns="91440" bIns="45720" rtlCol="0" anchor="ctr"/>
          <a:lstStyle>
            <a:defPPr>
              <a:defRPr lang="en-US"/>
            </a:defPPr>
            <a:lvl1pPr marL="0" algn="l" defTabSz="457200" rtl="0" eaLnBrk="1" latinLnBrk="0" hangingPunct="1">
              <a:defRPr sz="950" kern="1200" cap="all" baseline="0">
                <a:solidFill>
                  <a:schemeClr val="tx1">
                    <a:alpha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AR" sz="1050" b="1" dirty="0">
                <a:solidFill>
                  <a:schemeClr val="bg1">
                    <a:alpha val="80000"/>
                  </a:schemeClr>
                </a:solidFill>
              </a:rPr>
              <a:t>INGENIERIA Mecánica / ANÁLISIS DE POSICIÓN </a:t>
            </a:r>
            <a:endParaRPr lang="en-US" sz="1050" b="1" dirty="0">
              <a:solidFill>
                <a:schemeClr val="bg1">
                  <a:alpha val="80000"/>
                </a:schemeClr>
              </a:solidFill>
            </a:endParaRPr>
          </a:p>
          <a:p>
            <a:r>
              <a:rPr lang="es-AR" sz="1050" b="1" dirty="0">
                <a:solidFill>
                  <a:schemeClr val="bg1">
                    <a:alpha val="80000"/>
                  </a:schemeClr>
                </a:solidFill>
              </a:rPr>
              <a:t>Prof. a Cargo: Ing. Hugo Daniel Galdeano – PROF. ADJUNTO: Ing. Manuel Galdeano Ruiz</a:t>
            </a:r>
          </a:p>
        </p:txBody>
      </p:sp>
      <p:sp>
        <p:nvSpPr>
          <p:cNvPr id="12" name="Marcador de contenido 2">
            <a:extLst>
              <a:ext uri="{FF2B5EF4-FFF2-40B4-BE49-F238E27FC236}">
                <a16:creationId xmlns:a16="http://schemas.microsoft.com/office/drawing/2014/main" id="{7289123C-58D2-4C12-895D-968A25B2C96A}"/>
              </a:ext>
            </a:extLst>
          </p:cNvPr>
          <p:cNvSpPr txBox="1">
            <a:spLocks/>
          </p:cNvSpPr>
          <p:nvPr/>
        </p:nvSpPr>
        <p:spPr>
          <a:xfrm>
            <a:off x="1762384" y="1816447"/>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F5F3E4A-BA43-46DB-B75D-AFDB9D1E11D6}"/>
                  </a:ext>
                </a:extLst>
              </p:cNvPr>
              <p:cNvSpPr txBox="1"/>
              <p:nvPr/>
            </p:nvSpPr>
            <p:spPr>
              <a:xfrm>
                <a:off x="2920005" y="1800356"/>
                <a:ext cx="5942268" cy="3203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4</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𝑈</m:t>
                          </m:r>
                        </m:sub>
                      </m:sSub>
                      <m:r>
                        <a:rPr lang="en-US" b="0" i="1" smtClean="0">
                          <a:latin typeface="Cambria Math" panose="02040503050406030204" pitchFamily="18" charset="0"/>
                        </a:rPr>
                        <m:t>=</m:t>
                      </m:r>
                      <m:r>
                        <a:rPr lang="en-US" b="0" i="1" smtClean="0">
                          <a:latin typeface="Cambria Math" panose="02040503050406030204" pitchFamily="18" charset="0"/>
                        </a:rPr>
                        <m:t>𝑢</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8" name="CuadroTexto 7">
                <a:extLst>
                  <a:ext uri="{FF2B5EF4-FFF2-40B4-BE49-F238E27FC236}">
                    <a16:creationId xmlns:a16="http://schemas.microsoft.com/office/drawing/2014/main" id="{DF5F3E4A-BA43-46DB-B75D-AFDB9D1E11D6}"/>
                  </a:ext>
                </a:extLst>
              </p:cNvPr>
              <p:cNvSpPr txBox="1">
                <a:spLocks noRot="1" noChangeAspect="1" noMove="1" noResize="1" noEditPoints="1" noAdjustHandles="1" noChangeArrowheads="1" noChangeShapeType="1" noTextEdit="1"/>
              </p:cNvSpPr>
              <p:nvPr/>
            </p:nvSpPr>
            <p:spPr>
              <a:xfrm>
                <a:off x="2920005" y="1800356"/>
                <a:ext cx="5942268" cy="320344"/>
              </a:xfrm>
              <a:prstGeom prst="rect">
                <a:avLst/>
              </a:prstGeom>
              <a:blipFill>
                <a:blip r:embed="rId2"/>
                <a:stretch>
                  <a:fillRect t="-3774" r="-410" b="-26415"/>
                </a:stretch>
              </a:blipFill>
            </p:spPr>
            <p:txBody>
              <a:bodyPr/>
              <a:lstStyle/>
              <a:p>
                <a:r>
                  <a:rPr lang="es-AR">
                    <a:noFill/>
                  </a:rPr>
                  <a:t> </a:t>
                </a:r>
              </a:p>
            </p:txBody>
          </p:sp>
        </mc:Fallback>
      </mc:AlternateContent>
      <p:sp>
        <p:nvSpPr>
          <p:cNvPr id="27" name="Marcador de contenido 2">
            <a:extLst>
              <a:ext uri="{FF2B5EF4-FFF2-40B4-BE49-F238E27FC236}">
                <a16:creationId xmlns:a16="http://schemas.microsoft.com/office/drawing/2014/main" id="{244269AF-E4E1-4B0C-BAFA-96F7767FE6C4}"/>
              </a:ext>
            </a:extLst>
          </p:cNvPr>
          <p:cNvSpPr txBox="1">
            <a:spLocks/>
          </p:cNvSpPr>
          <p:nvPr/>
        </p:nvSpPr>
        <p:spPr>
          <a:xfrm>
            <a:off x="1535217" y="2246282"/>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p:sp>
        <p:nvSpPr>
          <p:cNvPr id="19" name="Marcador de contenido 2">
            <a:extLst>
              <a:ext uri="{FF2B5EF4-FFF2-40B4-BE49-F238E27FC236}">
                <a16:creationId xmlns:a16="http://schemas.microsoft.com/office/drawing/2014/main" id="{E9DEC608-14D8-4614-9FA5-3DDE7263E9A7}"/>
              </a:ext>
            </a:extLst>
          </p:cNvPr>
          <p:cNvSpPr txBox="1">
            <a:spLocks/>
          </p:cNvSpPr>
          <p:nvPr/>
        </p:nvSpPr>
        <p:spPr>
          <a:xfrm>
            <a:off x="-15805" y="1352182"/>
            <a:ext cx="3368492" cy="466124"/>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Font typeface="Arial" pitchFamily="34" charset="0"/>
              <a:buNone/>
            </a:pPr>
            <a:r>
              <a:rPr lang="en-US" b="1" dirty="0">
                <a:solidFill>
                  <a:srgbClr val="FFC000"/>
                </a:solidFill>
                <a:latin typeface="Bahnschrift" panose="020B0502040204020203" pitchFamily="34" charset="0"/>
              </a:rPr>
              <a:t>CUADRILATERO ARTICULADO</a:t>
            </a:r>
            <a:endParaRPr lang="es-AR" b="1" dirty="0">
              <a:solidFill>
                <a:srgbClr val="FFC000"/>
              </a:solidFill>
              <a:latin typeface="Bahnschrift" panose="020B0502040204020203" pitchFamily="34" charset="0"/>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6CCFB71-7872-4934-BFCB-1D6C2FCD8E21}"/>
                  </a:ext>
                </a:extLst>
              </p:cNvPr>
              <p:cNvSpPr txBox="1"/>
              <p:nvPr/>
            </p:nvSpPr>
            <p:spPr>
              <a:xfrm>
                <a:off x="2916740" y="2218764"/>
                <a:ext cx="5960157" cy="2905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𝑈</m:t>
                          </m:r>
                        </m:sub>
                      </m:sSub>
                      <m:r>
                        <a:rPr lang="en-US" b="0" i="1" smtClean="0">
                          <a:latin typeface="Cambria Math" panose="02040503050406030204" pitchFamily="18" charset="0"/>
                        </a:rPr>
                        <m:t>=</m:t>
                      </m:r>
                      <m:r>
                        <a:rPr lang="en-US" b="0" i="1" smtClean="0">
                          <a:latin typeface="Cambria Math" panose="02040503050406030204" pitchFamily="18" charset="0"/>
                        </a:rPr>
                        <m:t>𝑗𝑢</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4</m:t>
                                  </m:r>
                                </m:sub>
                              </m:sSub>
                            </m:e>
                          </m:d>
                        </m:e>
                      </m:func>
                      <m:r>
                        <a:rPr lang="en-US" b="0" i="1" smtClean="0">
                          <a:latin typeface="Cambria Math" panose="02040503050406030204" pitchFamily="18" charset="0"/>
                          <a:ea typeface="Cambria Math" panose="02040503050406030204" pitchFamily="18" charset="0"/>
                        </a:rPr>
                        <m:t>]</m:t>
                      </m:r>
                    </m:oMath>
                  </m:oMathPara>
                </a14:m>
                <a:endParaRPr lang="es-AR" dirty="0"/>
              </a:p>
            </p:txBody>
          </p:sp>
        </mc:Choice>
        <mc:Fallback xmlns="">
          <p:sp>
            <p:nvSpPr>
              <p:cNvPr id="10" name="CuadroTexto 9">
                <a:extLst>
                  <a:ext uri="{FF2B5EF4-FFF2-40B4-BE49-F238E27FC236}">
                    <a16:creationId xmlns:a16="http://schemas.microsoft.com/office/drawing/2014/main" id="{F6CCFB71-7872-4934-BFCB-1D6C2FCD8E21}"/>
                  </a:ext>
                </a:extLst>
              </p:cNvPr>
              <p:cNvSpPr txBox="1">
                <a:spLocks noRot="1" noChangeAspect="1" noMove="1" noResize="1" noEditPoints="1" noAdjustHandles="1" noChangeArrowheads="1" noChangeShapeType="1" noTextEdit="1"/>
              </p:cNvSpPr>
              <p:nvPr/>
            </p:nvSpPr>
            <p:spPr>
              <a:xfrm>
                <a:off x="2916740" y="2218764"/>
                <a:ext cx="5960157" cy="290529"/>
              </a:xfrm>
              <a:prstGeom prst="rect">
                <a:avLst/>
              </a:prstGeom>
              <a:blipFill>
                <a:blip r:embed="rId3"/>
                <a:stretch>
                  <a:fillRect t="-4167" r="-307" b="-37500"/>
                </a:stretch>
              </a:blipFill>
            </p:spPr>
            <p:txBody>
              <a:bodyPr/>
              <a:lstStyle/>
              <a:p>
                <a:r>
                  <a:rPr lang="es-AR">
                    <a:noFill/>
                  </a:rPr>
                  <a:t> </a:t>
                </a:r>
              </a:p>
            </p:txBody>
          </p:sp>
        </mc:Fallback>
      </mc:AlternateContent>
      <p:sp>
        <p:nvSpPr>
          <p:cNvPr id="25" name="Título 1">
            <a:extLst>
              <a:ext uri="{FF2B5EF4-FFF2-40B4-BE49-F238E27FC236}">
                <a16:creationId xmlns:a16="http://schemas.microsoft.com/office/drawing/2014/main" id="{50AAAF99-1DD0-4917-AB1A-41BE210FB4FD}"/>
              </a:ext>
            </a:extLst>
          </p:cNvPr>
          <p:cNvSpPr txBox="1">
            <a:spLocks/>
          </p:cNvSpPr>
          <p:nvPr/>
        </p:nvSpPr>
        <p:spPr>
          <a:xfrm>
            <a:off x="356654" y="2001113"/>
            <a:ext cx="1223850" cy="684362"/>
          </a:xfrm>
          <a:prstGeom prst="rect">
            <a:avLst/>
          </a:prstGeom>
        </p:spPr>
        <p:txBody>
          <a:bodyPr vert="horz" lIns="91440" tIns="45720" rIns="91440" bIns="45720" rtlCol="0" anchor="b">
            <a:normAutofit fontScale="600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algn="ctr"/>
            <a:r>
              <a:rPr lang="es-AR" sz="3100" b="1" dirty="0">
                <a:latin typeface="Bahnschrift" panose="020B0502040204020203" pitchFamily="34" charset="0"/>
              </a:rPr>
              <a:t>PUNTO</a:t>
            </a:r>
          </a:p>
          <a:p>
            <a:pPr algn="ctr"/>
            <a:r>
              <a:rPr lang="es-AR" sz="6000" b="1" dirty="0">
                <a:latin typeface="Bahnschrift" panose="020B0502040204020203" pitchFamily="34" charset="0"/>
              </a:rPr>
              <a:t>U</a:t>
            </a:r>
          </a:p>
        </p:txBody>
      </p:sp>
      <p:sp>
        <p:nvSpPr>
          <p:cNvPr id="17" name="Marcador de contenido 2">
            <a:extLst>
              <a:ext uri="{FF2B5EF4-FFF2-40B4-BE49-F238E27FC236}">
                <a16:creationId xmlns:a16="http://schemas.microsoft.com/office/drawing/2014/main" id="{09BF4DC0-A3A7-4E35-84DF-D0AE4A79DF5E}"/>
              </a:ext>
            </a:extLst>
          </p:cNvPr>
          <p:cNvSpPr txBox="1">
            <a:spLocks/>
          </p:cNvSpPr>
          <p:nvPr/>
        </p:nvSpPr>
        <p:spPr>
          <a:xfrm>
            <a:off x="1762384" y="4852911"/>
            <a:ext cx="1157621"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POSICIÓN</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8BCA3EC-E55D-461D-9D58-13472A74844E}"/>
                  </a:ext>
                </a:extLst>
              </p:cNvPr>
              <p:cNvSpPr txBox="1"/>
              <p:nvPr/>
            </p:nvSpPr>
            <p:spPr>
              <a:xfrm>
                <a:off x="2920005" y="4836820"/>
                <a:ext cx="7131376" cy="2902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𝑃𝐴</m:t>
                          </m:r>
                        </m:sub>
                      </m:sSub>
                      <m:r>
                        <a:rPr lang="en-US" b="0" i="1" smtClean="0">
                          <a:latin typeface="Cambria Math" panose="02040503050406030204" pitchFamily="18" charset="0"/>
                        </a:rPr>
                        <m:t>=</m:t>
                      </m:r>
                      <m:r>
                        <a:rPr lang="en-US" b="0" i="1" smtClean="0">
                          <a:latin typeface="Cambria Math" panose="02040503050406030204" pitchFamily="18" charset="0"/>
                        </a:rPr>
                        <m:t>𝑝</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d>
                        <m:dPr>
                          <m:begChr m:val="["/>
                          <m:endChr m:val="]"/>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𝑃𝐴</m:t>
                          </m:r>
                        </m:sub>
                      </m:sSub>
                    </m:oMath>
                  </m:oMathPara>
                </a14:m>
                <a:endParaRPr lang="es-AR" dirty="0"/>
              </a:p>
            </p:txBody>
          </p:sp>
        </mc:Choice>
        <mc:Fallback xmlns="">
          <p:sp>
            <p:nvSpPr>
              <p:cNvPr id="20" name="CuadroTexto 19">
                <a:extLst>
                  <a:ext uri="{FF2B5EF4-FFF2-40B4-BE49-F238E27FC236}">
                    <a16:creationId xmlns:a16="http://schemas.microsoft.com/office/drawing/2014/main" id="{D8BCA3EC-E55D-461D-9D58-13472A74844E}"/>
                  </a:ext>
                </a:extLst>
              </p:cNvPr>
              <p:cNvSpPr txBox="1">
                <a:spLocks noRot="1" noChangeAspect="1" noMove="1" noResize="1" noEditPoints="1" noAdjustHandles="1" noChangeArrowheads="1" noChangeShapeType="1" noTextEdit="1"/>
              </p:cNvSpPr>
              <p:nvPr/>
            </p:nvSpPr>
            <p:spPr>
              <a:xfrm>
                <a:off x="2920005" y="4836820"/>
                <a:ext cx="7131376" cy="290208"/>
              </a:xfrm>
              <a:prstGeom prst="rect">
                <a:avLst/>
              </a:prstGeom>
              <a:blipFill>
                <a:blip r:embed="rId5"/>
                <a:stretch>
                  <a:fillRect t="-4167" b="-35417"/>
                </a:stretch>
              </a:blipFill>
            </p:spPr>
            <p:txBody>
              <a:bodyPr/>
              <a:lstStyle/>
              <a:p>
                <a:r>
                  <a:rPr lang="es-AR">
                    <a:noFill/>
                  </a:rPr>
                  <a:t> </a:t>
                </a:r>
              </a:p>
            </p:txBody>
          </p:sp>
        </mc:Fallback>
      </mc:AlternateContent>
      <p:sp>
        <p:nvSpPr>
          <p:cNvPr id="21" name="Marcador de contenido 2">
            <a:extLst>
              <a:ext uri="{FF2B5EF4-FFF2-40B4-BE49-F238E27FC236}">
                <a16:creationId xmlns:a16="http://schemas.microsoft.com/office/drawing/2014/main" id="{69459496-BC2A-4973-9291-CEBD1AE4D48D}"/>
              </a:ext>
            </a:extLst>
          </p:cNvPr>
          <p:cNvSpPr txBox="1">
            <a:spLocks/>
          </p:cNvSpPr>
          <p:nvPr/>
        </p:nvSpPr>
        <p:spPr>
          <a:xfrm>
            <a:off x="1535217" y="5282746"/>
            <a:ext cx="1438275" cy="369333"/>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es-AR" sz="1600" dirty="0">
                <a:highlight>
                  <a:srgbClr val="FFC000"/>
                </a:highlight>
                <a:latin typeface="Bahnschrift" panose="020B0502040204020203" pitchFamily="34" charset="0"/>
                <a:sym typeface="Wingdings" panose="05000000000000000000" pitchFamily="2" charset="2"/>
              </a:rPr>
              <a:t>VELOCIDAD</a:t>
            </a:r>
            <a:endParaRPr lang="en-US" sz="1600" dirty="0">
              <a:latin typeface="Bahnschrift" panose="020B0502040204020203" pitchFamily="34" charset="0"/>
              <a:sym typeface="Wingdings" panose="05000000000000000000" pitchFamily="2" charset="2"/>
            </a:endParaRP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73FCCF74-B22F-40EC-A1A7-208DDF41AB30}"/>
                  </a:ext>
                </a:extLst>
              </p:cNvPr>
              <p:cNvSpPr txBox="1"/>
              <p:nvPr/>
            </p:nvSpPr>
            <p:spPr>
              <a:xfrm>
                <a:off x="2916740" y="5255228"/>
                <a:ext cx="7790531" cy="2902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𝑃𝐴</m:t>
                          </m:r>
                        </m:sub>
                      </m:sSub>
                      <m:r>
                        <a:rPr lang="en-US" b="0" i="1" smtClean="0">
                          <a:latin typeface="Cambria Math" panose="02040503050406030204" pitchFamily="18" charset="0"/>
                        </a:rPr>
                        <m:t>=</m:t>
                      </m:r>
                      <m:r>
                        <a:rPr lang="en-US" b="0" i="1" smtClean="0">
                          <a:latin typeface="Cambria Math" panose="02040503050406030204" pitchFamily="18" charset="0"/>
                        </a:rPr>
                        <m:t>𝑗𝑝</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3</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sin</m:t>
                              </m:r>
                            </m:fName>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3</m:t>
                                      </m:r>
                                    </m:sub>
                                  </m:sSub>
                                </m:e>
                              </m:d>
                            </m:e>
                          </m:func>
                        </m:e>
                      </m:d>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𝑃𝐴</m:t>
                          </m:r>
                        </m:sub>
                      </m:sSub>
                    </m:oMath>
                  </m:oMathPara>
                </a14:m>
                <a:endParaRPr lang="es-AR" dirty="0"/>
              </a:p>
            </p:txBody>
          </p:sp>
        </mc:Choice>
        <mc:Fallback xmlns="">
          <p:sp>
            <p:nvSpPr>
              <p:cNvPr id="23" name="CuadroTexto 22">
                <a:extLst>
                  <a:ext uri="{FF2B5EF4-FFF2-40B4-BE49-F238E27FC236}">
                    <a16:creationId xmlns:a16="http://schemas.microsoft.com/office/drawing/2014/main" id="{73FCCF74-B22F-40EC-A1A7-208DDF41AB30}"/>
                  </a:ext>
                </a:extLst>
              </p:cNvPr>
              <p:cNvSpPr txBox="1">
                <a:spLocks noRot="1" noChangeAspect="1" noMove="1" noResize="1" noEditPoints="1" noAdjustHandles="1" noChangeArrowheads="1" noChangeShapeType="1" noTextEdit="1"/>
              </p:cNvSpPr>
              <p:nvPr/>
            </p:nvSpPr>
            <p:spPr>
              <a:xfrm>
                <a:off x="2916740" y="5255228"/>
                <a:ext cx="7790531" cy="290208"/>
              </a:xfrm>
              <a:prstGeom prst="rect">
                <a:avLst/>
              </a:prstGeom>
              <a:blipFill>
                <a:blip r:embed="rId6"/>
                <a:stretch>
                  <a:fillRect t="-4167" b="-35417"/>
                </a:stretch>
              </a:blipFill>
            </p:spPr>
            <p:txBody>
              <a:bodyPr/>
              <a:lstStyle/>
              <a:p>
                <a:r>
                  <a:rPr lang="es-AR">
                    <a:noFill/>
                  </a:rPr>
                  <a:t> </a:t>
                </a:r>
              </a:p>
            </p:txBody>
          </p:sp>
        </mc:Fallback>
      </mc:AlternateContent>
      <p:sp>
        <p:nvSpPr>
          <p:cNvPr id="26" name="Título 1">
            <a:extLst>
              <a:ext uri="{FF2B5EF4-FFF2-40B4-BE49-F238E27FC236}">
                <a16:creationId xmlns:a16="http://schemas.microsoft.com/office/drawing/2014/main" id="{F8ECD35A-A0E7-484F-ADD1-21FD1EAF18E9}"/>
              </a:ext>
            </a:extLst>
          </p:cNvPr>
          <p:cNvSpPr txBox="1">
            <a:spLocks/>
          </p:cNvSpPr>
          <p:nvPr/>
        </p:nvSpPr>
        <p:spPr>
          <a:xfrm>
            <a:off x="356654" y="5037577"/>
            <a:ext cx="1223850" cy="684362"/>
          </a:xfrm>
          <a:prstGeom prst="rect">
            <a:avLst/>
          </a:prstGeom>
        </p:spPr>
        <p:txBody>
          <a:bodyPr vert="horz" lIns="91440" tIns="45720" rIns="91440" bIns="45720" rtlCol="0" anchor="b">
            <a:normAutofit fontScale="600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algn="ctr"/>
            <a:r>
              <a:rPr lang="es-AR" sz="3100" b="1" dirty="0">
                <a:latin typeface="Bahnschrift" panose="020B0502040204020203" pitchFamily="34" charset="0"/>
              </a:rPr>
              <a:t>PUNTO</a:t>
            </a:r>
          </a:p>
          <a:p>
            <a:pPr algn="ctr"/>
            <a:r>
              <a:rPr lang="es-AR" sz="6000" b="1" dirty="0">
                <a:latin typeface="Bahnschrift" panose="020B0502040204020203" pitchFamily="34" charset="0"/>
              </a:rPr>
              <a:t>P</a:t>
            </a:r>
          </a:p>
        </p:txBody>
      </p:sp>
      <p:sp>
        <p:nvSpPr>
          <p:cNvPr id="7" name="Marcador de contenido 2">
            <a:extLst>
              <a:ext uri="{FF2B5EF4-FFF2-40B4-BE49-F238E27FC236}">
                <a16:creationId xmlns:a16="http://schemas.microsoft.com/office/drawing/2014/main" id="{D5835072-9729-455D-91E1-EAE68E296D41}"/>
              </a:ext>
            </a:extLst>
          </p:cNvPr>
          <p:cNvSpPr txBox="1">
            <a:spLocks/>
          </p:cNvSpPr>
          <p:nvPr/>
        </p:nvSpPr>
        <p:spPr>
          <a:xfrm>
            <a:off x="379889" y="3169864"/>
            <a:ext cx="10572845" cy="112879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buFontTx/>
              <a:buChar char="-"/>
            </a:pPr>
            <a:r>
              <a:rPr lang="es-AR" sz="1400" dirty="0">
                <a:latin typeface="Bahnschrift" panose="020B0502040204020203" pitchFamily="34" charset="0"/>
                <a:ea typeface="Cambria Math" panose="02040503050406030204" pitchFamily="18" charset="0"/>
              </a:rPr>
              <a:t>Para hallar la velocidad del punto P en el eslabón 3 se aplicara la ecuación de diferencia de velocidades, partiendo de la velocidad del punto A, V</a:t>
            </a:r>
            <a:r>
              <a:rPr lang="es-AR" sz="1400" baseline="-25000" dirty="0">
                <a:latin typeface="Bahnschrift" panose="020B0502040204020203" pitchFamily="34" charset="0"/>
                <a:ea typeface="Cambria Math" panose="02040503050406030204" pitchFamily="18" charset="0"/>
              </a:rPr>
              <a:t>A</a:t>
            </a:r>
            <a:r>
              <a:rPr lang="es-AR" sz="1400" dirty="0">
                <a:latin typeface="Bahnschrift" panose="020B0502040204020203" pitchFamily="34" charset="0"/>
                <a:ea typeface="Cambria Math" panose="02040503050406030204" pitchFamily="18" charset="0"/>
              </a:rPr>
              <a:t> mas la velocidad del punto P respecto de A, V</a:t>
            </a:r>
            <a:r>
              <a:rPr lang="es-AR" sz="1400" baseline="-25000" dirty="0">
                <a:latin typeface="Bahnschrift" panose="020B0502040204020203" pitchFamily="34" charset="0"/>
                <a:ea typeface="Cambria Math" panose="02040503050406030204" pitchFamily="18" charset="0"/>
              </a:rPr>
              <a:t>PA</a:t>
            </a:r>
            <a:r>
              <a:rPr lang="es-AR" sz="1400" dirty="0">
                <a:latin typeface="Bahnschrift" panose="020B0502040204020203" pitchFamily="34" charset="0"/>
                <a:ea typeface="Cambria Math" panose="02040503050406030204" pitchFamily="18" charset="0"/>
              </a:rPr>
              <a:t>. </a:t>
            </a:r>
          </a:p>
          <a:p>
            <a:pPr algn="just">
              <a:buFontTx/>
              <a:buChar char="-"/>
            </a:pPr>
            <a:r>
              <a:rPr lang="es-AR" sz="1400" dirty="0">
                <a:latin typeface="Bahnschrift" panose="020B0502040204020203" pitchFamily="34" charset="0"/>
                <a:ea typeface="Cambria Math" panose="02040503050406030204" pitchFamily="18" charset="0"/>
              </a:rPr>
              <a:t>La posición del punto P se define a través del vector R</a:t>
            </a:r>
            <a:r>
              <a:rPr lang="es-AR" sz="1400" baseline="-25000" dirty="0">
                <a:latin typeface="Bahnschrift" panose="020B0502040204020203" pitchFamily="34" charset="0"/>
                <a:ea typeface="Cambria Math" panose="02040503050406030204" pitchFamily="18" charset="0"/>
              </a:rPr>
              <a:t>PA</a:t>
            </a:r>
            <a:r>
              <a:rPr lang="es-AR" sz="1400" dirty="0">
                <a:latin typeface="Bahnschrift" panose="020B0502040204020203" pitchFamily="34" charset="0"/>
                <a:ea typeface="Cambria Math" panose="02040503050406030204" pitchFamily="18" charset="0"/>
              </a:rPr>
              <a:t>, quien a su vez esta determinado por el ángulo interior </a:t>
            </a:r>
            <a:r>
              <a:rPr lang="el-GR" sz="1400" dirty="0">
                <a:latin typeface="Cambria Math" panose="02040503050406030204" pitchFamily="18" charset="0"/>
                <a:ea typeface="Cambria Math" panose="02040503050406030204" pitchFamily="18" charset="0"/>
              </a:rPr>
              <a:t>δ</a:t>
            </a:r>
            <a:r>
              <a:rPr lang="en-US" sz="1400" baseline="-25000" dirty="0">
                <a:latin typeface="Cambria Math" panose="02040503050406030204" pitchFamily="18" charset="0"/>
                <a:ea typeface="Cambria Math" panose="02040503050406030204" pitchFamily="18" charset="0"/>
              </a:rPr>
              <a:t>3</a:t>
            </a:r>
            <a:r>
              <a:rPr lang="en-US" sz="1400" dirty="0">
                <a:latin typeface="Cambria Math" panose="02040503050406030204" pitchFamily="18" charset="0"/>
                <a:ea typeface="Cambria Math" panose="02040503050406030204" pitchFamily="18" charset="0"/>
              </a:rPr>
              <a:t> </a:t>
            </a:r>
            <a:r>
              <a:rPr lang="es-AR" sz="1400" dirty="0">
                <a:latin typeface="Bahnschrift" panose="020B0502040204020203" pitchFamily="34" charset="0"/>
                <a:ea typeface="Cambria Math" panose="02040503050406030204" pitchFamily="18" charset="0"/>
              </a:rPr>
              <a:t>y del ángulo del eslabón 3 θ</a:t>
            </a:r>
            <a:r>
              <a:rPr lang="es-AR" sz="1400" baseline="-25000" dirty="0">
                <a:latin typeface="Bahnschrift" panose="020B0502040204020203" pitchFamily="34" charset="0"/>
                <a:ea typeface="Cambria Math" panose="02040503050406030204" pitchFamily="18" charset="0"/>
              </a:rPr>
              <a:t>3</a:t>
            </a:r>
            <a:r>
              <a:rPr lang="es-AR" sz="1400" dirty="0">
                <a:latin typeface="Bahnschrift" panose="020B0502040204020203" pitchFamily="34" charset="0"/>
                <a:ea typeface="Cambria Math" panose="02040503050406030204" pitchFamily="18" charset="0"/>
              </a:rPr>
              <a:t>.</a:t>
            </a:r>
          </a:p>
        </p:txBody>
      </p:sp>
    </p:spTree>
    <p:extLst>
      <p:ext uri="{BB962C8B-B14F-4D97-AF65-F5344CB8AC3E}">
        <p14:creationId xmlns:p14="http://schemas.microsoft.com/office/powerpoint/2010/main" val="171288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27" grpId="0"/>
      <p:bldP spid="10" grpId="0"/>
      <p:bldP spid="25" grpId="0"/>
      <p:bldP spid="17" grpId="0"/>
      <p:bldP spid="20" grpId="0"/>
      <p:bldP spid="21" grpId="0"/>
      <p:bldP spid="23" grpId="0"/>
      <p:bldP spid="26" grpId="0"/>
      <p:bldP spid="7" grpId="0"/>
    </p:bldLst>
  </p:timing>
</p:sld>
</file>

<file path=ppt/theme/theme1.xml><?xml version="1.0" encoding="utf-8"?>
<a:theme xmlns:a="http://schemas.openxmlformats.org/drawingml/2006/main" name="Vista">
  <a:themeElements>
    <a:clrScheme name="Amaril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ist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TM03457515[[fn=Vista]]</Template>
  <TotalTime>41093</TotalTime>
  <Words>4498</Words>
  <Application>Microsoft Office PowerPoint</Application>
  <PresentationFormat>Panorámica</PresentationFormat>
  <Paragraphs>375</Paragraphs>
  <Slides>27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27</vt:i4>
      </vt:variant>
    </vt:vector>
  </HeadingPairs>
  <TitlesOfParts>
    <vt:vector size="33" baseType="lpstr">
      <vt:lpstr>Arial</vt:lpstr>
      <vt:lpstr>Bahnschrift</vt:lpstr>
      <vt:lpstr>Calibri</vt:lpstr>
      <vt:lpstr>Cambria Math</vt:lpstr>
      <vt:lpstr>Wingdings 2</vt:lpstr>
      <vt:lpstr>Vista</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lpstr>ANÁLISIS DE VELOCIDAD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MECANISMOS DE TRANSMISIÓN POR ROTACIÓN</dc:title>
  <dc:creator>franco laciar lara</dc:creator>
  <cp:lastModifiedBy>manu galdeano</cp:lastModifiedBy>
  <cp:revision>414</cp:revision>
  <dcterms:created xsi:type="dcterms:W3CDTF">2018-03-24T20:56:14Z</dcterms:created>
  <dcterms:modified xsi:type="dcterms:W3CDTF">2023-09-26T12:00:16Z</dcterms:modified>
</cp:coreProperties>
</file>