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30"/>
  </p:notesMasterIdLst>
  <p:sldIdLst>
    <p:sldId id="256" r:id="rId2"/>
    <p:sldId id="288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241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6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 galdeano" userId="e767bd7cd65f2805" providerId="LiveId" clId="{DD4C81C3-F470-45FC-98EA-354A9EDA5DDE}"/>
    <pc:docChg chg="modSld">
      <pc:chgData name="manu galdeano" userId="e767bd7cd65f2805" providerId="LiveId" clId="{DD4C81C3-F470-45FC-98EA-354A9EDA5DDE}" dt="2026-09-01T02:43:32.050" v="7" actId="1076"/>
      <pc:docMkLst>
        <pc:docMk/>
      </pc:docMkLst>
      <pc:sldChg chg="addSp modSp mod">
        <pc:chgData name="manu galdeano" userId="e767bd7cd65f2805" providerId="LiveId" clId="{DD4C81C3-F470-45FC-98EA-354A9EDA5DDE}" dt="2026-09-01T02:43:32.050" v="7" actId="1076"/>
        <pc:sldMkLst>
          <pc:docMk/>
          <pc:sldMk cId="1441866934" sldId="340"/>
        </pc:sldMkLst>
        <pc:spChg chg="add mod">
          <ac:chgData name="manu galdeano" userId="e767bd7cd65f2805" providerId="LiveId" clId="{DD4C81C3-F470-45FC-98EA-354A9EDA5DDE}" dt="2026-09-01T02:43:32.050" v="7" actId="1076"/>
          <ac:spMkLst>
            <pc:docMk/>
            <pc:sldMk cId="1441866934" sldId="340"/>
            <ac:spMk id="7" creationId="{3C55D9AB-4AC5-151F-6EF8-2282CE6510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61A7B-FE5B-4CFE-8452-3D5059D5AE1A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89FA8-BAFC-4E1B-BDC2-F40DD6DB0DD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4677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9550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88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2318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03536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525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540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015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13660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656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275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4654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8EEFF92-79CB-4BA1-B3A4-284FF307DF2C}" type="datetimeFigureOut">
              <a:rPr lang="es-AR" smtClean="0"/>
              <a:t>31/8/2026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79AB5C1-8AA1-4BAC-ABA1-BC534518852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033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2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3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3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9.png"/><Relationship Id="rId7" Type="http://schemas.openxmlformats.org/officeDocument/2006/relationships/image" Target="../media/image91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0.png"/><Relationship Id="rId4" Type="http://schemas.openxmlformats.org/officeDocument/2006/relationships/image" Target="../media/image46.png"/><Relationship Id="rId9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3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97.png"/><Relationship Id="rId10" Type="http://schemas.openxmlformats.org/officeDocument/2006/relationships/image" Target="../media/image3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88.png"/><Relationship Id="rId7" Type="http://schemas.openxmlformats.org/officeDocument/2006/relationships/image" Target="../media/image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109.png"/><Relationship Id="rId5" Type="http://schemas.openxmlformats.org/officeDocument/2006/relationships/image" Target="../media/image46.png"/><Relationship Id="rId10" Type="http://schemas.openxmlformats.org/officeDocument/2006/relationships/image" Target="../media/image108.png"/><Relationship Id="rId4" Type="http://schemas.openxmlformats.org/officeDocument/2006/relationships/image" Target="../media/image89.png"/><Relationship Id="rId9" Type="http://schemas.openxmlformats.org/officeDocument/2006/relationships/image" Target="../media/image10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2.png"/><Relationship Id="rId7" Type="http://schemas.openxmlformats.org/officeDocument/2006/relationships/image" Target="../media/image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19.png"/><Relationship Id="rId5" Type="http://schemas.openxmlformats.org/officeDocument/2006/relationships/image" Target="../media/image114.png"/><Relationship Id="rId10" Type="http://schemas.openxmlformats.org/officeDocument/2006/relationships/image" Target="../media/image118.png"/><Relationship Id="rId4" Type="http://schemas.openxmlformats.org/officeDocument/2006/relationships/image" Target="../media/image113.png"/><Relationship Id="rId9" Type="http://schemas.openxmlformats.org/officeDocument/2006/relationships/image" Target="../media/image1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50.png"/><Relationship Id="rId3" Type="http://schemas.openxmlformats.org/officeDocument/2006/relationships/image" Target="../media/image128.png"/><Relationship Id="rId7" Type="http://schemas.openxmlformats.org/officeDocument/2006/relationships/image" Target="../media/image151.png"/><Relationship Id="rId12" Type="http://schemas.openxmlformats.org/officeDocument/2006/relationships/image" Target="../media/image129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7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905" y="5291090"/>
            <a:ext cx="11677095" cy="1566909"/>
          </a:xfrm>
        </p:spPr>
        <p:txBody>
          <a:bodyPr>
            <a:noAutofit/>
          </a:bodyPr>
          <a:lstStyle/>
          <a:p>
            <a:r>
              <a:rPr lang="es-AR" sz="5400" b="1" dirty="0">
                <a:latin typeface="Bahnschrift" panose="020B0502040204020203" pitchFamily="34" charset="0"/>
              </a:rPr>
              <a:t>ANÁLISIS DE POSICIÓN</a:t>
            </a:r>
          </a:p>
        </p:txBody>
      </p:sp>
    </p:spTree>
    <p:extLst>
      <p:ext uri="{BB962C8B-B14F-4D97-AF65-F5344CB8AC3E}">
        <p14:creationId xmlns:p14="http://schemas.microsoft.com/office/powerpoint/2010/main" val="192525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 descr="Imagen que contiene cable&#10;&#10;Descripción generada automáticamente">
            <a:extLst>
              <a:ext uri="{FF2B5EF4-FFF2-40B4-BE49-F238E27FC236}">
                <a16:creationId xmlns:a16="http://schemas.microsoft.com/office/drawing/2014/main" id="{29D7A836-C951-4BB4-AD11-40EF265A88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000" y="3126613"/>
            <a:ext cx="1955590" cy="1778160"/>
          </a:xfrm>
          <a:prstGeom prst="rect">
            <a:avLst/>
          </a:prstGeom>
        </p:spPr>
      </p:pic>
      <p:sp>
        <p:nvSpPr>
          <p:cNvPr id="64" name="Rectángulo 63">
            <a:extLst>
              <a:ext uri="{FF2B5EF4-FFF2-40B4-BE49-F238E27FC236}">
                <a16:creationId xmlns:a16="http://schemas.microsoft.com/office/drawing/2014/main" id="{725B28B5-2D93-4494-BEC2-6BE7F89F1352}"/>
              </a:ext>
            </a:extLst>
          </p:cNvPr>
          <p:cNvSpPr/>
          <p:nvPr/>
        </p:nvSpPr>
        <p:spPr>
          <a:xfrm>
            <a:off x="0" y="853440"/>
            <a:ext cx="2519680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3" name="Imagen 62" descr="Imagen que contiene cable&#10;&#10;Descripción generada automáticamente">
            <a:extLst>
              <a:ext uri="{FF2B5EF4-FFF2-40B4-BE49-F238E27FC236}">
                <a16:creationId xmlns:a16="http://schemas.microsoft.com/office/drawing/2014/main" id="{D80F3EDC-271D-4440-94CA-9A02D228B4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641" y="1641633"/>
            <a:ext cx="1955590" cy="177816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2" y="830016"/>
            <a:ext cx="5081713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INTRODUCCIÓN</a:t>
            </a:r>
          </a:p>
        </p:txBody>
      </p:sp>
      <p:sp>
        <p:nvSpPr>
          <p:cNvPr id="36" name="Marcador de pie de página 2">
            <a:extLst>
              <a:ext uri="{FF2B5EF4-FFF2-40B4-BE49-F238E27FC236}">
                <a16:creationId xmlns:a16="http://schemas.microsoft.com/office/drawing/2014/main" id="{FA38546B-FC4B-44C8-AFEF-02928070D436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E4DFA728-08F7-4DAD-B29E-27537E19DAAC}"/>
              </a:ext>
            </a:extLst>
          </p:cNvPr>
          <p:cNvSpPr txBox="1">
            <a:spLocks/>
          </p:cNvSpPr>
          <p:nvPr/>
        </p:nvSpPr>
        <p:spPr>
          <a:xfrm>
            <a:off x="5287545" y="3914904"/>
            <a:ext cx="1544839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000" b="1" dirty="0">
                <a:latin typeface="Bahnschrift" panose="020B0502040204020203" pitchFamily="34" charset="0"/>
              </a:rPr>
              <a:t>VELOCIDAD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F29601B-6F87-4863-8F58-E656D3704523}"/>
              </a:ext>
            </a:extLst>
          </p:cNvPr>
          <p:cNvSpPr txBox="1">
            <a:spLocks/>
          </p:cNvSpPr>
          <p:nvPr/>
        </p:nvSpPr>
        <p:spPr>
          <a:xfrm>
            <a:off x="5287545" y="3483880"/>
            <a:ext cx="1321759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000" b="1" dirty="0">
                <a:latin typeface="Bahnschrift" panose="020B0502040204020203" pitchFamily="34" charset="0"/>
              </a:rPr>
              <a:t>POSICIÓN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4E7D85E-379E-400C-A46C-FA08A4F88B7C}"/>
              </a:ext>
            </a:extLst>
          </p:cNvPr>
          <p:cNvSpPr txBox="1">
            <a:spLocks/>
          </p:cNvSpPr>
          <p:nvPr/>
        </p:nvSpPr>
        <p:spPr>
          <a:xfrm>
            <a:off x="7895592" y="4057070"/>
            <a:ext cx="2506088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3200" b="1" dirty="0">
                <a:latin typeface="Bahnschrift" panose="020B0502040204020203" pitchFamily="34" charset="0"/>
              </a:rPr>
              <a:t>FUERZAS DINÁMICAS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5DBCBD5-2266-469F-BE58-75FC5CB32D1D}"/>
              </a:ext>
            </a:extLst>
          </p:cNvPr>
          <p:cNvSpPr txBox="1">
            <a:spLocks/>
          </p:cNvSpPr>
          <p:nvPr/>
        </p:nvSpPr>
        <p:spPr>
          <a:xfrm>
            <a:off x="5287545" y="4322190"/>
            <a:ext cx="2106141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000" b="1" dirty="0">
                <a:latin typeface="Bahnschrift" panose="020B0502040204020203" pitchFamily="34" charset="0"/>
              </a:rPr>
              <a:t>ACELERACIÓN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9522A08-50DE-4937-8420-CA9C1C6B641C}"/>
              </a:ext>
            </a:extLst>
          </p:cNvPr>
          <p:cNvSpPr txBox="1">
            <a:spLocks/>
          </p:cNvSpPr>
          <p:nvPr/>
        </p:nvSpPr>
        <p:spPr>
          <a:xfrm>
            <a:off x="7895592" y="5585456"/>
            <a:ext cx="2402969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3200" b="1" dirty="0">
                <a:latin typeface="Bahnschrift" panose="020B0502040204020203" pitchFamily="34" charset="0"/>
              </a:rPr>
              <a:t>FUERZAS ESTÁTICAS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DDCC9E4-A88C-4CE2-A4EA-E6112E091217}"/>
              </a:ext>
            </a:extLst>
          </p:cNvPr>
          <p:cNvSpPr txBox="1">
            <a:spLocks/>
          </p:cNvSpPr>
          <p:nvPr/>
        </p:nvSpPr>
        <p:spPr>
          <a:xfrm>
            <a:off x="700067" y="4129169"/>
            <a:ext cx="3313793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600" b="1" dirty="0">
                <a:solidFill>
                  <a:srgbClr val="C00000"/>
                </a:solidFill>
                <a:latin typeface="Bahnschrift" panose="020B0502040204020203" pitchFamily="34" charset="0"/>
              </a:rPr>
              <a:t>LÍMITE DEL MATERIAL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74E30FE-55D2-49B7-BF97-07F6B3E749B5}"/>
              </a:ext>
            </a:extLst>
          </p:cNvPr>
          <p:cNvSpPr txBox="1">
            <a:spLocks/>
          </p:cNvSpPr>
          <p:nvPr/>
        </p:nvSpPr>
        <p:spPr>
          <a:xfrm>
            <a:off x="3104538" y="5614006"/>
            <a:ext cx="4184308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5400" b="1" dirty="0">
                <a:solidFill>
                  <a:srgbClr val="2B241F"/>
                </a:solidFill>
                <a:latin typeface="Bahnschrift" panose="020B0502040204020203" pitchFamily="34" charset="0"/>
              </a:rPr>
              <a:t>ESFUERZOS</a:t>
            </a:r>
          </a:p>
        </p:txBody>
      </p:sp>
      <p:pic>
        <p:nvPicPr>
          <p:cNvPr id="12" name="Imagen 11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70CCA420-3DF1-4C5A-A249-66023F5CC3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890568" y="2276085"/>
            <a:ext cx="588264" cy="272796"/>
          </a:xfrm>
          <a:prstGeom prst="rect">
            <a:avLst/>
          </a:prstGeom>
        </p:spPr>
      </p:pic>
      <p:pic>
        <p:nvPicPr>
          <p:cNvPr id="14" name="Imagen 13" descr="Imagen que contiene dibujo&#10;&#10;Descripción generada automáticamente">
            <a:extLst>
              <a:ext uri="{FF2B5EF4-FFF2-40B4-BE49-F238E27FC236}">
                <a16:creationId xmlns:a16="http://schemas.microsoft.com/office/drawing/2014/main" id="{744E7FB7-9E41-45BF-BFEE-3E7A3DEA30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4287">
            <a:off x="4576825" y="3318246"/>
            <a:ext cx="565504" cy="588264"/>
          </a:xfrm>
          <a:prstGeom prst="rect">
            <a:avLst/>
          </a:prstGeom>
        </p:spPr>
      </p:pic>
      <p:pic>
        <p:nvPicPr>
          <p:cNvPr id="33" name="Imagen 32" descr="Imagen que contiene reloj&#10;&#10;Descripción generada automáticamente">
            <a:extLst>
              <a:ext uri="{FF2B5EF4-FFF2-40B4-BE49-F238E27FC236}">
                <a16:creationId xmlns:a16="http://schemas.microsoft.com/office/drawing/2014/main" id="{ADFED31E-6C4E-4A67-B4A2-9ECE7C7DB9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1953" flipH="1">
            <a:off x="6947295" y="5193977"/>
            <a:ext cx="674573" cy="480346"/>
          </a:xfrm>
          <a:prstGeom prst="rect">
            <a:avLst/>
          </a:prstGeom>
        </p:spPr>
      </p:pic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D6B7EB20-5CB9-4A7E-8FA9-88BB9BEAD09A}"/>
              </a:ext>
            </a:extLst>
          </p:cNvPr>
          <p:cNvSpPr txBox="1">
            <a:spLocks/>
          </p:cNvSpPr>
          <p:nvPr/>
        </p:nvSpPr>
        <p:spPr>
          <a:xfrm>
            <a:off x="1192334" y="1486983"/>
            <a:ext cx="207404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200" b="1" dirty="0">
                <a:solidFill>
                  <a:srgbClr val="FFC000"/>
                </a:solidFill>
                <a:latin typeface="Bahnschrift" panose="020B0502040204020203" pitchFamily="34" charset="0"/>
              </a:rPr>
              <a:t>SÍNTESIS</a:t>
            </a: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79462934-B380-4046-ACD2-C0ABDA7DA7B9}"/>
              </a:ext>
            </a:extLst>
          </p:cNvPr>
          <p:cNvSpPr txBox="1">
            <a:spLocks/>
          </p:cNvSpPr>
          <p:nvPr/>
        </p:nvSpPr>
        <p:spPr>
          <a:xfrm>
            <a:off x="1192333" y="2816350"/>
            <a:ext cx="207404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200" b="1" dirty="0">
                <a:solidFill>
                  <a:srgbClr val="FFC000"/>
                </a:solidFill>
                <a:latin typeface="Bahnschrift" panose="020B0502040204020203" pitchFamily="34" charset="0"/>
              </a:rPr>
              <a:t>ANÁLISIS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75786E2E-A65F-4ADA-9A2B-B9D7F90CEC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71"/>
          <a:stretch/>
        </p:blipFill>
        <p:spPr>
          <a:xfrm>
            <a:off x="5196693" y="3366940"/>
            <a:ext cx="218603" cy="1421374"/>
          </a:xfrm>
          <a:prstGeom prst="rect">
            <a:avLst/>
          </a:prstGeom>
        </p:spPr>
      </p:pic>
      <p:sp>
        <p:nvSpPr>
          <p:cNvPr id="44" name="Marcador de contenido 2">
            <a:extLst>
              <a:ext uri="{FF2B5EF4-FFF2-40B4-BE49-F238E27FC236}">
                <a16:creationId xmlns:a16="http://schemas.microsoft.com/office/drawing/2014/main" id="{92FEFC25-03EB-40A2-BA05-2890EBAC499C}"/>
              </a:ext>
            </a:extLst>
          </p:cNvPr>
          <p:cNvSpPr txBox="1">
            <a:spLocks/>
          </p:cNvSpPr>
          <p:nvPr/>
        </p:nvSpPr>
        <p:spPr>
          <a:xfrm>
            <a:off x="3994959" y="2878632"/>
            <a:ext cx="2403467" cy="466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400" b="1" dirty="0">
                <a:latin typeface="Bahnschrift" panose="020B0502040204020203" pitchFamily="34" charset="0"/>
              </a:rPr>
              <a:t>CINEMÁTICO</a:t>
            </a:r>
          </a:p>
        </p:txBody>
      </p:sp>
      <p:pic>
        <p:nvPicPr>
          <p:cNvPr id="46" name="Imagen 45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236FD1EF-B9D5-441F-9A37-856FBB0AB1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63" y="3009678"/>
            <a:ext cx="588264" cy="272796"/>
          </a:xfrm>
          <a:prstGeom prst="rect">
            <a:avLst/>
          </a:prstGeom>
        </p:spPr>
      </p:pic>
      <p:pic>
        <p:nvPicPr>
          <p:cNvPr id="48" name="Imagen 47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EF1C78F4-76AC-482D-A5B1-28C2A444FF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779" y="4418854"/>
            <a:ext cx="588264" cy="272796"/>
          </a:xfrm>
          <a:prstGeom prst="rect">
            <a:avLst/>
          </a:prstGeom>
        </p:spPr>
      </p:pic>
      <p:sp>
        <p:nvSpPr>
          <p:cNvPr id="49" name="Cruz 48">
            <a:extLst>
              <a:ext uri="{FF2B5EF4-FFF2-40B4-BE49-F238E27FC236}">
                <a16:creationId xmlns:a16="http://schemas.microsoft.com/office/drawing/2014/main" id="{DDEE72C2-99F6-4DF9-984E-B75FB0C4FD2D}"/>
              </a:ext>
            </a:extLst>
          </p:cNvPr>
          <p:cNvSpPr/>
          <p:nvPr/>
        </p:nvSpPr>
        <p:spPr>
          <a:xfrm>
            <a:off x="8682437" y="5092698"/>
            <a:ext cx="466199" cy="466124"/>
          </a:xfrm>
          <a:prstGeom prst="plus">
            <a:avLst>
              <a:gd name="adj" fmla="val 41155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5F2E64D0-1C74-42F2-B80E-E7CBEB1FD01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71"/>
          <a:stretch/>
        </p:blipFill>
        <p:spPr>
          <a:xfrm>
            <a:off x="7778997" y="4765291"/>
            <a:ext cx="177265" cy="1152591"/>
          </a:xfrm>
          <a:prstGeom prst="rect">
            <a:avLst/>
          </a:prstGeom>
        </p:spPr>
      </p:pic>
      <p:pic>
        <p:nvPicPr>
          <p:cNvPr id="57" name="Imagen 5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2663C88-DC14-4525-86E0-0B2734BC61B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202219" flipH="1">
            <a:off x="2074636" y="5355498"/>
            <a:ext cx="848632" cy="867881"/>
          </a:xfrm>
          <a:prstGeom prst="rect">
            <a:avLst/>
          </a:prstGeom>
        </p:spPr>
      </p:pic>
      <p:pic>
        <p:nvPicPr>
          <p:cNvPr id="59" name="Imagen 58" descr="Imagen que contiene reloj&#10;&#10;Descripción generada automáticamente">
            <a:extLst>
              <a:ext uri="{FF2B5EF4-FFF2-40B4-BE49-F238E27FC236}">
                <a16:creationId xmlns:a16="http://schemas.microsoft.com/office/drawing/2014/main" id="{FD4F7EFA-27E5-49EF-9B29-A113D49AC37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51825" flipV="1">
            <a:off x="6643345" y="3163312"/>
            <a:ext cx="762665" cy="466124"/>
          </a:xfrm>
          <a:prstGeom prst="rect">
            <a:avLst/>
          </a:prstGeom>
        </p:spPr>
      </p:pic>
      <p:sp>
        <p:nvSpPr>
          <p:cNvPr id="61" name="Marcador de contenido 2">
            <a:extLst>
              <a:ext uri="{FF2B5EF4-FFF2-40B4-BE49-F238E27FC236}">
                <a16:creationId xmlns:a16="http://schemas.microsoft.com/office/drawing/2014/main" id="{0F584C05-DB3E-4CE2-A6CD-75A72893AA13}"/>
              </a:ext>
            </a:extLst>
          </p:cNvPr>
          <p:cNvSpPr txBox="1">
            <a:spLocks/>
          </p:cNvSpPr>
          <p:nvPr/>
        </p:nvSpPr>
        <p:spPr>
          <a:xfrm>
            <a:off x="7043664" y="2064520"/>
            <a:ext cx="2506088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200" b="1" dirty="0">
                <a:latin typeface="Bahnschrift" panose="020B0502040204020203" pitchFamily="34" charset="0"/>
              </a:rPr>
              <a:t>PUNTO DE PARTIDA</a:t>
            </a:r>
          </a:p>
        </p:txBody>
      </p:sp>
      <p:pic>
        <p:nvPicPr>
          <p:cNvPr id="29" name="Imagen 28" descr="Imagen que contiene reloj&#10;&#10;Descripción generada automáticamente">
            <a:extLst>
              <a:ext uri="{FF2B5EF4-FFF2-40B4-BE49-F238E27FC236}">
                <a16:creationId xmlns:a16="http://schemas.microsoft.com/office/drawing/2014/main" id="{45B24AAA-72C1-4141-88B1-37FEAA58D20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39977" flipH="1" flipV="1">
            <a:off x="6083580" y="2499406"/>
            <a:ext cx="778944" cy="466124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F089C74-5010-4A39-9FDE-B2616B574E8D}"/>
              </a:ext>
            </a:extLst>
          </p:cNvPr>
          <p:cNvSpPr txBox="1">
            <a:spLocks/>
          </p:cNvSpPr>
          <p:nvPr/>
        </p:nvSpPr>
        <p:spPr>
          <a:xfrm>
            <a:off x="5914176" y="1540019"/>
            <a:ext cx="2258975" cy="94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400" b="1" dirty="0">
                <a:latin typeface="Bahnschrift" panose="020B0502040204020203" pitchFamily="34" charset="0"/>
              </a:rPr>
              <a:t>Cálculo para 180 posiciones</a:t>
            </a:r>
          </a:p>
        </p:txBody>
      </p:sp>
    </p:spTree>
    <p:extLst>
      <p:ext uri="{BB962C8B-B14F-4D97-AF65-F5344CB8AC3E}">
        <p14:creationId xmlns:p14="http://schemas.microsoft.com/office/powerpoint/2010/main" val="266674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B743C3E4-B138-4C3C-B69D-DF89993E7FC2}"/>
              </a:ext>
            </a:extLst>
          </p:cNvPr>
          <p:cNvSpPr/>
          <p:nvPr/>
        </p:nvSpPr>
        <p:spPr>
          <a:xfrm>
            <a:off x="0" y="853440"/>
            <a:ext cx="4704080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2" y="830016"/>
            <a:ext cx="5081713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DETERMINACIÓN DE POSICIÓN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E4DFA728-08F7-4DAD-B29E-27537E19DAAC}"/>
              </a:ext>
            </a:extLst>
          </p:cNvPr>
          <p:cNvSpPr txBox="1">
            <a:spLocks/>
          </p:cNvSpPr>
          <p:nvPr/>
        </p:nvSpPr>
        <p:spPr>
          <a:xfrm>
            <a:off x="1890743" y="5692334"/>
            <a:ext cx="262291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800" b="1" dirty="0">
                <a:latin typeface="Bahnschrift" panose="020B0502040204020203" pitchFamily="34" charset="0"/>
              </a:rPr>
              <a:t>VELOCIDAD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F29601B-6F87-4863-8F58-E656D3704523}"/>
              </a:ext>
            </a:extLst>
          </p:cNvPr>
          <p:cNvSpPr txBox="1">
            <a:spLocks/>
          </p:cNvSpPr>
          <p:nvPr/>
        </p:nvSpPr>
        <p:spPr>
          <a:xfrm>
            <a:off x="1890743" y="5261310"/>
            <a:ext cx="2244159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800" b="1" dirty="0">
                <a:latin typeface="Bahnschrift" panose="020B0502040204020203" pitchFamily="34" charset="0"/>
              </a:rPr>
              <a:t>POSICIÓN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5DBCBD5-2266-469F-BE58-75FC5CB32D1D}"/>
              </a:ext>
            </a:extLst>
          </p:cNvPr>
          <p:cNvSpPr txBox="1">
            <a:spLocks/>
          </p:cNvSpPr>
          <p:nvPr/>
        </p:nvSpPr>
        <p:spPr>
          <a:xfrm>
            <a:off x="1890743" y="6099620"/>
            <a:ext cx="3575928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800" b="1" dirty="0">
                <a:latin typeface="Bahnschrift" panose="020B0502040204020203" pitchFamily="34" charset="0"/>
              </a:rPr>
              <a:t>ACELERACIÓN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DDCC9E4-A88C-4CE2-A4EA-E6112E091217}"/>
              </a:ext>
            </a:extLst>
          </p:cNvPr>
          <p:cNvSpPr txBox="1">
            <a:spLocks/>
          </p:cNvSpPr>
          <p:nvPr/>
        </p:nvSpPr>
        <p:spPr>
          <a:xfrm>
            <a:off x="1157963" y="2787136"/>
            <a:ext cx="343692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600" b="1" dirty="0">
                <a:solidFill>
                  <a:srgbClr val="C00000"/>
                </a:solidFill>
                <a:latin typeface="Bahnschrift" panose="020B0502040204020203" pitchFamily="34" charset="0"/>
              </a:rPr>
              <a:t>MÉTODO GRÁFICO</a:t>
            </a:r>
          </a:p>
          <a:p>
            <a:pPr marL="0" indent="0" algn="ctr">
              <a:buFont typeface="Arial" pitchFamily="34" charset="0"/>
              <a:buNone/>
            </a:pPr>
            <a:r>
              <a:rPr lang="es-AR" sz="2400" b="1" dirty="0">
                <a:solidFill>
                  <a:srgbClr val="C00000"/>
                </a:solidFill>
                <a:latin typeface="Bahnschrift" panose="020B0502040204020203" pitchFamily="34" charset="0"/>
              </a:rPr>
              <a:t>(TRAZADO)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D6B7EB20-5CB9-4A7E-8FA9-88BB9BEAD09A}"/>
              </a:ext>
            </a:extLst>
          </p:cNvPr>
          <p:cNvSpPr txBox="1">
            <a:spLocks/>
          </p:cNvSpPr>
          <p:nvPr/>
        </p:nvSpPr>
        <p:spPr>
          <a:xfrm>
            <a:off x="4416213" y="1301154"/>
            <a:ext cx="207404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200" b="1" dirty="0">
                <a:solidFill>
                  <a:srgbClr val="FFC000"/>
                </a:solidFill>
                <a:latin typeface="Bahnschrift" panose="020B0502040204020203" pitchFamily="34" charset="0"/>
              </a:rPr>
              <a:t>POSICIÓN</a:t>
            </a:r>
          </a:p>
        </p:txBody>
      </p:sp>
      <p:pic>
        <p:nvPicPr>
          <p:cNvPr id="46" name="Imagen 45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236FD1EF-B9D5-441F-9A37-856FBB0AB1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82292" y="4781579"/>
            <a:ext cx="588264" cy="272796"/>
          </a:xfrm>
          <a:prstGeom prst="rect">
            <a:avLst/>
          </a:prstGeom>
        </p:spPr>
      </p:pic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B02FFFE-D4A6-4D8B-8273-E774729FF6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13" y="1826214"/>
            <a:ext cx="5698282" cy="930414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0C673D9A-B428-4FAC-815E-5744074B46E6}"/>
              </a:ext>
            </a:extLst>
          </p:cNvPr>
          <p:cNvSpPr txBox="1">
            <a:spLocks/>
          </p:cNvSpPr>
          <p:nvPr/>
        </p:nvSpPr>
        <p:spPr>
          <a:xfrm>
            <a:off x="6260128" y="2785781"/>
            <a:ext cx="343692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AR" sz="3600" b="1" dirty="0">
                <a:solidFill>
                  <a:srgbClr val="C00000"/>
                </a:solidFill>
                <a:latin typeface="Bahnschrift" panose="020B0502040204020203" pitchFamily="34" charset="0"/>
              </a:rPr>
              <a:t>MÉTODO ANALÍTICO</a:t>
            </a:r>
          </a:p>
          <a:p>
            <a:pPr marL="0" indent="0" algn="ctr">
              <a:buFont typeface="Arial" pitchFamily="34" charset="0"/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(ECUACIÓN DE MOVIMENTO)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2F4B0957-0715-446B-8EAC-4EB52F81CAC8}"/>
              </a:ext>
            </a:extLst>
          </p:cNvPr>
          <p:cNvSpPr txBox="1">
            <a:spLocks/>
          </p:cNvSpPr>
          <p:nvPr/>
        </p:nvSpPr>
        <p:spPr>
          <a:xfrm rot="16200000">
            <a:off x="321185" y="5634164"/>
            <a:ext cx="1397035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1200" b="1" dirty="0">
                <a:latin typeface="Bahnschrift" panose="020B0502040204020203" pitchFamily="34" charset="0"/>
              </a:rPr>
              <a:t>COMPLEJIDAD EN EL TRAZADO</a:t>
            </a:r>
          </a:p>
        </p:txBody>
      </p:sp>
      <p:sp>
        <p:nvSpPr>
          <p:cNvPr id="20" name="Cruz 19">
            <a:extLst>
              <a:ext uri="{FF2B5EF4-FFF2-40B4-BE49-F238E27FC236}">
                <a16:creationId xmlns:a16="http://schemas.microsoft.com/office/drawing/2014/main" id="{4EB03BF3-A982-48A2-895D-109BA5D15160}"/>
              </a:ext>
            </a:extLst>
          </p:cNvPr>
          <p:cNvSpPr/>
          <p:nvPr/>
        </p:nvSpPr>
        <p:spPr>
          <a:xfrm>
            <a:off x="1365507" y="6375373"/>
            <a:ext cx="281129" cy="282973"/>
          </a:xfrm>
          <a:prstGeom prst="plus">
            <a:avLst>
              <a:gd name="adj" fmla="val 35716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40E34F98-0D0C-4B7D-9768-3ADC9A4D7368}"/>
              </a:ext>
            </a:extLst>
          </p:cNvPr>
          <p:cNvSpPr/>
          <p:nvPr/>
        </p:nvSpPr>
        <p:spPr>
          <a:xfrm>
            <a:off x="1680057" y="5401358"/>
            <a:ext cx="177265" cy="1048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D723BB2-FCA4-4136-B6CE-D0570D49328C}"/>
              </a:ext>
            </a:extLst>
          </p:cNvPr>
          <p:cNvSpPr/>
          <p:nvPr/>
        </p:nvSpPr>
        <p:spPr>
          <a:xfrm>
            <a:off x="1395075" y="5303980"/>
            <a:ext cx="221992" cy="9737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3" name="Imagen 22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9EC9AF19-1063-4740-9951-0225D7C3B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10914" y="4872120"/>
            <a:ext cx="588264" cy="272796"/>
          </a:xfrm>
          <a:prstGeom prst="rect">
            <a:avLst/>
          </a:prstGeom>
        </p:spPr>
      </p:pic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141F2790-C804-46EA-A133-7A010C0C2DE6}"/>
              </a:ext>
            </a:extLst>
          </p:cNvPr>
          <p:cNvSpPr txBox="1">
            <a:spLocks/>
          </p:cNvSpPr>
          <p:nvPr/>
        </p:nvSpPr>
        <p:spPr>
          <a:xfrm>
            <a:off x="7127618" y="5692334"/>
            <a:ext cx="2622917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800" b="1" dirty="0">
                <a:latin typeface="Bahnschrift" panose="020B0502040204020203" pitchFamily="34" charset="0"/>
              </a:rPr>
              <a:t>VELOCIDAD</a:t>
            </a: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DE5EE43C-09DE-4F43-9154-44ED66EA964B}"/>
              </a:ext>
            </a:extLst>
          </p:cNvPr>
          <p:cNvSpPr txBox="1">
            <a:spLocks/>
          </p:cNvSpPr>
          <p:nvPr/>
        </p:nvSpPr>
        <p:spPr>
          <a:xfrm>
            <a:off x="7127618" y="5261310"/>
            <a:ext cx="2244159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800" b="1" dirty="0">
                <a:latin typeface="Bahnschrift" panose="020B0502040204020203" pitchFamily="34" charset="0"/>
              </a:rPr>
              <a:t>POSICIÓN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57FF678A-B101-405A-9E82-1CCC01958275}"/>
              </a:ext>
            </a:extLst>
          </p:cNvPr>
          <p:cNvSpPr txBox="1">
            <a:spLocks/>
          </p:cNvSpPr>
          <p:nvPr/>
        </p:nvSpPr>
        <p:spPr>
          <a:xfrm>
            <a:off x="7127618" y="6099620"/>
            <a:ext cx="3575928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800" b="1" dirty="0">
                <a:latin typeface="Bahnschrift" panose="020B0502040204020203" pitchFamily="34" charset="0"/>
              </a:rPr>
              <a:t>ACELERACIÓN</a:t>
            </a: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682B60A3-1945-40C4-9C35-C05A51DCCE1E}"/>
              </a:ext>
            </a:extLst>
          </p:cNvPr>
          <p:cNvSpPr txBox="1">
            <a:spLocks/>
          </p:cNvSpPr>
          <p:nvPr/>
        </p:nvSpPr>
        <p:spPr>
          <a:xfrm rot="16200000">
            <a:off x="5458432" y="5734398"/>
            <a:ext cx="1597504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1200" b="1" dirty="0">
                <a:latin typeface="Bahnschrift" panose="020B0502040204020203" pitchFamily="34" charset="0"/>
              </a:rPr>
              <a:t>COMPLEJIDAD EN LA DETERMINACIÓN</a:t>
            </a:r>
          </a:p>
        </p:txBody>
      </p:sp>
      <p:sp>
        <p:nvSpPr>
          <p:cNvPr id="30" name="Cruz 29">
            <a:extLst>
              <a:ext uri="{FF2B5EF4-FFF2-40B4-BE49-F238E27FC236}">
                <a16:creationId xmlns:a16="http://schemas.microsoft.com/office/drawing/2014/main" id="{9DB836E7-B5B6-46C4-BEE6-885E18EA54D4}"/>
              </a:ext>
            </a:extLst>
          </p:cNvPr>
          <p:cNvSpPr/>
          <p:nvPr/>
        </p:nvSpPr>
        <p:spPr>
          <a:xfrm>
            <a:off x="6593213" y="5168707"/>
            <a:ext cx="281129" cy="282973"/>
          </a:xfrm>
          <a:prstGeom prst="plus">
            <a:avLst>
              <a:gd name="adj" fmla="val 35716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Flecha: hacia abajo 30">
            <a:extLst>
              <a:ext uri="{FF2B5EF4-FFF2-40B4-BE49-F238E27FC236}">
                <a16:creationId xmlns:a16="http://schemas.microsoft.com/office/drawing/2014/main" id="{3EDBEA3D-C9FD-4C25-B1D7-7F985A93853B}"/>
              </a:ext>
            </a:extLst>
          </p:cNvPr>
          <p:cNvSpPr/>
          <p:nvPr/>
        </p:nvSpPr>
        <p:spPr>
          <a:xfrm>
            <a:off x="6916932" y="5401358"/>
            <a:ext cx="177265" cy="1048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3C1D43-0E79-4F09-913B-9B9B5BD68798}"/>
              </a:ext>
            </a:extLst>
          </p:cNvPr>
          <p:cNvSpPr/>
          <p:nvPr/>
        </p:nvSpPr>
        <p:spPr>
          <a:xfrm>
            <a:off x="6622381" y="6475415"/>
            <a:ext cx="221992" cy="97378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185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4074160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2" y="830016"/>
            <a:ext cx="5081713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SISTEMAS COORDENADOS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F29601B-6F87-4863-8F58-E656D3704523}"/>
              </a:ext>
            </a:extLst>
          </p:cNvPr>
          <p:cNvSpPr txBox="1">
            <a:spLocks/>
          </p:cNvSpPr>
          <p:nvPr/>
        </p:nvSpPr>
        <p:spPr>
          <a:xfrm>
            <a:off x="632265" y="1310241"/>
            <a:ext cx="6519525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s-AR" b="1" dirty="0">
              <a:latin typeface="Bahnschrift" panose="020B0502040204020203" pitchFamily="34" charset="0"/>
            </a:endParaRP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607D7297-96B8-4FCF-8E70-D965235E9B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206" y="4587889"/>
            <a:ext cx="4309059" cy="221806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A0F7045-DA85-46CA-8A9D-12957056906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207" y="2382245"/>
            <a:ext cx="4315316" cy="2171858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CF799935-E814-421D-8FE5-39F13C455CDD}"/>
              </a:ext>
            </a:extLst>
          </p:cNvPr>
          <p:cNvGrpSpPr/>
          <p:nvPr/>
        </p:nvGrpSpPr>
        <p:grpSpPr>
          <a:xfrm>
            <a:off x="326737" y="3088407"/>
            <a:ext cx="3619049" cy="466124"/>
            <a:chOff x="2757417" y="1972154"/>
            <a:chExt cx="3619049" cy="466124"/>
          </a:xfrm>
        </p:grpSpPr>
        <p:sp>
          <p:nvSpPr>
            <p:cNvPr id="38" name="Marcador de contenido 2">
              <a:extLst>
                <a:ext uri="{FF2B5EF4-FFF2-40B4-BE49-F238E27FC236}">
                  <a16:creationId xmlns:a16="http://schemas.microsoft.com/office/drawing/2014/main" id="{73A65911-B1C5-4859-AE17-14AC359B74BD}"/>
                </a:ext>
              </a:extLst>
            </p:cNvPr>
            <p:cNvSpPr txBox="1">
              <a:spLocks/>
            </p:cNvSpPr>
            <p:nvPr/>
          </p:nvSpPr>
          <p:spPr>
            <a:xfrm>
              <a:off x="2757417" y="1972154"/>
              <a:ext cx="1225806" cy="46612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s-AR" sz="2000" b="1" dirty="0">
                  <a:latin typeface="Bahnschrift" panose="020B0502040204020203" pitchFamily="34" charset="0"/>
                </a:rPr>
                <a:t>CASO 1</a:t>
              </a:r>
            </a:p>
          </p:txBody>
        </p:sp>
        <p:sp>
          <p:nvSpPr>
            <p:cNvPr id="13" name="Marcador de contenido 2">
              <a:extLst>
                <a:ext uri="{FF2B5EF4-FFF2-40B4-BE49-F238E27FC236}">
                  <a16:creationId xmlns:a16="http://schemas.microsoft.com/office/drawing/2014/main" id="{77914D66-5D64-4566-8E1F-237548F8AB64}"/>
                </a:ext>
              </a:extLst>
            </p:cNvPr>
            <p:cNvSpPr txBox="1">
              <a:spLocks/>
            </p:cNvSpPr>
            <p:nvPr/>
          </p:nvSpPr>
          <p:spPr>
            <a:xfrm>
              <a:off x="3825046" y="1972154"/>
              <a:ext cx="2551420" cy="46612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s-AR" sz="2000" b="1" dirty="0">
                  <a:solidFill>
                    <a:srgbClr val="C00000"/>
                  </a:solidFill>
                  <a:latin typeface="Bahnschrift" panose="020B0502040204020203" pitchFamily="34" charset="0"/>
                </a:rPr>
                <a:t>SISTEMA AUXILIAR EN TRASLACIÓN</a:t>
              </a: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0AEEC1F6-E3AC-422A-B950-059A11E444FC}"/>
              </a:ext>
            </a:extLst>
          </p:cNvPr>
          <p:cNvGrpSpPr/>
          <p:nvPr/>
        </p:nvGrpSpPr>
        <p:grpSpPr>
          <a:xfrm>
            <a:off x="326737" y="5252196"/>
            <a:ext cx="3860803" cy="466124"/>
            <a:chOff x="150312" y="4912598"/>
            <a:chExt cx="3860803" cy="466124"/>
          </a:xfrm>
        </p:grpSpPr>
        <p:sp>
          <p:nvSpPr>
            <p:cNvPr id="12" name="Marcador de contenido 2">
              <a:extLst>
                <a:ext uri="{FF2B5EF4-FFF2-40B4-BE49-F238E27FC236}">
                  <a16:creationId xmlns:a16="http://schemas.microsoft.com/office/drawing/2014/main" id="{51B732E7-3372-4E8B-ADA4-F215F1044A5E}"/>
                </a:ext>
              </a:extLst>
            </p:cNvPr>
            <p:cNvSpPr txBox="1">
              <a:spLocks/>
            </p:cNvSpPr>
            <p:nvPr/>
          </p:nvSpPr>
          <p:spPr>
            <a:xfrm>
              <a:off x="150312" y="4912598"/>
              <a:ext cx="1225806" cy="46612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s-AR" sz="2000" b="1" dirty="0">
                  <a:latin typeface="Bahnschrift" panose="020B0502040204020203" pitchFamily="34" charset="0"/>
                </a:rPr>
                <a:t>CASO 2</a:t>
              </a:r>
            </a:p>
          </p:txBody>
        </p:sp>
        <p:sp>
          <p:nvSpPr>
            <p:cNvPr id="14" name="Marcador de contenido 2">
              <a:extLst>
                <a:ext uri="{FF2B5EF4-FFF2-40B4-BE49-F238E27FC236}">
                  <a16:creationId xmlns:a16="http://schemas.microsoft.com/office/drawing/2014/main" id="{32AB87EB-6C97-441B-9AF1-A265F3B68EBE}"/>
                </a:ext>
              </a:extLst>
            </p:cNvPr>
            <p:cNvSpPr txBox="1">
              <a:spLocks/>
            </p:cNvSpPr>
            <p:nvPr/>
          </p:nvSpPr>
          <p:spPr>
            <a:xfrm>
              <a:off x="1265349" y="4912598"/>
              <a:ext cx="2745766" cy="46612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1800" kern="1200" spc="1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s-AR" sz="2000" b="1" dirty="0">
                  <a:solidFill>
                    <a:srgbClr val="C00000"/>
                  </a:solidFill>
                  <a:latin typeface="Bahnschrift" panose="020B0502040204020203" pitchFamily="34" charset="0"/>
                </a:rPr>
                <a:t>SISTEMA AUXILIAR EN ROTOTRASLACIÓN</a:t>
              </a:r>
            </a:p>
          </p:txBody>
        </p:sp>
      </p:grp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326737" y="1286887"/>
            <a:ext cx="10647322" cy="1064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Char char="-"/>
            </a:pPr>
            <a:r>
              <a:rPr lang="es-AR" sz="1400" dirty="0">
                <a:latin typeface="Bahnschrift" panose="020B0502040204020203" pitchFamily="34" charset="0"/>
              </a:rPr>
              <a:t>Estos ayudan a entender y resolver el problema. Existen dos tipos: </a:t>
            </a:r>
            <a:r>
              <a:rPr lang="es-AR" sz="1400" b="1" dirty="0">
                <a:solidFill>
                  <a:srgbClr val="C00000"/>
                </a:solidFill>
                <a:latin typeface="Bahnschrift" panose="020B0502040204020203" pitchFamily="34" charset="0"/>
              </a:rPr>
              <a:t>ABSOLUTOS</a:t>
            </a:r>
            <a:r>
              <a:rPr lang="es-AR" sz="1400" dirty="0">
                <a:latin typeface="Bahnschrift" panose="020B0502040204020203" pitchFamily="34" charset="0"/>
              </a:rPr>
              <a:t> y </a:t>
            </a:r>
            <a:r>
              <a:rPr lang="es-AR" sz="1400" b="1" dirty="0">
                <a:solidFill>
                  <a:srgbClr val="C00000"/>
                </a:solidFill>
                <a:latin typeface="Bahnschrift" panose="020B0502040204020203" pitchFamily="34" charset="0"/>
              </a:rPr>
              <a:t>RELATIVOS</a:t>
            </a:r>
            <a:r>
              <a:rPr lang="es-AR" sz="1400" dirty="0">
                <a:latin typeface="Bahnschrift" panose="020B0502040204020203" pitchFamily="34" charset="0"/>
              </a:rPr>
              <a:t> (estos últimos definidos dentro del marco del sistema Absoluto). </a:t>
            </a:r>
          </a:p>
          <a:p>
            <a:pPr algn="just">
              <a:buFontTx/>
              <a:buChar char="-"/>
            </a:pPr>
            <a:r>
              <a:rPr lang="es-AR" sz="1400" dirty="0">
                <a:latin typeface="Bahnschrift" panose="020B0502040204020203" pitchFamily="34" charset="0"/>
              </a:rPr>
              <a:t>El sistema relativo siempre es colocado en un punto de interés dentro del mecanismo. Debemos definir la posición y orientación de estos sistemas coordenados locales (relativos) en movimiento en relación al sistema global (absoluto) en todas las posiciones de interés.</a:t>
            </a:r>
          </a:p>
        </p:txBody>
      </p:sp>
      <p:sp>
        <p:nvSpPr>
          <p:cNvPr id="54" name="Marcador de contenido 2">
            <a:extLst>
              <a:ext uri="{FF2B5EF4-FFF2-40B4-BE49-F238E27FC236}">
                <a16:creationId xmlns:a16="http://schemas.microsoft.com/office/drawing/2014/main" id="{9B3F5950-BDD1-4548-80A1-C8ECE397F9D7}"/>
              </a:ext>
            </a:extLst>
          </p:cNvPr>
          <p:cNvSpPr txBox="1">
            <a:spLocks/>
          </p:cNvSpPr>
          <p:nvPr/>
        </p:nvSpPr>
        <p:spPr>
          <a:xfrm>
            <a:off x="8717280" y="2783170"/>
            <a:ext cx="2209047" cy="1717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1600" dirty="0">
                <a:solidFill>
                  <a:srgbClr val="C00000"/>
                </a:solidFill>
                <a:latin typeface="Bahnschrift" panose="020B0502040204020203" pitchFamily="34" charset="0"/>
              </a:rPr>
              <a:t>Ejemplo: </a:t>
            </a:r>
            <a:r>
              <a:rPr lang="es-AR" sz="1600" dirty="0">
                <a:latin typeface="Bahnschrift" panose="020B0502040204020203" pitchFamily="34" charset="0"/>
              </a:rPr>
              <a:t>Sistema Auxiliar colocado en una articulación para analizar la rotación de un eslabón.</a:t>
            </a:r>
          </a:p>
        </p:txBody>
      </p:sp>
      <p:sp>
        <p:nvSpPr>
          <p:cNvPr id="57" name="Marcador de contenido 2">
            <a:extLst>
              <a:ext uri="{FF2B5EF4-FFF2-40B4-BE49-F238E27FC236}">
                <a16:creationId xmlns:a16="http://schemas.microsoft.com/office/drawing/2014/main" id="{EFB3A3F0-1D0B-4EBB-B135-9994FF966DE1}"/>
              </a:ext>
            </a:extLst>
          </p:cNvPr>
          <p:cNvSpPr txBox="1">
            <a:spLocks/>
          </p:cNvSpPr>
          <p:nvPr/>
        </p:nvSpPr>
        <p:spPr>
          <a:xfrm>
            <a:off x="8717279" y="4987890"/>
            <a:ext cx="2316481" cy="1717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1600" dirty="0">
                <a:solidFill>
                  <a:srgbClr val="C00000"/>
                </a:solidFill>
                <a:latin typeface="Bahnschrift" panose="020B0502040204020203" pitchFamily="34" charset="0"/>
              </a:rPr>
              <a:t>Ejemplo: </a:t>
            </a:r>
            <a:r>
              <a:rPr lang="es-AR" sz="1600" dirty="0">
                <a:latin typeface="Bahnschrift" panose="020B0502040204020203" pitchFamily="34" charset="0"/>
              </a:rPr>
              <a:t>Medir algún parámetro adentro del eslabón, independiente de su rotación. </a:t>
            </a:r>
          </a:p>
        </p:txBody>
      </p:sp>
    </p:spTree>
    <p:extLst>
      <p:ext uri="{BB962C8B-B14F-4D97-AF65-F5344CB8AC3E}">
        <p14:creationId xmlns:p14="http://schemas.microsoft.com/office/powerpoint/2010/main" val="2960659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472802A-F490-494D-AC9F-9710F2A8C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98" y="2089040"/>
            <a:ext cx="8585200" cy="304101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1788160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2" y="830016"/>
            <a:ext cx="5081713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POSICIÓ</a:t>
            </a:r>
            <a:r>
              <a:rPr lang="en-US" sz="2400" b="1" dirty="0">
                <a:latin typeface="Bahnschrift" panose="020B0502040204020203" pitchFamily="34" charset="0"/>
              </a:rPr>
              <a:t>N</a:t>
            </a:r>
            <a:endParaRPr lang="es-AR" sz="2400" b="1" dirty="0">
              <a:latin typeface="Bahnschrift" panose="020B0502040204020203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F29601B-6F87-4863-8F58-E656D3704523}"/>
              </a:ext>
            </a:extLst>
          </p:cNvPr>
          <p:cNvSpPr txBox="1">
            <a:spLocks/>
          </p:cNvSpPr>
          <p:nvPr/>
        </p:nvSpPr>
        <p:spPr>
          <a:xfrm>
            <a:off x="632265" y="1310241"/>
            <a:ext cx="6519525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s-AR" b="1" dirty="0">
              <a:latin typeface="Bahnschrift" panose="020B0502040204020203" pitchFamily="34" charset="0"/>
            </a:endParaRP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326737" y="1286887"/>
            <a:ext cx="10647322" cy="1370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400" dirty="0">
                <a:latin typeface="Bahnschrift" panose="020B0502040204020203" pitchFamily="34" charset="0"/>
              </a:rPr>
              <a:t>La posición de un punto en el plano puede definirse por medio de un vector de posición. Los atributos de este vector pueden expresarse en coordenadas </a:t>
            </a:r>
            <a:r>
              <a:rPr lang="es-AR" sz="1400" b="1" dirty="0">
                <a:latin typeface="Bahnschrift" panose="020B0502040204020203" pitchFamily="34" charset="0"/>
              </a:rPr>
              <a:t>POLARES</a:t>
            </a:r>
            <a:r>
              <a:rPr lang="es-AR" sz="1400" dirty="0">
                <a:latin typeface="Bahnschrift" panose="020B0502040204020203" pitchFamily="34" charset="0"/>
              </a:rPr>
              <a:t> o </a:t>
            </a:r>
            <a:r>
              <a:rPr lang="es-AR" sz="1400" b="1" dirty="0">
                <a:latin typeface="Bahnschrift" panose="020B0502040204020203" pitchFamily="34" charset="0"/>
              </a:rPr>
              <a:t>CARTESIANAS</a:t>
            </a:r>
            <a:r>
              <a:rPr lang="es-AR" sz="1400" dirty="0">
                <a:latin typeface="Bahnschrift" panose="020B0502040204020203" pitchFamily="34" charset="0"/>
              </a:rPr>
              <a:t>.</a:t>
            </a:r>
          </a:p>
          <a:p>
            <a:pPr lvl="1" algn="just">
              <a:buFontTx/>
              <a:buChar char="-"/>
            </a:pPr>
            <a:r>
              <a:rPr lang="es-AR" sz="1400" dirty="0">
                <a:latin typeface="Bahnschrift" panose="020B0502040204020203" pitchFamily="34" charset="0"/>
              </a:rPr>
              <a:t>La forma </a:t>
            </a:r>
            <a:r>
              <a:rPr lang="es-AR" sz="1400" dirty="0">
                <a:solidFill>
                  <a:srgbClr val="C00000"/>
                </a:solidFill>
                <a:latin typeface="Bahnschrift" panose="020B0502040204020203" pitchFamily="34" charset="0"/>
              </a:rPr>
              <a:t>POLAR</a:t>
            </a:r>
            <a:r>
              <a:rPr lang="es-AR" sz="1400" dirty="0">
                <a:latin typeface="Bahnschrift" panose="020B0502040204020203" pitchFamily="34" charset="0"/>
              </a:rPr>
              <a:t> proporciona la </a:t>
            </a:r>
            <a:r>
              <a:rPr lang="es-AR" sz="1400" b="1" dirty="0">
                <a:latin typeface="Bahnschrift" panose="020B0502040204020203" pitchFamily="34" charset="0"/>
              </a:rPr>
              <a:t>MAGNITUD</a:t>
            </a:r>
            <a:r>
              <a:rPr lang="es-AR" sz="1400" dirty="0">
                <a:latin typeface="Bahnschrift" panose="020B0502040204020203" pitchFamily="34" charset="0"/>
              </a:rPr>
              <a:t> y el </a:t>
            </a:r>
            <a:r>
              <a:rPr lang="es-AR" sz="1400" b="1" dirty="0">
                <a:latin typeface="Bahnschrift" panose="020B0502040204020203" pitchFamily="34" charset="0"/>
              </a:rPr>
              <a:t>ÁNGULO</a:t>
            </a:r>
            <a:r>
              <a:rPr lang="es-AR" sz="1400" dirty="0">
                <a:latin typeface="Bahnschrift" panose="020B0502040204020203" pitchFamily="34" charset="0"/>
              </a:rPr>
              <a:t> del vector. </a:t>
            </a:r>
          </a:p>
          <a:p>
            <a:pPr lvl="1" algn="just">
              <a:buFontTx/>
              <a:buChar char="-"/>
            </a:pPr>
            <a:r>
              <a:rPr lang="es-AR" sz="1400" dirty="0">
                <a:latin typeface="Bahnschrift" panose="020B0502040204020203" pitchFamily="34" charset="0"/>
              </a:rPr>
              <a:t>La forma </a:t>
            </a:r>
            <a:r>
              <a:rPr lang="es-AR" sz="1400" dirty="0">
                <a:solidFill>
                  <a:srgbClr val="C00000"/>
                </a:solidFill>
                <a:latin typeface="Bahnschrift" panose="020B0502040204020203" pitchFamily="34" charset="0"/>
              </a:rPr>
              <a:t>CARTESIANA</a:t>
            </a:r>
            <a:r>
              <a:rPr lang="es-AR" sz="1400" dirty="0">
                <a:latin typeface="Bahnschrift" panose="020B0502040204020203" pitchFamily="34" charset="0"/>
              </a:rPr>
              <a:t> proporciona las </a:t>
            </a:r>
            <a:r>
              <a:rPr lang="es-AR" sz="1400" b="1" dirty="0">
                <a:latin typeface="Bahnschrift" panose="020B0502040204020203" pitchFamily="34" charset="0"/>
              </a:rPr>
              <a:t>COMPONENTES X</a:t>
            </a:r>
            <a:r>
              <a:rPr lang="es-AR" sz="1400" dirty="0">
                <a:latin typeface="Bahnschrift" panose="020B0502040204020203" pitchFamily="34" charset="0"/>
              </a:rPr>
              <a:t> e </a:t>
            </a:r>
            <a:r>
              <a:rPr lang="es-AR" sz="1400" b="1" dirty="0">
                <a:latin typeface="Bahnschrift" panose="020B0502040204020203" pitchFamily="34" charset="0"/>
              </a:rPr>
              <a:t>Y</a:t>
            </a:r>
            <a:r>
              <a:rPr lang="es-AR" sz="1400" dirty="0">
                <a:latin typeface="Bahnschrift" panose="020B0502040204020203" pitchFamily="34" charset="0"/>
              </a:rPr>
              <a:t> del vector.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722D5FC-8250-4E38-A856-D2B809E6D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234" y="5289894"/>
            <a:ext cx="1680845" cy="1429332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0EE6EEB1-E042-481D-9411-BF731BA31B68}"/>
              </a:ext>
            </a:extLst>
          </p:cNvPr>
          <p:cNvSpPr txBox="1"/>
          <p:nvPr/>
        </p:nvSpPr>
        <p:spPr>
          <a:xfrm>
            <a:off x="2165697" y="5690616"/>
            <a:ext cx="42351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Bahnschrift" panose="020B0502040204020203" pitchFamily="34" charset="0"/>
              </a:rPr>
              <a:t>Cada forma es directamente convertible en la otra mediante las siguientes expresiones:</a:t>
            </a:r>
            <a:endParaRPr lang="es-AR" sz="1600" dirty="0"/>
          </a:p>
        </p:txBody>
      </p:sp>
      <p:pic>
        <p:nvPicPr>
          <p:cNvPr id="17" name="Imagen 16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368082F0-C959-4D75-9262-C294249769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385" y="5846605"/>
            <a:ext cx="588264" cy="27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8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5222240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2" y="830016"/>
            <a:ext cx="5605779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DESPLAZAMIENTO Y TRAYECTORIA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F29601B-6F87-4863-8F58-E656D3704523}"/>
              </a:ext>
            </a:extLst>
          </p:cNvPr>
          <p:cNvSpPr txBox="1">
            <a:spLocks/>
          </p:cNvSpPr>
          <p:nvPr/>
        </p:nvSpPr>
        <p:spPr>
          <a:xfrm>
            <a:off x="632265" y="1310241"/>
            <a:ext cx="6519525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s-AR" b="1" dirty="0">
              <a:latin typeface="Bahnschrift" panose="020B0502040204020203" pitchFamily="34" charset="0"/>
            </a:endParaRP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326737" y="1286887"/>
            <a:ext cx="10647322" cy="1370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400" dirty="0">
                <a:latin typeface="Bahnschrift" panose="020B0502040204020203" pitchFamily="34" charset="0"/>
              </a:rPr>
              <a:t>Desplazamiento es el cambio en la posición de un punto y se define como la distancia en línea recta entre la posición inicial y final que se ha movido en el marco de referencia. </a:t>
            </a:r>
          </a:p>
          <a:p>
            <a:pPr marL="0" indent="0" algn="just">
              <a:buNone/>
            </a:pPr>
            <a:r>
              <a:rPr lang="es-AR" sz="1400" dirty="0">
                <a:latin typeface="Bahnschrift" panose="020B0502040204020203" pitchFamily="34" charset="0"/>
              </a:rPr>
              <a:t>Observe que el desplazamiento no es necesariamente el mismo que la longitud de la trayectoria que el punto pueda haber recorrido de su posición inicial a la final.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EE6EEB1-E042-481D-9411-BF731BA31B68}"/>
              </a:ext>
            </a:extLst>
          </p:cNvPr>
          <p:cNvSpPr txBox="1"/>
          <p:nvPr/>
        </p:nvSpPr>
        <p:spPr>
          <a:xfrm>
            <a:off x="4571831" y="3785493"/>
            <a:ext cx="57795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solidFill>
                  <a:srgbClr val="C00000"/>
                </a:solidFill>
                <a:latin typeface="Bahnschrift" panose="020B0502040204020203" pitchFamily="34" charset="0"/>
              </a:rPr>
              <a:t>La posición de B con respecto a </a:t>
            </a:r>
            <a:r>
              <a:rPr lang="es-AR" sz="1600" dirty="0" err="1">
                <a:solidFill>
                  <a:srgbClr val="C00000"/>
                </a:solidFill>
                <a:latin typeface="Bahnschrift" panose="020B0502040204020203" pitchFamily="34" charset="0"/>
              </a:rPr>
              <a:t>A</a:t>
            </a:r>
            <a:r>
              <a:rPr lang="es-AR" sz="1600" dirty="0">
                <a:solidFill>
                  <a:srgbClr val="C00000"/>
                </a:solidFill>
                <a:latin typeface="Bahnschrift" panose="020B0502040204020203" pitchFamily="34" charset="0"/>
              </a:rPr>
              <a:t> es igual a la posición (absoluta) de B menos la posición (absoluta) de A, donde absoluta significa </a:t>
            </a:r>
            <a:r>
              <a:rPr lang="es-AR" sz="1600" i="1" dirty="0">
                <a:solidFill>
                  <a:srgbClr val="C00000"/>
                </a:solidFill>
                <a:latin typeface="Bahnschrift" panose="020B0502040204020203" pitchFamily="34" charset="0"/>
              </a:rPr>
              <a:t>con respecto al origen del marco de referencia global</a:t>
            </a:r>
            <a:r>
              <a:rPr lang="es-AR" sz="1600" dirty="0">
                <a:solidFill>
                  <a:srgbClr val="C00000"/>
                </a:solidFill>
                <a:latin typeface="Bahnschrift" panose="020B0502040204020203" pitchFamily="34" charset="0"/>
              </a:rPr>
              <a:t>.</a:t>
            </a:r>
            <a:endParaRPr lang="es-AR" sz="1600" dirty="0">
              <a:solidFill>
                <a:srgbClr val="C0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6C7CFA-5674-4D4D-8EC1-20828B9E67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00"/>
          <a:stretch/>
        </p:blipFill>
        <p:spPr>
          <a:xfrm>
            <a:off x="177036" y="2423105"/>
            <a:ext cx="4394795" cy="3604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49A1191-0AF5-4E80-B272-F047DD071155}"/>
                  </a:ext>
                </a:extLst>
              </p:cNvPr>
              <p:cNvSpPr txBox="1"/>
              <p:nvPr/>
            </p:nvSpPr>
            <p:spPr>
              <a:xfrm>
                <a:off x="4595600" y="2410788"/>
                <a:ext cx="36641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Representa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posici</m:t>
                      </m:r>
                      <m:r>
                        <a:rPr lang="es-AR" sz="1600" b="0" i="0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absoulta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AR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49A1191-0AF5-4E80-B272-F047DD071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600" y="2410788"/>
                <a:ext cx="3664145" cy="246221"/>
              </a:xfrm>
              <a:prstGeom prst="rect">
                <a:avLst/>
              </a:prstGeom>
              <a:blipFill>
                <a:blip r:embed="rId3"/>
                <a:stretch>
                  <a:fillRect l="-1997" b="-3170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0705C5-C724-42E0-B07E-BEE85AC4E7A9}"/>
                  </a:ext>
                </a:extLst>
              </p:cNvPr>
              <p:cNvSpPr txBox="1"/>
              <p:nvPr/>
            </p:nvSpPr>
            <p:spPr>
              <a:xfrm>
                <a:off x="4595600" y="2792228"/>
                <a:ext cx="36753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Representa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posici</m:t>
                      </m:r>
                      <m:r>
                        <a:rPr lang="es-AR" sz="1600" b="0" i="0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absoluta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AR" sz="1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0705C5-C724-42E0-B07E-BEE85AC4E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600" y="2792228"/>
                <a:ext cx="3675300" cy="246221"/>
              </a:xfrm>
              <a:prstGeom prst="rect">
                <a:avLst/>
              </a:prstGeom>
              <a:blipFill>
                <a:blip r:embed="rId4"/>
                <a:stretch>
                  <a:fillRect l="-1990" b="-3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0CBED84-37EE-4B19-A0C9-ECC5DC164B85}"/>
                  </a:ext>
                </a:extLst>
              </p:cNvPr>
              <p:cNvSpPr txBox="1"/>
              <p:nvPr/>
            </p:nvSpPr>
            <p:spPr>
              <a:xfrm>
                <a:off x="4591818" y="3142890"/>
                <a:ext cx="436253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Denota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la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diferencia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posici</m:t>
                      </m:r>
                      <m:r>
                        <a:rPr lang="es-AR" sz="1600" b="0" i="0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desplazamiento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entre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AR" sz="1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0CBED84-37EE-4B19-A0C9-ECC5DC164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818" y="3142890"/>
                <a:ext cx="4362535" cy="492443"/>
              </a:xfrm>
              <a:prstGeom prst="rect">
                <a:avLst/>
              </a:prstGeom>
              <a:blipFill>
                <a:blip r:embed="rId5"/>
                <a:stretch>
                  <a:fillRect l="-2095" b="-175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40F553C-318D-4609-BFE6-97E7BADBA540}"/>
                  </a:ext>
                </a:extLst>
              </p:cNvPr>
              <p:cNvSpPr txBox="1"/>
              <p:nvPr/>
            </p:nvSpPr>
            <p:spPr>
              <a:xfrm>
                <a:off x="8466231" y="2857063"/>
                <a:ext cx="240412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𝐵𝐴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40F553C-318D-4609-BFE6-97E7BADBA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231" y="2857063"/>
                <a:ext cx="240412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n 1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3B9020F-0723-4000-83FD-8C5BCCD239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72890" flipH="1">
            <a:off x="10334171" y="3471700"/>
            <a:ext cx="578741" cy="627584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91D8CEB-5BCF-40C6-BD14-ACF66D7DA684}"/>
              </a:ext>
            </a:extLst>
          </p:cNvPr>
          <p:cNvSpPr txBox="1"/>
          <p:nvPr/>
        </p:nvSpPr>
        <p:spPr>
          <a:xfrm>
            <a:off x="973167" y="6027984"/>
            <a:ext cx="9497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800" b="1" u="none" strike="noStrike" baseline="0" dirty="0">
                <a:latin typeface="Bahnschrift" panose="020B0502040204020203" pitchFamily="34" charset="0"/>
              </a:rPr>
              <a:t>Caso 1: </a:t>
            </a:r>
            <a:r>
              <a:rPr lang="es-AR" sz="1800" u="none" strike="noStrike" baseline="0" dirty="0">
                <a:latin typeface="Bahnschrift" panose="020B0502040204020203" pitchFamily="34" charset="0"/>
              </a:rPr>
              <a:t>Un cuerpo en dos posiciones sucesivas </a:t>
            </a:r>
            <a:r>
              <a:rPr lang="es-AR" sz="1800" u="none" strike="noStrike" baseline="0" dirty="0">
                <a:latin typeface="Bahnschrif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s-AR" sz="1800" u="none" strike="noStrike" baseline="0" dirty="0">
                <a:latin typeface="Bahnschrift" panose="020B0502040204020203" pitchFamily="34" charset="0"/>
              </a:rPr>
              <a:t> </a:t>
            </a:r>
            <a:r>
              <a:rPr lang="es-AR" b="1" dirty="0">
                <a:solidFill>
                  <a:srgbClr val="C00000"/>
                </a:solidFill>
                <a:latin typeface="Bahnschrift" panose="020B0502040204020203" pitchFamily="34" charset="0"/>
              </a:rPr>
              <a:t>D</a:t>
            </a:r>
            <a:r>
              <a:rPr lang="es-AR" sz="1800" b="1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IFERENCIA DE POSICIÓN</a:t>
            </a:r>
          </a:p>
          <a:p>
            <a:pPr algn="l"/>
            <a:r>
              <a:rPr lang="es-AR" sz="1800" b="1" u="none" strike="noStrike" baseline="0" dirty="0">
                <a:latin typeface="Bahnschrift" panose="020B0502040204020203" pitchFamily="34" charset="0"/>
              </a:rPr>
              <a:t>Caso 2: </a:t>
            </a:r>
            <a:r>
              <a:rPr lang="es-AR" sz="1800" u="none" strike="noStrike" baseline="0" dirty="0">
                <a:latin typeface="Bahnschrift" panose="020B0502040204020203" pitchFamily="34" charset="0"/>
              </a:rPr>
              <a:t>Dos cuerpos simultáneamente en dos posiciones distintas </a:t>
            </a:r>
            <a:r>
              <a:rPr lang="es-AR" sz="1800" u="none" strike="noStrike" baseline="0" dirty="0">
                <a:latin typeface="Bahnschrif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s-AR" sz="1800" u="none" strike="noStrike" baseline="0" dirty="0">
                <a:latin typeface="Bahnschrift" panose="020B0502040204020203" pitchFamily="34" charset="0"/>
              </a:rPr>
              <a:t> </a:t>
            </a:r>
            <a:r>
              <a:rPr lang="es-AR" b="1" dirty="0">
                <a:solidFill>
                  <a:srgbClr val="C00000"/>
                </a:solidFill>
                <a:latin typeface="Bahnschrift" panose="020B0502040204020203" pitchFamily="34" charset="0"/>
              </a:rPr>
              <a:t>P</a:t>
            </a:r>
            <a:r>
              <a:rPr lang="es-AR" sz="1800" b="1" u="none" strike="noStrike" baseline="0" dirty="0">
                <a:solidFill>
                  <a:srgbClr val="C00000"/>
                </a:solidFill>
                <a:latin typeface="Bahnschrift" panose="020B0502040204020203" pitchFamily="34" charset="0"/>
              </a:rPr>
              <a:t>OSICIÓN RELATIVA</a:t>
            </a:r>
            <a:endParaRPr lang="es-AR" b="1" dirty="0">
              <a:solidFill>
                <a:srgbClr val="C000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67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483876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562872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TRASLACIÓN, ROTACIÓN Y MOVIMIENTO COMPLEJO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F29601B-6F87-4863-8F58-E656D3704523}"/>
              </a:ext>
            </a:extLst>
          </p:cNvPr>
          <p:cNvSpPr txBox="1">
            <a:spLocks/>
          </p:cNvSpPr>
          <p:nvPr/>
        </p:nvSpPr>
        <p:spPr>
          <a:xfrm>
            <a:off x="632265" y="1310241"/>
            <a:ext cx="6519525" cy="4661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s-AR" b="1" dirty="0">
              <a:latin typeface="Bahnschrift" panose="020B0502040204020203" pitchFamily="34" charset="0"/>
            </a:endParaRP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5531307" y="1792914"/>
            <a:ext cx="5442752" cy="5544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TRASLACIÓN</a:t>
            </a:r>
            <a:r>
              <a:rPr lang="es-AR" sz="1400" dirty="0">
                <a:latin typeface="Bahnschrift" panose="020B0502040204020203" pitchFamily="34" charset="0"/>
              </a:rPr>
              <a:t> </a:t>
            </a:r>
            <a:r>
              <a:rPr lang="en-US" sz="1400" dirty="0">
                <a:latin typeface="Bahnschrif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Todos los puntos en el cuerpo tienen el mismo desplazamiento.</a:t>
            </a:r>
            <a:endParaRPr lang="es-AR" sz="1400" dirty="0">
              <a:latin typeface="Bahnschrift" panose="020B0502040204020203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AC6345E-81E9-4E83-9289-DCB6D9954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6" y="1663741"/>
            <a:ext cx="5429000" cy="5024486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C60AA6E-5740-4938-8B8B-4F8100B362CD}"/>
              </a:ext>
            </a:extLst>
          </p:cNvPr>
          <p:cNvSpPr txBox="1">
            <a:spLocks/>
          </p:cNvSpPr>
          <p:nvPr/>
        </p:nvSpPr>
        <p:spPr>
          <a:xfrm>
            <a:off x="5531306" y="2834920"/>
            <a:ext cx="5442752" cy="760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ROTACIÓN</a:t>
            </a:r>
            <a:r>
              <a:rPr lang="es-AR" sz="1400" dirty="0">
                <a:latin typeface="Bahnschrift" panose="020B0502040204020203" pitchFamily="34" charset="0"/>
              </a:rPr>
              <a:t> </a:t>
            </a:r>
            <a:r>
              <a:rPr lang="en-US" sz="1400" dirty="0">
                <a:latin typeface="Bahnschrif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Puntos diferentes del cuerpo sufren desplazamientos diferentes, y por lo tanto, existe una diferencia de desplazamiento entre dos puntos cualesquiera elegidos.</a:t>
            </a:r>
            <a:endParaRPr lang="es-AR" sz="14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9E79BB7-93DA-4873-AA7B-46D31F2DC0D0}"/>
                  </a:ext>
                </a:extLst>
              </p:cNvPr>
              <p:cNvSpPr txBox="1"/>
              <p:nvPr/>
            </p:nvSpPr>
            <p:spPr>
              <a:xfrm>
                <a:off x="6939023" y="2247427"/>
                <a:ext cx="1957587" cy="433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9E79BB7-93DA-4873-AA7B-46D31F2DC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023" y="2247427"/>
                <a:ext cx="1957587" cy="433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2ACDDE1C-9308-4B9C-8EFE-D0AE83E19789}"/>
              </a:ext>
            </a:extLst>
          </p:cNvPr>
          <p:cNvSpPr txBox="1">
            <a:spLocks/>
          </p:cNvSpPr>
          <p:nvPr/>
        </p:nvSpPr>
        <p:spPr>
          <a:xfrm>
            <a:off x="116312" y="1331888"/>
            <a:ext cx="10323828" cy="5544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dirty="0" err="1">
                <a:latin typeface="Bahnschrift" panose="020B0502040204020203" pitchFamily="34" charset="0"/>
              </a:rPr>
              <a:t>Analizamos</a:t>
            </a:r>
            <a:r>
              <a:rPr lang="en-US" sz="1600" dirty="0">
                <a:latin typeface="Bahnschrift" panose="020B0502040204020203" pitchFamily="34" charset="0"/>
              </a:rPr>
              <a:t> el </a:t>
            </a:r>
            <a:r>
              <a:rPr lang="en-US" sz="1600" dirty="0" err="1">
                <a:latin typeface="Bahnschrift" panose="020B0502040204020203" pitchFamily="34" charset="0"/>
              </a:rPr>
              <a:t>movimiento</a:t>
            </a:r>
            <a:r>
              <a:rPr lang="en-US" sz="1600" dirty="0"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latin typeface="Bahnschrift" panose="020B0502040204020203" pitchFamily="34" charset="0"/>
              </a:rPr>
              <a:t>plano</a:t>
            </a:r>
            <a:r>
              <a:rPr lang="en-US" sz="1600" dirty="0">
                <a:latin typeface="Bahnschrift" panose="020B0502040204020203" pitchFamily="34" charset="0"/>
              </a:rPr>
              <a:t> de un Cuerpo </a:t>
            </a:r>
            <a:r>
              <a:rPr lang="en-US" sz="1600" dirty="0" err="1">
                <a:latin typeface="Bahnschrift" panose="020B0502040204020203" pitchFamily="34" charset="0"/>
              </a:rPr>
              <a:t>Rígido</a:t>
            </a:r>
            <a:r>
              <a:rPr lang="en-US" sz="1600" dirty="0">
                <a:latin typeface="Bahnschrift" panose="020B0502040204020203" pitchFamily="34" charset="0"/>
              </a:rPr>
              <a:t> o </a:t>
            </a:r>
            <a:r>
              <a:rPr lang="en-US" sz="1600" dirty="0" err="1">
                <a:latin typeface="Bahnschrift" panose="020B0502040204020203" pitchFamily="34" charset="0"/>
              </a:rPr>
              <a:t>eslabón</a:t>
            </a:r>
            <a:r>
              <a:rPr lang="en-US" sz="1600" dirty="0">
                <a:latin typeface="Bahnschrift" panose="020B0502040204020203" pitchFamily="34" charset="0"/>
              </a:rPr>
              <a:t>, </a:t>
            </a:r>
            <a:r>
              <a:rPr lang="en-US" sz="1600" dirty="0" err="1">
                <a:latin typeface="Bahnschrift" panose="020B0502040204020203" pitchFamily="34" charset="0"/>
              </a:rPr>
              <a:t>utilizando</a:t>
            </a:r>
            <a:r>
              <a:rPr lang="en-US" sz="1600" dirty="0">
                <a:latin typeface="Bahnschrift" panose="020B0502040204020203" pitchFamily="34" charset="0"/>
              </a:rPr>
              <a:t> un </a:t>
            </a:r>
            <a:r>
              <a:rPr lang="en-US" sz="1600" dirty="0" err="1">
                <a:latin typeface="Bahnschrift" panose="020B0502040204020203" pitchFamily="34" charset="0"/>
              </a:rPr>
              <a:t>sistema</a:t>
            </a:r>
            <a:r>
              <a:rPr lang="en-US" sz="1600" dirty="0">
                <a:latin typeface="Bahnschrift" panose="020B0502040204020203" pitchFamily="34" charset="0"/>
              </a:rPr>
              <a:t> de </a:t>
            </a:r>
            <a:r>
              <a:rPr lang="en-US" sz="1600" dirty="0" err="1">
                <a:latin typeface="Bahnschrift" panose="020B0502040204020203" pitchFamily="34" charset="0"/>
              </a:rPr>
              <a:t>referencia</a:t>
            </a:r>
            <a:r>
              <a:rPr lang="en-US" sz="1600" dirty="0"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latin typeface="Bahnschrift" panose="020B0502040204020203" pitchFamily="34" charset="0"/>
              </a:rPr>
              <a:t>colocado</a:t>
            </a:r>
            <a:r>
              <a:rPr lang="en-US" sz="1600" dirty="0"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latin typeface="Bahnschrift" panose="020B0502040204020203" pitchFamily="34" charset="0"/>
              </a:rPr>
              <a:t>convenientemente</a:t>
            </a:r>
            <a:r>
              <a:rPr lang="en-US" sz="1600" dirty="0">
                <a:latin typeface="Bahnschrift" panose="020B0502040204020203" pitchFamily="34" charset="0"/>
              </a:rPr>
              <a:t>.</a:t>
            </a:r>
            <a:endParaRPr lang="es-AR" sz="16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2816EB9-C139-425E-AFB6-31FC127E4E16}"/>
                  </a:ext>
                </a:extLst>
              </p:cNvPr>
              <p:cNvSpPr txBox="1"/>
              <p:nvPr/>
            </p:nvSpPr>
            <p:spPr>
              <a:xfrm>
                <a:off x="6411184" y="3576990"/>
                <a:ext cx="3008709" cy="433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A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A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2816EB9-C139-425E-AFB6-31FC127E4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184" y="3576990"/>
                <a:ext cx="3008709" cy="433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4128EAC8-A755-421A-80FB-9875476C0742}"/>
              </a:ext>
            </a:extLst>
          </p:cNvPr>
          <p:cNvSpPr txBox="1">
            <a:spLocks/>
          </p:cNvSpPr>
          <p:nvPr/>
        </p:nvSpPr>
        <p:spPr>
          <a:xfrm>
            <a:off x="5531306" y="4173715"/>
            <a:ext cx="5442752" cy="760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MOVIMIENTO COMPLEJO</a:t>
            </a:r>
          </a:p>
          <a:p>
            <a:pPr marL="0" indent="0" algn="just">
              <a:buNone/>
            </a:pPr>
            <a:r>
              <a:rPr lang="es-AR" sz="1400" b="1" dirty="0">
                <a:latin typeface="Bahnschrift" panose="020B0502040204020203" pitchFamily="34" charset="0"/>
                <a:sym typeface="Wingdings" panose="05000000000000000000" pitchFamily="2" charset="2"/>
              </a:rPr>
              <a:t>D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esplazamiento total = </a:t>
            </a:r>
            <a:r>
              <a:rPr lang="es-AR" sz="1400" dirty="0" err="1">
                <a:latin typeface="Bahnschrift" panose="020B0502040204020203" pitchFamily="34" charset="0"/>
                <a:sym typeface="Wingdings" panose="05000000000000000000" pitchFamily="2" charset="2"/>
              </a:rPr>
              <a:t>comp.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 de traslación + </a:t>
            </a:r>
            <a:r>
              <a:rPr lang="es-AR" sz="1400" dirty="0" err="1">
                <a:latin typeface="Bahnschrift" panose="020B0502040204020203" pitchFamily="34" charset="0"/>
                <a:sym typeface="Wingdings" panose="05000000000000000000" pitchFamily="2" charset="2"/>
              </a:rPr>
              <a:t>comp.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 de rotación</a:t>
            </a:r>
            <a:endParaRPr lang="es-AR" sz="14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72136AE7-5DB9-477F-BA95-D651514156C8}"/>
                  </a:ext>
                </a:extLst>
              </p:cNvPr>
              <p:cNvSpPr txBox="1"/>
              <p:nvPr/>
            </p:nvSpPr>
            <p:spPr>
              <a:xfrm>
                <a:off x="6411184" y="4915785"/>
                <a:ext cx="3427670" cy="433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72136AE7-5DB9-477F-BA95-D65151415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184" y="4915785"/>
                <a:ext cx="3427670" cy="433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uadroTexto 31">
            <a:extLst>
              <a:ext uri="{FF2B5EF4-FFF2-40B4-BE49-F238E27FC236}">
                <a16:creationId xmlns:a16="http://schemas.microsoft.com/office/drawing/2014/main" id="{8EE226E9-FE02-46F5-944D-AA50D3E29F6A}"/>
              </a:ext>
            </a:extLst>
          </p:cNvPr>
          <p:cNvSpPr txBox="1"/>
          <p:nvPr/>
        </p:nvSpPr>
        <p:spPr>
          <a:xfrm>
            <a:off x="5560246" y="5482571"/>
            <a:ext cx="62099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Bahnschrift" panose="020B0502040204020203" pitchFamily="34" charset="0"/>
              </a:rPr>
              <a:t>La nueva posición absoluta del punto B referida al origen en A 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8D936D7-5568-4F60-8359-020EEA209223}"/>
                  </a:ext>
                </a:extLst>
              </p:cNvPr>
              <p:cNvSpPr txBox="1"/>
              <p:nvPr/>
            </p:nvSpPr>
            <p:spPr>
              <a:xfrm>
                <a:off x="6411184" y="5893922"/>
                <a:ext cx="3453702" cy="433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8D936D7-5568-4F60-8359-020EEA209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184" y="5893922"/>
                <a:ext cx="3453702" cy="4336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85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6096000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5979687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NÚMEROS COMPLEJOS COMO VECTORES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5079064" y="1315860"/>
            <a:ext cx="5442752" cy="3768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CARTESIANA</a:t>
            </a:r>
            <a:r>
              <a:rPr lang="es-AR" sz="1400" dirty="0">
                <a:latin typeface="Bahnschrift" panose="020B0502040204020203" pitchFamily="34" charset="0"/>
              </a:rPr>
              <a:t> </a:t>
            </a:r>
            <a:r>
              <a:rPr lang="en-US" sz="1400" dirty="0">
                <a:latin typeface="Bahnschrif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Según las componentes X e Y del vector.</a:t>
            </a:r>
            <a:endParaRPr lang="es-AR" sz="1400" dirty="0">
              <a:latin typeface="Bahnschrift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D852ED-368C-4B39-A430-912D45807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" y="1697600"/>
            <a:ext cx="4848625" cy="21931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97A70EB-B321-46E8-8BD5-8527B4120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80" y="3739945"/>
            <a:ext cx="6485627" cy="3109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>
                <a:extLst>
                  <a:ext uri="{FF2B5EF4-FFF2-40B4-BE49-F238E27FC236}">
                    <a16:creationId xmlns:a16="http://schemas.microsoft.com/office/drawing/2014/main" id="{3403383E-D763-4744-81B7-45920A2180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61950" y="2087573"/>
                <a:ext cx="6177180" cy="15154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s-AR" sz="1600" b="1" dirty="0">
                    <a:solidFill>
                      <a:srgbClr val="C00000"/>
                    </a:solidFill>
                    <a:latin typeface="Bahnschrift" panose="020B0502040204020203" pitchFamily="34" charset="0"/>
                  </a:rPr>
                  <a:t>COMPLEJA</a:t>
                </a:r>
                <a:r>
                  <a:rPr lang="es-AR" sz="1400" dirty="0">
                    <a:latin typeface="Bahnschrift" panose="020B0502040204020203" pitchFamily="34" charset="0"/>
                  </a:rPr>
                  <a:t> </a:t>
                </a:r>
                <a:r>
                  <a:rPr lang="es-AR" sz="14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 En esta la componente en la dirección de X se denomina parte REAL y la componente en la dirección de Y se denomina parte IMAGINARIA, que se identifica a través del operador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e>
                    </m:rad>
                  </m:oMath>
                </a14:m>
                <a:r>
                  <a:rPr lang="es-AR" sz="14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(UNIDAD IMAGINARIA).</a:t>
                </a:r>
              </a:p>
            </p:txBody>
          </p:sp>
        </mc:Choice>
        <mc:Fallback xmlns="">
          <p:sp>
            <p:nvSpPr>
              <p:cNvPr id="10" name="Marcador de contenido 2">
                <a:extLst>
                  <a:ext uri="{FF2B5EF4-FFF2-40B4-BE49-F238E27FC236}">
                    <a16:creationId xmlns:a16="http://schemas.microsoft.com/office/drawing/2014/main" id="{3403383E-D763-4744-81B7-45920A218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950" y="2087573"/>
                <a:ext cx="6177180" cy="1515449"/>
              </a:xfrm>
              <a:prstGeom prst="rect">
                <a:avLst/>
              </a:prstGeom>
              <a:blipFill>
                <a:blip r:embed="rId4"/>
                <a:stretch>
                  <a:fillRect l="-493" t="-2008" r="-1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2E301301-BFB8-4FAD-AE87-4DD36166D44F}"/>
              </a:ext>
            </a:extLst>
          </p:cNvPr>
          <p:cNvSpPr txBox="1">
            <a:spLocks/>
          </p:cNvSpPr>
          <p:nvPr/>
        </p:nvSpPr>
        <p:spPr>
          <a:xfrm>
            <a:off x="5079064" y="1664827"/>
            <a:ext cx="5442752" cy="5544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POLAR</a:t>
            </a:r>
            <a:r>
              <a:rPr lang="es-AR" sz="1400" dirty="0">
                <a:latin typeface="Bahnschrift" panose="020B0502040204020203" pitchFamily="34" charset="0"/>
              </a:rPr>
              <a:t> </a:t>
            </a:r>
            <a:r>
              <a:rPr lang="en-US" sz="1400" dirty="0">
                <a:latin typeface="Bahnschrif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s-AR" sz="1400" dirty="0">
                <a:latin typeface="Bahnschrift" panose="020B0502040204020203" pitchFamily="34" charset="0"/>
                <a:sym typeface="Wingdings" panose="05000000000000000000" pitchFamily="2" charset="2"/>
              </a:rPr>
              <a:t>Según la magnitud y ángulo director del vector.</a:t>
            </a:r>
            <a:endParaRPr lang="es-AR" sz="1400" dirty="0">
              <a:latin typeface="Bahnschrift" panose="020B0502040204020203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4C253766-E500-43CE-9EB7-7F418BAE5039}"/>
              </a:ext>
            </a:extLst>
          </p:cNvPr>
          <p:cNvSpPr txBox="1">
            <a:spLocks/>
          </p:cNvSpPr>
          <p:nvPr/>
        </p:nvSpPr>
        <p:spPr>
          <a:xfrm>
            <a:off x="122703" y="1292376"/>
            <a:ext cx="4848625" cy="4661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AR" sz="2400" b="1" dirty="0">
                <a:latin typeface="Bahnschrift" panose="020B0502040204020203" pitchFamily="34" charset="0"/>
              </a:rPr>
              <a:t>Formas de representación</a:t>
            </a:r>
            <a:r>
              <a:rPr lang="en-US" sz="2400" b="1" dirty="0">
                <a:latin typeface="Bahnschrift" panose="020B0502040204020203" pitchFamily="34" charset="0"/>
              </a:rPr>
              <a:t> de un vector:</a:t>
            </a:r>
            <a:endParaRPr lang="es-AR" sz="2400" b="1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928EE17-CCD9-4827-B573-C1317D7B57BC}"/>
                  </a:ext>
                </a:extLst>
              </p:cNvPr>
              <p:cNvSpPr txBox="1"/>
              <p:nvPr/>
            </p:nvSpPr>
            <p:spPr>
              <a:xfrm>
                <a:off x="6575855" y="3074219"/>
                <a:ext cx="4529052" cy="3775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AR" sz="1400" dirty="0">
                    <a:latin typeface="Bahnschrift" panose="020B0502040204020203" pitchFamily="34" charset="0"/>
                  </a:rPr>
                  <a:t>Una </a:t>
                </a:r>
                <a:r>
                  <a:rPr lang="es-AR" sz="1400" dirty="0">
                    <a:highlight>
                      <a:srgbClr val="FFC000"/>
                    </a:highlight>
                    <a:latin typeface="Bahnschrift" panose="020B0502040204020203" pitchFamily="34" charset="0"/>
                  </a:rPr>
                  <a:t>ventaja de utilizar esta notación </a:t>
                </a:r>
                <a:r>
                  <a:rPr lang="es-AR" sz="1400" dirty="0">
                    <a:latin typeface="Bahnschrift" panose="020B0502040204020203" pitchFamily="34" charset="0"/>
                  </a:rPr>
                  <a:t>de número complejo para representar vectores planos se deriva de la identidad de Euler:</a:t>
                </a:r>
              </a:p>
              <a:p>
                <a:pPr algn="just"/>
                <a:endParaRPr lang="es-AR" sz="1400" dirty="0">
                  <a:latin typeface="Bahnschrift" panose="020B0502040204020203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AR" sz="1400" dirty="0">
                  <a:latin typeface="Bahnschrift" panose="020B0502040204020203" pitchFamily="34" charset="0"/>
                </a:endParaRPr>
              </a:p>
              <a:p>
                <a:pPr algn="just"/>
                <a:endParaRPr lang="es-AR" sz="1400" dirty="0">
                  <a:latin typeface="Bahnschrift" panose="020B0502040204020203" pitchFamily="34" charset="0"/>
                </a:endParaRPr>
              </a:p>
              <a:p>
                <a:pPr algn="just"/>
                <a:r>
                  <a:rPr lang="es-AR" sz="1400" dirty="0">
                    <a:latin typeface="Bahnschrift" panose="020B0502040204020203" pitchFamily="34" charset="0"/>
                  </a:rPr>
                  <a:t>Cualquier vector bidimensional puede representarse por medio de la notación polar compacta en el lado izquierdo de la ecuación 4.4a. No hay ninguna función más fácil de diferenciar o integrar, puesto que es su propia derivada: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s-AR" sz="1400" dirty="0">
                  <a:latin typeface="Bahnschrift" panose="020B0502040204020203" pitchFamily="34" charset="0"/>
                </a:endParaRPr>
              </a:p>
              <a:p>
                <a:pPr algn="just"/>
                <a:endParaRPr lang="es-AR" sz="1400" dirty="0">
                  <a:latin typeface="Bahnschrift" panose="020B0502040204020203" pitchFamily="34" charset="0"/>
                </a:endParaRPr>
              </a:p>
              <a:p>
                <a:pPr algn="just"/>
                <a:r>
                  <a:rPr lang="es-AR" sz="1400" dirty="0">
                    <a:latin typeface="Bahnschrift" panose="020B0502040204020203" pitchFamily="34" charset="0"/>
                  </a:rPr>
                  <a:t>Se utilizará esta notación de número complejo de vectores para desarrollar y derivar las ecuaciones de posición, velocidad y aceleración de mecanismos.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928EE17-CCD9-4827-B573-C1317D7B5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855" y="3074219"/>
                <a:ext cx="4529052" cy="3775777"/>
              </a:xfrm>
              <a:prstGeom prst="rect">
                <a:avLst/>
              </a:prstGeom>
              <a:blipFill>
                <a:blip r:embed="rId5"/>
                <a:stretch>
                  <a:fillRect l="-404" t="-161" r="-404" b="-64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92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GRÁFICO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9710267-66A4-4495-ADAF-9E9B08644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327" y="5298430"/>
            <a:ext cx="3977633" cy="116542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F3125BB-FCF0-409B-AB4E-FE5A54A93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AF259B06-BBAA-4DF4-B6F4-A1D4F7781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pic>
        <p:nvPicPr>
          <p:cNvPr id="29" name="Imagen 28" descr="Imagen que contiene reloj&#10;&#10;Descripción generada automáticamente">
            <a:extLst>
              <a:ext uri="{FF2B5EF4-FFF2-40B4-BE49-F238E27FC236}">
                <a16:creationId xmlns:a16="http://schemas.microsoft.com/office/drawing/2014/main" id="{56D8CCED-1C9F-40A1-AD72-F01941673F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pic>
        <p:nvPicPr>
          <p:cNvPr id="31" name="Imagen 30" descr="Imagen que contiene reloj&#10;&#10;Descripción generada automáticamente">
            <a:extLst>
              <a:ext uri="{FF2B5EF4-FFF2-40B4-BE49-F238E27FC236}">
                <a16:creationId xmlns:a16="http://schemas.microsoft.com/office/drawing/2014/main" id="{7B40D797-E011-430A-8960-456922F249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pic>
        <p:nvPicPr>
          <p:cNvPr id="33" name="Imagen 32" descr="Imagen que contiene reloj&#10;&#10;Descripción generada automáticamente">
            <a:extLst>
              <a:ext uri="{FF2B5EF4-FFF2-40B4-BE49-F238E27FC236}">
                <a16:creationId xmlns:a16="http://schemas.microsoft.com/office/drawing/2014/main" id="{ECEFA80E-D098-46A3-B072-81FE68B0D2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pic>
        <p:nvPicPr>
          <p:cNvPr id="35" name="Imagen 34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79716BF2-0CF4-4DA3-AF09-8DC751D0B0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pic>
        <p:nvPicPr>
          <p:cNvPr id="37" name="Imagen 36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19A6ED4-3A1D-404C-BF62-5FCBA0A711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217" y="1259022"/>
            <a:ext cx="7108383" cy="4567165"/>
          </a:xfrm>
          <a:prstGeom prst="rect">
            <a:avLst/>
          </a:prstGeom>
        </p:spPr>
      </p:pic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2"/>
            <a:ext cx="3977633" cy="3330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Trazado de un eslabonamiento de 4 barras con 1 GDL (Cuadrilátero Articulado) para un número dado de posiciones, por ejemplo, 180. 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Longitud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de los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eslabones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(SINTESIS).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de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</a:t>
            </a:r>
            <a:r>
              <a:rPr lang="es-AR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ó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n de entrada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(variable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fijada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por el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diseñador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).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a determinar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3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y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4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15EC746B-8D6B-4346-B3F1-DBCBFA902AF6}"/>
              </a:ext>
            </a:extLst>
          </p:cNvPr>
          <p:cNvSpPr txBox="1">
            <a:spLocks/>
          </p:cNvSpPr>
          <p:nvPr/>
        </p:nvSpPr>
        <p:spPr>
          <a:xfrm>
            <a:off x="4649250" y="5988583"/>
            <a:ext cx="6124316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highlight>
                  <a:srgbClr val="FFC000"/>
                </a:highlight>
                <a:latin typeface="Bahnschrift" panose="020B0502040204020203" pitchFamily="34" charset="0"/>
              </a:rPr>
              <a:t>L</a:t>
            </a:r>
            <a:r>
              <a:rPr lang="es-AR" b="1" dirty="0">
                <a:highlight>
                  <a:srgbClr val="FFC000"/>
                </a:highlight>
                <a:latin typeface="Bahnschrift" panose="020B0502040204020203" pitchFamily="34" charset="0"/>
              </a:rPr>
              <a:t>A SOLUCIÓN SE BASA EN EL TRAZADO A ESCALA DEL MECANISMO</a:t>
            </a:r>
          </a:p>
        </p:txBody>
      </p:sp>
    </p:spTree>
    <p:extLst>
      <p:ext uri="{BB962C8B-B14F-4D97-AF65-F5344CB8AC3E}">
        <p14:creationId xmlns:p14="http://schemas.microsoft.com/office/powerpoint/2010/main" val="313033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2"/>
            <a:ext cx="3977633" cy="3330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Determinación de la ecuación de lazo vectorial para un eslabonamiento de 4 barras Cuadrilátero Articulado. 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Longitud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de los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eslabones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(SINTESIS).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de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</a:t>
            </a:r>
            <a:r>
              <a:rPr lang="es-AR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ó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n de entrada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(variable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fijada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por el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diseñador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).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a determinar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3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y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4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B926440-36D0-4E29-8DFE-94CB49F5294E}"/>
              </a:ext>
            </a:extLst>
          </p:cNvPr>
          <p:cNvSpPr txBox="1">
            <a:spLocks/>
          </p:cNvSpPr>
          <p:nvPr/>
        </p:nvSpPr>
        <p:spPr>
          <a:xfrm>
            <a:off x="326737" y="5285168"/>
            <a:ext cx="10796534" cy="1235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Simplificaciones en el análisis:</a:t>
            </a:r>
          </a:p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Por convención, los </a:t>
            </a: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ángulos directores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 los vectores se miden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a partir del eje positivo de las abscisas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Por elección,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hace coincidir el origen del sistema de referencia con uno de los pivotes fijos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(ejemplo O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) y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el eje de las abscisas con la dirección del bastidor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 (VECTOR R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1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).</a:t>
            </a:r>
          </a:p>
        </p:txBody>
      </p:sp>
      <p:pic>
        <p:nvPicPr>
          <p:cNvPr id="19" name="Imagen 18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927DCF3A-FDB4-4C00-A01E-ED2962F2F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70" y="1324823"/>
            <a:ext cx="6973229" cy="4480328"/>
          </a:xfrm>
          <a:prstGeom prst="rect">
            <a:avLst/>
          </a:prstGeom>
        </p:spPr>
      </p:pic>
      <p:pic>
        <p:nvPicPr>
          <p:cNvPr id="21" name="Imagen 20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62B39431-9633-4BA3-8FEB-38D5938B7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70" y="1324823"/>
            <a:ext cx="6973229" cy="4480328"/>
          </a:xfrm>
          <a:prstGeom prst="rect">
            <a:avLst/>
          </a:prstGeom>
        </p:spPr>
      </p:pic>
      <p:pic>
        <p:nvPicPr>
          <p:cNvPr id="24" name="Imagen 23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393CDB23-E513-4850-B5B4-188AC37AE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70" y="1324823"/>
            <a:ext cx="6973229" cy="4480328"/>
          </a:xfrm>
          <a:prstGeom prst="rect">
            <a:avLst/>
          </a:prstGeom>
        </p:spPr>
      </p:pic>
      <p:pic>
        <p:nvPicPr>
          <p:cNvPr id="30" name="Imagen 29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93DFC8A1-53C2-42FE-B915-2111B5FE9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70" y="1324823"/>
            <a:ext cx="6973229" cy="4480328"/>
          </a:xfrm>
          <a:prstGeom prst="rect">
            <a:avLst/>
          </a:prstGeom>
        </p:spPr>
      </p:pic>
      <p:pic>
        <p:nvPicPr>
          <p:cNvPr id="34" name="Imagen 33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7B592F3A-6D9C-4A9A-B2E6-6D8207BD33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70" y="1324823"/>
            <a:ext cx="6973229" cy="448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1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34E81721-CFC6-42FD-A174-006C93B1EC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36" y="1841339"/>
            <a:ext cx="4202096" cy="269986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3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La ecuación de lazo vectorial cerrado, o polígono de vectores, según los sentidos considerados, queda de la siguiente manera: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/>
              <p:nvPr/>
            </p:nvSpPr>
            <p:spPr>
              <a:xfrm>
                <a:off x="4405796" y="2448378"/>
                <a:ext cx="6307945" cy="311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dirty="0"/>
                  <a:t>        o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𝐵𝐴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796" y="2448378"/>
                <a:ext cx="6307945" cy="311880"/>
              </a:xfrm>
              <a:prstGeom prst="rect">
                <a:avLst/>
              </a:prstGeom>
              <a:blipFill>
                <a:blip r:embed="rId3"/>
                <a:stretch>
                  <a:fillRect l="-1353" t="-25490" b="-3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8D4AF44-7573-47A5-9EA0-F56EBAA4ED75}"/>
              </a:ext>
            </a:extLst>
          </p:cNvPr>
          <p:cNvSpPr txBox="1">
            <a:spLocks/>
          </p:cNvSpPr>
          <p:nvPr/>
        </p:nvSpPr>
        <p:spPr>
          <a:xfrm>
            <a:off x="4190261" y="3143062"/>
            <a:ext cx="6874904" cy="825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Se introduce la notación de numero complejo para cada vector, indicando el valor de cada modulo con las letras a, b, c y d a modo de simplificación de subíndices. 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/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7176" y="4797835"/>
                <a:ext cx="3783083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Cantidad de variables en la ecuación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6" y="4797835"/>
                <a:ext cx="3783083" cy="825255"/>
              </a:xfrm>
              <a:prstGeom prst="rect">
                <a:avLst/>
              </a:prstGeom>
              <a:blipFill>
                <a:blip r:embed="rId5"/>
                <a:stretch>
                  <a:fillRect t="-3704" r="-1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7889" y="4797834"/>
                <a:ext cx="2974461" cy="1080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𝑖𝑛𝑑𝑒𝑝𝑒𝑛𝑑𝑖𝑒𝑛𝑡𝑒</m:t>
                      </m:r>
                    </m:oMath>
                  </m:oMathPara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𝐿𝑜𝑛𝑔𝑖𝑡𝑢𝑑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𝑒𝑠𝑙𝑎𝑏𝑜𝑛𝑒𝑠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𝑐𝑜𝑛𝑜𝑐𝑖𝑑𝑎</m:t>
                      </m:r>
                    </m:oMath>
                  </m:oMathPara>
                </a14:m>
                <a:endParaRPr lang="es-AR" sz="1600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889" y="4797834"/>
                <a:ext cx="2974461" cy="1080165"/>
              </a:xfrm>
              <a:prstGeom prst="rect">
                <a:avLst/>
              </a:prstGeom>
              <a:blipFill>
                <a:blip r:embed="rId6"/>
                <a:stretch>
                  <a:fillRect l="-205" r="-47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F18E9730-C6E5-4912-91CE-8613576ABF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850" y="4937665"/>
            <a:ext cx="588264" cy="272796"/>
          </a:xfrm>
          <a:prstGeom prst="rect">
            <a:avLst/>
          </a:prstGeom>
        </p:spPr>
      </p:pic>
      <p:pic>
        <p:nvPicPr>
          <p:cNvPr id="27" name="Imagen 26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93F88625-DE64-4F51-B39D-4EBC3DBFC3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918" y="4937665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1949" y="4797834"/>
                <a:ext cx="2225447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Variables a conocer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49" y="4797834"/>
                <a:ext cx="2225447" cy="825255"/>
              </a:xfrm>
              <a:prstGeom prst="rect">
                <a:avLst/>
              </a:prstGeom>
              <a:blipFill>
                <a:blip r:embed="rId8"/>
                <a:stretch>
                  <a:fillRect t="-3704" r="-10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Marcador de contenido 2">
                <a:extLst>
                  <a:ext uri="{FF2B5EF4-FFF2-40B4-BE49-F238E27FC236}">
                    <a16:creationId xmlns:a16="http://schemas.microsoft.com/office/drawing/2014/main" id="{34A3CFFF-FFDC-4B10-B6AF-7943063317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5832629"/>
                <a:ext cx="2974461" cy="7904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AR" sz="2400" b="1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AR" sz="2400" b="1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7" name="Marcador de contenido 2">
                <a:extLst>
                  <a:ext uri="{FF2B5EF4-FFF2-40B4-BE49-F238E27FC236}">
                    <a16:creationId xmlns:a16="http://schemas.microsoft.com/office/drawing/2014/main" id="{34A3CFFF-FFDC-4B10-B6AF-794306331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832629"/>
                <a:ext cx="2974461" cy="7904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7C2F2E37-84AC-44C8-AEF3-2A1271D15CC0}"/>
              </a:ext>
            </a:extLst>
          </p:cNvPr>
          <p:cNvSpPr txBox="1">
            <a:spLocks/>
          </p:cNvSpPr>
          <p:nvPr/>
        </p:nvSpPr>
        <p:spPr>
          <a:xfrm>
            <a:off x="2223205" y="6032747"/>
            <a:ext cx="2891425" cy="394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Obtención de las ecuaciones algebraicas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43" name="Imagen 42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843FF76F-B972-4A83-A0E1-D50CB18AF6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967" y="6154639"/>
            <a:ext cx="588264" cy="27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1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3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Para la resolución del planteo anterior, se introducirá la identidad de Euler en la siguiente ecuación.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/>
              <p:nvPr/>
            </p:nvSpPr>
            <p:spPr>
              <a:xfrm>
                <a:off x="2068942" y="2059391"/>
                <a:ext cx="383753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942" y="2059391"/>
                <a:ext cx="3837533" cy="381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D1AA251F-4798-475C-B418-332A2026C02E}"/>
              </a:ext>
            </a:extLst>
          </p:cNvPr>
          <p:cNvSpPr txBox="1">
            <a:spLocks/>
          </p:cNvSpPr>
          <p:nvPr/>
        </p:nvSpPr>
        <p:spPr>
          <a:xfrm>
            <a:off x="2683905" y="3705577"/>
            <a:ext cx="2225447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PARTE REAL (X)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C7CFED6-294E-4CBD-9EEF-023D8795D045}"/>
                  </a:ext>
                </a:extLst>
              </p:cNvPr>
              <p:cNvSpPr txBox="1"/>
              <p:nvPr/>
            </p:nvSpPr>
            <p:spPr>
              <a:xfrm>
                <a:off x="-106532" y="2765579"/>
                <a:ext cx="114344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C7CFED6-294E-4CBD-9EEF-023D8795D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532" y="2765579"/>
                <a:ext cx="11434439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62E29CF-958A-4D8F-95E5-988FB1CE31D4}"/>
              </a:ext>
            </a:extLst>
          </p:cNvPr>
          <p:cNvSpPr txBox="1">
            <a:spLocks/>
          </p:cNvSpPr>
          <p:nvPr/>
        </p:nvSpPr>
        <p:spPr>
          <a:xfrm>
            <a:off x="326736" y="2397758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Entonces queda: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3D08D6C7-4B3C-40D5-A485-813305D6A232}"/>
                  </a:ext>
                </a:extLst>
              </p:cNvPr>
              <p:cNvSpPr txBox="1"/>
              <p:nvPr/>
            </p:nvSpPr>
            <p:spPr>
              <a:xfrm>
                <a:off x="6096000" y="2059391"/>
                <a:ext cx="2301536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3D08D6C7-4B3C-40D5-A485-813305D6A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59391"/>
                <a:ext cx="2301536" cy="381451"/>
              </a:xfrm>
              <a:prstGeom prst="rect">
                <a:avLst/>
              </a:prstGeom>
              <a:blipFill>
                <a:blip r:embed="rId4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A5CE3DC-960B-4BB4-BC2F-1BAFC0EE282A}"/>
                  </a:ext>
                </a:extLst>
              </p:cNvPr>
              <p:cNvSpPr txBox="1"/>
              <p:nvPr/>
            </p:nvSpPr>
            <p:spPr>
              <a:xfrm>
                <a:off x="4492103" y="3647353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A5CE3DC-960B-4BB4-BC2F-1BAFC0EE2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103" y="3647353"/>
                <a:ext cx="39594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arcador de contenido 2">
                <a:extLst>
                  <a:ext uri="{FF2B5EF4-FFF2-40B4-BE49-F238E27FC236}">
                    <a16:creationId xmlns:a16="http://schemas.microsoft.com/office/drawing/2014/main" id="{C16B0D0C-99C6-467E-A214-1B64E04016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6736" y="3288411"/>
                <a:ext cx="9776051" cy="3837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Separamos parte real y parte imaginaria.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entonces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si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 </a:t>
                </a:r>
              </a:p>
            </p:txBody>
          </p:sp>
        </mc:Choice>
        <mc:Fallback xmlns="">
          <p:sp>
            <p:nvSpPr>
              <p:cNvPr id="17" name="Marcador de contenido 2">
                <a:extLst>
                  <a:ext uri="{FF2B5EF4-FFF2-40B4-BE49-F238E27FC236}">
                    <a16:creationId xmlns:a16="http://schemas.microsoft.com/office/drawing/2014/main" id="{C16B0D0C-99C6-467E-A214-1B64E0401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" y="3288411"/>
                <a:ext cx="9776051" cy="383764"/>
              </a:xfrm>
              <a:prstGeom prst="rect">
                <a:avLst/>
              </a:prstGeom>
              <a:blipFill>
                <a:blip r:embed="rId6"/>
                <a:stretch>
                  <a:fillRect l="-62" t="-7937" b="-47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C29A2F6-2EFE-439E-863B-8D71A50C4E24}"/>
                  </a:ext>
                </a:extLst>
              </p:cNvPr>
              <p:cNvSpPr txBox="1"/>
              <p:nvPr/>
            </p:nvSpPr>
            <p:spPr>
              <a:xfrm>
                <a:off x="4332303" y="4099812"/>
                <a:ext cx="3764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C29A2F6-2EFE-439E-863B-8D71A50C4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303" y="4099812"/>
                <a:ext cx="3764130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388E7B40-86C0-4E15-85E1-E2B07280540C}"/>
              </a:ext>
            </a:extLst>
          </p:cNvPr>
          <p:cNvSpPr txBox="1">
            <a:spLocks/>
          </p:cNvSpPr>
          <p:nvPr/>
        </p:nvSpPr>
        <p:spPr>
          <a:xfrm>
            <a:off x="2334829" y="4142314"/>
            <a:ext cx="231707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PARTE IMAGINARIA (Y)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Marcador de contenido 2">
                <a:extLst>
                  <a:ext uri="{FF2B5EF4-FFF2-40B4-BE49-F238E27FC236}">
                    <a16:creationId xmlns:a16="http://schemas.microsoft.com/office/drawing/2014/main" id="{04B41C86-9D15-41C8-A6EE-5AF2664837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6736" y="4543539"/>
                <a:ext cx="9776051" cy="6025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Para resolver, se aísla en ambas ecuaciones alguna de las variables, en este caso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y luego se elevan al cuadrado y se suman. Esto permite eliminar la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y trabajar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.</a:t>
                </a:r>
              </a:p>
            </p:txBody>
          </p:sp>
        </mc:Choice>
        <mc:Fallback xmlns="">
          <p:sp>
            <p:nvSpPr>
              <p:cNvPr id="24" name="Marcador de contenido 2">
                <a:extLst>
                  <a:ext uri="{FF2B5EF4-FFF2-40B4-BE49-F238E27FC236}">
                    <a16:creationId xmlns:a16="http://schemas.microsoft.com/office/drawing/2014/main" id="{04B41C86-9D15-41C8-A6EE-5AF266483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" y="4543539"/>
                <a:ext cx="9776051" cy="602546"/>
              </a:xfrm>
              <a:prstGeom prst="rect">
                <a:avLst/>
              </a:prstGeom>
              <a:blipFill>
                <a:blip r:embed="rId8"/>
                <a:stretch>
                  <a:fillRect l="-62" t="-5051" r="-312" b="-505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21F45A9-F163-4D44-BF61-D5E4D87CC2A9}"/>
                  </a:ext>
                </a:extLst>
              </p:cNvPr>
              <p:cNvSpPr txBox="1"/>
              <p:nvPr/>
            </p:nvSpPr>
            <p:spPr>
              <a:xfrm>
                <a:off x="79898" y="5091683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21F45A9-F163-4D44-BF61-D5E4D87CC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" y="5091683"/>
                <a:ext cx="39594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D511FF3-24BE-4EFF-9863-2B2CD3134174}"/>
                  </a:ext>
                </a:extLst>
              </p:cNvPr>
              <p:cNvSpPr txBox="1"/>
              <p:nvPr/>
            </p:nvSpPr>
            <p:spPr>
              <a:xfrm>
                <a:off x="79898" y="5461015"/>
                <a:ext cx="3764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BD511FF3-24BE-4EFF-9863-2B2CD3134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" y="5461015"/>
                <a:ext cx="3764130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DEF19A9A-D43B-4BFC-B943-592CB87AEAE9}"/>
                  </a:ext>
                </a:extLst>
              </p:cNvPr>
              <p:cNvSpPr txBox="1"/>
              <p:nvPr/>
            </p:nvSpPr>
            <p:spPr>
              <a:xfrm>
                <a:off x="3739964" y="5321369"/>
                <a:ext cx="77862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DEF19A9A-D43B-4BFC-B943-592CB87AE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964" y="5321369"/>
                <a:ext cx="77862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errar llave 41">
            <a:extLst>
              <a:ext uri="{FF2B5EF4-FFF2-40B4-BE49-F238E27FC236}">
                <a16:creationId xmlns:a16="http://schemas.microsoft.com/office/drawing/2014/main" id="{62317F12-DE38-4FF5-876D-5DBEADF73ED0}"/>
              </a:ext>
            </a:extLst>
          </p:cNvPr>
          <p:cNvSpPr/>
          <p:nvPr/>
        </p:nvSpPr>
        <p:spPr>
          <a:xfrm>
            <a:off x="3493365" y="5127984"/>
            <a:ext cx="248575" cy="73286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4" name="Cerrar llave 43">
            <a:extLst>
              <a:ext uri="{FF2B5EF4-FFF2-40B4-BE49-F238E27FC236}">
                <a16:creationId xmlns:a16="http://schemas.microsoft.com/office/drawing/2014/main" id="{7504B8F3-7EBC-492D-AF89-ADB52EE8176C}"/>
              </a:ext>
            </a:extLst>
          </p:cNvPr>
          <p:cNvSpPr/>
          <p:nvPr/>
        </p:nvSpPr>
        <p:spPr>
          <a:xfrm rot="5400000">
            <a:off x="4865464" y="4968400"/>
            <a:ext cx="248575" cy="1643534"/>
          </a:xfrm>
          <a:prstGeom prst="rightBrace">
            <a:avLst>
              <a:gd name="adj1" fmla="val 8332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A12F98E2-9519-4668-8C6C-F86B419F4358}"/>
                  </a:ext>
                </a:extLst>
              </p:cNvPr>
              <p:cNvSpPr txBox="1"/>
              <p:nvPr/>
            </p:nvSpPr>
            <p:spPr>
              <a:xfrm>
                <a:off x="4651902" y="5882402"/>
                <a:ext cx="6197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A12F98E2-9519-4668-8C6C-F86B419F4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902" y="5882402"/>
                <a:ext cx="61976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3EA8361-4705-4883-8444-AE0E796558E5}"/>
                  </a:ext>
                </a:extLst>
              </p:cNvPr>
              <p:cNvSpPr txBox="1"/>
              <p:nvPr/>
            </p:nvSpPr>
            <p:spPr>
              <a:xfrm>
                <a:off x="2345368" y="6294142"/>
                <a:ext cx="5852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3EA8361-4705-4883-8444-AE0E79655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368" y="6294142"/>
                <a:ext cx="5852587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70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04B41C86-9D15-41C8-A6EE-5AF26648375D}"/>
              </a:ext>
            </a:extLst>
          </p:cNvPr>
          <p:cNvSpPr txBox="1">
            <a:spLocks/>
          </p:cNvSpPr>
          <p:nvPr/>
        </p:nvSpPr>
        <p:spPr>
          <a:xfrm>
            <a:off x="326738" y="1655494"/>
            <a:ext cx="9776051" cy="602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Desarrollando cuadrados y trinomios perfectos se tiene: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3EA8361-4705-4883-8444-AE0E796558E5}"/>
                  </a:ext>
                </a:extLst>
              </p:cNvPr>
              <p:cNvSpPr txBox="1"/>
              <p:nvPr/>
            </p:nvSpPr>
            <p:spPr>
              <a:xfrm>
                <a:off x="2616766" y="2044905"/>
                <a:ext cx="58525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3EA8361-4705-4883-8444-AE0E79655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766" y="2044905"/>
                <a:ext cx="585258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A866A54-F378-406C-9FF2-05DE265FD388}"/>
                  </a:ext>
                </a:extLst>
              </p:cNvPr>
              <p:cNvSpPr txBox="1"/>
              <p:nvPr/>
            </p:nvSpPr>
            <p:spPr>
              <a:xfrm>
                <a:off x="1163320" y="2462785"/>
                <a:ext cx="86489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𝑐𝑑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1A866A54-F378-406C-9FF2-05DE265FD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320" y="2462785"/>
                <a:ext cx="864899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>
                <a:extLst>
                  <a:ext uri="{FF2B5EF4-FFF2-40B4-BE49-F238E27FC236}">
                    <a16:creationId xmlns:a16="http://schemas.microsoft.com/office/drawing/2014/main" id="{9B204CAB-8EBF-4123-B8F5-ED28AB332E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6738" y="2994248"/>
                <a:ext cx="9776051" cy="3981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Se divide ambos miembros por el termino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y se definen las constantes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:</a:t>
                </a:r>
              </a:p>
            </p:txBody>
          </p:sp>
        </mc:Choice>
        <mc:Fallback xmlns="">
          <p:sp>
            <p:nvSpPr>
              <p:cNvPr id="10" name="Marcador de contenido 2">
                <a:extLst>
                  <a:ext uri="{FF2B5EF4-FFF2-40B4-BE49-F238E27FC236}">
                    <a16:creationId xmlns:a16="http://schemas.microsoft.com/office/drawing/2014/main" id="{9B204CAB-8EBF-4123-B8F5-ED28AB332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8" y="2994248"/>
                <a:ext cx="9776051" cy="398175"/>
              </a:xfrm>
              <a:prstGeom prst="rect">
                <a:avLst/>
              </a:prstGeom>
              <a:blipFill>
                <a:blip r:embed="rId4"/>
                <a:stretch>
                  <a:fillRect l="-62" t="-7692" b="-153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77EBD240-27E6-45D9-A0D1-10B9EBE71AC7}"/>
                  </a:ext>
                </a:extLst>
              </p:cNvPr>
              <p:cNvSpPr txBox="1"/>
              <p:nvPr/>
            </p:nvSpPr>
            <p:spPr>
              <a:xfrm>
                <a:off x="2664029" y="3392423"/>
                <a:ext cx="1144229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77EBD240-27E6-45D9-A0D1-10B9EBE71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029" y="3392423"/>
                <a:ext cx="1144229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4884C10-FB61-4653-8778-C60903DCDB0F}"/>
                  </a:ext>
                </a:extLst>
              </p:cNvPr>
              <p:cNvSpPr txBox="1"/>
              <p:nvPr/>
            </p:nvSpPr>
            <p:spPr>
              <a:xfrm>
                <a:off x="4213472" y="3392423"/>
                <a:ext cx="1144229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4884C10-FB61-4653-8778-C60903DCD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72" y="3392423"/>
                <a:ext cx="1144229" cy="6182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5FA2F8-6376-4275-9A8B-E30FD9891D2C}"/>
                  </a:ext>
                </a:extLst>
              </p:cNvPr>
              <p:cNvSpPr txBox="1"/>
              <p:nvPr/>
            </p:nvSpPr>
            <p:spPr>
              <a:xfrm>
                <a:off x="5762915" y="3392423"/>
                <a:ext cx="2587502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B5FA2F8-6376-4275-9A8B-E30FD9891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915" y="3392423"/>
                <a:ext cx="2587502" cy="6481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7CEC58B-5E5A-404B-B10A-23AD949B0798}"/>
                  </a:ext>
                </a:extLst>
              </p:cNvPr>
              <p:cNvSpPr txBox="1"/>
              <p:nvPr/>
            </p:nvSpPr>
            <p:spPr>
              <a:xfrm>
                <a:off x="1017786" y="4148336"/>
                <a:ext cx="10156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AR" dirty="0"/>
                  <a:t>        ;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AR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unc>
                              <m:funcPr>
                                <m:ctrlPr>
                                  <a:rPr lang="en-US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func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unc>
                                  <m:func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7CEC58B-5E5A-404B-B10A-23AD949B0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86" y="4148336"/>
                <a:ext cx="10156427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7662052-6DA3-41D2-A0D1-20014B3A6E78}"/>
              </a:ext>
            </a:extLst>
          </p:cNvPr>
          <p:cNvSpPr txBox="1">
            <a:spLocks/>
          </p:cNvSpPr>
          <p:nvPr/>
        </p:nvSpPr>
        <p:spPr>
          <a:xfrm>
            <a:off x="1388616" y="4537746"/>
            <a:ext cx="3266728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ECUACION DE FREUDESTEIN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112D103B-D0F3-4F6E-8234-5B39FF3F894B}"/>
              </a:ext>
            </a:extLst>
          </p:cNvPr>
          <p:cNvSpPr txBox="1">
            <a:spLocks/>
          </p:cNvSpPr>
          <p:nvPr/>
        </p:nvSpPr>
        <p:spPr>
          <a:xfrm>
            <a:off x="326738" y="4966136"/>
            <a:ext cx="9776051" cy="602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Trabajando con identidades trigonométricas del ángulo mitad, se llega a la siguiente ecuación de forma cuadrática, la que como ya se sabe puede resolverse encontrando sus raíces.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6D03572-0837-427C-B30E-F91C3CD14242}"/>
                  </a:ext>
                </a:extLst>
              </p:cNvPr>
              <p:cNvSpPr txBox="1"/>
              <p:nvPr/>
            </p:nvSpPr>
            <p:spPr>
              <a:xfrm>
                <a:off x="44064" y="5745555"/>
                <a:ext cx="342722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6D03572-0837-427C-B30E-F91C3CD14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4" y="5745555"/>
                <a:ext cx="3427220" cy="622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Marcador de contenido 2">
                <a:extLst>
                  <a:ext uri="{FF2B5EF4-FFF2-40B4-BE49-F238E27FC236}">
                    <a16:creationId xmlns:a16="http://schemas.microsoft.com/office/drawing/2014/main" id="{438300B0-E7C5-4628-ACBA-3197E55B32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311" y="6363801"/>
                <a:ext cx="3175962" cy="6025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s-AR" sz="12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Donde A, B y C son constantes funciones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2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23" name="Marcador de contenido 2">
                <a:extLst>
                  <a:ext uri="{FF2B5EF4-FFF2-40B4-BE49-F238E27FC236}">
                    <a16:creationId xmlns:a16="http://schemas.microsoft.com/office/drawing/2014/main" id="{438300B0-E7C5-4628-ACBA-3197E55B3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1" y="6363801"/>
                <a:ext cx="3175962" cy="602546"/>
              </a:xfrm>
              <a:prstGeom prst="rect">
                <a:avLst/>
              </a:prstGeom>
              <a:blipFill>
                <a:blip r:embed="rId10"/>
                <a:stretch>
                  <a:fillRect t="-3030" r="-1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Imagen 31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8BBADF51-CB07-4667-BF14-FB6F6223EAC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633" y="5951753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ED2FB227-7CE8-4D2B-BDA5-A9DE660E959E}"/>
                  </a:ext>
                </a:extLst>
              </p:cNvPr>
              <p:cNvSpPr txBox="1"/>
              <p:nvPr/>
            </p:nvSpPr>
            <p:spPr>
              <a:xfrm>
                <a:off x="3830574" y="5649095"/>
                <a:ext cx="3676814" cy="757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𝐴𝐶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ED2FB227-7CE8-4D2B-BDA5-A9DE660E9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74" y="5649095"/>
                <a:ext cx="3676814" cy="75732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Imagen 49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B3F9509D-1F5D-468A-A668-5DE2A26A017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806" y="5951753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E446BE1-30A4-41A7-9C12-2AA7D8F2AE47}"/>
                  </a:ext>
                </a:extLst>
              </p:cNvPr>
              <p:cNvSpPr txBox="1"/>
              <p:nvPr/>
            </p:nvSpPr>
            <p:spPr>
              <a:xfrm>
                <a:off x="7875627" y="5649095"/>
                <a:ext cx="3473858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𝐴𝐶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E446BE1-30A4-41A7-9C12-2AA7D8F2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627" y="5649095"/>
                <a:ext cx="3473858" cy="68339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3C55D9AB-4AC5-151F-6EF8-2282CE6510BC}"/>
              </a:ext>
            </a:extLst>
          </p:cNvPr>
          <p:cNvSpPr txBox="1"/>
          <p:nvPr/>
        </p:nvSpPr>
        <p:spPr>
          <a:xfrm>
            <a:off x="4289317" y="4535246"/>
            <a:ext cx="5430329" cy="430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182880" indent="-182880" algn="just" defTabSz="91440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à"/>
              <a:defRPr sz="1600" spc="10" baseline="0">
                <a:latin typeface="Bahnschrift" panose="020B0502040204020203" pitchFamily="34" charset="0"/>
              </a:defRPr>
            </a:lvl1pPr>
            <a:lvl2pPr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731520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005840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280160" indent="-18288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  <a:lvl6pPr marL="1600000" indent="-22860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6pPr>
            <a:lvl7pPr marL="1900000" indent="-22860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7pPr>
            <a:lvl8pPr marL="2200000" indent="-22860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8pPr>
            <a:lvl9pPr marL="2500000" indent="-228600" defTabSz="91440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9pPr>
          </a:lstStyle>
          <a:p>
            <a:r>
              <a:rPr lang="es-AR" sz="1200" dirty="0"/>
              <a:t>Freudenstein convierte el problema geométrico de cierre del mecanismo en una ecuación trigonométrica de una sola incógnita.</a:t>
            </a:r>
          </a:p>
        </p:txBody>
      </p:sp>
    </p:spTree>
    <p:extLst>
      <p:ext uri="{BB962C8B-B14F-4D97-AF65-F5344CB8AC3E}">
        <p14:creationId xmlns:p14="http://schemas.microsoft.com/office/powerpoint/2010/main" val="1441866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04B41C86-9D15-41C8-A6EE-5AF26648375D}"/>
              </a:ext>
            </a:extLst>
          </p:cNvPr>
          <p:cNvSpPr txBox="1">
            <a:spLocks/>
          </p:cNvSpPr>
          <p:nvPr/>
        </p:nvSpPr>
        <p:spPr>
          <a:xfrm>
            <a:off x="326738" y="2530136"/>
            <a:ext cx="10788105" cy="8877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La ecuación tiene </a:t>
            </a: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dos soluciones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, obtenidas a partir de las condiciones ± en el radical. Estas dos soluciones, como con cualquier ecuación cuadrática, pueden ser de tres tipos: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E446BE1-30A4-41A7-9C12-2AA7D8F2AE47}"/>
                  </a:ext>
                </a:extLst>
              </p:cNvPr>
              <p:cNvSpPr txBox="1"/>
              <p:nvPr/>
            </p:nvSpPr>
            <p:spPr>
              <a:xfrm>
                <a:off x="3557258" y="1655494"/>
                <a:ext cx="3473858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𝐴𝐶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E446BE1-30A4-41A7-9C12-2AA7D8F2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58" y="1655494"/>
                <a:ext cx="3473858" cy="683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F1793382-4A6F-4AD2-A926-F91BA046E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547" y="3610075"/>
            <a:ext cx="4806372" cy="3131598"/>
          </a:xfrm>
          <a:prstGeom prst="rect">
            <a:avLst/>
          </a:prstGeom>
        </p:spPr>
      </p:pic>
      <p:pic>
        <p:nvPicPr>
          <p:cNvPr id="1026" name="Picture 2" descr="MECANISMOS Y ELEMENTOS DE MAQUINAS MECANISMOS Y SISTEMAS DE AERONAVES  APUNTE DE CLASE CINEMATICA DE MECANISMOS">
            <a:extLst>
              <a:ext uri="{FF2B5EF4-FFF2-40B4-BE49-F238E27FC236}">
                <a16:creationId xmlns:a16="http://schemas.microsoft.com/office/drawing/2014/main" id="{1DC0EE0A-6E9F-4E49-B628-25476FA26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65" y="3927984"/>
            <a:ext cx="5375552" cy="150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6BF0261-6D68-4E1E-9C4B-AADE9C9A16BD}"/>
              </a:ext>
            </a:extLst>
          </p:cNvPr>
          <p:cNvSpPr txBox="1">
            <a:spLocks/>
          </p:cNvSpPr>
          <p:nvPr/>
        </p:nvSpPr>
        <p:spPr>
          <a:xfrm>
            <a:off x="1708032" y="3646397"/>
            <a:ext cx="2775192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COMPLEJAS CONJUGADAS</a:t>
            </a:r>
            <a:endParaRPr lang="es-AR" sz="1600" dirty="0">
              <a:latin typeface="Bahnschrift" panose="020B0502040204020203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5F1F7A47-58A8-4565-B498-DBDF09E8217A}"/>
              </a:ext>
            </a:extLst>
          </p:cNvPr>
          <p:cNvSpPr txBox="1">
            <a:spLocks/>
          </p:cNvSpPr>
          <p:nvPr/>
        </p:nvSpPr>
        <p:spPr>
          <a:xfrm>
            <a:off x="7346137" y="3309048"/>
            <a:ext cx="2775192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</a:rPr>
              <a:t>REALES Y DESIGUALES</a:t>
            </a:r>
            <a:endParaRPr lang="es-AR" sz="1600" dirty="0">
              <a:latin typeface="Bahnschrift" panose="020B0502040204020203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B1BD90E-99CD-4504-B417-48A30156BCDB}"/>
              </a:ext>
            </a:extLst>
          </p:cNvPr>
          <p:cNvSpPr txBox="1">
            <a:spLocks/>
          </p:cNvSpPr>
          <p:nvPr/>
        </p:nvSpPr>
        <p:spPr>
          <a:xfrm>
            <a:off x="9405096" y="3757477"/>
            <a:ext cx="1731823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050" dirty="0">
                <a:solidFill>
                  <a:srgbClr val="2B241F"/>
                </a:solidFill>
                <a:latin typeface="Bahnschrift" panose="020B0502040204020203" pitchFamily="34" charset="0"/>
              </a:rPr>
              <a:t>Configuración / Rama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1C2F3752-53E8-4F1A-8AEA-8FFF2E04A998}"/>
              </a:ext>
            </a:extLst>
          </p:cNvPr>
          <p:cNvSpPr txBox="1">
            <a:spLocks/>
          </p:cNvSpPr>
          <p:nvPr/>
        </p:nvSpPr>
        <p:spPr>
          <a:xfrm>
            <a:off x="9383020" y="6068877"/>
            <a:ext cx="1731823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050" dirty="0">
                <a:solidFill>
                  <a:srgbClr val="2B241F"/>
                </a:solidFill>
                <a:latin typeface="Bahnschrift" panose="020B0502040204020203" pitchFamily="34" charset="0"/>
              </a:rPr>
              <a:t>Configuración / Rama</a:t>
            </a:r>
          </a:p>
        </p:txBody>
      </p:sp>
    </p:spTree>
    <p:extLst>
      <p:ext uri="{BB962C8B-B14F-4D97-AF65-F5344CB8AC3E}">
        <p14:creationId xmlns:p14="http://schemas.microsoft.com/office/powerpoint/2010/main" val="2121841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7CEC58B-5E5A-404B-B10A-23AD949B0798}"/>
                  </a:ext>
                </a:extLst>
              </p:cNvPr>
              <p:cNvSpPr txBox="1"/>
              <p:nvPr/>
            </p:nvSpPr>
            <p:spPr>
              <a:xfrm>
                <a:off x="1017786" y="2784123"/>
                <a:ext cx="10156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AR" dirty="0"/>
                  <a:t>        ;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s-AR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func>
                              <m:funcPr>
                                <m:ctrlPr>
                                  <a:rPr lang="en-US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func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unc>
                                  <m:func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7CEC58B-5E5A-404B-B10A-23AD949B0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86" y="2784123"/>
                <a:ext cx="10156427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7662052-6DA3-41D2-A0D1-20014B3A6E78}"/>
              </a:ext>
            </a:extLst>
          </p:cNvPr>
          <p:cNvSpPr txBox="1">
            <a:spLocks/>
          </p:cNvSpPr>
          <p:nvPr/>
        </p:nvSpPr>
        <p:spPr>
          <a:xfrm>
            <a:off x="1388616" y="3173533"/>
            <a:ext cx="3266728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ECUACION DE FREUDESTEIN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112D103B-D0F3-4F6E-8234-5B39FF3F894B}"/>
              </a:ext>
            </a:extLst>
          </p:cNvPr>
          <p:cNvSpPr txBox="1">
            <a:spLocks/>
          </p:cNvSpPr>
          <p:nvPr/>
        </p:nvSpPr>
        <p:spPr>
          <a:xfrm>
            <a:off x="326738" y="4397967"/>
            <a:ext cx="9776051" cy="602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Trabajando con identidades trigonométricas del ángulo mitad, se llega a la siguiente ecuación de forma cuadrática, la que como ya se sabe puede resolverse encontrando sus raíces.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6D03572-0837-427C-B30E-F91C3CD14242}"/>
                  </a:ext>
                </a:extLst>
              </p:cNvPr>
              <p:cNvSpPr txBox="1"/>
              <p:nvPr/>
            </p:nvSpPr>
            <p:spPr>
              <a:xfrm>
                <a:off x="44064" y="5177386"/>
                <a:ext cx="3514295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6D03572-0837-427C-B30E-F91C3CD14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64" y="5177386"/>
                <a:ext cx="3514295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Marcador de contenido 2">
                <a:extLst>
                  <a:ext uri="{FF2B5EF4-FFF2-40B4-BE49-F238E27FC236}">
                    <a16:creationId xmlns:a16="http://schemas.microsoft.com/office/drawing/2014/main" id="{438300B0-E7C5-4628-ACBA-3197E55B32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311" y="5795632"/>
                <a:ext cx="3175962" cy="6025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s-AR" sz="12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Donde D, E y F son constantes funciones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AR" sz="12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23" name="Marcador de contenido 2">
                <a:extLst>
                  <a:ext uri="{FF2B5EF4-FFF2-40B4-BE49-F238E27FC236}">
                    <a16:creationId xmlns:a16="http://schemas.microsoft.com/office/drawing/2014/main" id="{438300B0-E7C5-4628-ACBA-3197E55B3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1" y="5795632"/>
                <a:ext cx="3175962" cy="602546"/>
              </a:xfrm>
              <a:prstGeom prst="rect">
                <a:avLst/>
              </a:prstGeom>
              <a:blipFill>
                <a:blip r:embed="rId4"/>
                <a:stretch>
                  <a:fillRect t="-3030" r="-1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Imagen 31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8BBADF51-CB07-4667-BF14-FB6F6223EA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633" y="5383584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ED2FB227-7CE8-4D2B-BDA5-A9DE660E959E}"/>
                  </a:ext>
                </a:extLst>
              </p:cNvPr>
              <p:cNvSpPr txBox="1"/>
              <p:nvPr/>
            </p:nvSpPr>
            <p:spPr>
              <a:xfrm>
                <a:off x="3830574" y="5080926"/>
                <a:ext cx="3676814" cy="757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ED2FB227-7CE8-4D2B-BDA5-A9DE660E9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74" y="5080926"/>
                <a:ext cx="3676814" cy="7573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Imagen 49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B3F9509D-1F5D-468A-A668-5DE2A26A01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806" y="5383584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E446BE1-30A4-41A7-9C12-2AA7D8F2AE47}"/>
                  </a:ext>
                </a:extLst>
              </p:cNvPr>
              <p:cNvSpPr txBox="1"/>
              <p:nvPr/>
            </p:nvSpPr>
            <p:spPr>
              <a:xfrm>
                <a:off x="7875627" y="5080926"/>
                <a:ext cx="3473858" cy="684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𝐷𝐹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E446BE1-30A4-41A7-9C12-2AA7D8F2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627" y="5080926"/>
                <a:ext cx="3473858" cy="6842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2">
                <a:extLst>
                  <a:ext uri="{FF2B5EF4-FFF2-40B4-BE49-F238E27FC236}">
                    <a16:creationId xmlns:a16="http://schemas.microsoft.com/office/drawing/2014/main" id="{5DD54009-4B07-43BD-A1D7-47846D5699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3149" y="1656879"/>
                <a:ext cx="9776051" cy="4402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A continuación, se realiza el mismo procedimiento para obtener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eliminando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. </a:t>
                </a:r>
              </a:p>
            </p:txBody>
          </p:sp>
        </mc:Choice>
        <mc:Fallback xmlns="">
          <p:sp>
            <p:nvSpPr>
              <p:cNvPr id="6" name="Marcador de contenido 2">
                <a:extLst>
                  <a:ext uri="{FF2B5EF4-FFF2-40B4-BE49-F238E27FC236}">
                    <a16:creationId xmlns:a16="http://schemas.microsoft.com/office/drawing/2014/main" id="{5DD54009-4B07-43BD-A1D7-47846D569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49" y="1656879"/>
                <a:ext cx="9776051" cy="440206"/>
              </a:xfrm>
              <a:prstGeom prst="rect">
                <a:avLst/>
              </a:prstGeom>
              <a:blipFill>
                <a:blip r:embed="rId8"/>
                <a:stretch>
                  <a:fillRect l="-62" t="-69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59135F-EA2E-4BC3-9E66-DAAB0F99F0F6}"/>
                  </a:ext>
                </a:extLst>
              </p:cNvPr>
              <p:cNvSpPr txBox="1"/>
              <p:nvPr/>
            </p:nvSpPr>
            <p:spPr>
              <a:xfrm>
                <a:off x="3977197" y="1975147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59135F-EA2E-4BC3-9E66-DAAB0F99F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197" y="1975147"/>
                <a:ext cx="39594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CA3B2A2-E9EB-4350-B0E5-F6ACBC31D2A5}"/>
                  </a:ext>
                </a:extLst>
              </p:cNvPr>
              <p:cNvSpPr txBox="1"/>
              <p:nvPr/>
            </p:nvSpPr>
            <p:spPr>
              <a:xfrm>
                <a:off x="3977197" y="2344479"/>
                <a:ext cx="3764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CA3B2A2-E9EB-4350-B0E5-F6ACBC31D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197" y="2344479"/>
                <a:ext cx="3764130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A83E9A8-E693-4183-A332-A2CD10968A45}"/>
                  </a:ext>
                </a:extLst>
              </p:cNvPr>
              <p:cNvSpPr txBox="1"/>
              <p:nvPr/>
            </p:nvSpPr>
            <p:spPr>
              <a:xfrm>
                <a:off x="3510187" y="3669034"/>
                <a:ext cx="1144229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BA83E9A8-E693-4183-A332-A2CD1096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87" y="3669034"/>
                <a:ext cx="1144229" cy="6182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3703997-6C38-4B19-80F3-60833FA1BEE9}"/>
                  </a:ext>
                </a:extLst>
              </p:cNvPr>
              <p:cNvSpPr txBox="1"/>
              <p:nvPr/>
            </p:nvSpPr>
            <p:spPr>
              <a:xfrm>
                <a:off x="5059630" y="3669034"/>
                <a:ext cx="2587502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3703997-6C38-4B19-80F3-60833FA1B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630" y="3669034"/>
                <a:ext cx="2587502" cy="6481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159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25D42944-F9E9-4932-9720-774CA1D91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69" y="1191658"/>
            <a:ext cx="6818901" cy="4345378"/>
          </a:xfrm>
          <a:prstGeom prst="rect">
            <a:avLst/>
          </a:prstGeom>
        </p:spPr>
      </p:pic>
      <p:pic>
        <p:nvPicPr>
          <p:cNvPr id="8" name="Imagen 7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FF946B9C-5E16-441F-A8C6-7A4679587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69" y="1191658"/>
            <a:ext cx="6818901" cy="434537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2"/>
            <a:ext cx="3977633" cy="3330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Determinación de la ecuación de lazo vectorial para un eslabonamiento de 4 barras Manivela Biela Corredera aterrizada con corrimiento. 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Longitud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de los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eslabones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(SINTESIS).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de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</a:t>
            </a:r>
            <a:r>
              <a:rPr lang="es-AR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ó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n de entrada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(variable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fijada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por el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diseñador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).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a determinar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3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y d.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B926440-36D0-4E29-8DFE-94CB49F5294E}"/>
              </a:ext>
            </a:extLst>
          </p:cNvPr>
          <p:cNvSpPr txBox="1">
            <a:spLocks/>
          </p:cNvSpPr>
          <p:nvPr/>
        </p:nvSpPr>
        <p:spPr>
          <a:xfrm>
            <a:off x="326737" y="4903431"/>
            <a:ext cx="10796534" cy="1235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Simplificaciones en el análisis: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Por convención, los </a:t>
            </a: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ángulos directores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 los vectores se miden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a partir del eje positivo de las abscisas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Por elección,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hace coincidir el origen del sistema de referencia con uno de los pivotes fijos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(ejemplo O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),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el eje de las abscisas paralelo al eje de desplazamiento de la corredera y definido por el vector R</a:t>
            </a:r>
            <a:r>
              <a:rPr lang="es-AR" sz="1600" b="1" baseline="-25000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1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 y con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R</a:t>
            </a:r>
            <a:r>
              <a:rPr lang="es-AR" sz="1600" b="1" baseline="-25000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4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se define la excentricidad de la corredera.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. R</a:t>
            </a:r>
            <a:r>
              <a:rPr lang="es-AR" sz="1600" baseline="-250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1</a:t>
            </a: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y R</a:t>
            </a:r>
            <a:r>
              <a:rPr lang="es-AR" sz="1600" baseline="-250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4</a:t>
            </a: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son componentes de </a:t>
            </a:r>
            <a:r>
              <a:rPr lang="es-AR" sz="1600" dirty="0" err="1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R</a:t>
            </a:r>
            <a:r>
              <a:rPr lang="es-AR" sz="1600" baseline="-25000" dirty="0" err="1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</a:t>
            </a: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958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3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La ecuación de lazo vectorial cerrado, o polígono de vectores, según los sentidos considerados, queda de la siguiente manera: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/>
              <p:nvPr/>
            </p:nvSpPr>
            <p:spPr>
              <a:xfrm>
                <a:off x="6468260" y="2416480"/>
                <a:ext cx="2318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260" y="2416480"/>
                <a:ext cx="2318905" cy="276999"/>
              </a:xfrm>
              <a:prstGeom prst="rect">
                <a:avLst/>
              </a:prstGeom>
              <a:blipFill>
                <a:blip r:embed="rId2"/>
                <a:stretch>
                  <a:fillRect l="-1579" r="-1842" b="-173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8D4AF44-7573-47A5-9EA0-F56EBAA4ED75}"/>
              </a:ext>
            </a:extLst>
          </p:cNvPr>
          <p:cNvSpPr txBox="1">
            <a:spLocks/>
          </p:cNvSpPr>
          <p:nvPr/>
        </p:nvSpPr>
        <p:spPr>
          <a:xfrm>
            <a:off x="4190261" y="3143062"/>
            <a:ext cx="6874904" cy="825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Se introduce la notación de numero complejo para cada vector, indicando el valor de cada modulo con las letras a, b, c y d a modo de simplificación de subíndices. 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/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7176" y="4797835"/>
                <a:ext cx="3783083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Cantidad de variables en la ecuación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6" y="4797835"/>
                <a:ext cx="3783083" cy="825255"/>
              </a:xfrm>
              <a:prstGeom prst="rect">
                <a:avLst/>
              </a:prstGeom>
              <a:blipFill>
                <a:blip r:embed="rId4"/>
                <a:stretch>
                  <a:fillRect t="-3704" r="-1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7889" y="4797834"/>
                <a:ext cx="2974461" cy="1080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𝑖𝑛𝑑𝑒𝑝𝑒𝑛𝑑𝑖𝑒𝑛𝑡𝑒</m:t>
                      </m:r>
                    </m:oMath>
                  </m:oMathPara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𝐿𝑜𝑛𝑔𝑖𝑡𝑢𝑑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𝑒𝑠𝑙𝑎𝑏𝑜𝑛𝑒𝑠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𝑐𝑜𝑛𝑜𝑐𝑖𝑑𝑎</m:t>
                      </m:r>
                    </m:oMath>
                  </m:oMathPara>
                </a14:m>
                <a:endParaRPr lang="es-AR" sz="1600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889" y="4797834"/>
                <a:ext cx="2974461" cy="1080165"/>
              </a:xfrm>
              <a:prstGeom prst="rect">
                <a:avLst/>
              </a:prstGeom>
              <a:blipFill>
                <a:blip r:embed="rId5"/>
                <a:stretch>
                  <a:fillRect l="-205" t="-2825" r="-47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F18E9730-C6E5-4912-91CE-8613576ABF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850" y="4937665"/>
            <a:ext cx="588264" cy="272796"/>
          </a:xfrm>
          <a:prstGeom prst="rect">
            <a:avLst/>
          </a:prstGeom>
        </p:spPr>
      </p:pic>
      <p:pic>
        <p:nvPicPr>
          <p:cNvPr id="27" name="Imagen 26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93F88625-DE64-4F51-B39D-4EBC3DBFC3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918" y="4937665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1949" y="4797834"/>
                <a:ext cx="2225447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Variables a conocer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49" y="4797834"/>
                <a:ext cx="2225447" cy="825255"/>
              </a:xfrm>
              <a:prstGeom prst="rect">
                <a:avLst/>
              </a:prstGeom>
              <a:blipFill>
                <a:blip r:embed="rId7"/>
                <a:stretch>
                  <a:fillRect t="-3704" r="-10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Marcador de contenido 2">
                <a:extLst>
                  <a:ext uri="{FF2B5EF4-FFF2-40B4-BE49-F238E27FC236}">
                    <a16:creationId xmlns:a16="http://schemas.microsoft.com/office/drawing/2014/main" id="{34A3CFFF-FFDC-4B10-B6AF-7943063317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5832629"/>
                <a:ext cx="2974461" cy="7904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AR" sz="2400" b="1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s-AR" sz="2400" b="1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7" name="Marcador de contenido 2">
                <a:extLst>
                  <a:ext uri="{FF2B5EF4-FFF2-40B4-BE49-F238E27FC236}">
                    <a16:creationId xmlns:a16="http://schemas.microsoft.com/office/drawing/2014/main" id="{34A3CFFF-FFDC-4B10-B6AF-794306331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832629"/>
                <a:ext cx="2974461" cy="7904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7C2F2E37-84AC-44C8-AEF3-2A1271D15CC0}"/>
              </a:ext>
            </a:extLst>
          </p:cNvPr>
          <p:cNvSpPr txBox="1">
            <a:spLocks/>
          </p:cNvSpPr>
          <p:nvPr/>
        </p:nvSpPr>
        <p:spPr>
          <a:xfrm>
            <a:off x="2223205" y="6032747"/>
            <a:ext cx="2891425" cy="394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Obtención de las ecuaciones algebraicas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43" name="Imagen 42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843FF76F-B972-4A83-A0E1-D50CB18AF6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967" y="6154639"/>
            <a:ext cx="588264" cy="272796"/>
          </a:xfrm>
          <a:prstGeom prst="rect">
            <a:avLst/>
          </a:prstGeom>
        </p:spPr>
      </p:pic>
      <p:pic>
        <p:nvPicPr>
          <p:cNvPr id="20" name="Imagen 19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001CDF70-6A18-48D8-BA57-DDE9D6BF14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16" y="2250878"/>
            <a:ext cx="3791551" cy="241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3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Para la resolución del planteo anterior, se introducirá la identidad de Euler en la siguiente ecuación.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/>
              <p:nvPr/>
            </p:nvSpPr>
            <p:spPr>
              <a:xfrm>
                <a:off x="2068942" y="2006123"/>
                <a:ext cx="3837533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942" y="2006123"/>
                <a:ext cx="3837533" cy="381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D1AA251F-4798-475C-B418-332A2026C02E}"/>
              </a:ext>
            </a:extLst>
          </p:cNvPr>
          <p:cNvSpPr txBox="1">
            <a:spLocks/>
          </p:cNvSpPr>
          <p:nvPr/>
        </p:nvSpPr>
        <p:spPr>
          <a:xfrm>
            <a:off x="2683905" y="3705577"/>
            <a:ext cx="2225447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PARTE REAL (X)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C7CFED6-294E-4CBD-9EEF-023D8795D045}"/>
                  </a:ext>
                </a:extLst>
              </p:cNvPr>
              <p:cNvSpPr txBox="1"/>
              <p:nvPr/>
            </p:nvSpPr>
            <p:spPr>
              <a:xfrm>
                <a:off x="-106532" y="2641287"/>
                <a:ext cx="114344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C7CFED6-294E-4CBD-9EEF-023D8795D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532" y="2641287"/>
                <a:ext cx="11434439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62E29CF-958A-4D8F-95E5-988FB1CE31D4}"/>
              </a:ext>
            </a:extLst>
          </p:cNvPr>
          <p:cNvSpPr txBox="1">
            <a:spLocks/>
          </p:cNvSpPr>
          <p:nvPr/>
        </p:nvSpPr>
        <p:spPr>
          <a:xfrm>
            <a:off x="326736" y="2308978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Entonces queda: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3D08D6C7-4B3C-40D5-A485-813305D6A232}"/>
                  </a:ext>
                </a:extLst>
              </p:cNvPr>
              <p:cNvSpPr txBox="1"/>
              <p:nvPr/>
            </p:nvSpPr>
            <p:spPr>
              <a:xfrm>
                <a:off x="6096000" y="2006123"/>
                <a:ext cx="2301536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3D08D6C7-4B3C-40D5-A485-813305D6A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06123"/>
                <a:ext cx="2301536" cy="381451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A5CE3DC-960B-4BB4-BC2F-1BAFC0EE282A}"/>
                  </a:ext>
                </a:extLst>
              </p:cNvPr>
              <p:cNvSpPr txBox="1"/>
              <p:nvPr/>
            </p:nvSpPr>
            <p:spPr>
              <a:xfrm>
                <a:off x="4287916" y="3647353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A5CE3DC-960B-4BB4-BC2F-1BAFC0EE2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916" y="3647353"/>
                <a:ext cx="39594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arcador de contenido 2">
                <a:extLst>
                  <a:ext uri="{FF2B5EF4-FFF2-40B4-BE49-F238E27FC236}">
                    <a16:creationId xmlns:a16="http://schemas.microsoft.com/office/drawing/2014/main" id="{C16B0D0C-99C6-467E-A214-1B64E04016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6736" y="3084217"/>
                <a:ext cx="10805862" cy="3837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Separamos parte real y parte imaginaria.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entonces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si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y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entonces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func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si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func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 </a:t>
                </a:r>
              </a:p>
            </p:txBody>
          </p:sp>
        </mc:Choice>
        <mc:Fallback xmlns="">
          <p:sp>
            <p:nvSpPr>
              <p:cNvPr id="17" name="Marcador de contenido 2">
                <a:extLst>
                  <a:ext uri="{FF2B5EF4-FFF2-40B4-BE49-F238E27FC236}">
                    <a16:creationId xmlns:a16="http://schemas.microsoft.com/office/drawing/2014/main" id="{C16B0D0C-99C6-467E-A214-1B64E0401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6" y="3084217"/>
                <a:ext cx="10805862" cy="383764"/>
              </a:xfrm>
              <a:prstGeom prst="rect">
                <a:avLst/>
              </a:prstGeom>
              <a:blipFill>
                <a:blip r:embed="rId6"/>
                <a:stretch>
                  <a:fillRect l="-56" t="-7937" r="-282" b="-6507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C29A2F6-2EFE-439E-863B-8D71A50C4E24}"/>
                  </a:ext>
                </a:extLst>
              </p:cNvPr>
              <p:cNvSpPr txBox="1"/>
              <p:nvPr/>
            </p:nvSpPr>
            <p:spPr>
              <a:xfrm>
                <a:off x="4332303" y="4099812"/>
                <a:ext cx="3764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C29A2F6-2EFE-439E-863B-8D71A50C4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303" y="4099812"/>
                <a:ext cx="3764130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388E7B40-86C0-4E15-85E1-E2B07280540C}"/>
              </a:ext>
            </a:extLst>
          </p:cNvPr>
          <p:cNvSpPr txBox="1">
            <a:spLocks/>
          </p:cNvSpPr>
          <p:nvPr/>
        </p:nvSpPr>
        <p:spPr>
          <a:xfrm>
            <a:off x="2334829" y="4142314"/>
            <a:ext cx="231707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PARTE IMAGINARIA (Y)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04B41C86-9D15-41C8-A6EE-5AF26648375D}"/>
              </a:ext>
            </a:extLst>
          </p:cNvPr>
          <p:cNvSpPr txBox="1">
            <a:spLocks/>
          </p:cNvSpPr>
          <p:nvPr/>
        </p:nvSpPr>
        <p:spPr>
          <a:xfrm>
            <a:off x="326736" y="4543539"/>
            <a:ext cx="9776051" cy="401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Para resolver, se despeja una variable en cada ecuación, y se resuelve el sistema de ecuaciones.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1A04138-6297-480B-91C8-4FA7753691A9}"/>
                  </a:ext>
                </a:extLst>
              </p:cNvPr>
              <p:cNvSpPr txBox="1"/>
              <p:nvPr/>
            </p:nvSpPr>
            <p:spPr>
              <a:xfrm>
                <a:off x="-106532" y="4944937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1A04138-6297-480B-91C8-4FA775369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6532" y="4944937"/>
                <a:ext cx="39594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23AD1AB-EA82-4A4D-B10F-C6135408B2B0}"/>
                  </a:ext>
                </a:extLst>
              </p:cNvPr>
              <p:cNvSpPr txBox="1"/>
              <p:nvPr/>
            </p:nvSpPr>
            <p:spPr>
              <a:xfrm>
                <a:off x="-62145" y="5397396"/>
                <a:ext cx="3764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23AD1AB-EA82-4A4D-B10F-C6135408B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145" y="5397396"/>
                <a:ext cx="37641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E79BE7FA-F5DC-40EB-979C-E738D05D19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444" y="5045199"/>
            <a:ext cx="588264" cy="272796"/>
          </a:xfrm>
          <a:prstGeom prst="rect">
            <a:avLst/>
          </a:prstGeom>
        </p:spPr>
      </p:pic>
      <p:pic>
        <p:nvPicPr>
          <p:cNvPr id="12" name="Imagen 11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B723D6C5-13F4-4165-8AC9-CE447C196FF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444" y="5493932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1F01120-A040-4451-920B-BB11E884C01D}"/>
                  </a:ext>
                </a:extLst>
              </p:cNvPr>
              <p:cNvSpPr txBox="1"/>
              <p:nvPr/>
            </p:nvSpPr>
            <p:spPr>
              <a:xfrm>
                <a:off x="3555345" y="4944937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1F01120-A040-4451-920B-BB11E884C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345" y="4944937"/>
                <a:ext cx="39594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71E8B6C-CFA3-4D78-B672-383021B6F689}"/>
                  </a:ext>
                </a:extLst>
              </p:cNvPr>
              <p:cNvSpPr txBox="1"/>
              <p:nvPr/>
            </p:nvSpPr>
            <p:spPr>
              <a:xfrm>
                <a:off x="3599732" y="5397396"/>
                <a:ext cx="3764130" cy="615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571E8B6C-CFA3-4D78-B672-383021B6F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732" y="5397396"/>
                <a:ext cx="3764130" cy="6150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43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15B19652-9B4C-49A9-9372-2A8FC4A19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01" y="725237"/>
            <a:ext cx="6463498" cy="469898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2"/>
            <a:ext cx="3977633" cy="3330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Determinación de la ecuación de lazo vectorial para un eslabonamiento de 4 barras Manivela Biela Corredera Invertida con corrimiento. 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Longitud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de los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eslabones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(SINTESIS).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de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</a:t>
            </a:r>
            <a:r>
              <a:rPr lang="es-AR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ó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n de entrada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(variable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fijada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por el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diseñador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).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desconocidos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3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,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4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y b.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B926440-36D0-4E29-8DFE-94CB49F5294E}"/>
              </a:ext>
            </a:extLst>
          </p:cNvPr>
          <p:cNvSpPr txBox="1">
            <a:spLocks/>
          </p:cNvSpPr>
          <p:nvPr/>
        </p:nvSpPr>
        <p:spPr>
          <a:xfrm>
            <a:off x="326737" y="4974455"/>
            <a:ext cx="10796534" cy="1235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Simplificaciones en el análisis: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Por convención, los </a:t>
            </a: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ángulos directores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 los vectores se miden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a partir del eje positivo de las abscisas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Por elección,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hace coincidir el origen del sistema de referencia con uno de los pivotes fijos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(ejemplo O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),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el eje de las abscisas en la dirección del bastidor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y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R</a:t>
            </a:r>
            <a:r>
              <a:rPr lang="es-AR" sz="1600" b="1" baseline="-25000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4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 definiendo el corrimiento de la corredera.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s-AR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8948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4D9C4992-A684-42AA-B0F4-C06574FB53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" y="2214915"/>
            <a:ext cx="3676733" cy="267299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3"/>
            <a:ext cx="977605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La ecuación de lazo vectorial cerrado, o polígono de vectores, según los sentidos considerados, queda de la siguiente manera: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/>
              <p:nvPr/>
            </p:nvSpPr>
            <p:spPr>
              <a:xfrm>
                <a:off x="6468260" y="2416480"/>
                <a:ext cx="23189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260" y="2416480"/>
                <a:ext cx="2318905" cy="276999"/>
              </a:xfrm>
              <a:prstGeom prst="rect">
                <a:avLst/>
              </a:prstGeom>
              <a:blipFill>
                <a:blip r:embed="rId3"/>
                <a:stretch>
                  <a:fillRect l="-1579" r="-1842" b="-173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8D4AF44-7573-47A5-9EA0-F56EBAA4ED75}"/>
              </a:ext>
            </a:extLst>
          </p:cNvPr>
          <p:cNvSpPr txBox="1">
            <a:spLocks/>
          </p:cNvSpPr>
          <p:nvPr/>
        </p:nvSpPr>
        <p:spPr>
          <a:xfrm>
            <a:off x="4190261" y="3143062"/>
            <a:ext cx="6874904" cy="825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Se introduce la notación de numero complejo para cada vector, indicando el valor de cada modulo con las letras a, b, c y d a modo de simplificación de subíndices. 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/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7176" y="4797835"/>
                <a:ext cx="3783083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Cantidad de variables en la ecuación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6" y="4797835"/>
                <a:ext cx="3783083" cy="825255"/>
              </a:xfrm>
              <a:prstGeom prst="rect">
                <a:avLst/>
              </a:prstGeom>
              <a:blipFill>
                <a:blip r:embed="rId5"/>
                <a:stretch>
                  <a:fillRect t="-3704" r="-1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7889" y="4797834"/>
                <a:ext cx="2974461" cy="1080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𝑖𝑛𝑑𝑒𝑝𝑒𝑛𝑑𝑖𝑒𝑛𝑡𝑒</m:t>
                      </m:r>
                    </m:oMath>
                  </m:oMathPara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𝐿𝑜𝑛𝑔𝑖𝑡𝑢𝑑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𝑒𝑠𝑙𝑎𝑏𝑜𝑛𝑒𝑠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𝑐𝑜𝑛𝑜𝑐𝑖𝑑𝑎</m:t>
                      </m:r>
                    </m:oMath>
                  </m:oMathPara>
                </a14:m>
                <a:endParaRPr lang="es-AR" sz="1600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889" y="4797834"/>
                <a:ext cx="2974461" cy="1080165"/>
              </a:xfrm>
              <a:prstGeom prst="rect">
                <a:avLst/>
              </a:prstGeom>
              <a:blipFill>
                <a:blip r:embed="rId6"/>
                <a:stretch>
                  <a:fillRect l="-205" r="-47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F18E9730-C6E5-4912-91CE-8613576ABF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118" y="4937665"/>
            <a:ext cx="588264" cy="272796"/>
          </a:xfrm>
          <a:prstGeom prst="rect">
            <a:avLst/>
          </a:prstGeom>
        </p:spPr>
      </p:pic>
      <p:pic>
        <p:nvPicPr>
          <p:cNvPr id="27" name="Imagen 26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93F88625-DE64-4F51-B39D-4EBC3DBFC3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918" y="4937665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1949" y="4797834"/>
                <a:ext cx="2225447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Variables a conocer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</m:oMath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49" y="4797834"/>
                <a:ext cx="2225447" cy="825255"/>
              </a:xfrm>
              <a:prstGeom prst="rect">
                <a:avLst/>
              </a:prstGeom>
              <a:blipFill>
                <a:blip r:embed="rId8"/>
                <a:stretch>
                  <a:fillRect t="-3704" r="-10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5C94858-1D93-4298-A208-B215B817EF2A}"/>
              </a:ext>
            </a:extLst>
          </p:cNvPr>
          <p:cNvSpPr txBox="1">
            <a:spLocks/>
          </p:cNvSpPr>
          <p:nvPr/>
        </p:nvSpPr>
        <p:spPr>
          <a:xfrm>
            <a:off x="1625944" y="5802686"/>
            <a:ext cx="2225447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PARTE REAL (X)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76CD2F3-A2C1-49B7-A646-C9B1F91921F1}"/>
                  </a:ext>
                </a:extLst>
              </p:cNvPr>
              <p:cNvSpPr txBox="1"/>
              <p:nvPr/>
            </p:nvSpPr>
            <p:spPr>
              <a:xfrm>
                <a:off x="3458552" y="5744462"/>
                <a:ext cx="39594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76CD2F3-A2C1-49B7-A646-C9B1F9192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552" y="5744462"/>
                <a:ext cx="39594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AD677E3-4A29-41C2-AFE5-BB12A272F340}"/>
                  </a:ext>
                </a:extLst>
              </p:cNvPr>
              <p:cNvSpPr txBox="1"/>
              <p:nvPr/>
            </p:nvSpPr>
            <p:spPr>
              <a:xfrm>
                <a:off x="3309512" y="6196921"/>
                <a:ext cx="3764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AD677E3-4A29-41C2-AFE5-BB12A272F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512" y="6196921"/>
                <a:ext cx="3764130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A84B67C7-BB38-4EBB-96FB-1579C5D54045}"/>
              </a:ext>
            </a:extLst>
          </p:cNvPr>
          <p:cNvSpPr txBox="1">
            <a:spLocks/>
          </p:cNvSpPr>
          <p:nvPr/>
        </p:nvSpPr>
        <p:spPr>
          <a:xfrm>
            <a:off x="1276868" y="6239423"/>
            <a:ext cx="231707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PARTE IMAGINARIA (Y)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B16DF7E-F6AD-4E48-A530-ACF652D9A8DA}"/>
                  </a:ext>
                </a:extLst>
              </p:cNvPr>
              <p:cNvSpPr txBox="1"/>
              <p:nvPr/>
            </p:nvSpPr>
            <p:spPr>
              <a:xfrm>
                <a:off x="8224099" y="6027984"/>
                <a:ext cx="1436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B16DF7E-F6AD-4E48-A530-ACF652D9A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099" y="6027984"/>
                <a:ext cx="1436744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395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55EA10DC-1ADB-4180-9EAE-03299B630E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068" y="1036081"/>
            <a:ext cx="5346203" cy="558699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26737" y="1676402"/>
            <a:ext cx="5461504" cy="3330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Determinación de la ecuación de lazo vectorial para un eslabonamiento de 5 barras con engranajes. 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Longitud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de los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eslabones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(SINTESIS).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de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eslab</a:t>
            </a:r>
            <a:r>
              <a:rPr lang="es-AR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ó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n de entrada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 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(variable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fijada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 por el </a:t>
            </a:r>
            <a:r>
              <a:rPr lang="en-US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diseñador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).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Parámetros desconocidos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:</a:t>
            </a:r>
          </a:p>
          <a:p>
            <a:pPr lvl="2"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Angulo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3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,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4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, </a:t>
            </a:r>
            <a:r>
              <a:rPr lang="el-GR" sz="1600" dirty="0">
                <a:latin typeface="Bahnschrift" panose="020B0502040204020203" pitchFamily="34" charset="0"/>
                <a:sym typeface="Wingdings" panose="05000000000000000000" pitchFamily="2" charset="2"/>
              </a:rPr>
              <a:t>θ</a:t>
            </a:r>
            <a:r>
              <a:rPr lang="en-US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5</a:t>
            </a: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EB926440-36D0-4E29-8DFE-94CB49F5294E}"/>
              </a:ext>
            </a:extLst>
          </p:cNvPr>
          <p:cNvSpPr txBox="1">
            <a:spLocks/>
          </p:cNvSpPr>
          <p:nvPr/>
        </p:nvSpPr>
        <p:spPr>
          <a:xfrm>
            <a:off x="326737" y="4505734"/>
            <a:ext cx="5461504" cy="2180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Simplificaciones en el análisis: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Por convención, los </a:t>
            </a:r>
            <a:r>
              <a:rPr lang="es-AR" sz="1600" b="1" dirty="0">
                <a:latin typeface="Bahnschrift" panose="020B0502040204020203" pitchFamily="34" charset="0"/>
                <a:sym typeface="Wingdings" panose="05000000000000000000" pitchFamily="2" charset="2"/>
              </a:rPr>
              <a:t>ángulos directores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de los vectores se miden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a partir del eje positivo de las abscisas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Por elección,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hace coincidir el origen del sistema de referencia con uno de los pivotes fijos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(ejemplo O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2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), </a:t>
            </a:r>
            <a:r>
              <a:rPr lang="es-AR" sz="1600" b="1" dirty="0">
                <a:solidFill>
                  <a:srgbClr val="FF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el eje de las abscisas en la dirección del bastidor.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es-AR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9169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F2C7462A-77B7-4F62-9156-3A7ADD14FB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28" y="1435531"/>
            <a:ext cx="3106956" cy="324689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8CC2CB94-EA90-4607-AC78-6870CBB79B0D}"/>
              </a:ext>
            </a:extLst>
          </p:cNvPr>
          <p:cNvSpPr txBox="1">
            <a:spLocks/>
          </p:cNvSpPr>
          <p:nvPr/>
        </p:nvSpPr>
        <p:spPr>
          <a:xfrm>
            <a:off x="3985057" y="1676403"/>
            <a:ext cx="6117731" cy="383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La ecuación de lazo vectorial cerrado, o polígono de vectores, según los sentidos considerados, queda de la siguiente manera:</a:t>
            </a:r>
          </a:p>
          <a:p>
            <a:pPr marL="548640" lvl="2" indent="0" algn="just">
              <a:buNone/>
            </a:pP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/>
              <p:nvPr/>
            </p:nvSpPr>
            <p:spPr>
              <a:xfrm>
                <a:off x="6468260" y="2416480"/>
                <a:ext cx="28454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4E28A7A-3FDB-4841-9568-B9AA35705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260" y="2416480"/>
                <a:ext cx="2845459" cy="276999"/>
              </a:xfrm>
              <a:prstGeom prst="rect">
                <a:avLst/>
              </a:prstGeom>
              <a:blipFill>
                <a:blip r:embed="rId3"/>
                <a:stretch>
                  <a:fillRect l="-1285" r="-1285" b="-173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8D4AF44-7573-47A5-9EA0-F56EBAA4ED75}"/>
              </a:ext>
            </a:extLst>
          </p:cNvPr>
          <p:cNvSpPr txBox="1">
            <a:spLocks/>
          </p:cNvSpPr>
          <p:nvPr/>
        </p:nvSpPr>
        <p:spPr>
          <a:xfrm>
            <a:off x="4190261" y="3143062"/>
            <a:ext cx="6874904" cy="825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Se introduce la notación de numero complejo para cada vector, indicando el valor de cada modulo con las letras a, b, c, d y f a modo de simplificación de subíndices. 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/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2EC68154-8C2B-4C6E-B198-07D64ABD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49" y="4159752"/>
                <a:ext cx="6209930" cy="381451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7176" y="4682425"/>
                <a:ext cx="3783083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Cantidad de variables en la ecuación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2" name="Marcador de contenido 2">
                <a:extLst>
                  <a:ext uri="{FF2B5EF4-FFF2-40B4-BE49-F238E27FC236}">
                    <a16:creationId xmlns:a16="http://schemas.microsoft.com/office/drawing/2014/main" id="{C482073E-0171-4ABA-A8B9-96DCA083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76" y="4682425"/>
                <a:ext cx="3783083" cy="825255"/>
              </a:xfrm>
              <a:prstGeom prst="rect">
                <a:avLst/>
              </a:prstGeom>
              <a:blipFill>
                <a:blip r:embed="rId5"/>
                <a:stretch>
                  <a:fillRect t="-3704" r="-1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7889" y="4611400"/>
                <a:ext cx="2974461" cy="10801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𝑖𝑛𝑑𝑒𝑝𝑒𝑛𝑑𝑖𝑒𝑛𝑡𝑒</m:t>
                      </m:r>
                    </m:oMath>
                  </m:oMathPara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𝐿𝑜𝑛𝑔𝑖𝑡𝑢𝑑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𝑒𝑠𝑙𝑎𝑏𝑜𝑛𝑒𝑠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𝑐𝑜𝑛𝑜𝑐𝑖𝑑𝑎</m:t>
                      </m:r>
                    </m:oMath>
                  </m:oMathPara>
                </a14:m>
                <a:endParaRPr lang="es-AR" sz="1600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3" name="Marcador de contenido 2">
                <a:extLst>
                  <a:ext uri="{FF2B5EF4-FFF2-40B4-BE49-F238E27FC236}">
                    <a16:creationId xmlns:a16="http://schemas.microsoft.com/office/drawing/2014/main" id="{4C35E333-62E9-455A-B818-F84ED3A86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889" y="4611400"/>
                <a:ext cx="2974461" cy="1080165"/>
              </a:xfrm>
              <a:prstGeom prst="rect">
                <a:avLst/>
              </a:prstGeom>
              <a:blipFill>
                <a:blip r:embed="rId6"/>
                <a:stretch>
                  <a:fillRect l="-205" r="-471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F18E9730-C6E5-4912-91CE-8613576ABF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850" y="4822255"/>
            <a:ext cx="588264" cy="272796"/>
          </a:xfrm>
          <a:prstGeom prst="rect">
            <a:avLst/>
          </a:prstGeom>
        </p:spPr>
      </p:pic>
      <p:pic>
        <p:nvPicPr>
          <p:cNvPr id="27" name="Imagen 26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93F88625-DE64-4F51-B39D-4EBC3DBFC3E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918" y="4822255"/>
            <a:ext cx="588264" cy="2727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1949" y="4682424"/>
                <a:ext cx="2225447" cy="8252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s-AR" sz="1600" dirty="0">
                    <a:highlight>
                      <a:srgbClr val="FFC000"/>
                    </a:highlight>
                    <a:latin typeface="Bahnschrift" panose="020B0502040204020203" pitchFamily="34" charset="0"/>
                    <a:sym typeface="Wingdings" panose="05000000000000000000" pitchFamily="2" charset="2"/>
                  </a:rPr>
                  <a:t> Variables a conocer </a:t>
                </a: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s-AR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9" name="Marcador de contenido 2">
                <a:extLst>
                  <a:ext uri="{FF2B5EF4-FFF2-40B4-BE49-F238E27FC236}">
                    <a16:creationId xmlns:a16="http://schemas.microsoft.com/office/drawing/2014/main" id="{D1AA251F-4798-475C-B418-332A2026C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949" y="4682424"/>
                <a:ext cx="2225447" cy="825255"/>
              </a:xfrm>
              <a:prstGeom prst="rect">
                <a:avLst/>
              </a:prstGeom>
              <a:blipFill>
                <a:blip r:embed="rId8"/>
                <a:stretch>
                  <a:fillRect t="-3704" r="-10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5C94858-1D93-4298-A208-B215B817EF2A}"/>
              </a:ext>
            </a:extLst>
          </p:cNvPr>
          <p:cNvSpPr txBox="1">
            <a:spLocks/>
          </p:cNvSpPr>
          <p:nvPr/>
        </p:nvSpPr>
        <p:spPr>
          <a:xfrm>
            <a:off x="710820" y="6024636"/>
            <a:ext cx="3273742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RELACIÓN DE ENGRANE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B16DF7E-F6AD-4E48-A530-ACF652D9A8DA}"/>
                  </a:ext>
                </a:extLst>
              </p:cNvPr>
              <p:cNvSpPr txBox="1"/>
              <p:nvPr/>
            </p:nvSpPr>
            <p:spPr>
              <a:xfrm>
                <a:off x="3210332" y="5996539"/>
                <a:ext cx="76515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𝑟𝑒𝑙𝑎𝑐𝑖𝑜𝑛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𝑡𝑟𝑎𝑛𝑠𝑚𝑖𝑠𝑖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ó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𝑛𝑔𝑢𝑙𝑜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𝑓𝑎𝑠𝑒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B16DF7E-F6AD-4E48-A530-ACF652D9A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332" y="5996539"/>
                <a:ext cx="7651539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arcador de contenido 2">
                <a:extLst>
                  <a:ext uri="{FF2B5EF4-FFF2-40B4-BE49-F238E27FC236}">
                    <a16:creationId xmlns:a16="http://schemas.microsoft.com/office/drawing/2014/main" id="{E43BBEBD-D552-4C47-A8C4-22E4F6F211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6738" y="5444033"/>
                <a:ext cx="10738427" cy="4207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Como los eslabones 2 y 5 se encuentran relacionados a través de un par de engranajes, los ángulos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s-A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serán dependientes uno del otro. </a:t>
                </a:r>
              </a:p>
            </p:txBody>
          </p:sp>
        </mc:Choice>
        <mc:Fallback xmlns="">
          <p:sp>
            <p:nvSpPr>
              <p:cNvPr id="17" name="Marcador de contenido 2">
                <a:extLst>
                  <a:ext uri="{FF2B5EF4-FFF2-40B4-BE49-F238E27FC236}">
                    <a16:creationId xmlns:a16="http://schemas.microsoft.com/office/drawing/2014/main" id="{E43BBEBD-D552-4C47-A8C4-22E4F6F21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8" y="5444033"/>
                <a:ext cx="10738427" cy="420798"/>
              </a:xfrm>
              <a:prstGeom prst="rect">
                <a:avLst/>
              </a:prstGeom>
              <a:blipFill>
                <a:blip r:embed="rId10"/>
                <a:stretch>
                  <a:fillRect l="-57" t="-7246" b="-5072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9BA610E-19F6-4C82-B2DF-07EE13F42DAC}"/>
                  </a:ext>
                </a:extLst>
              </p:cNvPr>
              <p:cNvSpPr txBox="1"/>
              <p:nvPr/>
            </p:nvSpPr>
            <p:spPr>
              <a:xfrm>
                <a:off x="2786296" y="6381233"/>
                <a:ext cx="6209930" cy="38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9BA610E-19F6-4C82-B2DF-07EE13F42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296" y="6381233"/>
                <a:ext cx="6209930" cy="381451"/>
              </a:xfrm>
              <a:prstGeom prst="rect">
                <a:avLst/>
              </a:prstGeom>
              <a:blipFill>
                <a:blip r:embed="rId11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29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2A7746-7532-4455-806C-A964E357E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859" y="3583709"/>
            <a:ext cx="7333328" cy="3274291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A4CB4A9-E16F-4EE9-B6CE-07BE2338DED4}"/>
              </a:ext>
            </a:extLst>
          </p:cNvPr>
          <p:cNvSpPr txBox="1">
            <a:spLocks/>
          </p:cNvSpPr>
          <p:nvPr/>
        </p:nvSpPr>
        <p:spPr>
          <a:xfrm>
            <a:off x="326737" y="1676403"/>
            <a:ext cx="10619430" cy="640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Este análisis de lazo cerrado es método completamente GENERAL, es decir, puede ser aplicado a cualquier tipo de mecanismo. A mayor complejidad del mismo, se generara un mayor numero de lazos cerrados, que se resuelven en forma simultanea.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C4B8FA4A-2502-4563-B2DA-465DBDBD2721}"/>
              </a:ext>
            </a:extLst>
          </p:cNvPr>
          <p:cNvSpPr txBox="1">
            <a:spLocks/>
          </p:cNvSpPr>
          <p:nvPr/>
        </p:nvSpPr>
        <p:spPr>
          <a:xfrm>
            <a:off x="116310" y="2716810"/>
            <a:ext cx="3859995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MECANISMO DE 6 BARRAS DE WATTS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8074801-9ED3-4663-B77E-8A50C0E95345}"/>
              </a:ext>
            </a:extLst>
          </p:cNvPr>
          <p:cNvSpPr txBox="1">
            <a:spLocks/>
          </p:cNvSpPr>
          <p:nvPr/>
        </p:nvSpPr>
        <p:spPr>
          <a:xfrm>
            <a:off x="397553" y="3027695"/>
            <a:ext cx="10619430" cy="11197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Consiste en dos cadenas de 4 barras en serie, por lo que se trazaran 2 lazos vectoriales para su resolución.</a:t>
            </a:r>
          </a:p>
          <a:p>
            <a:pPr marL="0" indent="0" algn="just">
              <a:buNone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El resultado del primer polígono servirá para la resolución del segundo lazo.</a:t>
            </a:r>
          </a:p>
        </p:txBody>
      </p:sp>
    </p:spTree>
    <p:extLst>
      <p:ext uri="{BB962C8B-B14F-4D97-AF65-F5344CB8AC3E}">
        <p14:creationId xmlns:p14="http://schemas.microsoft.com/office/powerpoint/2010/main" val="777745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CCF1013-417B-434E-BBAB-F5A11F9B24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93"/>
          <a:stretch/>
        </p:blipFill>
        <p:spPr>
          <a:xfrm>
            <a:off x="5892800" y="3198325"/>
            <a:ext cx="5393052" cy="36596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2">
                <a:extLst>
                  <a:ext uri="{FF2B5EF4-FFF2-40B4-BE49-F238E27FC236}">
                    <a16:creationId xmlns:a16="http://schemas.microsoft.com/office/drawing/2014/main" id="{AA4CB4A9-E16F-4EE9-B6CE-07BE2338DE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6737" y="1676402"/>
                <a:ext cx="10619430" cy="10656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Habiendo encontrado las incógnitas de las ecuaciones, es simple definir y calcular la posición de cualquier punto en cualquier eslabón para cualquier posición de entrada del mecanismo.</a:t>
                </a:r>
              </a:p>
              <a:p>
                <a:pPr algn="just">
                  <a:buFont typeface="Wingdings" panose="05000000000000000000" pitchFamily="2" charset="2"/>
                  <a:buChar char="à"/>
                </a:pPr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Se definen los puntos S, P y U, puntos cualesquiera dentro de los eslabones (quienes podrían representar los centros de gravedad de cada eslabón al que pertenecen.</a:t>
                </a:r>
              </a:p>
              <a:p>
                <a:pPr algn="just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AR" sz="1600" dirty="0">
                    <a:latin typeface="Bahnschrift" panose="020B0502040204020203" pitchFamily="34" charset="0"/>
                    <a:sym typeface="Wingdings" panose="05000000000000000000" pitchFamily="2" charset="2"/>
                  </a:rPr>
                  <a:t> ángulos que definen la posición de los puntos dentro del eslabón.</a:t>
                </a:r>
              </a:p>
              <a:p>
                <a:pPr algn="just">
                  <a:buFont typeface="Wingdings" panose="05000000000000000000" pitchFamily="2" charset="2"/>
                  <a:buChar char="à"/>
                </a:pPr>
                <a:endParaRPr lang="en-US" sz="1600" dirty="0">
                  <a:latin typeface="Bahnschrift" panose="020B0502040204020203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Marcador de contenido 2">
                <a:extLst>
                  <a:ext uri="{FF2B5EF4-FFF2-40B4-BE49-F238E27FC236}">
                    <a16:creationId xmlns:a16="http://schemas.microsoft.com/office/drawing/2014/main" id="{AA4CB4A9-E16F-4EE9-B6CE-07BE2338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7" y="1676402"/>
                <a:ext cx="10619430" cy="1065623"/>
              </a:xfrm>
              <a:prstGeom prst="rect">
                <a:avLst/>
              </a:prstGeom>
              <a:blipFill>
                <a:blip r:embed="rId3"/>
                <a:stretch>
                  <a:fillRect l="-57" t="-2857" r="-287" b="-6228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2AFA8AE-BD3A-4AC8-8D75-5CDC82ED595D}"/>
                  </a:ext>
                </a:extLst>
              </p:cNvPr>
              <p:cNvSpPr txBox="1"/>
              <p:nvPr/>
            </p:nvSpPr>
            <p:spPr>
              <a:xfrm>
                <a:off x="326737" y="3790812"/>
                <a:ext cx="5748945" cy="3257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2AFA8AE-BD3A-4AC8-8D75-5CDC82ED5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37" y="3790812"/>
                <a:ext cx="5748945" cy="325730"/>
              </a:xfrm>
              <a:prstGeom prst="rect">
                <a:avLst/>
              </a:prstGeom>
              <a:blipFill>
                <a:blip r:embed="rId4"/>
                <a:stretch>
                  <a:fillRect l="-424" t="-1887" r="-954" b="-264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0548454-763E-47B7-B6CC-90AB1CF8DE59}"/>
                  </a:ext>
                </a:extLst>
              </p:cNvPr>
              <p:cNvSpPr txBox="1"/>
              <p:nvPr/>
            </p:nvSpPr>
            <p:spPr>
              <a:xfrm>
                <a:off x="272638" y="4246546"/>
                <a:ext cx="5941114" cy="3257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0548454-763E-47B7-B6CC-90AB1CF8D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38" y="4246546"/>
                <a:ext cx="5941114" cy="325730"/>
              </a:xfrm>
              <a:prstGeom prst="rect">
                <a:avLst/>
              </a:prstGeom>
              <a:blipFill>
                <a:blip r:embed="rId5"/>
                <a:stretch>
                  <a:fillRect t="-1887" r="-308" b="-264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4C09521-BDF9-4D74-9F06-E4543699D71A}"/>
                  </a:ext>
                </a:extLst>
              </p:cNvPr>
              <p:cNvSpPr txBox="1"/>
              <p:nvPr/>
            </p:nvSpPr>
            <p:spPr>
              <a:xfrm>
                <a:off x="272638" y="5413632"/>
                <a:ext cx="5229380" cy="2959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4C09521-BDF9-4D74-9F06-E4543699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38" y="5413632"/>
                <a:ext cx="5229380" cy="295915"/>
              </a:xfrm>
              <a:prstGeom prst="rect">
                <a:avLst/>
              </a:prstGeom>
              <a:blipFill>
                <a:blip r:embed="rId6"/>
                <a:stretch>
                  <a:fillRect l="-117" t="-2041" r="-583" b="-387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387F12C-EE9A-4CE5-9605-201A469F8CA7}"/>
                  </a:ext>
                </a:extLst>
              </p:cNvPr>
              <p:cNvSpPr txBox="1"/>
              <p:nvPr/>
            </p:nvSpPr>
            <p:spPr>
              <a:xfrm>
                <a:off x="657515" y="5839703"/>
                <a:ext cx="15385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387F12C-EE9A-4CE5-9605-201A469F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5" y="5839703"/>
                <a:ext cx="1538562" cy="276999"/>
              </a:xfrm>
              <a:prstGeom prst="rect">
                <a:avLst/>
              </a:prstGeom>
              <a:blipFill>
                <a:blip r:embed="rId7"/>
                <a:stretch>
                  <a:fillRect l="-3175" r="-794" b="-177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806C675F-757B-44BB-89D4-B0E7C5FF31AB}"/>
              </a:ext>
            </a:extLst>
          </p:cNvPr>
          <p:cNvSpPr txBox="1">
            <a:spLocks/>
          </p:cNvSpPr>
          <p:nvPr/>
        </p:nvSpPr>
        <p:spPr>
          <a:xfrm>
            <a:off x="326737" y="4811346"/>
            <a:ext cx="5748945" cy="1065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n-US" sz="1600" dirty="0">
                <a:latin typeface="Bahnschrift" panose="020B0502040204020203" pitchFamily="34" charset="0"/>
                <a:sym typeface="Wingdings" panose="05000000000000000000" pitchFamily="2" charset="2"/>
              </a:rPr>
              <a:t>S</a:t>
            </a:r>
            <a:r>
              <a:rPr lang="es-AR" sz="1600" dirty="0" err="1">
                <a:latin typeface="Bahnschrift" panose="020B0502040204020203" pitchFamily="34" charset="0"/>
                <a:sym typeface="Wingdings" panose="05000000000000000000" pitchFamily="2" charset="2"/>
              </a:rPr>
              <a:t>egún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 el teorema de Chasles, la posición del punto P estará dada por dos vectores: R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A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 y R</a:t>
            </a:r>
            <a:r>
              <a:rPr lang="es-AR" sz="1600" baseline="-25000" dirty="0">
                <a:latin typeface="Bahnschrift" panose="020B0502040204020203" pitchFamily="34" charset="0"/>
                <a:sym typeface="Wingdings" panose="05000000000000000000" pitchFamily="2" charset="2"/>
              </a:rPr>
              <a:t>PA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5165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1BE8CD2-F909-4DCD-B851-19A8E233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" y="3489343"/>
            <a:ext cx="5012073" cy="3207728"/>
          </a:xfrm>
          <a:prstGeom prst="rect">
            <a:avLst/>
          </a:prstGeom>
        </p:spPr>
      </p:pic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22D026E-8075-4F78-BC00-0035043DC232}"/>
              </a:ext>
            </a:extLst>
          </p:cNvPr>
          <p:cNvSpPr txBox="1">
            <a:spLocks/>
          </p:cNvSpPr>
          <p:nvPr/>
        </p:nvSpPr>
        <p:spPr>
          <a:xfrm>
            <a:off x="116311" y="1922431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dirty="0">
                <a:latin typeface="Bahnschrift" panose="020B0502040204020203" pitchFamily="34" charset="0"/>
                <a:sym typeface="Wingdings" panose="05000000000000000000" pitchFamily="2" charset="2"/>
              </a:rPr>
              <a:t>μ</a:t>
            </a:r>
            <a:endParaRPr lang="es-AR" sz="40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A4CB4A9-E16F-4EE9-B6CE-07BE2338DED4}"/>
              </a:ext>
            </a:extLst>
          </p:cNvPr>
          <p:cNvSpPr txBox="1">
            <a:spLocks/>
          </p:cNvSpPr>
          <p:nvPr/>
        </p:nvSpPr>
        <p:spPr>
          <a:xfrm>
            <a:off x="3243195" y="1725907"/>
            <a:ext cx="7735786" cy="1065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Ángulo entre el eslabón de salida y el acoplador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 En general se considera como el valor absoluto del ángulo agudo del par de ángulos en la intersección de los dos eslabones y </a:t>
            </a: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varía continuamente de un valor mínimo a uno máximo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conforme el mecanismo recorre su rango de movimiento. Es una </a:t>
            </a:r>
            <a:r>
              <a:rPr lang="es-AR" sz="1600" b="1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MEDIDA DE LA CALIDAD DE TRANSMISIÓN DE LA FUERZA 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en la junta.</a:t>
            </a:r>
            <a:endParaRPr lang="en-US" sz="1600" dirty="0"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806C675F-757B-44BB-89D4-B0E7C5FF31AB}"/>
              </a:ext>
            </a:extLst>
          </p:cNvPr>
          <p:cNvSpPr txBox="1">
            <a:spLocks/>
          </p:cNvSpPr>
          <p:nvPr/>
        </p:nvSpPr>
        <p:spPr>
          <a:xfrm>
            <a:off x="4744237" y="3221297"/>
            <a:ext cx="6243029" cy="144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Esta definición se generaliza para cualquier par de eslabones de un eslabonamiento.</a:t>
            </a:r>
          </a:p>
          <a:p>
            <a:pPr algn="just">
              <a:buFont typeface="Wingdings" panose="05000000000000000000" pitchFamily="2" charset="2"/>
              <a:buChar char="à"/>
            </a:pP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Una vez obtenidas las expresiones analíticas de los ángulos de cada eslabón, se puede </a:t>
            </a:r>
            <a:r>
              <a:rPr lang="es-AR" sz="1600" b="1" dirty="0">
                <a:solidFill>
                  <a:srgbClr val="C00000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definir al ángulo de transmisión algebraicamente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, pues es la </a:t>
            </a: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diferencia de los ángulos de dos eslabones conectados</a:t>
            </a:r>
            <a:r>
              <a:rPr lang="es-AR" sz="1600" dirty="0">
                <a:latin typeface="Bahnschrift" panose="020B0502040204020203" pitchFamily="34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9C63AD4-CBB0-4AC2-8DB2-BD9F389980E0}"/>
              </a:ext>
            </a:extLst>
          </p:cNvPr>
          <p:cNvSpPr txBox="1">
            <a:spLocks/>
          </p:cNvSpPr>
          <p:nvPr/>
        </p:nvSpPr>
        <p:spPr>
          <a:xfrm>
            <a:off x="116311" y="1729989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ÁNGULO DE TRANSMISIÓN</a:t>
            </a:r>
            <a:r>
              <a:rPr lang="en-US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</a:t>
            </a:r>
            <a:endParaRPr lang="es-AR" sz="1600" dirty="0"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Imagen 10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2A023010-71A6-4BE8-BF57-7F2BCB39D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424" y="1830692"/>
            <a:ext cx="381112" cy="176733"/>
          </a:xfrm>
          <a:prstGeom prst="rect">
            <a:avLst/>
          </a:prstGeom>
        </p:spPr>
      </p:pic>
      <p:pic>
        <p:nvPicPr>
          <p:cNvPr id="27" name="Imagen 2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AC1E356F-94DE-41D3-A179-AE2A0C8E3F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74277" flipH="1" flipV="1">
            <a:off x="4074816" y="3112270"/>
            <a:ext cx="621079" cy="6334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B3C477E-456C-4697-9688-E92EB2C8D304}"/>
                  </a:ext>
                </a:extLst>
              </p:cNvPr>
              <p:cNvSpPr txBox="1"/>
              <p:nvPr/>
            </p:nvSpPr>
            <p:spPr>
              <a:xfrm>
                <a:off x="5182998" y="5616388"/>
                <a:ext cx="18347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𝑡𝑟𝑎𝑛𝑠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AB3C477E-456C-4697-9688-E92EB2C8D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998" y="5616388"/>
                <a:ext cx="1834733" cy="276999"/>
              </a:xfrm>
              <a:prstGeom prst="rect">
                <a:avLst/>
              </a:prstGeom>
              <a:blipFill>
                <a:blip r:embed="rId5"/>
                <a:stretch>
                  <a:fillRect l="-1993" b="-1739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4915D957-49F9-40FF-858C-2E55F20BD1CE}"/>
                  </a:ext>
                </a:extLst>
              </p:cNvPr>
              <p:cNvSpPr txBox="1"/>
              <p:nvPr/>
            </p:nvSpPr>
            <p:spPr>
              <a:xfrm>
                <a:off x="7445641" y="5606228"/>
                <a:ext cx="35333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𝑡𝑟𝑎𝑛𝑠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&gt;90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𝑡𝑟𝑎𝑛𝑠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𝑡𝑟𝑎𝑛𝑠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4915D957-49F9-40FF-858C-2E55F20BD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641" y="5606228"/>
                <a:ext cx="3533340" cy="276999"/>
              </a:xfrm>
              <a:prstGeom prst="rect">
                <a:avLst/>
              </a:prstGeom>
              <a:blipFill>
                <a:blip r:embed="rId6"/>
                <a:stretch>
                  <a:fillRect l="-862" b="-177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93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A4CB4A9-E16F-4EE9-B6CE-07BE2338DED4}"/>
              </a:ext>
            </a:extLst>
          </p:cNvPr>
          <p:cNvSpPr txBox="1">
            <a:spLocks/>
          </p:cNvSpPr>
          <p:nvPr/>
        </p:nvSpPr>
        <p:spPr>
          <a:xfrm>
            <a:off x="3243195" y="1725907"/>
            <a:ext cx="7735786" cy="15627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Para un mecanismo de cuatro barras de Grashof manivela-balancín, los valores  extremos del ángulo de transmisión sucederán cuando el eslabón manivela sea colineal con el eslabón bastidor. </a:t>
            </a:r>
          </a:p>
          <a:p>
            <a:pPr marL="0" indent="0" algn="just"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Estos valores se calculan mediante la ley de los cosenos, dada la forma triangular adoptada por el mecanismo en este caso. </a:t>
            </a:r>
            <a:endParaRPr lang="en-US" sz="1600" dirty="0">
              <a:solidFill>
                <a:srgbClr val="2B241F"/>
              </a:solidFill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9C63AD4-CBB0-4AC2-8DB2-BD9F389980E0}"/>
              </a:ext>
            </a:extLst>
          </p:cNvPr>
          <p:cNvSpPr txBox="1">
            <a:spLocks/>
          </p:cNvSpPr>
          <p:nvPr/>
        </p:nvSpPr>
        <p:spPr>
          <a:xfrm>
            <a:off x="116311" y="1729989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VALORES EXTREMOS DEL ÁNGULO DE TRANSMISIÓN</a:t>
            </a:r>
            <a:r>
              <a:rPr lang="en-US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</a:t>
            </a:r>
            <a:endParaRPr lang="es-AR" sz="1600" dirty="0"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Imagen 10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2A023010-71A6-4BE8-BF57-7F2BCB39DD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424" y="1830692"/>
            <a:ext cx="381112" cy="17673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44FDC5F-12EE-4884-9B1B-767D8D4B56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6159" y="3359307"/>
            <a:ext cx="7352073" cy="3190983"/>
          </a:xfrm>
          <a:prstGeom prst="rect">
            <a:avLst/>
          </a:prstGeom>
        </p:spPr>
      </p:pic>
      <p:pic>
        <p:nvPicPr>
          <p:cNvPr id="4" name="Imagen 3" descr="Imagen que contiene reloj&#10;&#10;Descripción generada automáticamente">
            <a:extLst>
              <a:ext uri="{FF2B5EF4-FFF2-40B4-BE49-F238E27FC236}">
                <a16:creationId xmlns:a16="http://schemas.microsoft.com/office/drawing/2014/main" id="{9A52A209-5EB4-4A3D-9D46-9538C53D31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95302" flipH="1">
            <a:off x="2577563" y="2560073"/>
            <a:ext cx="552553" cy="367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F50266-FF74-4146-9035-3D468290B614}"/>
                  </a:ext>
                </a:extLst>
              </p:cNvPr>
              <p:cNvSpPr txBox="1"/>
              <p:nvPr/>
            </p:nvSpPr>
            <p:spPr>
              <a:xfrm>
                <a:off x="20721" y="3969958"/>
                <a:ext cx="3305840" cy="62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𝑏𝑐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F50266-FF74-4146-9035-3D468290B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1" y="3969958"/>
                <a:ext cx="3305840" cy="624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2ADB9DD-02CA-4714-82CA-3FE8DE4CECC5}"/>
                  </a:ext>
                </a:extLst>
              </p:cNvPr>
              <p:cNvSpPr txBox="1"/>
              <p:nvPr/>
            </p:nvSpPr>
            <p:spPr>
              <a:xfrm>
                <a:off x="118724" y="5715494"/>
                <a:ext cx="3298660" cy="62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𝑏𝑐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02ADB9DD-02CA-4714-82CA-3FE8DE4CE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24" y="5715494"/>
                <a:ext cx="3298660" cy="6249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9ECACDC-BC05-4AD4-B19A-C0469C4F1609}"/>
              </a:ext>
            </a:extLst>
          </p:cNvPr>
          <p:cNvSpPr txBox="1">
            <a:spLocks/>
          </p:cNvSpPr>
          <p:nvPr/>
        </p:nvSpPr>
        <p:spPr>
          <a:xfrm>
            <a:off x="116311" y="2722019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 err="1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Teorema</a:t>
            </a:r>
            <a:r>
              <a:rPr lang="en-US" sz="1600" b="1" dirty="0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del </a:t>
            </a:r>
            <a:r>
              <a:rPr lang="en-US" sz="1600" b="1" dirty="0" err="1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Coseno</a:t>
            </a:r>
            <a:endParaRPr lang="es-AR" sz="1600" b="1" dirty="0">
              <a:solidFill>
                <a:srgbClr val="2B241F"/>
              </a:solidFill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25" name="Imagen 24" descr="Imagen que contiene computer, sostener, pantalla, béisbol&#10;&#10;Descripción generada automáticamente">
            <a:extLst>
              <a:ext uri="{FF2B5EF4-FFF2-40B4-BE49-F238E27FC236}">
                <a16:creationId xmlns:a16="http://schemas.microsoft.com/office/drawing/2014/main" id="{DA2A521E-6630-4EB8-8C1C-0143631BAB8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0" y="4023360"/>
            <a:ext cx="1674590" cy="13407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26E7E1-F6C3-41EF-AA9E-87510F99CC3C}"/>
                  </a:ext>
                </a:extLst>
              </p:cNvPr>
              <p:cNvSpPr txBox="1"/>
              <p:nvPr/>
            </p:nvSpPr>
            <p:spPr>
              <a:xfrm>
                <a:off x="32142" y="3528903"/>
                <a:ext cx="32240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26E7E1-F6C3-41EF-AA9E-87510F99C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" y="3528903"/>
                <a:ext cx="3224088" cy="276999"/>
              </a:xfrm>
              <a:prstGeom prst="rect">
                <a:avLst/>
              </a:prstGeom>
              <a:blipFill>
                <a:blip r:embed="rId8"/>
                <a:stretch>
                  <a:fillRect t="-2222" r="-189" b="-244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43E778C-E012-4D3B-B0FF-D7AC39B3807E}"/>
                  </a:ext>
                </a:extLst>
              </p:cNvPr>
              <p:cNvSpPr txBox="1"/>
              <p:nvPr/>
            </p:nvSpPr>
            <p:spPr>
              <a:xfrm>
                <a:off x="790420" y="3052440"/>
                <a:ext cx="13668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𝟗𝟎</m:t>
                      </m:r>
                      <m:r>
                        <a:rPr lang="es-A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43E778C-E012-4D3B-B0FF-D7AC39B3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20" y="3052440"/>
                <a:ext cx="1366893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CFD5F4E-1277-4773-85BC-37761040940D}"/>
                  </a:ext>
                </a:extLst>
              </p:cNvPr>
              <p:cNvSpPr txBox="1"/>
              <p:nvPr/>
            </p:nvSpPr>
            <p:spPr>
              <a:xfrm>
                <a:off x="64207" y="5313712"/>
                <a:ext cx="32169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s-A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CFD5F4E-1277-4773-85BC-377610409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7" y="5313712"/>
                <a:ext cx="3216906" cy="276999"/>
              </a:xfrm>
              <a:prstGeom prst="rect">
                <a:avLst/>
              </a:prstGeom>
              <a:blipFill>
                <a:blip r:embed="rId10"/>
                <a:stretch>
                  <a:fillRect t="-2222" r="-190" b="-244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B6F09D7-25C5-4EDA-A797-A8D58E2C0265}"/>
                  </a:ext>
                </a:extLst>
              </p:cNvPr>
              <p:cNvSpPr txBox="1"/>
              <p:nvPr/>
            </p:nvSpPr>
            <p:spPr>
              <a:xfrm>
                <a:off x="822485" y="4837249"/>
                <a:ext cx="13668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𝟗𝟎</m:t>
                      </m:r>
                      <m:r>
                        <a:rPr lang="es-A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B6F09D7-25C5-4EDA-A797-A8D58E2C0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85" y="4837249"/>
                <a:ext cx="1366893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Imagen 32" descr="Imagen que contiene dibujo, computadora&#10;&#10;Descripción generada automáticamente">
            <a:extLst>
              <a:ext uri="{FF2B5EF4-FFF2-40B4-BE49-F238E27FC236}">
                <a16:creationId xmlns:a16="http://schemas.microsoft.com/office/drawing/2014/main" id="{87F4DEE6-77CC-4CF8-81B0-9B93A206BF2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59" y="4511040"/>
            <a:ext cx="2773681" cy="8447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931EC4E0-B8F6-4226-A1ED-2B6D0B0973B0}"/>
                  </a:ext>
                </a:extLst>
              </p:cNvPr>
              <p:cNvSpPr txBox="1"/>
              <p:nvPr/>
            </p:nvSpPr>
            <p:spPr>
              <a:xfrm>
                <a:off x="763546" y="6415516"/>
                <a:ext cx="16111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931EC4E0-B8F6-4226-A1ED-2B6D0B097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46" y="6415516"/>
                <a:ext cx="1611198" cy="369332"/>
              </a:xfrm>
              <a:prstGeom prst="rect">
                <a:avLst/>
              </a:prstGeom>
              <a:blipFill>
                <a:blip r:embed="rId1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59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27" grpId="0"/>
      <p:bldP spid="29" grpId="0"/>
      <p:bldP spid="30" grpId="0"/>
      <p:bldP spid="31" grpId="0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5035185-4239-46C9-B9F1-D86B7F984F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662"/>
          <a:stretch/>
        </p:blipFill>
        <p:spPr>
          <a:xfrm>
            <a:off x="7437289" y="3669396"/>
            <a:ext cx="3171598" cy="3115452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719DA6AB-CB11-4001-9291-A674BE50F5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852"/>
          <a:stretch/>
        </p:blipFill>
        <p:spPr>
          <a:xfrm>
            <a:off x="262099" y="3662953"/>
            <a:ext cx="2735879" cy="311545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A4CB4A9-E16F-4EE9-B6CE-07BE2338DED4}"/>
              </a:ext>
            </a:extLst>
          </p:cNvPr>
          <p:cNvSpPr txBox="1">
            <a:spLocks/>
          </p:cNvSpPr>
          <p:nvPr/>
        </p:nvSpPr>
        <p:spPr>
          <a:xfrm>
            <a:off x="3243195" y="1725907"/>
            <a:ext cx="7735786" cy="24379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Para un mecanismo de doble balancín de Grashof, el ángulo de transmisión puede tomar valores de 0° a 90°, pues el acoplador puede realizar una revolución completa. </a:t>
            </a:r>
          </a:p>
          <a:p>
            <a:pPr marL="0" indent="0" algn="just"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Cuando este mecanismo es de No Grashof, ninguno de sus eslabones puede girar 360°, por esta razón, los valores extremos del ángulo de transmisión se encuentran en los puntos de agarrotamiento del mecanismo.</a:t>
            </a:r>
          </a:p>
          <a:p>
            <a:pPr marL="0" indent="0" algn="just"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El ángulo de transmisión toma el valor cero cuando el eslabón acoplador y e eslabón balancín son colineales entre si.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9C63AD4-CBB0-4AC2-8DB2-BD9F389980E0}"/>
              </a:ext>
            </a:extLst>
          </p:cNvPr>
          <p:cNvSpPr txBox="1">
            <a:spLocks/>
          </p:cNvSpPr>
          <p:nvPr/>
        </p:nvSpPr>
        <p:spPr>
          <a:xfrm>
            <a:off x="116311" y="1729989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VALORES EXTREMOS DEL ÁNGULO DE TRANSMISIÓN</a:t>
            </a:r>
            <a:r>
              <a:rPr lang="en-US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</a:t>
            </a:r>
            <a:endParaRPr lang="es-AR" sz="1600" dirty="0"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Imagen 10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2A023010-71A6-4BE8-BF57-7F2BCB39D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424" y="1830692"/>
            <a:ext cx="381112" cy="1767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F50266-FF74-4146-9035-3D468290B614}"/>
                  </a:ext>
                </a:extLst>
              </p:cNvPr>
              <p:cNvSpPr txBox="1"/>
              <p:nvPr/>
            </p:nvSpPr>
            <p:spPr>
              <a:xfrm>
                <a:off x="3088275" y="5624460"/>
                <a:ext cx="3096873" cy="6249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1F50266-FF74-4146-9035-3D468290B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275" y="5624460"/>
                <a:ext cx="3096873" cy="624979"/>
              </a:xfrm>
              <a:prstGeom prst="rect">
                <a:avLst/>
              </a:prstGeom>
              <a:blipFill>
                <a:blip r:embed="rId4"/>
                <a:stretch>
                  <a:fillRect l="-1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9ECACDC-BC05-4AD4-B19A-C0469C4F1609}"/>
              </a:ext>
            </a:extLst>
          </p:cNvPr>
          <p:cNvSpPr txBox="1">
            <a:spLocks/>
          </p:cNvSpPr>
          <p:nvPr/>
        </p:nvSpPr>
        <p:spPr>
          <a:xfrm>
            <a:off x="2997978" y="4339011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Teorema</a:t>
            </a:r>
            <a:r>
              <a:rPr lang="en-US" sz="1600" b="1" dirty="0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del </a:t>
            </a:r>
            <a:r>
              <a:rPr lang="en-US" sz="1600" b="1" dirty="0" err="1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Coseno</a:t>
            </a:r>
            <a:endParaRPr lang="es-AR" sz="1600" b="1" dirty="0">
              <a:solidFill>
                <a:srgbClr val="2B241F"/>
              </a:solidFill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26E7E1-F6C3-41EF-AA9E-87510F99CC3C}"/>
                  </a:ext>
                </a:extLst>
              </p:cNvPr>
              <p:cNvSpPr txBox="1"/>
              <p:nvPr/>
            </p:nvSpPr>
            <p:spPr>
              <a:xfrm>
                <a:off x="3082980" y="5225957"/>
                <a:ext cx="3709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26E7E1-F6C3-41EF-AA9E-87510F99C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980" y="5225957"/>
                <a:ext cx="3709221" cy="276999"/>
              </a:xfrm>
              <a:prstGeom prst="rect">
                <a:avLst/>
              </a:prstGeom>
              <a:blipFill>
                <a:blip r:embed="rId5"/>
                <a:stretch>
                  <a:fillRect l="-2303" t="-2174" b="-3478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43E778C-E012-4D3B-B0FF-D7AC39B3807E}"/>
                  </a:ext>
                </a:extLst>
              </p:cNvPr>
              <p:cNvSpPr txBox="1"/>
              <p:nvPr/>
            </p:nvSpPr>
            <p:spPr>
              <a:xfrm>
                <a:off x="2997978" y="4729174"/>
                <a:ext cx="19960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A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AR" b="1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43E778C-E012-4D3B-B0FF-D7AC39B3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978" y="4729174"/>
                <a:ext cx="199609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19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27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Imagen que contiene mapa, tabla, pequeño, nieve&#10;&#10;Descripción generada automáticamente">
            <a:extLst>
              <a:ext uri="{FF2B5EF4-FFF2-40B4-BE49-F238E27FC236}">
                <a16:creationId xmlns:a16="http://schemas.microsoft.com/office/drawing/2014/main" id="{5570FCC8-2207-4FA9-9E3D-FE3CD4C1E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02686"/>
            <a:ext cx="3995790" cy="274710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CAE51A-2BA3-4542-9556-57577F336225}"/>
              </a:ext>
            </a:extLst>
          </p:cNvPr>
          <p:cNvSpPr/>
          <p:nvPr/>
        </p:nvSpPr>
        <p:spPr>
          <a:xfrm>
            <a:off x="0" y="853440"/>
            <a:ext cx="7004482" cy="36938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12" y="234924"/>
            <a:ext cx="8578969" cy="684362"/>
          </a:xfrm>
        </p:spPr>
        <p:txBody>
          <a:bodyPr>
            <a:normAutofit fontScale="90000"/>
          </a:bodyPr>
          <a:lstStyle/>
          <a:p>
            <a:r>
              <a:rPr lang="es-AR" sz="6000" b="1" dirty="0">
                <a:latin typeface="Bahnschrift" panose="020B0502040204020203" pitchFamily="34" charset="0"/>
              </a:rPr>
              <a:t>ANÁLISIS DE POSICIÓN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6313" y="830016"/>
            <a:ext cx="7820324" cy="466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b="1" dirty="0">
                <a:latin typeface="Bahnschrift" panose="020B0502040204020203" pitchFamily="34" charset="0"/>
              </a:rPr>
              <a:t>ANÁLISIS DE POSICIÓN EN ESLABONAMIENTOS</a:t>
            </a:r>
          </a:p>
        </p:txBody>
      </p:sp>
      <p:sp>
        <p:nvSpPr>
          <p:cNvPr id="9" name="Marcador de pie de página 2">
            <a:extLst>
              <a:ext uri="{FF2B5EF4-FFF2-40B4-BE49-F238E27FC236}">
                <a16:creationId xmlns:a16="http://schemas.microsoft.com/office/drawing/2014/main" id="{7D2D5D7E-5F89-4B5A-87F5-5A55507E7B50}"/>
              </a:ext>
            </a:extLst>
          </p:cNvPr>
          <p:cNvSpPr txBox="1">
            <a:spLocks/>
          </p:cNvSpPr>
          <p:nvPr/>
        </p:nvSpPr>
        <p:spPr>
          <a:xfrm rot="16200000">
            <a:off x="8384205" y="3303791"/>
            <a:ext cx="6784849" cy="1772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50" kern="1200" cap="all" baseline="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INGENIERIA Mecánica / ANÁLISIS DE POSICIÓN </a:t>
            </a:r>
            <a:endParaRPr lang="en-US" sz="1050" b="1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es-AR" sz="1050" b="1" dirty="0">
                <a:solidFill>
                  <a:schemeClr val="bg1">
                    <a:alpha val="80000"/>
                  </a:schemeClr>
                </a:solidFill>
              </a:rPr>
              <a:t>Prof. a Cargo: Ing. Hugo Daniel Galdeano – PROF. ADJUNTO: Ing. Manuel Galdeano Ruiz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DBC5DD57-6377-41E1-B4CA-6E5032B7A48B}"/>
              </a:ext>
            </a:extLst>
          </p:cNvPr>
          <p:cNvSpPr txBox="1">
            <a:spLocks/>
          </p:cNvSpPr>
          <p:nvPr/>
        </p:nvSpPr>
        <p:spPr>
          <a:xfrm>
            <a:off x="116311" y="1286111"/>
            <a:ext cx="2905669" cy="3693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2000" b="1" dirty="0">
                <a:solidFill>
                  <a:srgbClr val="C00000"/>
                </a:solidFill>
                <a:latin typeface="Bahnschrift" panose="020B0502040204020203" pitchFamily="34" charset="0"/>
              </a:rPr>
              <a:t>ANÁLISIS ANALÍTICO</a:t>
            </a:r>
            <a:endParaRPr lang="es-AR" sz="2000" dirty="0">
              <a:latin typeface="Bahnschrift" panose="020B0502040204020203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A4CB4A9-E16F-4EE9-B6CE-07BE2338DED4}"/>
              </a:ext>
            </a:extLst>
          </p:cNvPr>
          <p:cNvSpPr txBox="1">
            <a:spLocks/>
          </p:cNvSpPr>
          <p:nvPr/>
        </p:nvSpPr>
        <p:spPr>
          <a:xfrm>
            <a:off x="2631440" y="1725907"/>
            <a:ext cx="8347541" cy="891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AR" sz="1600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Los ángulos de los eslabones de entrada que corresponden a las posiciones de agarrotamiento (configuraciones estacionarias) del mecanismo de doble balancín de No Grashof se calculan con el siguiente método mediante trigonometría.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9C63AD4-CBB0-4AC2-8DB2-BD9F389980E0}"/>
              </a:ext>
            </a:extLst>
          </p:cNvPr>
          <p:cNvSpPr txBox="1">
            <a:spLocks/>
          </p:cNvSpPr>
          <p:nvPr/>
        </p:nvSpPr>
        <p:spPr>
          <a:xfrm>
            <a:off x="116312" y="1729989"/>
            <a:ext cx="2684454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POSICIONES DE AGARROTAMIENTO</a:t>
            </a:r>
            <a:endParaRPr lang="es-AR" sz="1600" dirty="0"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Imagen 10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2A023010-71A6-4BE8-BF57-7F2BCB39D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447" y="1812856"/>
            <a:ext cx="381112" cy="176733"/>
          </a:xfrm>
          <a:prstGeom prst="rect">
            <a:avLst/>
          </a:prstGeo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9ECACDC-BC05-4AD4-B19A-C0469C4F1609}"/>
              </a:ext>
            </a:extLst>
          </p:cNvPr>
          <p:cNvSpPr txBox="1">
            <a:spLocks/>
          </p:cNvSpPr>
          <p:nvPr/>
        </p:nvSpPr>
        <p:spPr>
          <a:xfrm>
            <a:off x="116311" y="2862256"/>
            <a:ext cx="2715113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Teorema</a:t>
            </a:r>
            <a:r>
              <a:rPr lang="en-US" sz="1600" b="1" dirty="0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 del </a:t>
            </a:r>
            <a:r>
              <a:rPr lang="en-US" sz="1600" b="1" dirty="0" err="1">
                <a:solidFill>
                  <a:srgbClr val="2B241F"/>
                </a:solidFill>
                <a:highlight>
                  <a:srgbClr val="FFC000"/>
                </a:highlight>
                <a:latin typeface="Bahnschrift" panose="020B0502040204020203" pitchFamily="34" charset="0"/>
                <a:sym typeface="Wingdings" panose="05000000000000000000" pitchFamily="2" charset="2"/>
              </a:rPr>
              <a:t>Coseno</a:t>
            </a:r>
            <a:endParaRPr lang="es-AR" sz="1600" b="1" dirty="0">
              <a:solidFill>
                <a:srgbClr val="2B241F"/>
              </a:solidFill>
              <a:highlight>
                <a:srgbClr val="FFC000"/>
              </a:highlight>
              <a:latin typeface="Bahnschrift" panose="020B0502040204020203" pitchFamily="34" charset="0"/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26E7E1-F6C3-41EF-AA9E-87510F99CC3C}"/>
                  </a:ext>
                </a:extLst>
              </p:cNvPr>
              <p:cNvSpPr txBox="1"/>
              <p:nvPr/>
            </p:nvSpPr>
            <p:spPr>
              <a:xfrm>
                <a:off x="206608" y="3449715"/>
                <a:ext cx="26704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F826E7E1-F6C3-41EF-AA9E-87510F99C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8" y="3449715"/>
                <a:ext cx="2670411" cy="276999"/>
              </a:xfrm>
              <a:prstGeom prst="rect">
                <a:avLst/>
              </a:prstGeom>
              <a:blipFill>
                <a:blip r:embed="rId4"/>
                <a:stretch>
                  <a:fillRect l="-3196" t="-2222" b="-177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 descr="Imagen que contiene monitor, pantalla, tabla, computadora&#10;&#10;Descripción generada automáticamente">
            <a:extLst>
              <a:ext uri="{FF2B5EF4-FFF2-40B4-BE49-F238E27FC236}">
                <a16:creationId xmlns:a16="http://schemas.microsoft.com/office/drawing/2014/main" id="{8ADA810F-E047-4ADE-92B3-E9FA14AF331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20" y="4399293"/>
            <a:ext cx="2994730" cy="2101230"/>
          </a:xfrm>
          <a:prstGeom prst="rect">
            <a:avLst/>
          </a:prstGeom>
        </p:spPr>
      </p:pic>
      <p:pic>
        <p:nvPicPr>
          <p:cNvPr id="10" name="Imagen 9" descr="Imagen que contiene béisbol&#10;&#10;Descripción generada automáticamente">
            <a:extLst>
              <a:ext uri="{FF2B5EF4-FFF2-40B4-BE49-F238E27FC236}">
                <a16:creationId xmlns:a16="http://schemas.microsoft.com/office/drawing/2014/main" id="{D79E917D-299B-403E-ACE3-D6CA895D00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20" y="4828940"/>
            <a:ext cx="2744326" cy="1666040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51D0FB5B-B6E2-47DB-9408-4D45882B3A31}"/>
              </a:ext>
            </a:extLst>
          </p:cNvPr>
          <p:cNvSpPr/>
          <p:nvPr/>
        </p:nvSpPr>
        <p:spPr>
          <a:xfrm>
            <a:off x="2922019" y="3488253"/>
            <a:ext cx="199921" cy="19992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45C6AFD-9BB3-46F9-BACE-7E79C910694E}"/>
                  </a:ext>
                </a:extLst>
              </p:cNvPr>
              <p:cNvSpPr txBox="1"/>
              <p:nvPr/>
            </p:nvSpPr>
            <p:spPr>
              <a:xfrm>
                <a:off x="206608" y="3893845"/>
                <a:ext cx="25189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45C6AFD-9BB3-46F9-BACE-7E79C9106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8" y="3893845"/>
                <a:ext cx="2518959" cy="276999"/>
              </a:xfrm>
              <a:prstGeom prst="rect">
                <a:avLst/>
              </a:prstGeom>
              <a:blipFill>
                <a:blip r:embed="rId7"/>
                <a:stretch>
                  <a:fillRect l="-3390" t="-2222" b="-2444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Elipse 23">
            <a:extLst>
              <a:ext uri="{FF2B5EF4-FFF2-40B4-BE49-F238E27FC236}">
                <a16:creationId xmlns:a16="http://schemas.microsoft.com/office/drawing/2014/main" id="{F9F551BA-7152-4D08-9EAC-54B388237C7C}"/>
              </a:ext>
            </a:extLst>
          </p:cNvPr>
          <p:cNvSpPr/>
          <p:nvPr/>
        </p:nvSpPr>
        <p:spPr>
          <a:xfrm>
            <a:off x="2687843" y="3932383"/>
            <a:ext cx="199921" cy="19992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CD70F31-6ACA-4D6F-8AC8-DE49DA06A6AA}"/>
                  </a:ext>
                </a:extLst>
              </p:cNvPr>
              <p:cNvSpPr txBox="1"/>
              <p:nvPr/>
            </p:nvSpPr>
            <p:spPr>
              <a:xfrm>
                <a:off x="4410892" y="2606998"/>
                <a:ext cx="62502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𝑏𝑐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CD70F31-6ACA-4D6F-8AC8-DE49DA06A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892" y="2606998"/>
                <a:ext cx="625025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4DD2F26-9012-4BE1-B649-017559D229DB}"/>
                  </a:ext>
                </a:extLst>
              </p:cNvPr>
              <p:cNvSpPr txBox="1"/>
              <p:nvPr/>
            </p:nvSpPr>
            <p:spPr>
              <a:xfrm>
                <a:off x="4651029" y="3234210"/>
                <a:ext cx="3976187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4DD2F26-9012-4BE1-B649-017559D22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029" y="3234210"/>
                <a:ext cx="3976187" cy="6481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B20C157A-585E-4B97-B746-2406C511A0FF}"/>
                  </a:ext>
                </a:extLst>
              </p:cNvPr>
              <p:cNvSpPr txBox="1"/>
              <p:nvPr/>
            </p:nvSpPr>
            <p:spPr>
              <a:xfrm>
                <a:off x="4138074" y="4125132"/>
                <a:ext cx="3976187" cy="663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B20C157A-585E-4B97-B746-2406C511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074" y="4125132"/>
                <a:ext cx="3976187" cy="663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agen 24" descr="Imagen que contiene cuchillo, dibujo&#10;&#10;Descripción generada automáticamente">
            <a:extLst>
              <a:ext uri="{FF2B5EF4-FFF2-40B4-BE49-F238E27FC236}">
                <a16:creationId xmlns:a16="http://schemas.microsoft.com/office/drawing/2014/main" id="{AAA64ADA-D44F-4A5B-A29B-F396C1DA7DD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60144">
            <a:off x="3390070" y="3025022"/>
            <a:ext cx="851470" cy="394852"/>
          </a:xfrm>
          <a:prstGeom prst="rect">
            <a:avLst/>
          </a:prstGeom>
        </p:spPr>
      </p:pic>
      <p:pic>
        <p:nvPicPr>
          <p:cNvPr id="32" name="Imagen 31" descr="Imagen que contiene dibujo&#10;&#10;Descripción generada automáticamente">
            <a:extLst>
              <a:ext uri="{FF2B5EF4-FFF2-40B4-BE49-F238E27FC236}">
                <a16:creationId xmlns:a16="http://schemas.microsoft.com/office/drawing/2014/main" id="{10158A6A-3ED3-48C3-A572-2691D1C21A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208944" flipV="1">
            <a:off x="8541759" y="2984714"/>
            <a:ext cx="657119" cy="633460"/>
          </a:xfrm>
          <a:prstGeom prst="rect">
            <a:avLst/>
          </a:prstGeom>
        </p:spPr>
      </p:pic>
      <p:pic>
        <p:nvPicPr>
          <p:cNvPr id="34" name="Imagen 33" descr="Imagen que contiene dibujo&#10;&#10;Descripción generada automáticamente">
            <a:extLst>
              <a:ext uri="{FF2B5EF4-FFF2-40B4-BE49-F238E27FC236}">
                <a16:creationId xmlns:a16="http://schemas.microsoft.com/office/drawing/2014/main" id="{580F2FE4-363D-4AF3-8D71-653C319A336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525080" flipV="1">
            <a:off x="7499833" y="4008082"/>
            <a:ext cx="657119" cy="633460"/>
          </a:xfrm>
          <a:prstGeom prst="rect">
            <a:avLst/>
          </a:prstGeom>
        </p:spPr>
      </p:pic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C2244054-DEC6-4BFB-A9F6-50020F53FBB4}"/>
              </a:ext>
            </a:extLst>
          </p:cNvPr>
          <p:cNvSpPr txBox="1">
            <a:spLocks/>
          </p:cNvSpPr>
          <p:nvPr/>
        </p:nvSpPr>
        <p:spPr>
          <a:xfrm rot="20324481">
            <a:off x="3116295" y="2783464"/>
            <a:ext cx="1198958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100" b="1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igualan</a:t>
            </a:r>
          </a:p>
        </p:txBody>
      </p:sp>
      <p:sp>
        <p:nvSpPr>
          <p:cNvPr id="38" name="Marcador de contenido 2">
            <a:extLst>
              <a:ext uri="{FF2B5EF4-FFF2-40B4-BE49-F238E27FC236}">
                <a16:creationId xmlns:a16="http://schemas.microsoft.com/office/drawing/2014/main" id="{B72E4A82-AA5A-4367-8A7F-FCBCEC77DDFC}"/>
              </a:ext>
            </a:extLst>
          </p:cNvPr>
          <p:cNvSpPr txBox="1">
            <a:spLocks/>
          </p:cNvSpPr>
          <p:nvPr/>
        </p:nvSpPr>
        <p:spPr>
          <a:xfrm>
            <a:off x="9154401" y="2899439"/>
            <a:ext cx="1198958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100" b="1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pone μ en función de θ</a:t>
            </a: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E5950DD3-F2C1-47F8-ABE1-96F1F2BD7135}"/>
              </a:ext>
            </a:extLst>
          </p:cNvPr>
          <p:cNvSpPr txBox="1">
            <a:spLocks/>
          </p:cNvSpPr>
          <p:nvPr/>
        </p:nvSpPr>
        <p:spPr>
          <a:xfrm>
            <a:off x="8203615" y="4140145"/>
            <a:ext cx="2147584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100" b="1" dirty="0">
                <a:solidFill>
                  <a:srgbClr val="2B241F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Se deriva para hallar valores máximos y mínimos</a:t>
            </a:r>
          </a:p>
        </p:txBody>
      </p:sp>
      <p:pic>
        <p:nvPicPr>
          <p:cNvPr id="43" name="Imagen 4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81FFB25-6F31-4524-BC52-35D9476BCB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33498" flipH="1" flipV="1">
            <a:off x="4746678" y="4644871"/>
            <a:ext cx="650165" cy="6334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Marcador de contenido 2">
                <a:extLst>
                  <a:ext uri="{FF2B5EF4-FFF2-40B4-BE49-F238E27FC236}">
                    <a16:creationId xmlns:a16="http://schemas.microsoft.com/office/drawing/2014/main" id="{DF97D2F9-AEC5-4AB7-9360-E8B3CD8091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68693" y="5009659"/>
                <a:ext cx="5600085" cy="7473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accent1"/>
                  </a:buClr>
                  <a:buSzPct val="80000"/>
                  <a:buFont typeface="Arial" pitchFamily="34" charset="0"/>
                  <a:buChar char="•"/>
                  <a:defRPr sz="1800" kern="1200" spc="1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6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AR" sz="1600" b="1" dirty="0">
                    <a:solidFill>
                      <a:srgbClr val="2B241F"/>
                    </a:solidFill>
                    <a:latin typeface="Bahnschrift" panose="020B0502040204020203" pitchFamily="34" charset="0"/>
                    <a:sym typeface="Wingdings" panose="05000000000000000000" pitchFamily="2" charset="2"/>
                  </a:rPr>
                  <a:t>Se cumple solo 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→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=±1</m:t>
                        </m:r>
                      </m:e>
                    </m:func>
                  </m:oMath>
                </a14:m>
                <a:r>
                  <a:rPr lang="es-AR" sz="1600" b="1" dirty="0">
                    <a:solidFill>
                      <a:srgbClr val="2B241F"/>
                    </a:solidFill>
                    <a:latin typeface="Bahnschrift" panose="020B0502040204020203" pitchFamily="34" charset="0"/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4" name="Marcador de contenido 2">
                <a:extLst>
                  <a:ext uri="{FF2B5EF4-FFF2-40B4-BE49-F238E27FC236}">
                    <a16:creationId xmlns:a16="http://schemas.microsoft.com/office/drawing/2014/main" id="{DF97D2F9-AEC5-4AB7-9360-E8B3CD809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693" y="5009659"/>
                <a:ext cx="5600085" cy="747326"/>
              </a:xfrm>
              <a:prstGeom prst="rect">
                <a:avLst/>
              </a:prstGeom>
              <a:blipFill>
                <a:blip r:embed="rId13"/>
                <a:stretch>
                  <a:fillRect l="-654" t="-409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A8E3EB3-D78E-4B68-9A41-777E41225643}"/>
                  </a:ext>
                </a:extLst>
              </p:cNvPr>
              <p:cNvSpPr txBox="1"/>
              <p:nvPr/>
            </p:nvSpPr>
            <p:spPr>
              <a:xfrm>
                <a:off x="6005447" y="5335989"/>
                <a:ext cx="4655703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A8E3EB3-D78E-4B68-9A41-777E41225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447" y="5335989"/>
                <a:ext cx="4655703" cy="64819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E3FDFAFC-EE47-4A6D-BE9E-F2C577A664F5}"/>
                  </a:ext>
                </a:extLst>
              </p:cNvPr>
              <p:cNvSpPr txBox="1"/>
              <p:nvPr/>
            </p:nvSpPr>
            <p:spPr>
              <a:xfrm>
                <a:off x="4414240" y="6064523"/>
                <a:ext cx="6521150" cy="720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𝑎𝑔𝑎𝑟𝑟𝑜𝑡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𝑎𝑑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𝑏𝑐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0&lt;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𝑎𝑔𝑎𝑟𝑟𝑜𝑡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E3FDFAFC-EE47-4A6D-BE9E-F2C577A66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240" y="6064523"/>
                <a:ext cx="6521150" cy="72032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56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  <p:bldP spid="19" grpId="0" animBg="1"/>
      <p:bldP spid="23" grpId="0"/>
      <p:bldP spid="24" grpId="0" animBg="1"/>
      <p:bldP spid="26" grpId="0"/>
      <p:bldP spid="21" grpId="0"/>
      <p:bldP spid="22" grpId="0"/>
      <p:bldP spid="37" grpId="0"/>
      <p:bldP spid="38" grpId="0"/>
      <p:bldP spid="39" grpId="0"/>
      <p:bldP spid="44" grpId="0"/>
      <p:bldP spid="45" grpId="0"/>
      <p:bldP spid="46" grpId="0"/>
    </p:bldLst>
  </p:timing>
</p:sld>
</file>

<file path=ppt/theme/theme1.xml><?xml version="1.0" encoding="utf-8"?>
<a:theme xmlns:a="http://schemas.openxmlformats.org/drawingml/2006/main" name="Vista">
  <a:themeElements>
    <a:clrScheme name="Amari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37278</TotalTime>
  <Words>4231</Words>
  <Application>Microsoft Office PowerPoint</Application>
  <PresentationFormat>Panorámica</PresentationFormat>
  <Paragraphs>409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Bahnschrift</vt:lpstr>
      <vt:lpstr>Calibri</vt:lpstr>
      <vt:lpstr>Cambria Math</vt:lpstr>
      <vt:lpstr>Wingdings</vt:lpstr>
      <vt:lpstr>Wingdings 2</vt:lpstr>
      <vt:lpstr>Vista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  <vt:lpstr>ANÁLISIS DE POSICIÓN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MECANISMOS DE TRANSMISIÓN POR ROTACIÓN</dc:title>
  <dc:creator>franco laciar lara</dc:creator>
  <cp:lastModifiedBy>manu galdeano</cp:lastModifiedBy>
  <cp:revision>318</cp:revision>
  <dcterms:created xsi:type="dcterms:W3CDTF">2018-03-24T20:56:14Z</dcterms:created>
  <dcterms:modified xsi:type="dcterms:W3CDTF">2026-09-01T02:43:44Z</dcterms:modified>
</cp:coreProperties>
</file>