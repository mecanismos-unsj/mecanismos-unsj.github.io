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2" r:id="rId1"/>
  </p:sldMasterIdLst>
  <p:notesMasterIdLst>
    <p:notesMasterId r:id="rId18"/>
  </p:notesMasterIdLst>
  <p:sldIdLst>
    <p:sldId id="256" r:id="rId2"/>
    <p:sldId id="288" r:id="rId3"/>
    <p:sldId id="329" r:id="rId4"/>
    <p:sldId id="358" r:id="rId5"/>
    <p:sldId id="359" r:id="rId6"/>
    <p:sldId id="356" r:id="rId7"/>
    <p:sldId id="357" r:id="rId8"/>
    <p:sldId id="360" r:id="rId9"/>
    <p:sldId id="361" r:id="rId10"/>
    <p:sldId id="362" r:id="rId11"/>
    <p:sldId id="363" r:id="rId12"/>
    <p:sldId id="364" r:id="rId13"/>
    <p:sldId id="365" r:id="rId14"/>
    <p:sldId id="366" r:id="rId15"/>
    <p:sldId id="367" r:id="rId16"/>
    <p:sldId id="3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D3A62DA4-2016-4073-BADE-AB9E6123A7BA}">
          <p14:sldIdLst>
            <p14:sldId id="256"/>
            <p14:sldId id="288"/>
            <p14:sldId id="329"/>
            <p14:sldId id="358"/>
            <p14:sldId id="359"/>
            <p14:sldId id="356"/>
            <p14:sldId id="357"/>
            <p14:sldId id="360"/>
            <p14:sldId id="361"/>
            <p14:sldId id="362"/>
            <p14:sldId id="363"/>
            <p14:sldId id="364"/>
            <p14:sldId id="365"/>
            <p14:sldId id="366"/>
            <p14:sldId id="367"/>
            <p14:sldId id="3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2B24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84" autoAdjust="0"/>
    <p:restoredTop sz="94660"/>
  </p:normalViewPr>
  <p:slideViewPr>
    <p:cSldViewPr snapToGrid="0">
      <p:cViewPr varScale="1">
        <p:scale>
          <a:sx n="86" d="100"/>
          <a:sy n="86" d="100"/>
        </p:scale>
        <p:origin x="78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961A7B-FE5B-4CFE-8452-3D5059D5AE1A}" type="datetimeFigureOut">
              <a:rPr lang="es-AR" smtClean="0"/>
              <a:t>26/10/2020</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989FA8-BAFC-4E1B-BDC2-F40DD6DB0DD2}" type="slidenum">
              <a:rPr lang="es-AR" smtClean="0"/>
              <a:t>‹Nº›</a:t>
            </a:fld>
            <a:endParaRPr lang="es-AR"/>
          </a:p>
        </p:txBody>
      </p:sp>
    </p:spTree>
    <p:extLst>
      <p:ext uri="{BB962C8B-B14F-4D97-AF65-F5344CB8AC3E}">
        <p14:creationId xmlns:p14="http://schemas.microsoft.com/office/powerpoint/2010/main" val="2246777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68EEFF92-79CB-4BA1-B3A4-284FF307DF2C}" type="datetimeFigureOut">
              <a:rPr lang="es-AR" smtClean="0"/>
              <a:t>26/10/2020</a:t>
            </a:fld>
            <a:endParaRPr lang="es-AR"/>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s-AR"/>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B79AB5C1-8AA1-4BAC-ABA1-BC534518852E}" type="slidenum">
              <a:rPr lang="es-AR" smtClean="0"/>
              <a:t>‹Nº›</a:t>
            </a:fld>
            <a:endParaRPr lang="es-AR"/>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0955033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8EEFF92-79CB-4BA1-B3A4-284FF307DF2C}" type="datetimeFigureOut">
              <a:rPr lang="es-AR" smtClean="0"/>
              <a:t>26/10/2020</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79AB5C1-8AA1-4BAC-ABA1-BC534518852E}" type="slidenum">
              <a:rPr lang="es-AR" smtClean="0"/>
              <a:t>‹Nº›</a:t>
            </a:fld>
            <a:endParaRPr lang="es-AR"/>
          </a:p>
        </p:txBody>
      </p:sp>
    </p:spTree>
    <p:extLst>
      <p:ext uri="{BB962C8B-B14F-4D97-AF65-F5344CB8AC3E}">
        <p14:creationId xmlns:p14="http://schemas.microsoft.com/office/powerpoint/2010/main" val="1338815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8EEFF92-79CB-4BA1-B3A4-284FF307DF2C}" type="datetimeFigureOut">
              <a:rPr lang="es-AR" smtClean="0"/>
              <a:t>26/10/2020</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79AB5C1-8AA1-4BAC-ABA1-BC534518852E}" type="slidenum">
              <a:rPr lang="es-AR" smtClean="0"/>
              <a:t>‹Nº›</a:t>
            </a:fld>
            <a:endParaRPr lang="es-AR"/>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23183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8EEFF92-79CB-4BA1-B3A4-284FF307DF2C}" type="datetimeFigureOut">
              <a:rPr lang="es-AR" smtClean="0"/>
              <a:t>26/10/2020</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B79AB5C1-8AA1-4BAC-ABA1-BC534518852E}" type="slidenum">
              <a:rPr lang="es-AR" smtClean="0"/>
              <a:t>‹Nº›</a:t>
            </a:fld>
            <a:endParaRPr lang="es-AR"/>
          </a:p>
        </p:txBody>
      </p:sp>
    </p:spTree>
    <p:extLst>
      <p:ext uri="{BB962C8B-B14F-4D97-AF65-F5344CB8AC3E}">
        <p14:creationId xmlns:p14="http://schemas.microsoft.com/office/powerpoint/2010/main" val="350353619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s-ES"/>
              <a:t>Haga clic para modificar los estilos de texto del patrón</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8EEFF92-79CB-4BA1-B3A4-284FF307DF2C}" type="datetimeFigureOut">
              <a:rPr lang="es-AR" smtClean="0"/>
              <a:t>26/10/2020</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B79AB5C1-8AA1-4BAC-ABA1-BC534518852E}" type="slidenum">
              <a:rPr lang="es-AR" smtClean="0"/>
              <a:t>‹Nº›</a:t>
            </a:fld>
            <a:endParaRPr lang="es-AR"/>
          </a:p>
        </p:txBody>
      </p:sp>
    </p:spTree>
    <p:extLst>
      <p:ext uri="{BB962C8B-B14F-4D97-AF65-F5344CB8AC3E}">
        <p14:creationId xmlns:p14="http://schemas.microsoft.com/office/powerpoint/2010/main" val="935258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8EEFF92-79CB-4BA1-B3A4-284FF307DF2C}" type="datetimeFigureOut">
              <a:rPr lang="es-AR" smtClean="0"/>
              <a:t>26/10/2020</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B79AB5C1-8AA1-4BAC-ABA1-BC534518852E}" type="slidenum">
              <a:rPr lang="es-AR" smtClean="0"/>
              <a:t>‹Nº›</a:t>
            </a:fld>
            <a:endParaRPr lang="es-AR"/>
          </a:p>
        </p:txBody>
      </p:sp>
    </p:spTree>
    <p:extLst>
      <p:ext uri="{BB962C8B-B14F-4D97-AF65-F5344CB8AC3E}">
        <p14:creationId xmlns:p14="http://schemas.microsoft.com/office/powerpoint/2010/main" val="1405408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EEFF92-79CB-4BA1-B3A4-284FF307DF2C}" type="datetimeFigureOut">
              <a:rPr lang="es-AR" smtClean="0"/>
              <a:t>26/10/2020</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B79AB5C1-8AA1-4BAC-ABA1-BC534518852E}" type="slidenum">
              <a:rPr lang="es-AR" smtClean="0"/>
              <a:t>‹Nº›</a:t>
            </a:fld>
            <a:endParaRPr lang="es-AR"/>
          </a:p>
        </p:txBody>
      </p:sp>
    </p:spTree>
    <p:extLst>
      <p:ext uri="{BB962C8B-B14F-4D97-AF65-F5344CB8AC3E}">
        <p14:creationId xmlns:p14="http://schemas.microsoft.com/office/powerpoint/2010/main" val="690154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8EEFF92-79CB-4BA1-B3A4-284FF307DF2C}" type="datetimeFigureOut">
              <a:rPr lang="es-AR" smtClean="0"/>
              <a:t>26/10/2020</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B79AB5C1-8AA1-4BAC-ABA1-BC534518852E}" type="slidenum">
              <a:rPr lang="es-AR" smtClean="0"/>
              <a:t>‹Nº›</a:t>
            </a:fld>
            <a:endParaRPr lang="es-AR"/>
          </a:p>
        </p:txBody>
      </p:sp>
    </p:spTree>
    <p:extLst>
      <p:ext uri="{BB962C8B-B14F-4D97-AF65-F5344CB8AC3E}">
        <p14:creationId xmlns:p14="http://schemas.microsoft.com/office/powerpoint/2010/main" val="284136602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0"/>
            <a:ext cx="11292840" cy="5128923"/>
          </a:xfrm>
          <a:blipFill>
            <a:blip r:embed="rId2"/>
            <a:stretch>
              <a:fillRect/>
            </a:stretch>
          </a:blip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8EEFF92-79CB-4BA1-B3A4-284FF307DF2C}" type="datetimeFigureOut">
              <a:rPr lang="es-AR" smtClean="0"/>
              <a:t>26/10/2020</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B79AB5C1-8AA1-4BAC-ABA1-BC534518852E}" type="slidenum">
              <a:rPr lang="es-AR" smtClean="0"/>
              <a:t>‹Nº›</a:t>
            </a:fld>
            <a:endParaRPr lang="es-AR"/>
          </a:p>
        </p:txBody>
      </p:sp>
    </p:spTree>
    <p:extLst>
      <p:ext uri="{BB962C8B-B14F-4D97-AF65-F5344CB8AC3E}">
        <p14:creationId xmlns:p14="http://schemas.microsoft.com/office/powerpoint/2010/main" val="3396566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8EEFF92-79CB-4BA1-B3A4-284FF307DF2C}" type="datetimeFigureOut">
              <a:rPr lang="es-AR" smtClean="0"/>
              <a:t>26/10/2020</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79AB5C1-8AA1-4BAC-ABA1-BC534518852E}" type="slidenum">
              <a:rPr lang="es-AR" smtClean="0"/>
              <a:t>‹Nº›</a:t>
            </a:fld>
            <a:endParaRPr lang="es-AR"/>
          </a:p>
        </p:txBody>
      </p:sp>
    </p:spTree>
    <p:extLst>
      <p:ext uri="{BB962C8B-B14F-4D97-AF65-F5344CB8AC3E}">
        <p14:creationId xmlns:p14="http://schemas.microsoft.com/office/powerpoint/2010/main" val="1302752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8EEFF92-79CB-4BA1-B3A4-284FF307DF2C}" type="datetimeFigureOut">
              <a:rPr lang="es-AR" smtClean="0"/>
              <a:t>26/10/2020</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79AB5C1-8AA1-4BAC-ABA1-BC534518852E}" type="slidenum">
              <a:rPr lang="es-AR" smtClean="0"/>
              <a:t>‹Nº›</a:t>
            </a:fld>
            <a:endParaRPr lang="es-AR"/>
          </a:p>
        </p:txBody>
      </p:sp>
    </p:spTree>
    <p:extLst>
      <p:ext uri="{BB962C8B-B14F-4D97-AF65-F5344CB8AC3E}">
        <p14:creationId xmlns:p14="http://schemas.microsoft.com/office/powerpoint/2010/main" val="2246545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68EEFF92-79CB-4BA1-B3A4-284FF307DF2C}" type="datetimeFigureOut">
              <a:rPr lang="es-AR" smtClean="0"/>
              <a:t>26/10/2020</a:t>
            </a:fld>
            <a:endParaRPr lang="es-AR"/>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s-AR"/>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B79AB5C1-8AA1-4BAC-ABA1-BC534518852E}" type="slidenum">
              <a:rPr lang="es-AR" smtClean="0"/>
              <a:t>‹Nº›</a:t>
            </a:fld>
            <a:endParaRPr lang="es-AR"/>
          </a:p>
        </p:txBody>
      </p:sp>
    </p:spTree>
    <p:extLst>
      <p:ext uri="{BB962C8B-B14F-4D97-AF65-F5344CB8AC3E}">
        <p14:creationId xmlns:p14="http://schemas.microsoft.com/office/powerpoint/2010/main" val="3390336969"/>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9.png"/><Relationship Id="rId7"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0.png"/><Relationship Id="rId4" Type="http://schemas.openxmlformats.org/officeDocument/2006/relationships/image" Target="../media/image20.png"/><Relationship Id="rId9"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8" Type="http://schemas.openxmlformats.org/officeDocument/2006/relationships/image" Target="../media/image32.jpg"/><Relationship Id="rId13" Type="http://schemas.openxmlformats.org/officeDocument/2006/relationships/image" Target="../media/image41.png"/><Relationship Id="rId3" Type="http://schemas.openxmlformats.org/officeDocument/2006/relationships/image" Target="../media/image27.jpg"/><Relationship Id="rId7" Type="http://schemas.openxmlformats.org/officeDocument/2006/relationships/image" Target="../media/image31.jpg"/><Relationship Id="rId12" Type="http://schemas.openxmlformats.org/officeDocument/2006/relationships/image" Target="../media/image40.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0.jpg"/><Relationship Id="rId11" Type="http://schemas.openxmlformats.org/officeDocument/2006/relationships/image" Target="../media/image39.png"/><Relationship Id="rId5" Type="http://schemas.openxmlformats.org/officeDocument/2006/relationships/image" Target="../media/image29.jpg"/><Relationship Id="rId10" Type="http://schemas.openxmlformats.org/officeDocument/2006/relationships/image" Target="../media/image38.png"/><Relationship Id="rId4" Type="http://schemas.openxmlformats.org/officeDocument/2006/relationships/image" Target="../media/image28.jpg"/><Relationship Id="rId9" Type="http://schemas.openxmlformats.org/officeDocument/2006/relationships/image" Target="../media/image37.png"/><Relationship Id="rId14" Type="http://schemas.openxmlformats.org/officeDocument/2006/relationships/image" Target="../media/image42.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6.png"/><Relationship Id="rId4" Type="http://schemas.openxmlformats.org/officeDocument/2006/relationships/image" Target="../media/image33.jpeg"/></Relationships>
</file>

<file path=ppt/slides/_rels/slide9.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44.png"/></Relationships>
</file>

<file path=ppt/slides/_rels/slide12.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13.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14.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1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65.png"/><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80.png"/></Relationships>
</file>

<file path=ppt/slides/_rels/slide16.xml.rels><?xml version="1.0" encoding="UTF-8" standalone="yes"?>
<Relationships xmlns="http://schemas.openxmlformats.org/package/2006/relationships"><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514905" y="5291090"/>
            <a:ext cx="11677095" cy="1566909"/>
          </a:xfrm>
        </p:spPr>
        <p:txBody>
          <a:bodyPr>
            <a:noAutofit/>
          </a:bodyPr>
          <a:lstStyle/>
          <a:p>
            <a:r>
              <a:rPr lang="es-AR" sz="5400" b="1" dirty="0">
                <a:latin typeface="Bahnschrift" panose="020B0502040204020203" pitchFamily="34" charset="0"/>
              </a:rPr>
              <a:t>ANÁLISIS DE ACELERACIÓN</a:t>
            </a:r>
          </a:p>
        </p:txBody>
      </p:sp>
    </p:spTree>
    <p:extLst>
      <p:ext uri="{BB962C8B-B14F-4D97-AF65-F5344CB8AC3E}">
        <p14:creationId xmlns:p14="http://schemas.microsoft.com/office/powerpoint/2010/main" val="1925257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ángulo 63">
            <a:extLst>
              <a:ext uri="{FF2B5EF4-FFF2-40B4-BE49-F238E27FC236}">
                <a16:creationId xmlns:a16="http://schemas.microsoft.com/office/drawing/2014/main" id="{725B28B5-2D93-4494-BEC2-6BE7F89F1352}"/>
              </a:ext>
            </a:extLst>
          </p:cNvPr>
          <p:cNvSpPr/>
          <p:nvPr/>
        </p:nvSpPr>
        <p:spPr>
          <a:xfrm>
            <a:off x="0" y="853440"/>
            <a:ext cx="2519680"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10907288" cy="684362"/>
          </a:xfrm>
        </p:spPr>
        <p:txBody>
          <a:bodyPr>
            <a:normAutofit fontScale="90000"/>
          </a:bodyPr>
          <a:lstStyle/>
          <a:p>
            <a:r>
              <a:rPr lang="es-AR" sz="6000" b="1" dirty="0">
                <a:latin typeface="Bahnschrift" panose="020B0502040204020203" pitchFamily="34" charset="0"/>
              </a:rPr>
              <a:t>ANÁLISIS DE ACELERACIÓN</a:t>
            </a:r>
          </a:p>
        </p:txBody>
      </p:sp>
      <p:sp>
        <p:nvSpPr>
          <p:cNvPr id="3" name="Marcador de contenido 2"/>
          <p:cNvSpPr>
            <a:spLocks noGrp="1"/>
          </p:cNvSpPr>
          <p:nvPr>
            <p:ph idx="1"/>
          </p:nvPr>
        </p:nvSpPr>
        <p:spPr>
          <a:xfrm>
            <a:off x="116312" y="830016"/>
            <a:ext cx="5081713" cy="466124"/>
          </a:xfrm>
        </p:spPr>
        <p:txBody>
          <a:bodyPr>
            <a:normAutofit/>
          </a:bodyPr>
          <a:lstStyle/>
          <a:p>
            <a:pPr marL="0" indent="0">
              <a:buNone/>
            </a:pPr>
            <a:r>
              <a:rPr lang="es-AR" sz="2400" b="1" dirty="0">
                <a:latin typeface="Bahnschrift" panose="020B0502040204020203" pitchFamily="34" charset="0"/>
              </a:rPr>
              <a:t>INTRODUCCIÓN</a:t>
            </a:r>
          </a:p>
        </p:txBody>
      </p:sp>
      <p:sp>
        <p:nvSpPr>
          <p:cNvPr id="36" name="Marcador de pie de página 2">
            <a:extLst>
              <a:ext uri="{FF2B5EF4-FFF2-40B4-BE49-F238E27FC236}">
                <a16:creationId xmlns:a16="http://schemas.microsoft.com/office/drawing/2014/main" id="{FA38546B-FC4B-44C8-AFEF-02928070D436}"/>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17" name="Marcador de contenido 2">
            <a:extLst>
              <a:ext uri="{FF2B5EF4-FFF2-40B4-BE49-F238E27FC236}">
                <a16:creationId xmlns:a16="http://schemas.microsoft.com/office/drawing/2014/main" id="{E4DFA728-08F7-4DAD-B29E-27537E19DAAC}"/>
              </a:ext>
            </a:extLst>
          </p:cNvPr>
          <p:cNvSpPr txBox="1">
            <a:spLocks/>
          </p:cNvSpPr>
          <p:nvPr/>
        </p:nvSpPr>
        <p:spPr>
          <a:xfrm>
            <a:off x="1837602" y="4355889"/>
            <a:ext cx="2074047"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VELOCIDAD</a:t>
            </a:r>
          </a:p>
        </p:txBody>
      </p:sp>
      <p:sp>
        <p:nvSpPr>
          <p:cNvPr id="5" name="Marcador de contenido 2">
            <a:extLst>
              <a:ext uri="{FF2B5EF4-FFF2-40B4-BE49-F238E27FC236}">
                <a16:creationId xmlns:a16="http://schemas.microsoft.com/office/drawing/2014/main" id="{24E7D85E-379E-400C-A46C-FA08A4F88B7C}"/>
              </a:ext>
            </a:extLst>
          </p:cNvPr>
          <p:cNvSpPr txBox="1">
            <a:spLocks/>
          </p:cNvSpPr>
          <p:nvPr/>
        </p:nvSpPr>
        <p:spPr>
          <a:xfrm>
            <a:off x="2719992" y="5669054"/>
            <a:ext cx="2506088" cy="100899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FUERZAS DINÁMICAS</a:t>
            </a:r>
          </a:p>
        </p:txBody>
      </p:sp>
      <p:sp>
        <p:nvSpPr>
          <p:cNvPr id="6" name="Marcador de contenido 2">
            <a:extLst>
              <a:ext uri="{FF2B5EF4-FFF2-40B4-BE49-F238E27FC236}">
                <a16:creationId xmlns:a16="http://schemas.microsoft.com/office/drawing/2014/main" id="{C5DBCBD5-2266-469F-BE58-75FC5CB32D1D}"/>
              </a:ext>
            </a:extLst>
          </p:cNvPr>
          <p:cNvSpPr txBox="1">
            <a:spLocks/>
          </p:cNvSpPr>
          <p:nvPr/>
        </p:nvSpPr>
        <p:spPr>
          <a:xfrm>
            <a:off x="1837602" y="4919047"/>
            <a:ext cx="2372149"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highlight>
                  <a:srgbClr val="FFC000"/>
                </a:highlight>
                <a:latin typeface="Bahnschrift" panose="020B0502040204020203" pitchFamily="34" charset="0"/>
              </a:rPr>
              <a:t>ACELERACIÓN</a:t>
            </a:r>
          </a:p>
        </p:txBody>
      </p:sp>
      <p:sp>
        <p:nvSpPr>
          <p:cNvPr id="35" name="Marcador de contenido 2">
            <a:extLst>
              <a:ext uri="{FF2B5EF4-FFF2-40B4-BE49-F238E27FC236}">
                <a16:creationId xmlns:a16="http://schemas.microsoft.com/office/drawing/2014/main" id="{D6B7EB20-5CB9-4A7E-8FA9-88BB9BEAD09A}"/>
              </a:ext>
            </a:extLst>
          </p:cNvPr>
          <p:cNvSpPr txBox="1">
            <a:spLocks/>
          </p:cNvSpPr>
          <p:nvPr/>
        </p:nvSpPr>
        <p:spPr>
          <a:xfrm>
            <a:off x="392980" y="1930391"/>
            <a:ext cx="2539612"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Font typeface="Arial" pitchFamily="34" charset="0"/>
              <a:buNone/>
            </a:pPr>
            <a:r>
              <a:rPr lang="en-US" sz="3200" b="1" dirty="0">
                <a:solidFill>
                  <a:srgbClr val="FFC000"/>
                </a:solidFill>
                <a:latin typeface="Bahnschrift" panose="020B0502040204020203" pitchFamily="34" charset="0"/>
              </a:rPr>
              <a:t>POSICION</a:t>
            </a:r>
            <a:endParaRPr lang="es-AR" sz="3200" b="1" dirty="0">
              <a:solidFill>
                <a:srgbClr val="FFC000"/>
              </a:solidFill>
              <a:latin typeface="Bahnschrift" panose="020B0502040204020203" pitchFamily="34" charset="0"/>
            </a:endParaRPr>
          </a:p>
        </p:txBody>
      </p:sp>
      <p:pic>
        <p:nvPicPr>
          <p:cNvPr id="43" name="Imagen 42">
            <a:extLst>
              <a:ext uri="{FF2B5EF4-FFF2-40B4-BE49-F238E27FC236}">
                <a16:creationId xmlns:a16="http://schemas.microsoft.com/office/drawing/2014/main" id="{75786E2E-A65F-4ADA-9A2B-B9D7F90CECB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58071"/>
          <a:stretch/>
        </p:blipFill>
        <p:spPr>
          <a:xfrm>
            <a:off x="1719681" y="4279171"/>
            <a:ext cx="218603" cy="1106000"/>
          </a:xfrm>
          <a:prstGeom prst="rect">
            <a:avLst/>
          </a:prstGeom>
        </p:spPr>
      </p:pic>
      <p:sp>
        <p:nvSpPr>
          <p:cNvPr id="44" name="Marcador de contenido 2">
            <a:extLst>
              <a:ext uri="{FF2B5EF4-FFF2-40B4-BE49-F238E27FC236}">
                <a16:creationId xmlns:a16="http://schemas.microsoft.com/office/drawing/2014/main" id="{92FEFC25-03EB-40A2-BA05-2890EBAC499C}"/>
              </a:ext>
            </a:extLst>
          </p:cNvPr>
          <p:cNvSpPr txBox="1">
            <a:spLocks/>
          </p:cNvSpPr>
          <p:nvPr/>
        </p:nvSpPr>
        <p:spPr>
          <a:xfrm>
            <a:off x="654907" y="3195149"/>
            <a:ext cx="1955590" cy="101884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Font typeface="Arial" pitchFamily="34" charset="0"/>
              <a:buNone/>
            </a:pPr>
            <a:r>
              <a:rPr lang="es-AR" sz="2400" b="1" dirty="0">
                <a:latin typeface="Bahnschrift" panose="020B0502040204020203" pitchFamily="34" charset="0"/>
              </a:rPr>
              <a:t>ANÁLISIS CINEMÁTICO</a:t>
            </a:r>
          </a:p>
        </p:txBody>
      </p:sp>
      <p:pic>
        <p:nvPicPr>
          <p:cNvPr id="59" name="Imagen 58" descr="Imagen que contiene reloj&#10;&#10;Descripción generada automáticamente">
            <a:extLst>
              <a:ext uri="{FF2B5EF4-FFF2-40B4-BE49-F238E27FC236}">
                <a16:creationId xmlns:a16="http://schemas.microsoft.com/office/drawing/2014/main" id="{FD4F7EFA-27E5-49EF-9B29-A113D49AC3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6200000" flipV="1">
            <a:off x="3415175" y="3819267"/>
            <a:ext cx="762665" cy="466124"/>
          </a:xfrm>
          <a:prstGeom prst="rect">
            <a:avLst/>
          </a:prstGeom>
        </p:spPr>
      </p:pic>
      <p:sp>
        <p:nvSpPr>
          <p:cNvPr id="61" name="Marcador de contenido 2">
            <a:extLst>
              <a:ext uri="{FF2B5EF4-FFF2-40B4-BE49-F238E27FC236}">
                <a16:creationId xmlns:a16="http://schemas.microsoft.com/office/drawing/2014/main" id="{0F584C05-DB3E-4CE2-A6CD-75A72893AA13}"/>
              </a:ext>
            </a:extLst>
          </p:cNvPr>
          <p:cNvSpPr txBox="1">
            <a:spLocks/>
          </p:cNvSpPr>
          <p:nvPr/>
        </p:nvSpPr>
        <p:spPr>
          <a:xfrm>
            <a:off x="2785345" y="2816233"/>
            <a:ext cx="2974238"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Font typeface="Arial" pitchFamily="34" charset="0"/>
              <a:buNone/>
            </a:pPr>
            <a:r>
              <a:rPr lang="es-AR" sz="2400" dirty="0">
                <a:latin typeface="Bahnschrift" panose="020B0502040204020203" pitchFamily="34" charset="0"/>
              </a:rPr>
              <a:t>ENERGÍA CINÉTICA ALMACENADA</a:t>
            </a:r>
          </a:p>
        </p:txBody>
      </p:sp>
      <p:sp>
        <p:nvSpPr>
          <p:cNvPr id="11" name="Marcador de contenido 2">
            <a:extLst>
              <a:ext uri="{FF2B5EF4-FFF2-40B4-BE49-F238E27FC236}">
                <a16:creationId xmlns:a16="http://schemas.microsoft.com/office/drawing/2014/main" id="{1E0E2434-9733-420C-B6C3-605D519BBF04}"/>
              </a:ext>
            </a:extLst>
          </p:cNvPr>
          <p:cNvSpPr txBox="1">
            <a:spLocks/>
          </p:cNvSpPr>
          <p:nvPr/>
        </p:nvSpPr>
        <p:spPr>
          <a:xfrm>
            <a:off x="823681" y="1729870"/>
            <a:ext cx="1588893" cy="328817"/>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Font typeface="Arial" pitchFamily="34" charset="0"/>
              <a:buNone/>
            </a:pPr>
            <a:r>
              <a:rPr lang="es-AR" sz="1600" b="1" dirty="0">
                <a:latin typeface="Bahnschrift" panose="020B0502040204020203" pitchFamily="34" charset="0"/>
              </a:rPr>
              <a:t>YA CONOCIDA</a:t>
            </a:r>
          </a:p>
        </p:txBody>
      </p:sp>
      <p:pic>
        <p:nvPicPr>
          <p:cNvPr id="15" name="Imagen 14" descr="Imagen que contiene cuchillo, dibujo&#10;&#10;Descripción generada automáticamente">
            <a:extLst>
              <a:ext uri="{FF2B5EF4-FFF2-40B4-BE49-F238E27FC236}">
                <a16:creationId xmlns:a16="http://schemas.microsoft.com/office/drawing/2014/main" id="{6703D55B-2673-4C04-A36D-D0F82A36A8F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5400000">
            <a:off x="1289151" y="2659434"/>
            <a:ext cx="588264" cy="272796"/>
          </a:xfrm>
          <a:prstGeom prst="rect">
            <a:avLst/>
          </a:prstGeom>
        </p:spPr>
      </p:pic>
      <p:pic>
        <p:nvPicPr>
          <p:cNvPr id="18" name="Imagen 17" descr="Imagen que contiene dibujo&#10;&#10;Descripción generada automáticamente">
            <a:extLst>
              <a:ext uri="{FF2B5EF4-FFF2-40B4-BE49-F238E27FC236}">
                <a16:creationId xmlns:a16="http://schemas.microsoft.com/office/drawing/2014/main" id="{9FEEB3A9-50CB-4F37-8AD1-4F335E0307F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0800000" flipH="1" flipV="1">
            <a:off x="1039386" y="4031303"/>
            <a:ext cx="578741" cy="732933"/>
          </a:xfrm>
          <a:prstGeom prst="rect">
            <a:avLst/>
          </a:prstGeom>
        </p:spPr>
      </p:pic>
      <p:pic>
        <p:nvPicPr>
          <p:cNvPr id="19" name="Imagen 18" descr="Imagen que contiene dibujo&#10;&#10;Descripción generada automáticamente">
            <a:extLst>
              <a:ext uri="{FF2B5EF4-FFF2-40B4-BE49-F238E27FC236}">
                <a16:creationId xmlns:a16="http://schemas.microsoft.com/office/drawing/2014/main" id="{B82FC284-8FF5-4179-BFBD-D0BE0D7FA54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0800000" flipH="1" flipV="1">
            <a:off x="2078427" y="5523801"/>
            <a:ext cx="578741" cy="732933"/>
          </a:xfrm>
          <a:prstGeom prst="rect">
            <a:avLst/>
          </a:prstGeom>
        </p:spPr>
      </p:pic>
      <p:pic>
        <p:nvPicPr>
          <p:cNvPr id="20" name="Imagen 19">
            <a:extLst>
              <a:ext uri="{FF2B5EF4-FFF2-40B4-BE49-F238E27FC236}">
                <a16:creationId xmlns:a16="http://schemas.microsoft.com/office/drawing/2014/main" id="{D5AC81C7-FB02-4091-A94E-DF107017FF9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6200000" flipH="1">
            <a:off x="3769675" y="4835084"/>
            <a:ext cx="1374537" cy="571694"/>
          </a:xfrm>
          <a:prstGeom prst="rect">
            <a:avLst/>
          </a:prstGeom>
        </p:spPr>
      </p:pic>
      <p:sp>
        <p:nvSpPr>
          <p:cNvPr id="23" name="Marcador de contenido 2">
            <a:extLst>
              <a:ext uri="{FF2B5EF4-FFF2-40B4-BE49-F238E27FC236}">
                <a16:creationId xmlns:a16="http://schemas.microsoft.com/office/drawing/2014/main" id="{53B1A32D-8F18-438E-A02A-DE5BD5A039B2}"/>
              </a:ext>
            </a:extLst>
          </p:cNvPr>
          <p:cNvSpPr txBox="1">
            <a:spLocks/>
          </p:cNvSpPr>
          <p:nvPr/>
        </p:nvSpPr>
        <p:spPr>
          <a:xfrm>
            <a:off x="4795455" y="4296066"/>
            <a:ext cx="2493429" cy="535140"/>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000" dirty="0">
                <a:latin typeface="Bahnschrift" panose="020B0502040204020203" pitchFamily="34" charset="0"/>
              </a:rPr>
              <a:t>Método Gráfico</a:t>
            </a:r>
          </a:p>
        </p:txBody>
      </p:sp>
      <p:sp>
        <p:nvSpPr>
          <p:cNvPr id="25" name="Marcador de contenido 2">
            <a:extLst>
              <a:ext uri="{FF2B5EF4-FFF2-40B4-BE49-F238E27FC236}">
                <a16:creationId xmlns:a16="http://schemas.microsoft.com/office/drawing/2014/main" id="{364CCB91-87CA-425C-97BF-A284422FB8D2}"/>
              </a:ext>
            </a:extLst>
          </p:cNvPr>
          <p:cNvSpPr txBox="1">
            <a:spLocks/>
          </p:cNvSpPr>
          <p:nvPr/>
        </p:nvSpPr>
        <p:spPr>
          <a:xfrm>
            <a:off x="4795455" y="5338165"/>
            <a:ext cx="4746970" cy="535140"/>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000" dirty="0">
                <a:latin typeface="Bahnschrift" panose="020B0502040204020203" pitchFamily="34" charset="0"/>
              </a:rPr>
              <a:t>Método Analítico / Ecuación de Lazo Vectorial</a:t>
            </a:r>
          </a:p>
        </p:txBody>
      </p:sp>
    </p:spTree>
    <p:extLst>
      <p:ext uri="{BB962C8B-B14F-4D97-AF65-F5344CB8AC3E}">
        <p14:creationId xmlns:p14="http://schemas.microsoft.com/office/powerpoint/2010/main" val="266674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ángulo 40">
            <a:extLst>
              <a:ext uri="{FF2B5EF4-FFF2-40B4-BE49-F238E27FC236}">
                <a16:creationId xmlns:a16="http://schemas.microsoft.com/office/drawing/2014/main" id="{B743C3E4-B138-4C3C-B69D-DF89993E7FC2}"/>
              </a:ext>
            </a:extLst>
          </p:cNvPr>
          <p:cNvSpPr/>
          <p:nvPr/>
        </p:nvSpPr>
        <p:spPr>
          <a:xfrm>
            <a:off x="0" y="853440"/>
            <a:ext cx="5323840"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10448341" cy="684362"/>
          </a:xfrm>
        </p:spPr>
        <p:txBody>
          <a:bodyPr>
            <a:normAutofit fontScale="90000"/>
          </a:bodyPr>
          <a:lstStyle/>
          <a:p>
            <a:r>
              <a:rPr lang="es-AR" sz="6000" b="1" dirty="0">
                <a:latin typeface="Bahnschrift" panose="020B0502040204020203" pitchFamily="34" charset="0"/>
              </a:rPr>
              <a:t>ANÁLISIS DE ACELERACIÓN</a:t>
            </a:r>
          </a:p>
        </p:txBody>
      </p:sp>
      <p:sp>
        <p:nvSpPr>
          <p:cNvPr id="3" name="Marcador de contenido 2"/>
          <p:cNvSpPr>
            <a:spLocks noGrp="1"/>
          </p:cNvSpPr>
          <p:nvPr>
            <p:ph idx="1"/>
          </p:nvPr>
        </p:nvSpPr>
        <p:spPr>
          <a:xfrm>
            <a:off x="116312" y="830016"/>
            <a:ext cx="5979688" cy="466124"/>
          </a:xfrm>
        </p:spPr>
        <p:txBody>
          <a:bodyPr>
            <a:normAutofit/>
          </a:bodyPr>
          <a:lstStyle/>
          <a:p>
            <a:pPr marL="0" indent="0">
              <a:buNone/>
            </a:pPr>
            <a:r>
              <a:rPr lang="es-AR" sz="2400" b="1" dirty="0">
                <a:latin typeface="Bahnschrift" panose="020B0502040204020203" pitchFamily="34" charset="0"/>
              </a:rPr>
              <a:t>DETERMINACIÓN DE ACELERACIÓN</a:t>
            </a: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pic>
        <p:nvPicPr>
          <p:cNvPr id="5" name="Imagen 4">
            <a:extLst>
              <a:ext uri="{FF2B5EF4-FFF2-40B4-BE49-F238E27FC236}">
                <a16:creationId xmlns:a16="http://schemas.microsoft.com/office/drawing/2014/main" id="{A7083471-4F1A-4F16-B7AA-1A3443704B5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4015686"/>
            <a:ext cx="3692217" cy="2769162"/>
          </a:xfrm>
          <a:prstGeom prst="rect">
            <a:avLst/>
          </a:prstGeom>
        </p:spPr>
      </p:pic>
      <p:sp>
        <p:nvSpPr>
          <p:cNvPr id="7" name="Marcador de contenido 2">
            <a:extLst>
              <a:ext uri="{FF2B5EF4-FFF2-40B4-BE49-F238E27FC236}">
                <a16:creationId xmlns:a16="http://schemas.microsoft.com/office/drawing/2014/main" id="{64316D64-53E4-4F7D-AFFF-3C0996C701C4}"/>
              </a:ext>
            </a:extLst>
          </p:cNvPr>
          <p:cNvSpPr txBox="1">
            <a:spLocks/>
          </p:cNvSpPr>
          <p:nvPr/>
        </p:nvSpPr>
        <p:spPr>
          <a:xfrm>
            <a:off x="71943" y="1332092"/>
            <a:ext cx="6488119" cy="1064255"/>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La aceleración se define como la </a:t>
            </a:r>
            <a:r>
              <a:rPr lang="es-AR" sz="1400" b="1" dirty="0">
                <a:latin typeface="Bahnschrift" panose="020B0502040204020203" pitchFamily="34" charset="0"/>
              </a:rPr>
              <a:t>tasa de cambio de la velocidad con respecto al tiempo</a:t>
            </a:r>
            <a:r>
              <a:rPr lang="es-AR" sz="1400" dirty="0">
                <a:latin typeface="Bahnschrift" panose="020B0502040204020203" pitchFamily="34" charset="0"/>
              </a:rPr>
              <a:t>. </a:t>
            </a:r>
          </a:p>
          <a:p>
            <a:pPr algn="just">
              <a:buFontTx/>
              <a:buChar char="-"/>
            </a:pPr>
            <a:r>
              <a:rPr lang="es-AR" sz="1400" dirty="0">
                <a:latin typeface="Bahnschrift" panose="020B0502040204020203" pitchFamily="34" charset="0"/>
              </a:rPr>
              <a:t>La velocidad (lineal V o angular </a:t>
            </a:r>
            <a:r>
              <a:rPr lang="el-GR" sz="1400" dirty="0">
                <a:latin typeface="Cambria Math" panose="02040503050406030204" pitchFamily="18" charset="0"/>
                <a:ea typeface="Cambria Math" panose="02040503050406030204" pitchFamily="18" charset="0"/>
              </a:rPr>
              <a:t>ω</a:t>
            </a:r>
            <a:r>
              <a:rPr lang="es-AR" sz="1400" dirty="0">
                <a:latin typeface="Bahnschrift" panose="020B0502040204020203" pitchFamily="34" charset="0"/>
              </a:rPr>
              <a:t>) es una cantidad vectorial como lo es la aceleración. La aceleración puede ser </a:t>
            </a:r>
            <a:r>
              <a:rPr lang="es-AR" sz="1400" b="1" dirty="0">
                <a:solidFill>
                  <a:srgbClr val="C00000"/>
                </a:solidFill>
                <a:latin typeface="Bahnschrift" panose="020B0502040204020203" pitchFamily="34" charset="0"/>
              </a:rPr>
              <a:t>angular o lineal</a:t>
            </a:r>
            <a:r>
              <a:rPr lang="es-AR" sz="1400" dirty="0">
                <a:latin typeface="Bahnschrift" panose="020B0502040204020203" pitchFamily="34" charset="0"/>
              </a:rPr>
              <a:t>. La aceleración </a:t>
            </a:r>
            <a:r>
              <a:rPr lang="es-AR" sz="1400" b="1" dirty="0">
                <a:latin typeface="Bahnschrift" panose="020B0502040204020203" pitchFamily="34" charset="0"/>
              </a:rPr>
              <a:t>angular</a:t>
            </a:r>
            <a:r>
              <a:rPr lang="es-AR" sz="1400" dirty="0">
                <a:latin typeface="Bahnschrift" panose="020B0502040204020203" pitchFamily="34" charset="0"/>
              </a:rPr>
              <a:t> será denotada como </a:t>
            </a:r>
            <a:r>
              <a:rPr lang="el-GR" sz="1400" dirty="0">
                <a:latin typeface="Bahnschrift" panose="020B0502040204020203" pitchFamily="34" charset="0"/>
                <a:ea typeface="Cambria Math" panose="02040503050406030204" pitchFamily="18" charset="0"/>
              </a:rPr>
              <a:t>α</a:t>
            </a:r>
            <a:r>
              <a:rPr lang="es-AR" sz="1400" dirty="0">
                <a:latin typeface="Bahnschrift" panose="020B0502040204020203" pitchFamily="34" charset="0"/>
              </a:rPr>
              <a:t> y la aceleración lineal como A.</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C873773F-9373-4A67-96F1-7BA0A862DEDA}"/>
                  </a:ext>
                </a:extLst>
              </p:cNvPr>
              <p:cNvSpPr txBox="1"/>
              <p:nvPr/>
            </p:nvSpPr>
            <p:spPr>
              <a:xfrm>
                <a:off x="7022234" y="1402107"/>
                <a:ext cx="1633524" cy="10518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sz="3600" i="1" smtClean="0">
                          <a:latin typeface="Cambria Math" panose="02040503050406030204" pitchFamily="18" charset="0"/>
                          <a:ea typeface="Cambria Math" panose="02040503050406030204" pitchFamily="18" charset="0"/>
                        </a:rPr>
                        <m:t>𝛼</m:t>
                      </m:r>
                      <m:r>
                        <a:rPr lang="en-US" sz="3600" b="0" i="1" smtClean="0">
                          <a:latin typeface="Cambria Math" panose="02040503050406030204" pitchFamily="18" charset="0"/>
                          <a:ea typeface="Cambria Math" panose="02040503050406030204" pitchFamily="18" charset="0"/>
                        </a:rPr>
                        <m:t>=</m:t>
                      </m:r>
                      <m:f>
                        <m:fPr>
                          <m:ctrlPr>
                            <a:rPr lang="en-US" sz="3600" b="0" i="1" smtClean="0">
                              <a:latin typeface="Cambria Math" panose="02040503050406030204" pitchFamily="18" charset="0"/>
                              <a:ea typeface="Cambria Math" panose="02040503050406030204" pitchFamily="18" charset="0"/>
                            </a:rPr>
                          </m:ctrlPr>
                        </m:fPr>
                        <m:num>
                          <m:r>
                            <a:rPr lang="en-US" sz="3600" b="0" i="1" smtClean="0">
                              <a:latin typeface="Cambria Math" panose="02040503050406030204" pitchFamily="18" charset="0"/>
                              <a:ea typeface="Cambria Math" panose="02040503050406030204" pitchFamily="18" charset="0"/>
                            </a:rPr>
                            <m:t>𝑑</m:t>
                          </m:r>
                          <m:r>
                            <a:rPr lang="en-US" sz="3600" b="0" i="1" smtClean="0">
                              <a:latin typeface="Cambria Math" panose="02040503050406030204" pitchFamily="18" charset="0"/>
                              <a:ea typeface="Cambria Math" panose="02040503050406030204" pitchFamily="18" charset="0"/>
                            </a:rPr>
                            <m:t>𝜔</m:t>
                          </m:r>
                        </m:num>
                        <m:den>
                          <m:r>
                            <a:rPr lang="en-US" sz="3600" b="0" i="1" smtClean="0">
                              <a:latin typeface="Cambria Math" panose="02040503050406030204" pitchFamily="18" charset="0"/>
                              <a:ea typeface="Cambria Math" panose="02040503050406030204" pitchFamily="18" charset="0"/>
                            </a:rPr>
                            <m:t>𝑑𝑡</m:t>
                          </m:r>
                        </m:den>
                      </m:f>
                    </m:oMath>
                  </m:oMathPara>
                </a14:m>
                <a:endParaRPr lang="es-AR" sz="3600" dirty="0"/>
              </a:p>
            </p:txBody>
          </p:sp>
        </mc:Choice>
        <mc:Fallback xmlns="">
          <p:sp>
            <p:nvSpPr>
              <p:cNvPr id="10" name="CuadroTexto 9">
                <a:extLst>
                  <a:ext uri="{FF2B5EF4-FFF2-40B4-BE49-F238E27FC236}">
                    <a16:creationId xmlns:a16="http://schemas.microsoft.com/office/drawing/2014/main" id="{C873773F-9373-4A67-96F1-7BA0A862DEDA}"/>
                  </a:ext>
                </a:extLst>
              </p:cNvPr>
              <p:cNvSpPr txBox="1">
                <a:spLocks noRot="1" noChangeAspect="1" noMove="1" noResize="1" noEditPoints="1" noAdjustHandles="1" noChangeArrowheads="1" noChangeShapeType="1" noTextEdit="1"/>
              </p:cNvSpPr>
              <p:nvPr/>
            </p:nvSpPr>
            <p:spPr>
              <a:xfrm>
                <a:off x="7022234" y="1402107"/>
                <a:ext cx="1633524" cy="1051826"/>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F1F0E6F4-ACA0-417B-B29C-FFF4FF60B00E}"/>
                  </a:ext>
                </a:extLst>
              </p:cNvPr>
              <p:cNvSpPr txBox="1"/>
              <p:nvPr/>
            </p:nvSpPr>
            <p:spPr>
              <a:xfrm>
                <a:off x="8955879" y="1428754"/>
                <a:ext cx="1608774" cy="10518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sz="3600" b="0" i="1" smtClean="0">
                          <a:latin typeface="Cambria Math" panose="02040503050406030204" pitchFamily="18" charset="0"/>
                          <a:ea typeface="Cambria Math" panose="02040503050406030204" pitchFamily="18" charset="0"/>
                        </a:rPr>
                        <m:t>𝐴</m:t>
                      </m:r>
                      <m:r>
                        <a:rPr lang="en-US" sz="3600" b="0" i="1" smtClean="0">
                          <a:latin typeface="Cambria Math" panose="02040503050406030204" pitchFamily="18" charset="0"/>
                          <a:ea typeface="Cambria Math" panose="02040503050406030204" pitchFamily="18" charset="0"/>
                        </a:rPr>
                        <m:t>=</m:t>
                      </m:r>
                      <m:f>
                        <m:fPr>
                          <m:ctrlPr>
                            <a:rPr lang="en-US" sz="3600" b="0" i="1" smtClean="0">
                              <a:latin typeface="Cambria Math" panose="02040503050406030204" pitchFamily="18" charset="0"/>
                              <a:ea typeface="Cambria Math" panose="02040503050406030204" pitchFamily="18" charset="0"/>
                            </a:rPr>
                          </m:ctrlPr>
                        </m:fPr>
                        <m:num>
                          <m:r>
                            <a:rPr lang="en-US" sz="3600" b="0" i="1" smtClean="0">
                              <a:latin typeface="Cambria Math" panose="02040503050406030204" pitchFamily="18" charset="0"/>
                              <a:ea typeface="Cambria Math" panose="02040503050406030204" pitchFamily="18" charset="0"/>
                            </a:rPr>
                            <m:t>𝑑</m:t>
                          </m:r>
                          <m:r>
                            <a:rPr lang="es-AR" sz="3600" b="0" i="1" smtClean="0">
                              <a:latin typeface="Cambria Math" panose="02040503050406030204" pitchFamily="18" charset="0"/>
                              <a:ea typeface="Cambria Math" panose="02040503050406030204" pitchFamily="18" charset="0"/>
                            </a:rPr>
                            <m:t>𝑉</m:t>
                          </m:r>
                        </m:num>
                        <m:den>
                          <m:r>
                            <a:rPr lang="en-US" sz="3600" b="0" i="1" smtClean="0">
                              <a:latin typeface="Cambria Math" panose="02040503050406030204" pitchFamily="18" charset="0"/>
                              <a:ea typeface="Cambria Math" panose="02040503050406030204" pitchFamily="18" charset="0"/>
                            </a:rPr>
                            <m:t>𝑑𝑡</m:t>
                          </m:r>
                        </m:den>
                      </m:f>
                    </m:oMath>
                  </m:oMathPara>
                </a14:m>
                <a:endParaRPr lang="es-AR" sz="3600" dirty="0"/>
              </a:p>
            </p:txBody>
          </p:sp>
        </mc:Choice>
        <mc:Fallback xmlns="">
          <p:sp>
            <p:nvSpPr>
              <p:cNvPr id="11" name="CuadroTexto 10">
                <a:extLst>
                  <a:ext uri="{FF2B5EF4-FFF2-40B4-BE49-F238E27FC236}">
                    <a16:creationId xmlns:a16="http://schemas.microsoft.com/office/drawing/2014/main" id="{F1F0E6F4-ACA0-417B-B29C-FFF4FF60B00E}"/>
                  </a:ext>
                </a:extLst>
              </p:cNvPr>
              <p:cNvSpPr txBox="1">
                <a:spLocks noRot="1" noChangeAspect="1" noMove="1" noResize="1" noEditPoints="1" noAdjustHandles="1" noChangeArrowheads="1" noChangeShapeType="1" noTextEdit="1"/>
              </p:cNvSpPr>
              <p:nvPr/>
            </p:nvSpPr>
            <p:spPr>
              <a:xfrm>
                <a:off x="8955879" y="1428754"/>
                <a:ext cx="1608774" cy="1051826"/>
              </a:xfrm>
              <a:prstGeom prst="rect">
                <a:avLst/>
              </a:prstGeom>
              <a:blipFill>
                <a:blip r:embed="rId4"/>
                <a:stretch>
                  <a:fillRect/>
                </a:stretch>
              </a:blipFill>
            </p:spPr>
            <p:txBody>
              <a:bodyPr/>
              <a:lstStyle/>
              <a:p>
                <a:r>
                  <a:rPr lang="es-AR">
                    <a:noFill/>
                  </a:rPr>
                  <a:t> </a:t>
                </a:r>
              </a:p>
            </p:txBody>
          </p:sp>
        </mc:Fallback>
      </mc:AlternateContent>
      <p:sp>
        <p:nvSpPr>
          <p:cNvPr id="12" name="Marcador de contenido 2">
            <a:extLst>
              <a:ext uri="{FF2B5EF4-FFF2-40B4-BE49-F238E27FC236}">
                <a16:creationId xmlns:a16="http://schemas.microsoft.com/office/drawing/2014/main" id="{79D66510-BFAA-4FA2-97F9-84E6A0F1EA9E}"/>
              </a:ext>
            </a:extLst>
          </p:cNvPr>
          <p:cNvSpPr txBox="1">
            <a:spLocks/>
          </p:cNvSpPr>
          <p:nvPr/>
        </p:nvSpPr>
        <p:spPr>
          <a:xfrm>
            <a:off x="116312" y="3080450"/>
            <a:ext cx="11130808" cy="127515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Analizamos la rotación pura de un eslabón representado por un vector R</a:t>
            </a:r>
            <a:r>
              <a:rPr lang="es-AR" sz="1400" baseline="-25000" dirty="0">
                <a:latin typeface="Bahnschrift" panose="020B0502040204020203" pitchFamily="34" charset="0"/>
              </a:rPr>
              <a:t>PA</a:t>
            </a:r>
            <a:r>
              <a:rPr lang="es-AR" sz="1400" dirty="0">
                <a:latin typeface="Bahnschrift" panose="020B0502040204020203" pitchFamily="34" charset="0"/>
              </a:rPr>
              <a:t> cuyo punto de aplicación coincide con el origen del sistema XY, y tiene una velocidad angular ω y una aceleración angular </a:t>
            </a:r>
            <a:r>
              <a:rPr lang="el-GR" sz="1400" dirty="0">
                <a:latin typeface="Bahnschrift" panose="020B0502040204020203" pitchFamily="34" charset="0"/>
                <a:ea typeface="Cambria Math" panose="02040503050406030204" pitchFamily="18" charset="0"/>
              </a:rPr>
              <a:t>α</a:t>
            </a:r>
            <a:r>
              <a:rPr lang="es-AR" sz="1400" dirty="0">
                <a:latin typeface="Bahnschrift" panose="020B0502040204020203" pitchFamily="34" charset="0"/>
              </a:rPr>
              <a:t>. </a:t>
            </a:r>
          </a:p>
          <a:p>
            <a:pPr algn="just">
              <a:buFontTx/>
              <a:buChar char="-"/>
            </a:pPr>
            <a:r>
              <a:rPr lang="es-AR" sz="1400" dirty="0">
                <a:latin typeface="Bahnschrift" panose="020B0502040204020203" pitchFamily="34" charset="0"/>
              </a:rPr>
              <a:t>Si expresamos el vector posición R</a:t>
            </a:r>
            <a:r>
              <a:rPr lang="es-AR" sz="1400" baseline="-25000" dirty="0">
                <a:latin typeface="Bahnschrift" panose="020B0502040204020203" pitchFamily="34" charset="0"/>
              </a:rPr>
              <a:t>PA</a:t>
            </a:r>
            <a:r>
              <a:rPr lang="es-AR" sz="1400" dirty="0">
                <a:latin typeface="Bahnschrift" panose="020B0502040204020203" pitchFamily="34" charset="0"/>
              </a:rPr>
              <a:t> según la notación polar compleja, tenemos:</a:t>
            </a:r>
          </a:p>
        </p:txBody>
      </p:sp>
      <p:pic>
        <p:nvPicPr>
          <p:cNvPr id="13" name="Imagen 12" descr="Imagen que contiene cuchillo, dibujo&#10;&#10;Descripción generada automáticamente">
            <a:extLst>
              <a:ext uri="{FF2B5EF4-FFF2-40B4-BE49-F238E27FC236}">
                <a16:creationId xmlns:a16="http://schemas.microsoft.com/office/drawing/2014/main" id="{3FF625A9-8846-4736-8586-3240050900A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5400000">
            <a:off x="3147551" y="2754346"/>
            <a:ext cx="404239" cy="187458"/>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CE3A73DB-C714-4215-B3D6-7D47506A2C05}"/>
                  </a:ext>
                </a:extLst>
              </p:cNvPr>
              <p:cNvSpPr txBox="1"/>
              <p:nvPr/>
            </p:nvSpPr>
            <p:spPr>
              <a:xfrm>
                <a:off x="4086494" y="4339736"/>
                <a:ext cx="1197123" cy="289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𝑃𝐴</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𝜃</m:t>
                          </m:r>
                        </m:sup>
                      </m:sSup>
                    </m:oMath>
                  </m:oMathPara>
                </a14:m>
                <a:endParaRPr lang="es-AR" dirty="0"/>
              </a:p>
            </p:txBody>
          </p:sp>
        </mc:Choice>
        <mc:Fallback xmlns="">
          <p:sp>
            <p:nvSpPr>
              <p:cNvPr id="14" name="CuadroTexto 13">
                <a:extLst>
                  <a:ext uri="{FF2B5EF4-FFF2-40B4-BE49-F238E27FC236}">
                    <a16:creationId xmlns:a16="http://schemas.microsoft.com/office/drawing/2014/main" id="{CE3A73DB-C714-4215-B3D6-7D47506A2C05}"/>
                  </a:ext>
                </a:extLst>
              </p:cNvPr>
              <p:cNvSpPr txBox="1">
                <a:spLocks noRot="1" noChangeAspect="1" noMove="1" noResize="1" noEditPoints="1" noAdjustHandles="1" noChangeArrowheads="1" noChangeShapeType="1" noTextEdit="1"/>
              </p:cNvSpPr>
              <p:nvPr/>
            </p:nvSpPr>
            <p:spPr>
              <a:xfrm>
                <a:off x="4086494" y="4339736"/>
                <a:ext cx="1197123" cy="289118"/>
              </a:xfrm>
              <a:prstGeom prst="rect">
                <a:avLst/>
              </a:prstGeom>
              <a:blipFill>
                <a:blip r:embed="rId6"/>
                <a:stretch>
                  <a:fillRect l="-3553" t="-6383" r="-2538" b="-27660"/>
                </a:stretch>
              </a:blipFill>
            </p:spPr>
            <p:txBody>
              <a:bodyPr/>
              <a:lstStyle/>
              <a:p>
                <a:r>
                  <a:rPr lang="es-AR">
                    <a:noFill/>
                  </a:rPr>
                  <a:t> </a:t>
                </a:r>
              </a:p>
            </p:txBody>
          </p:sp>
        </mc:Fallback>
      </mc:AlternateContent>
      <p:sp>
        <p:nvSpPr>
          <p:cNvPr id="29" name="Marcador de contenido 2">
            <a:extLst>
              <a:ext uri="{FF2B5EF4-FFF2-40B4-BE49-F238E27FC236}">
                <a16:creationId xmlns:a16="http://schemas.microsoft.com/office/drawing/2014/main" id="{205A3EFC-9A38-4E78-92C5-DD05A19E4442}"/>
              </a:ext>
            </a:extLst>
          </p:cNvPr>
          <p:cNvSpPr txBox="1">
            <a:spLocks/>
          </p:cNvSpPr>
          <p:nvPr/>
        </p:nvSpPr>
        <p:spPr>
          <a:xfrm>
            <a:off x="5430516" y="4294554"/>
            <a:ext cx="1916438" cy="52591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r>
              <a:rPr lang="en-US" sz="1200" dirty="0">
                <a:latin typeface="Bahnschrift" panose="020B0502040204020203" pitchFamily="34" charset="0"/>
              </a:rPr>
              <a:t>p</a:t>
            </a:r>
            <a:r>
              <a:rPr lang="es-AR" sz="1200" dirty="0">
                <a:latin typeface="Bahnschrift" panose="020B0502040204020203" pitchFamily="34" charset="0"/>
              </a:rPr>
              <a:t> </a:t>
            </a:r>
            <a:r>
              <a:rPr lang="es-AR" sz="1200" dirty="0">
                <a:latin typeface="Bahnschrift" panose="020B0502040204020203" pitchFamily="34" charset="0"/>
                <a:sym typeface="Wingdings" panose="05000000000000000000" pitchFamily="2" charset="2"/>
              </a:rPr>
              <a:t> longitud o magnitud del vector</a:t>
            </a:r>
            <a:endParaRPr lang="es-AR" sz="1200" dirty="0">
              <a:latin typeface="Bahnschrift" panose="020B0502040204020203" pitchFamily="34" charset="0"/>
            </a:endParaRPr>
          </a:p>
        </p:txBody>
      </p:sp>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FB7B9E4A-E7A3-4EA5-8B49-B248D17AFC39}"/>
                  </a:ext>
                </a:extLst>
              </p:cNvPr>
              <p:cNvSpPr txBox="1"/>
              <p:nvPr/>
            </p:nvSpPr>
            <p:spPr>
              <a:xfrm>
                <a:off x="4086494" y="4940737"/>
                <a:ext cx="3385799" cy="5259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𝑃𝐴</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𝑃𝐴</m:t>
                              </m:r>
                            </m:sub>
                          </m:sSub>
                        </m:num>
                        <m:den>
                          <m:r>
                            <a:rPr lang="en-US" b="0" i="1" smtClean="0">
                              <a:latin typeface="Cambria Math" panose="02040503050406030204" pitchFamily="18" charset="0"/>
                              <a:ea typeface="Cambria Math" panose="02040503050406030204" pitchFamily="18" charset="0"/>
                            </a:rPr>
                            <m:t>𝑑𝑡</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𝑝𝑗</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𝜃</m:t>
                          </m:r>
                        </m:sup>
                      </m:s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𝜃</m:t>
                          </m:r>
                        </m:num>
                        <m:den>
                          <m:r>
                            <a:rPr lang="en-US" b="0" i="1" smtClean="0">
                              <a:latin typeface="Cambria Math" panose="02040503050406030204" pitchFamily="18" charset="0"/>
                              <a:ea typeface="Cambria Math" panose="02040503050406030204" pitchFamily="18" charset="0"/>
                            </a:rPr>
                            <m:t>𝑑𝑡</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𝑗</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𝜃</m:t>
                          </m:r>
                        </m:sup>
                      </m:sSup>
                    </m:oMath>
                  </m:oMathPara>
                </a14:m>
                <a:endParaRPr lang="es-AR" dirty="0"/>
              </a:p>
            </p:txBody>
          </p:sp>
        </mc:Choice>
        <mc:Fallback xmlns="">
          <p:sp>
            <p:nvSpPr>
              <p:cNvPr id="43" name="CuadroTexto 42">
                <a:extLst>
                  <a:ext uri="{FF2B5EF4-FFF2-40B4-BE49-F238E27FC236}">
                    <a16:creationId xmlns:a16="http://schemas.microsoft.com/office/drawing/2014/main" id="{FB7B9E4A-E7A3-4EA5-8B49-B248D17AFC39}"/>
                  </a:ext>
                </a:extLst>
              </p:cNvPr>
              <p:cNvSpPr txBox="1">
                <a:spLocks noRot="1" noChangeAspect="1" noMove="1" noResize="1" noEditPoints="1" noAdjustHandles="1" noChangeArrowheads="1" noChangeShapeType="1" noTextEdit="1"/>
              </p:cNvSpPr>
              <p:nvPr/>
            </p:nvSpPr>
            <p:spPr>
              <a:xfrm>
                <a:off x="4086494" y="4940737"/>
                <a:ext cx="3385799" cy="525913"/>
              </a:xfrm>
              <a:prstGeom prst="rect">
                <a:avLst/>
              </a:prstGeom>
              <a:blipFill>
                <a:blip r:embed="rId7"/>
                <a:stretch>
                  <a:fillRect/>
                </a:stretch>
              </a:blipFill>
            </p:spPr>
            <p:txBody>
              <a:bodyPr/>
              <a:lstStyle/>
              <a:p>
                <a:r>
                  <a:rPr lang="es-AR">
                    <a:noFill/>
                  </a:rPr>
                  <a:t> </a:t>
                </a:r>
              </a:p>
            </p:txBody>
          </p:sp>
        </mc:Fallback>
      </mc:AlternateContent>
      <p:pic>
        <p:nvPicPr>
          <p:cNvPr id="45" name="Imagen 44" descr="Imagen que contiene dibujo&#10;&#10;Descripción generada automáticamente">
            <a:extLst>
              <a:ext uri="{FF2B5EF4-FFF2-40B4-BE49-F238E27FC236}">
                <a16:creationId xmlns:a16="http://schemas.microsoft.com/office/drawing/2014/main" id="{78936E91-5DDC-4302-AD87-38C855F7F99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2814061" flipH="1" flipV="1">
            <a:off x="3851725" y="4683980"/>
            <a:ext cx="322639" cy="408598"/>
          </a:xfrm>
          <a:prstGeom prst="rect">
            <a:avLst/>
          </a:prstGeom>
        </p:spPr>
      </p:pic>
      <p:pic>
        <p:nvPicPr>
          <p:cNvPr id="24" name="Imagen 23" descr="Imagen que contiene dibujo&#10;&#10;Descripción generada automáticamente">
            <a:extLst>
              <a:ext uri="{FF2B5EF4-FFF2-40B4-BE49-F238E27FC236}">
                <a16:creationId xmlns:a16="http://schemas.microsoft.com/office/drawing/2014/main" id="{D4BBDDB9-1804-40CF-B96C-28DE2D7E4CA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2814061" flipH="1" flipV="1">
            <a:off x="3851725" y="5428139"/>
            <a:ext cx="322639" cy="408598"/>
          </a:xfrm>
          <a:prstGeom prst="rect">
            <a:avLst/>
          </a:prstGeom>
        </p:spPr>
      </p:pic>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431384CE-C291-404F-B9E4-7E798D80D497}"/>
                  </a:ext>
                </a:extLst>
              </p:cNvPr>
              <p:cNvSpPr txBox="1"/>
              <p:nvPr/>
            </p:nvSpPr>
            <p:spPr>
              <a:xfrm>
                <a:off x="4086494" y="5627525"/>
                <a:ext cx="2622513" cy="5687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s-AR"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𝑃𝐴</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m:t>
                          </m:r>
                          <m:sSub>
                            <m:sSubPr>
                              <m:ctrlPr>
                                <a:rPr lang="en-US" b="0" i="1" smtClean="0">
                                  <a:latin typeface="Cambria Math" panose="02040503050406030204" pitchFamily="18" charset="0"/>
                                  <a:ea typeface="Cambria Math" panose="02040503050406030204" pitchFamily="18" charset="0"/>
                                </a:rPr>
                              </m:ctrlPr>
                            </m:sSubPr>
                            <m:e>
                              <m:r>
                                <a:rPr lang="es-AR"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𝑃𝐴</m:t>
                              </m:r>
                            </m:sub>
                          </m:sSub>
                        </m:num>
                        <m:den>
                          <m:r>
                            <a:rPr lang="en-US" b="0" i="1" smtClean="0">
                              <a:latin typeface="Cambria Math" panose="02040503050406030204" pitchFamily="18" charset="0"/>
                              <a:ea typeface="Cambria Math" panose="02040503050406030204" pitchFamily="18" charset="0"/>
                            </a:rPr>
                            <m:t>𝑑𝑡</m:t>
                          </m:r>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s-AR" i="1">
                              <a:latin typeface="Cambria Math" panose="02040503050406030204" pitchFamily="18" charset="0"/>
                              <a:ea typeface="Cambria Math" panose="02040503050406030204" pitchFamily="18" charset="0"/>
                            </a:rPr>
                            <m:t>𝑑</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𝑝</m:t>
                          </m:r>
                          <m:r>
                            <a:rPr lang="en-US" i="1">
                              <a:latin typeface="Cambria Math" panose="02040503050406030204" pitchFamily="18" charset="0"/>
                              <a:ea typeface="Cambria Math" panose="02040503050406030204" pitchFamily="18" charset="0"/>
                            </a:rPr>
                            <m:t>𝜔</m:t>
                          </m:r>
                          <m:r>
                            <a:rPr lang="en-US" i="1">
                              <a:latin typeface="Cambria Math" panose="02040503050406030204" pitchFamily="18" charset="0"/>
                              <a:ea typeface="Cambria Math" panose="02040503050406030204" pitchFamily="18" charset="0"/>
                            </a:rPr>
                            <m:t>𝑗</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𝜃</m:t>
                              </m:r>
                            </m:sup>
                          </m:s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num>
                        <m:den>
                          <m:r>
                            <a:rPr lang="en-US" b="0" i="1" smtClean="0">
                              <a:latin typeface="Cambria Math" panose="02040503050406030204" pitchFamily="18" charset="0"/>
                              <a:ea typeface="Cambria Math" panose="02040503050406030204" pitchFamily="18" charset="0"/>
                            </a:rPr>
                            <m:t>𝑑𝑡</m:t>
                          </m:r>
                        </m:den>
                      </m:f>
                    </m:oMath>
                  </m:oMathPara>
                </a14:m>
                <a:endParaRPr lang="es-AR" dirty="0"/>
              </a:p>
            </p:txBody>
          </p:sp>
        </mc:Choice>
        <mc:Fallback xmlns="">
          <p:sp>
            <p:nvSpPr>
              <p:cNvPr id="25" name="CuadroTexto 24">
                <a:extLst>
                  <a:ext uri="{FF2B5EF4-FFF2-40B4-BE49-F238E27FC236}">
                    <a16:creationId xmlns:a16="http://schemas.microsoft.com/office/drawing/2014/main" id="{431384CE-C291-404F-B9E4-7E798D80D497}"/>
                  </a:ext>
                </a:extLst>
              </p:cNvPr>
              <p:cNvSpPr txBox="1">
                <a:spLocks noRot="1" noChangeAspect="1" noMove="1" noResize="1" noEditPoints="1" noAdjustHandles="1" noChangeArrowheads="1" noChangeShapeType="1" noTextEdit="1"/>
              </p:cNvSpPr>
              <p:nvPr/>
            </p:nvSpPr>
            <p:spPr>
              <a:xfrm>
                <a:off x="4086494" y="5627525"/>
                <a:ext cx="2622513" cy="568745"/>
              </a:xfrm>
              <a:prstGeom prst="rect">
                <a:avLst/>
              </a:prstGeom>
              <a:blipFill>
                <a:blip r:embed="rId9"/>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AF51FC55-33A4-4AAD-8A05-0A1DF95A9544}"/>
                  </a:ext>
                </a:extLst>
              </p:cNvPr>
              <p:cNvSpPr txBox="1"/>
              <p:nvPr/>
            </p:nvSpPr>
            <p:spPr>
              <a:xfrm>
                <a:off x="7985780" y="4349405"/>
                <a:ext cx="3093026"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s-AR"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𝑃𝐴</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𝑗𝑝</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𝜃</m:t>
                              </m:r>
                            </m:sup>
                          </m:s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num>
                            <m:den>
                              <m:r>
                                <a:rPr lang="en-US" b="0" i="1" smtClean="0">
                                  <a:latin typeface="Cambria Math" panose="02040503050406030204" pitchFamily="18" charset="0"/>
                                  <a:ea typeface="Cambria Math" panose="02040503050406030204" pitchFamily="18" charset="0"/>
                                </a:rPr>
                                <m:t>𝑑𝑡</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𝜔</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𝜃</m:t>
                              </m:r>
                            </m:sup>
                          </m:s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𝑑</m:t>
                              </m:r>
                              <m:r>
                                <a:rPr lang="en-US" i="1" smtClean="0">
                                  <a:latin typeface="Cambria Math" panose="02040503050406030204" pitchFamily="18" charset="0"/>
                                  <a:ea typeface="Cambria Math" panose="02040503050406030204" pitchFamily="18" charset="0"/>
                                </a:rPr>
                                <m:t>𝜃</m:t>
                              </m:r>
                            </m:num>
                            <m:den>
                              <m:r>
                                <a:rPr lang="en-US" i="1">
                                  <a:latin typeface="Cambria Math" panose="02040503050406030204" pitchFamily="18" charset="0"/>
                                  <a:ea typeface="Cambria Math" panose="02040503050406030204" pitchFamily="18" charset="0"/>
                                </a:rPr>
                                <m:t>𝑑𝑡</m:t>
                              </m:r>
                            </m:den>
                          </m:f>
                        </m:e>
                      </m:d>
                    </m:oMath>
                  </m:oMathPara>
                </a14:m>
                <a:endParaRPr lang="es-AR" dirty="0"/>
              </a:p>
            </p:txBody>
          </p:sp>
        </mc:Choice>
        <mc:Fallback xmlns="">
          <p:sp>
            <p:nvSpPr>
              <p:cNvPr id="26" name="CuadroTexto 25">
                <a:extLst>
                  <a:ext uri="{FF2B5EF4-FFF2-40B4-BE49-F238E27FC236}">
                    <a16:creationId xmlns:a16="http://schemas.microsoft.com/office/drawing/2014/main" id="{AF51FC55-33A4-4AAD-8A05-0A1DF95A9544}"/>
                  </a:ext>
                </a:extLst>
              </p:cNvPr>
              <p:cNvSpPr txBox="1">
                <a:spLocks noRot="1" noChangeAspect="1" noMove="1" noResize="1" noEditPoints="1" noAdjustHandles="1" noChangeArrowheads="1" noChangeShapeType="1" noTextEdit="1"/>
              </p:cNvSpPr>
              <p:nvPr/>
            </p:nvSpPr>
            <p:spPr>
              <a:xfrm>
                <a:off x="7985780" y="4349405"/>
                <a:ext cx="3093026" cy="622350"/>
              </a:xfrm>
              <a:prstGeom prst="rect">
                <a:avLst/>
              </a:prstGeom>
              <a:blipFill>
                <a:blip r:embed="rId10"/>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24EA1989-E8C4-4B66-BF43-DCBF146E5CEF}"/>
                  </a:ext>
                </a:extLst>
              </p:cNvPr>
              <p:cNvSpPr txBox="1"/>
              <p:nvPr/>
            </p:nvSpPr>
            <p:spPr>
              <a:xfrm>
                <a:off x="7985780" y="5144290"/>
                <a:ext cx="2432397" cy="289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s-AR"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𝑃𝐴</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𝑗</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𝜃</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𝜔</m:t>
                          </m:r>
                        </m:e>
                        <m:sup>
                          <m:r>
                            <a:rPr lang="en-US" b="0" i="1" smtClean="0">
                              <a:latin typeface="Cambria Math" panose="02040503050406030204" pitchFamily="18" charset="0"/>
                              <a:ea typeface="Cambria Math" panose="02040503050406030204" pitchFamily="18" charset="0"/>
                            </a:rPr>
                            <m:t>2</m:t>
                          </m:r>
                        </m:sup>
                      </m:sSup>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𝜃</m:t>
                          </m:r>
                        </m:sup>
                      </m:sSup>
                    </m:oMath>
                  </m:oMathPara>
                </a14:m>
                <a:endParaRPr lang="es-AR" dirty="0"/>
              </a:p>
            </p:txBody>
          </p:sp>
        </mc:Choice>
        <mc:Fallback xmlns="">
          <p:sp>
            <p:nvSpPr>
              <p:cNvPr id="27" name="CuadroTexto 26">
                <a:extLst>
                  <a:ext uri="{FF2B5EF4-FFF2-40B4-BE49-F238E27FC236}">
                    <a16:creationId xmlns:a16="http://schemas.microsoft.com/office/drawing/2014/main" id="{24EA1989-E8C4-4B66-BF43-DCBF146E5CEF}"/>
                  </a:ext>
                </a:extLst>
              </p:cNvPr>
              <p:cNvSpPr txBox="1">
                <a:spLocks noRot="1" noChangeAspect="1" noMove="1" noResize="1" noEditPoints="1" noAdjustHandles="1" noChangeArrowheads="1" noChangeShapeType="1" noTextEdit="1"/>
              </p:cNvSpPr>
              <p:nvPr/>
            </p:nvSpPr>
            <p:spPr>
              <a:xfrm>
                <a:off x="7985780" y="5144290"/>
                <a:ext cx="2432397" cy="289118"/>
              </a:xfrm>
              <a:prstGeom prst="rect">
                <a:avLst/>
              </a:prstGeom>
              <a:blipFill>
                <a:blip r:embed="rId11"/>
                <a:stretch>
                  <a:fillRect l="-1504" t="-6383" r="-1003" b="-3617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DF2B3ED4-5547-4144-9912-032B6F423D2F}"/>
                  </a:ext>
                </a:extLst>
              </p:cNvPr>
              <p:cNvSpPr txBox="1"/>
              <p:nvPr/>
            </p:nvSpPr>
            <p:spPr>
              <a:xfrm>
                <a:off x="7997417" y="5812700"/>
                <a:ext cx="2409121" cy="3786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ea typeface="Cambria Math" panose="02040503050406030204" pitchFamily="18" charset="0"/>
                            </a:rPr>
                          </m:ctrlPr>
                        </m:sSubPr>
                        <m:e>
                          <m:r>
                            <a:rPr lang="es-AR" sz="2400" b="1" i="1" smtClean="0">
                              <a:latin typeface="Cambria Math" panose="02040503050406030204" pitchFamily="18" charset="0"/>
                              <a:ea typeface="Cambria Math" panose="02040503050406030204" pitchFamily="18" charset="0"/>
                            </a:rPr>
                            <m:t>𝑨</m:t>
                          </m:r>
                        </m:e>
                        <m:sub>
                          <m:r>
                            <a:rPr lang="en-US" sz="2400" b="1" i="1" smtClean="0">
                              <a:latin typeface="Cambria Math" panose="02040503050406030204" pitchFamily="18" charset="0"/>
                              <a:ea typeface="Cambria Math" panose="02040503050406030204" pitchFamily="18" charset="0"/>
                            </a:rPr>
                            <m:t>𝑷𝑨</m:t>
                          </m:r>
                        </m:sub>
                      </m:sSub>
                      <m:r>
                        <a:rPr lang="en-US" sz="2400" b="1" i="1" smtClean="0">
                          <a:latin typeface="Cambria Math" panose="02040503050406030204" pitchFamily="18" charset="0"/>
                          <a:ea typeface="Cambria Math" panose="02040503050406030204" pitchFamily="18" charset="0"/>
                        </a:rPr>
                        <m:t>=</m:t>
                      </m:r>
                      <m:sSubSup>
                        <m:sSubSupPr>
                          <m:ctrlPr>
                            <a:rPr lang="en-US" sz="2400" b="1" i="1" smtClean="0">
                              <a:latin typeface="Cambria Math" panose="02040503050406030204" pitchFamily="18" charset="0"/>
                              <a:ea typeface="Cambria Math" panose="02040503050406030204" pitchFamily="18" charset="0"/>
                            </a:rPr>
                          </m:ctrlPr>
                        </m:sSubSupPr>
                        <m:e>
                          <m:r>
                            <a:rPr lang="en-US" sz="2400" b="1" i="1" smtClean="0">
                              <a:latin typeface="Cambria Math" panose="02040503050406030204" pitchFamily="18" charset="0"/>
                              <a:ea typeface="Cambria Math" panose="02040503050406030204" pitchFamily="18" charset="0"/>
                            </a:rPr>
                            <m:t>𝑨</m:t>
                          </m:r>
                        </m:e>
                        <m:sub>
                          <m:r>
                            <a:rPr lang="en-US" sz="2400" b="1" i="1" smtClean="0">
                              <a:latin typeface="Cambria Math" panose="02040503050406030204" pitchFamily="18" charset="0"/>
                              <a:ea typeface="Cambria Math" panose="02040503050406030204" pitchFamily="18" charset="0"/>
                            </a:rPr>
                            <m:t>𝑷𝑨</m:t>
                          </m:r>
                        </m:sub>
                        <m:sup>
                          <m:r>
                            <a:rPr lang="en-US" sz="2400" b="1" i="1" smtClean="0">
                              <a:latin typeface="Cambria Math" panose="02040503050406030204" pitchFamily="18" charset="0"/>
                              <a:ea typeface="Cambria Math" panose="02040503050406030204" pitchFamily="18" charset="0"/>
                            </a:rPr>
                            <m:t>𝒕</m:t>
                          </m:r>
                        </m:sup>
                      </m:sSubSup>
                      <m:r>
                        <a:rPr lang="en-US" sz="2400" b="1" i="1" smtClean="0">
                          <a:latin typeface="Cambria Math" panose="02040503050406030204" pitchFamily="18" charset="0"/>
                          <a:ea typeface="Cambria Math" panose="02040503050406030204" pitchFamily="18" charset="0"/>
                        </a:rPr>
                        <m:t>+</m:t>
                      </m:r>
                      <m:sSubSup>
                        <m:sSubSupPr>
                          <m:ctrlPr>
                            <a:rPr lang="en-US" sz="2400" b="1" i="1">
                              <a:latin typeface="Cambria Math" panose="02040503050406030204" pitchFamily="18" charset="0"/>
                              <a:ea typeface="Cambria Math" panose="02040503050406030204" pitchFamily="18" charset="0"/>
                            </a:rPr>
                          </m:ctrlPr>
                        </m:sSubSupPr>
                        <m:e>
                          <m:r>
                            <a:rPr lang="en-US" sz="2400" b="1" i="1">
                              <a:latin typeface="Cambria Math" panose="02040503050406030204" pitchFamily="18" charset="0"/>
                              <a:ea typeface="Cambria Math" panose="02040503050406030204" pitchFamily="18" charset="0"/>
                            </a:rPr>
                            <m:t>𝑨</m:t>
                          </m:r>
                        </m:e>
                        <m:sub>
                          <m:r>
                            <a:rPr lang="en-US" sz="2400" b="1" i="1">
                              <a:latin typeface="Cambria Math" panose="02040503050406030204" pitchFamily="18" charset="0"/>
                              <a:ea typeface="Cambria Math" panose="02040503050406030204" pitchFamily="18" charset="0"/>
                            </a:rPr>
                            <m:t>𝑷𝑨</m:t>
                          </m:r>
                        </m:sub>
                        <m:sup>
                          <m:r>
                            <a:rPr lang="en-US" sz="2400" b="1" i="1" smtClean="0">
                              <a:latin typeface="Cambria Math" panose="02040503050406030204" pitchFamily="18" charset="0"/>
                              <a:ea typeface="Cambria Math" panose="02040503050406030204" pitchFamily="18" charset="0"/>
                            </a:rPr>
                            <m:t>𝒏</m:t>
                          </m:r>
                        </m:sup>
                      </m:sSubSup>
                    </m:oMath>
                  </m:oMathPara>
                </a14:m>
                <a:endParaRPr lang="es-AR" sz="2400" b="1" dirty="0"/>
              </a:p>
            </p:txBody>
          </p:sp>
        </mc:Choice>
        <mc:Fallback xmlns="">
          <p:sp>
            <p:nvSpPr>
              <p:cNvPr id="28" name="CuadroTexto 27">
                <a:extLst>
                  <a:ext uri="{FF2B5EF4-FFF2-40B4-BE49-F238E27FC236}">
                    <a16:creationId xmlns:a16="http://schemas.microsoft.com/office/drawing/2014/main" id="{DF2B3ED4-5547-4144-9912-032B6F423D2F}"/>
                  </a:ext>
                </a:extLst>
              </p:cNvPr>
              <p:cNvSpPr txBox="1">
                <a:spLocks noRot="1" noChangeAspect="1" noMove="1" noResize="1" noEditPoints="1" noAdjustHandles="1" noChangeArrowheads="1" noChangeShapeType="1" noTextEdit="1"/>
              </p:cNvSpPr>
              <p:nvPr/>
            </p:nvSpPr>
            <p:spPr>
              <a:xfrm>
                <a:off x="7997417" y="5812700"/>
                <a:ext cx="2409121" cy="378630"/>
              </a:xfrm>
              <a:prstGeom prst="rect">
                <a:avLst/>
              </a:prstGeom>
              <a:blipFill>
                <a:blip r:embed="rId12"/>
                <a:stretch>
                  <a:fillRect l="-2278" r="-506" b="-20968"/>
                </a:stretch>
              </a:blipFill>
            </p:spPr>
            <p:txBody>
              <a:bodyPr/>
              <a:lstStyle/>
              <a:p>
                <a:r>
                  <a:rPr lang="es-AR">
                    <a:noFill/>
                  </a:rPr>
                  <a:t> </a:t>
                </a:r>
              </a:p>
            </p:txBody>
          </p:sp>
        </mc:Fallback>
      </mc:AlternateContent>
      <p:pic>
        <p:nvPicPr>
          <p:cNvPr id="30" name="Imagen 29" descr="Imagen que contiene dibujo&#10;&#10;Descripción generada automáticamente">
            <a:extLst>
              <a:ext uri="{FF2B5EF4-FFF2-40B4-BE49-F238E27FC236}">
                <a16:creationId xmlns:a16="http://schemas.microsoft.com/office/drawing/2014/main" id="{AA5DA4D3-EFAB-424A-B162-B6D8686768C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2814061" flipH="1" flipV="1">
            <a:off x="7746601" y="4806722"/>
            <a:ext cx="322639" cy="408598"/>
          </a:xfrm>
          <a:prstGeom prst="rect">
            <a:avLst/>
          </a:prstGeom>
        </p:spPr>
      </p:pic>
      <p:pic>
        <p:nvPicPr>
          <p:cNvPr id="31" name="Imagen 30" descr="Imagen que contiene dibujo&#10;&#10;Descripción generada automáticamente">
            <a:extLst>
              <a:ext uri="{FF2B5EF4-FFF2-40B4-BE49-F238E27FC236}">
                <a16:creationId xmlns:a16="http://schemas.microsoft.com/office/drawing/2014/main" id="{59AA1777-3001-43A8-8039-6D1501C76A2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2814061" flipH="1" flipV="1">
            <a:off x="7746602" y="5510740"/>
            <a:ext cx="322639" cy="408598"/>
          </a:xfrm>
          <a:prstGeom prst="rect">
            <a:avLst/>
          </a:prstGeom>
        </p:spPr>
      </p:pic>
    </p:spTree>
    <p:extLst>
      <p:ext uri="{BB962C8B-B14F-4D97-AF65-F5344CB8AC3E}">
        <p14:creationId xmlns:p14="http://schemas.microsoft.com/office/powerpoint/2010/main" val="4241857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29" grpId="0"/>
      <p:bldP spid="43" grpId="0"/>
      <p:bldP spid="25" grpId="0"/>
      <p:bldP spid="26" grpId="0"/>
      <p:bldP spid="27" grpId="0"/>
      <p:bldP spid="2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ángulo 40">
            <a:extLst>
              <a:ext uri="{FF2B5EF4-FFF2-40B4-BE49-F238E27FC236}">
                <a16:creationId xmlns:a16="http://schemas.microsoft.com/office/drawing/2014/main" id="{B743C3E4-B138-4C3C-B69D-DF89993E7FC2}"/>
              </a:ext>
            </a:extLst>
          </p:cNvPr>
          <p:cNvSpPr/>
          <p:nvPr/>
        </p:nvSpPr>
        <p:spPr>
          <a:xfrm>
            <a:off x="0" y="853440"/>
            <a:ext cx="5323840"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10448341" cy="684362"/>
          </a:xfrm>
        </p:spPr>
        <p:txBody>
          <a:bodyPr>
            <a:normAutofit fontScale="90000"/>
          </a:bodyPr>
          <a:lstStyle/>
          <a:p>
            <a:r>
              <a:rPr lang="es-AR" sz="6000" b="1" dirty="0">
                <a:latin typeface="Bahnschrift" panose="020B0502040204020203" pitchFamily="34" charset="0"/>
              </a:rPr>
              <a:t>ANÁLISIS DE ACELERACIÓN</a:t>
            </a:r>
          </a:p>
        </p:txBody>
      </p:sp>
      <p:sp>
        <p:nvSpPr>
          <p:cNvPr id="3" name="Marcador de contenido 2"/>
          <p:cNvSpPr>
            <a:spLocks noGrp="1"/>
          </p:cNvSpPr>
          <p:nvPr>
            <p:ph idx="1"/>
          </p:nvPr>
        </p:nvSpPr>
        <p:spPr>
          <a:xfrm>
            <a:off x="116312" y="830016"/>
            <a:ext cx="5979688" cy="466124"/>
          </a:xfrm>
        </p:spPr>
        <p:txBody>
          <a:bodyPr>
            <a:normAutofit/>
          </a:bodyPr>
          <a:lstStyle/>
          <a:p>
            <a:pPr marL="0" indent="0">
              <a:buNone/>
            </a:pPr>
            <a:r>
              <a:rPr lang="es-AR" sz="2400" b="1" dirty="0">
                <a:latin typeface="Bahnschrift" panose="020B0502040204020203" pitchFamily="34" charset="0"/>
              </a:rPr>
              <a:t>DETERMINACIÓN DE ACELERACIÓN</a:t>
            </a: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mc:AlternateContent xmlns:mc="http://schemas.openxmlformats.org/markup-compatibility/2006" xmlns:a14="http://schemas.microsoft.com/office/drawing/2010/main">
        <mc:Choice Requires="a14">
          <p:sp>
            <p:nvSpPr>
              <p:cNvPr id="7" name="Marcador de contenido 2">
                <a:extLst>
                  <a:ext uri="{FF2B5EF4-FFF2-40B4-BE49-F238E27FC236}">
                    <a16:creationId xmlns:a16="http://schemas.microsoft.com/office/drawing/2014/main" id="{64316D64-53E4-4F7D-AFFF-3C0996C701C4}"/>
                  </a:ext>
                </a:extLst>
              </p:cNvPr>
              <p:cNvSpPr txBox="1">
                <a:spLocks/>
              </p:cNvSpPr>
              <p:nvPr/>
            </p:nvSpPr>
            <p:spPr>
              <a:xfrm>
                <a:off x="71943" y="1332092"/>
                <a:ext cx="7680137" cy="1064255"/>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n-US" sz="1400" dirty="0">
                    <a:latin typeface="Bahnschrift" panose="020B0502040204020203" pitchFamily="34" charset="0"/>
                  </a:rPr>
                  <a:t>La </a:t>
                </a:r>
                <a:r>
                  <a:rPr lang="en-US" sz="1400" b="1" dirty="0">
                    <a:latin typeface="Bahnschrift" panose="020B0502040204020203" pitchFamily="34" charset="0"/>
                  </a:rPr>
                  <a:t>ACELERACION TANGENCIAL </a:t>
                </a:r>
                <a14:m>
                  <m:oMath xmlns:m="http://schemas.openxmlformats.org/officeDocument/2006/math">
                    <m:sSubSup>
                      <m:sSubSupPr>
                        <m:ctrlPr>
                          <a:rPr lang="en-US" sz="1400" b="1" i="1">
                            <a:latin typeface="Cambria Math" panose="02040503050406030204" pitchFamily="18" charset="0"/>
                            <a:ea typeface="Cambria Math" panose="02040503050406030204" pitchFamily="18" charset="0"/>
                          </a:rPr>
                        </m:ctrlPr>
                      </m:sSubSupPr>
                      <m:e>
                        <m:r>
                          <a:rPr lang="en-US" sz="1400" b="1" i="1">
                            <a:latin typeface="Cambria Math" panose="02040503050406030204" pitchFamily="18" charset="0"/>
                            <a:ea typeface="Cambria Math" panose="02040503050406030204" pitchFamily="18" charset="0"/>
                          </a:rPr>
                          <m:t>𝑨</m:t>
                        </m:r>
                      </m:e>
                      <m:sub>
                        <m:r>
                          <a:rPr lang="en-US" sz="1400" b="1" i="1">
                            <a:latin typeface="Cambria Math" panose="02040503050406030204" pitchFamily="18" charset="0"/>
                            <a:ea typeface="Cambria Math" panose="02040503050406030204" pitchFamily="18" charset="0"/>
                          </a:rPr>
                          <m:t>𝑷𝑨</m:t>
                        </m:r>
                      </m:sub>
                      <m:sup>
                        <m:r>
                          <a:rPr lang="en-US" sz="1400" b="1" i="1">
                            <a:latin typeface="Cambria Math" panose="02040503050406030204" pitchFamily="18" charset="0"/>
                            <a:ea typeface="Cambria Math" panose="02040503050406030204" pitchFamily="18" charset="0"/>
                          </a:rPr>
                          <m:t>𝒕</m:t>
                        </m:r>
                      </m:sup>
                    </m:sSubSup>
                  </m:oMath>
                </a14:m>
                <a:r>
                  <a:rPr lang="en-US" sz="1400" dirty="0">
                    <a:latin typeface="Bahnschrift" panose="020B0502040204020203" pitchFamily="34" charset="0"/>
                  </a:rPr>
                  <a:t> </a:t>
                </a:r>
                <a:r>
                  <a:rPr lang="en-US" sz="1400" dirty="0" err="1">
                    <a:latin typeface="Bahnschrift" panose="020B0502040204020203" pitchFamily="34" charset="0"/>
                  </a:rPr>
                  <a:t>tiene</a:t>
                </a:r>
                <a:r>
                  <a:rPr lang="en-US" sz="1400" dirty="0">
                    <a:latin typeface="Bahnschrift" panose="020B0502040204020203" pitchFamily="34" charset="0"/>
                  </a:rPr>
                  <a:t> </a:t>
                </a:r>
                <a:r>
                  <a:rPr lang="en-US" sz="1400" dirty="0" err="1">
                    <a:latin typeface="Bahnschrift" panose="020B0502040204020203" pitchFamily="34" charset="0"/>
                  </a:rPr>
                  <a:t>direcci</a:t>
                </a:r>
                <a:r>
                  <a:rPr lang="es-AR" sz="1400" dirty="0" err="1">
                    <a:latin typeface="Bahnschrift" panose="020B0502040204020203" pitchFamily="34" charset="0"/>
                  </a:rPr>
                  <a:t>ó</a:t>
                </a:r>
                <a:r>
                  <a:rPr lang="en-US" sz="1400" dirty="0">
                    <a:latin typeface="Bahnschrift" panose="020B0502040204020203" pitchFamily="34" charset="0"/>
                  </a:rPr>
                  <a:t>n </a:t>
                </a:r>
                <a:r>
                  <a:rPr lang="en-US" sz="1400" dirty="0">
                    <a:highlight>
                      <a:srgbClr val="FFC000"/>
                    </a:highlight>
                    <a:latin typeface="Bahnschrift" panose="020B0502040204020203" pitchFamily="34" charset="0"/>
                  </a:rPr>
                  <a:t>PERPENDICULAR al vector </a:t>
                </a:r>
                <a:r>
                  <a:rPr lang="en-US" sz="1400" dirty="0" err="1">
                    <a:highlight>
                      <a:srgbClr val="FFC000"/>
                    </a:highlight>
                    <a:latin typeface="Bahnschrift" panose="020B0502040204020203" pitchFamily="34" charset="0"/>
                  </a:rPr>
                  <a:t>posici</a:t>
                </a:r>
                <a:r>
                  <a:rPr lang="es-AR" sz="1400" dirty="0" err="1">
                    <a:highlight>
                      <a:srgbClr val="FFC000"/>
                    </a:highlight>
                    <a:latin typeface="Bahnschrift" panose="020B0502040204020203" pitchFamily="34" charset="0"/>
                  </a:rPr>
                  <a:t>ó</a:t>
                </a:r>
                <a:r>
                  <a:rPr lang="en-US" sz="1400" dirty="0">
                    <a:highlight>
                      <a:srgbClr val="FFC000"/>
                    </a:highlight>
                    <a:latin typeface="Bahnschrift" panose="020B0502040204020203" pitchFamily="34" charset="0"/>
                  </a:rPr>
                  <a:t>n</a:t>
                </a:r>
                <a:r>
                  <a:rPr lang="en-US" sz="1400" dirty="0">
                    <a:latin typeface="Bahnschrift" panose="020B0502040204020203" pitchFamily="34" charset="0"/>
                  </a:rPr>
                  <a:t>, es </a:t>
                </a:r>
                <a:r>
                  <a:rPr lang="en-US" sz="1400" dirty="0" err="1">
                    <a:latin typeface="Bahnschrift" panose="020B0502040204020203" pitchFamily="34" charset="0"/>
                  </a:rPr>
                  <a:t>decir</a:t>
                </a:r>
                <a:r>
                  <a:rPr lang="en-US" sz="1400" dirty="0">
                    <a:latin typeface="Bahnschrift" panose="020B0502040204020203" pitchFamily="34" charset="0"/>
                  </a:rPr>
                  <a:t>, </a:t>
                </a:r>
                <a:r>
                  <a:rPr lang="en-US" sz="1400" b="1" dirty="0" err="1">
                    <a:highlight>
                      <a:srgbClr val="FFC000"/>
                    </a:highlight>
                    <a:latin typeface="Bahnschrift" panose="020B0502040204020203" pitchFamily="34" charset="0"/>
                  </a:rPr>
                  <a:t>tangente</a:t>
                </a:r>
                <a:r>
                  <a:rPr lang="en-US" sz="1400" b="1" dirty="0">
                    <a:highlight>
                      <a:srgbClr val="FFC000"/>
                    </a:highlight>
                    <a:latin typeface="Bahnschrift" panose="020B0502040204020203" pitchFamily="34" charset="0"/>
                  </a:rPr>
                  <a:t> a la </a:t>
                </a:r>
                <a:r>
                  <a:rPr lang="en-US" sz="1400" b="1" dirty="0" err="1">
                    <a:highlight>
                      <a:srgbClr val="FFC000"/>
                    </a:highlight>
                    <a:latin typeface="Bahnschrift" panose="020B0502040204020203" pitchFamily="34" charset="0"/>
                  </a:rPr>
                  <a:t>trayectoria</a:t>
                </a:r>
                <a:r>
                  <a:rPr lang="en-US" sz="1400" dirty="0">
                    <a:latin typeface="Bahnschrift" panose="020B0502040204020203" pitchFamily="34" charset="0"/>
                  </a:rPr>
                  <a:t>, y </a:t>
                </a:r>
                <a:r>
                  <a:rPr lang="en-US" sz="1400" dirty="0" err="1">
                    <a:latin typeface="Bahnschrift" panose="020B0502040204020203" pitchFamily="34" charset="0"/>
                  </a:rPr>
                  <a:t>su</a:t>
                </a:r>
                <a:r>
                  <a:rPr lang="en-US" sz="1400" dirty="0">
                    <a:latin typeface="Bahnschrift" panose="020B0502040204020203" pitchFamily="34" charset="0"/>
                  </a:rPr>
                  <a:t> </a:t>
                </a:r>
                <a:r>
                  <a:rPr lang="en-US" sz="1400" b="1" dirty="0" err="1">
                    <a:latin typeface="Bahnschrift" panose="020B0502040204020203" pitchFamily="34" charset="0"/>
                  </a:rPr>
                  <a:t>sentido</a:t>
                </a:r>
                <a:r>
                  <a:rPr lang="en-US" sz="1400" b="1" dirty="0">
                    <a:latin typeface="Bahnschrift" panose="020B0502040204020203" pitchFamily="34" charset="0"/>
                  </a:rPr>
                  <a:t> </a:t>
                </a:r>
                <a:r>
                  <a:rPr lang="en-US" sz="1400" b="1" dirty="0" err="1">
                    <a:latin typeface="Bahnschrift" panose="020B0502040204020203" pitchFamily="34" charset="0"/>
                  </a:rPr>
                  <a:t>depende</a:t>
                </a:r>
                <a:r>
                  <a:rPr lang="en-US" sz="1400" b="1" dirty="0">
                    <a:latin typeface="Bahnschrift" panose="020B0502040204020203" pitchFamily="34" charset="0"/>
                  </a:rPr>
                  <a:t> del </a:t>
                </a:r>
                <a:r>
                  <a:rPr lang="en-US" sz="1400" b="1" dirty="0" err="1">
                    <a:latin typeface="Bahnschrift" panose="020B0502040204020203" pitchFamily="34" charset="0"/>
                  </a:rPr>
                  <a:t>signo</a:t>
                </a:r>
                <a:r>
                  <a:rPr lang="en-US" sz="1400" b="1" dirty="0">
                    <a:latin typeface="Bahnschrift" panose="020B0502040204020203" pitchFamily="34" charset="0"/>
                  </a:rPr>
                  <a:t> de </a:t>
                </a:r>
                <a:r>
                  <a:rPr lang="el-GR" sz="1400" b="1" dirty="0">
                    <a:latin typeface="Bahnschrift" panose="020B0502040204020203" pitchFamily="34" charset="0"/>
                    <a:ea typeface="Cambria Math" panose="02040503050406030204" pitchFamily="18" charset="0"/>
                  </a:rPr>
                  <a:t>α</a:t>
                </a:r>
                <a:r>
                  <a:rPr lang="en-US" sz="1400" dirty="0">
                    <a:latin typeface="Bahnschrift" panose="020B0502040204020203" pitchFamily="34" charset="0"/>
                    <a:ea typeface="Cambria Math" panose="02040503050406030204" pitchFamily="18" charset="0"/>
                  </a:rPr>
                  <a:t>.</a:t>
                </a:r>
              </a:p>
              <a:p>
                <a:pPr algn="just">
                  <a:buFontTx/>
                  <a:buChar char="-"/>
                </a:pPr>
                <a:r>
                  <a:rPr lang="en-US" sz="1400" dirty="0">
                    <a:latin typeface="Bahnschrift" panose="020B0502040204020203" pitchFamily="34" charset="0"/>
                    <a:ea typeface="Cambria Math" panose="02040503050406030204" pitchFamily="18" charset="0"/>
                  </a:rPr>
                  <a:t>La </a:t>
                </a:r>
                <a:r>
                  <a:rPr lang="en-US" sz="1400" b="1" dirty="0">
                    <a:latin typeface="Bahnschrift" panose="020B0502040204020203" pitchFamily="34" charset="0"/>
                    <a:ea typeface="Cambria Math" panose="02040503050406030204" pitchFamily="18" charset="0"/>
                  </a:rPr>
                  <a:t>ACELERACION NORMAL </a:t>
                </a:r>
                <a14:m>
                  <m:oMath xmlns:m="http://schemas.openxmlformats.org/officeDocument/2006/math">
                    <m:sSubSup>
                      <m:sSubSupPr>
                        <m:ctrlPr>
                          <a:rPr lang="en-US" sz="1400" b="1" i="1">
                            <a:latin typeface="Cambria Math" panose="02040503050406030204" pitchFamily="18" charset="0"/>
                            <a:ea typeface="Cambria Math" panose="02040503050406030204" pitchFamily="18" charset="0"/>
                          </a:rPr>
                        </m:ctrlPr>
                      </m:sSubSupPr>
                      <m:e>
                        <m:r>
                          <a:rPr lang="en-US" sz="1400" b="1" i="1">
                            <a:latin typeface="Cambria Math" panose="02040503050406030204" pitchFamily="18" charset="0"/>
                            <a:ea typeface="Cambria Math" panose="02040503050406030204" pitchFamily="18" charset="0"/>
                          </a:rPr>
                          <m:t>𝑨</m:t>
                        </m:r>
                      </m:e>
                      <m:sub>
                        <m:r>
                          <a:rPr lang="en-US" sz="1400" b="1" i="1">
                            <a:latin typeface="Cambria Math" panose="02040503050406030204" pitchFamily="18" charset="0"/>
                            <a:ea typeface="Cambria Math" panose="02040503050406030204" pitchFamily="18" charset="0"/>
                          </a:rPr>
                          <m:t>𝑷𝑨</m:t>
                        </m:r>
                      </m:sub>
                      <m:sup>
                        <m:r>
                          <a:rPr lang="en-US" sz="1400" b="1" i="1">
                            <a:latin typeface="Cambria Math" panose="02040503050406030204" pitchFamily="18" charset="0"/>
                            <a:ea typeface="Cambria Math" panose="02040503050406030204" pitchFamily="18" charset="0"/>
                          </a:rPr>
                          <m:t>𝒏</m:t>
                        </m:r>
                      </m:sup>
                    </m:sSubSup>
                  </m:oMath>
                </a14:m>
                <a:r>
                  <a:rPr lang="es-AR" sz="1400" dirty="0">
                    <a:latin typeface="Bahnschrift" panose="020B0502040204020203" pitchFamily="34" charset="0"/>
                  </a:rPr>
                  <a:t> tiene la </a:t>
                </a:r>
                <a:r>
                  <a:rPr lang="es-AR" sz="1400" dirty="0">
                    <a:highlight>
                      <a:srgbClr val="FFC000"/>
                    </a:highlight>
                    <a:latin typeface="Bahnschrift" panose="020B0502040204020203" pitchFamily="34" charset="0"/>
                  </a:rPr>
                  <a:t>dirección del vector posición</a:t>
                </a:r>
                <a:r>
                  <a:rPr lang="es-AR" sz="1400" dirty="0">
                    <a:latin typeface="Bahnschrift" panose="020B0502040204020203" pitchFamily="34" charset="0"/>
                  </a:rPr>
                  <a:t>, pero </a:t>
                </a:r>
                <a:r>
                  <a:rPr lang="es-AR" sz="1400" b="1" dirty="0">
                    <a:latin typeface="Bahnschrift" panose="020B0502040204020203" pitchFamily="34" charset="0"/>
                  </a:rPr>
                  <a:t>sentido contrario</a:t>
                </a:r>
                <a:r>
                  <a:rPr lang="es-AR" sz="1400" dirty="0">
                    <a:latin typeface="Bahnschrift" panose="020B0502040204020203" pitchFamily="34" charset="0"/>
                  </a:rPr>
                  <a:t> (es decir apunta hacia el centro de rotación. </a:t>
                </a:r>
              </a:p>
            </p:txBody>
          </p:sp>
        </mc:Choice>
        <mc:Fallback xmlns="">
          <p:sp>
            <p:nvSpPr>
              <p:cNvPr id="7" name="Marcador de contenido 2">
                <a:extLst>
                  <a:ext uri="{FF2B5EF4-FFF2-40B4-BE49-F238E27FC236}">
                    <a16:creationId xmlns:a16="http://schemas.microsoft.com/office/drawing/2014/main" id="{64316D64-53E4-4F7D-AFFF-3C0996C701C4}"/>
                  </a:ext>
                </a:extLst>
              </p:cNvPr>
              <p:cNvSpPr txBox="1">
                <a:spLocks noRot="1" noChangeAspect="1" noMove="1" noResize="1" noEditPoints="1" noAdjustHandles="1" noChangeArrowheads="1" noChangeShapeType="1" noTextEdit="1"/>
              </p:cNvSpPr>
              <p:nvPr/>
            </p:nvSpPr>
            <p:spPr>
              <a:xfrm>
                <a:off x="71943" y="1332092"/>
                <a:ext cx="7680137" cy="1064255"/>
              </a:xfrm>
              <a:prstGeom prst="rect">
                <a:avLst/>
              </a:prstGeom>
              <a:blipFill>
                <a:blip r:embed="rId2"/>
                <a:stretch>
                  <a:fillRect t="-2299" r="-238" b="-10345"/>
                </a:stretch>
              </a:blipFill>
            </p:spPr>
            <p:txBody>
              <a:bodyPr/>
              <a:lstStyle/>
              <a:p>
                <a:r>
                  <a:rPr lang="es-AR">
                    <a:noFill/>
                  </a:rPr>
                  <a:t> </a:t>
                </a:r>
              </a:p>
            </p:txBody>
          </p:sp>
        </mc:Fallback>
      </mc:AlternateContent>
      <p:sp>
        <p:nvSpPr>
          <p:cNvPr id="12" name="Marcador de contenido 2">
            <a:extLst>
              <a:ext uri="{FF2B5EF4-FFF2-40B4-BE49-F238E27FC236}">
                <a16:creationId xmlns:a16="http://schemas.microsoft.com/office/drawing/2014/main" id="{79D66510-BFAA-4FA2-97F9-84E6A0F1EA9E}"/>
              </a:ext>
            </a:extLst>
          </p:cNvPr>
          <p:cNvSpPr txBox="1">
            <a:spLocks/>
          </p:cNvSpPr>
          <p:nvPr/>
        </p:nvSpPr>
        <p:spPr>
          <a:xfrm>
            <a:off x="988761" y="2694043"/>
            <a:ext cx="3518201" cy="472446"/>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r>
              <a:rPr lang="es-AR" sz="1400" dirty="0">
                <a:latin typeface="Bahnschrift" panose="020B0502040204020203" pitchFamily="34" charset="0"/>
              </a:rPr>
              <a:t>Se introduce ahora la identidad de Euler </a:t>
            </a:r>
          </a:p>
        </p:txBody>
      </p:sp>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24EA1989-E8C4-4B66-BF43-DCBF146E5CEF}"/>
                  </a:ext>
                </a:extLst>
              </p:cNvPr>
              <p:cNvSpPr txBox="1"/>
              <p:nvPr/>
            </p:nvSpPr>
            <p:spPr>
              <a:xfrm>
                <a:off x="5132872" y="2685819"/>
                <a:ext cx="50302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s-AR"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𝑃𝐴</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r>
                            <a:rPr lang="en-US" b="0" i="1" smtClean="0">
                              <a:latin typeface="Cambria Math" panose="02040503050406030204" pitchFamily="18" charset="0"/>
                              <a:ea typeface="Cambria Math" panose="02040503050406030204" pitchFamily="18" charset="0"/>
                            </a:rPr>
                            <m:t>𝜃</m:t>
                          </m:r>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r>
                            <a:rPr lang="en-US" b="0" i="1" smtClean="0">
                              <a:latin typeface="Cambria Math" panose="02040503050406030204" pitchFamily="18" charset="0"/>
                              <a:ea typeface="Cambria Math" panose="02040503050406030204" pitchFamily="18" charset="0"/>
                            </a:rPr>
                            <m:t>𝜃</m:t>
                          </m:r>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𝜔</m:t>
                          </m:r>
                        </m:e>
                        <m:sup>
                          <m:r>
                            <a:rPr lang="en-US" b="0" i="1" smtClean="0">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r>
                            <a:rPr lang="en-US" i="1">
                              <a:latin typeface="Cambria Math" panose="02040503050406030204" pitchFamily="18" charset="0"/>
                              <a:ea typeface="Cambria Math" panose="02040503050406030204" pitchFamily="18" charset="0"/>
                            </a:rPr>
                            <m:t>𝜃</m:t>
                          </m:r>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r>
                            <a:rPr lang="en-US" i="1">
                              <a:latin typeface="Cambria Math" panose="02040503050406030204" pitchFamily="18" charset="0"/>
                              <a:ea typeface="Cambria Math" panose="02040503050406030204" pitchFamily="18" charset="0"/>
                            </a:rPr>
                            <m:t>𝜃</m:t>
                          </m:r>
                        </m:e>
                      </m:func>
                      <m:r>
                        <a:rPr lang="en-US" i="1">
                          <a:latin typeface="Cambria Math" panose="02040503050406030204" pitchFamily="18" charset="0"/>
                          <a:ea typeface="Cambria Math" panose="02040503050406030204" pitchFamily="18" charset="0"/>
                        </a:rPr>
                        <m:t>)</m:t>
                      </m:r>
                    </m:oMath>
                  </m:oMathPara>
                </a14:m>
                <a:endParaRPr lang="es-AR" dirty="0"/>
              </a:p>
            </p:txBody>
          </p:sp>
        </mc:Choice>
        <mc:Fallback xmlns="">
          <p:sp>
            <p:nvSpPr>
              <p:cNvPr id="27" name="CuadroTexto 26">
                <a:extLst>
                  <a:ext uri="{FF2B5EF4-FFF2-40B4-BE49-F238E27FC236}">
                    <a16:creationId xmlns:a16="http://schemas.microsoft.com/office/drawing/2014/main" id="{24EA1989-E8C4-4B66-BF43-DCBF146E5CEF}"/>
                  </a:ext>
                </a:extLst>
              </p:cNvPr>
              <p:cNvSpPr txBox="1">
                <a:spLocks noRot="1" noChangeAspect="1" noMove="1" noResize="1" noEditPoints="1" noAdjustHandles="1" noChangeArrowheads="1" noChangeShapeType="1" noTextEdit="1"/>
              </p:cNvSpPr>
              <p:nvPr/>
            </p:nvSpPr>
            <p:spPr>
              <a:xfrm>
                <a:off x="5132872" y="2685819"/>
                <a:ext cx="5030223" cy="276999"/>
              </a:xfrm>
              <a:prstGeom prst="rect">
                <a:avLst/>
              </a:prstGeom>
              <a:blipFill>
                <a:blip r:embed="rId3"/>
                <a:stretch>
                  <a:fillRect l="-485" t="-2222" r="-1091" b="-3777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ADA50C19-14CC-47AD-A0A9-B208507EED64}"/>
                  </a:ext>
                </a:extLst>
              </p:cNvPr>
              <p:cNvSpPr txBox="1"/>
              <p:nvPr/>
            </p:nvSpPr>
            <p:spPr>
              <a:xfrm>
                <a:off x="8155532" y="1539508"/>
                <a:ext cx="2409121" cy="3786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ea typeface="Cambria Math" panose="02040503050406030204" pitchFamily="18" charset="0"/>
                            </a:rPr>
                          </m:ctrlPr>
                        </m:sSubPr>
                        <m:e>
                          <m:r>
                            <a:rPr lang="es-AR" sz="2400" b="1" i="1" smtClean="0">
                              <a:latin typeface="Cambria Math" panose="02040503050406030204" pitchFamily="18" charset="0"/>
                              <a:ea typeface="Cambria Math" panose="02040503050406030204" pitchFamily="18" charset="0"/>
                            </a:rPr>
                            <m:t>𝑨</m:t>
                          </m:r>
                        </m:e>
                        <m:sub>
                          <m:r>
                            <a:rPr lang="en-US" sz="2400" b="1" i="1" smtClean="0">
                              <a:latin typeface="Cambria Math" panose="02040503050406030204" pitchFamily="18" charset="0"/>
                              <a:ea typeface="Cambria Math" panose="02040503050406030204" pitchFamily="18" charset="0"/>
                            </a:rPr>
                            <m:t>𝑷𝑨</m:t>
                          </m:r>
                        </m:sub>
                      </m:sSub>
                      <m:r>
                        <a:rPr lang="en-US" sz="2400" b="1" i="1" smtClean="0">
                          <a:latin typeface="Cambria Math" panose="02040503050406030204" pitchFamily="18" charset="0"/>
                          <a:ea typeface="Cambria Math" panose="02040503050406030204" pitchFamily="18" charset="0"/>
                        </a:rPr>
                        <m:t>=</m:t>
                      </m:r>
                      <m:sSubSup>
                        <m:sSubSupPr>
                          <m:ctrlPr>
                            <a:rPr lang="en-US" sz="2400" b="1" i="1" smtClean="0">
                              <a:latin typeface="Cambria Math" panose="02040503050406030204" pitchFamily="18" charset="0"/>
                              <a:ea typeface="Cambria Math" panose="02040503050406030204" pitchFamily="18" charset="0"/>
                            </a:rPr>
                          </m:ctrlPr>
                        </m:sSubSupPr>
                        <m:e>
                          <m:r>
                            <a:rPr lang="en-US" sz="2400" b="1" i="1" smtClean="0">
                              <a:latin typeface="Cambria Math" panose="02040503050406030204" pitchFamily="18" charset="0"/>
                              <a:ea typeface="Cambria Math" panose="02040503050406030204" pitchFamily="18" charset="0"/>
                            </a:rPr>
                            <m:t>𝑨</m:t>
                          </m:r>
                        </m:e>
                        <m:sub>
                          <m:r>
                            <a:rPr lang="en-US" sz="2400" b="1" i="1" smtClean="0">
                              <a:latin typeface="Cambria Math" panose="02040503050406030204" pitchFamily="18" charset="0"/>
                              <a:ea typeface="Cambria Math" panose="02040503050406030204" pitchFamily="18" charset="0"/>
                            </a:rPr>
                            <m:t>𝑷𝑨</m:t>
                          </m:r>
                        </m:sub>
                        <m:sup>
                          <m:r>
                            <a:rPr lang="en-US" sz="2400" b="1" i="1" smtClean="0">
                              <a:latin typeface="Cambria Math" panose="02040503050406030204" pitchFamily="18" charset="0"/>
                              <a:ea typeface="Cambria Math" panose="02040503050406030204" pitchFamily="18" charset="0"/>
                            </a:rPr>
                            <m:t>𝒕</m:t>
                          </m:r>
                        </m:sup>
                      </m:sSubSup>
                      <m:r>
                        <a:rPr lang="en-US" sz="2400" b="1" i="1" smtClean="0">
                          <a:latin typeface="Cambria Math" panose="02040503050406030204" pitchFamily="18" charset="0"/>
                          <a:ea typeface="Cambria Math" panose="02040503050406030204" pitchFamily="18" charset="0"/>
                        </a:rPr>
                        <m:t>+</m:t>
                      </m:r>
                      <m:sSubSup>
                        <m:sSubSupPr>
                          <m:ctrlPr>
                            <a:rPr lang="en-US" sz="2400" b="1" i="1">
                              <a:latin typeface="Cambria Math" panose="02040503050406030204" pitchFamily="18" charset="0"/>
                              <a:ea typeface="Cambria Math" panose="02040503050406030204" pitchFamily="18" charset="0"/>
                            </a:rPr>
                          </m:ctrlPr>
                        </m:sSubSupPr>
                        <m:e>
                          <m:r>
                            <a:rPr lang="en-US" sz="2400" b="1" i="1">
                              <a:latin typeface="Cambria Math" panose="02040503050406030204" pitchFamily="18" charset="0"/>
                              <a:ea typeface="Cambria Math" panose="02040503050406030204" pitchFamily="18" charset="0"/>
                            </a:rPr>
                            <m:t>𝑨</m:t>
                          </m:r>
                        </m:e>
                        <m:sub>
                          <m:r>
                            <a:rPr lang="en-US" sz="2400" b="1" i="1">
                              <a:latin typeface="Cambria Math" panose="02040503050406030204" pitchFamily="18" charset="0"/>
                              <a:ea typeface="Cambria Math" panose="02040503050406030204" pitchFamily="18" charset="0"/>
                            </a:rPr>
                            <m:t>𝑷𝑨</m:t>
                          </m:r>
                        </m:sub>
                        <m:sup>
                          <m:r>
                            <a:rPr lang="en-US" sz="2400" b="1" i="1" smtClean="0">
                              <a:latin typeface="Cambria Math" panose="02040503050406030204" pitchFamily="18" charset="0"/>
                              <a:ea typeface="Cambria Math" panose="02040503050406030204" pitchFamily="18" charset="0"/>
                            </a:rPr>
                            <m:t>𝒏</m:t>
                          </m:r>
                        </m:sup>
                      </m:sSubSup>
                    </m:oMath>
                  </m:oMathPara>
                </a14:m>
                <a:endParaRPr lang="es-AR" sz="2400" b="1" dirty="0"/>
              </a:p>
            </p:txBody>
          </p:sp>
        </mc:Choice>
        <mc:Fallback xmlns="">
          <p:sp>
            <p:nvSpPr>
              <p:cNvPr id="23" name="CuadroTexto 22">
                <a:extLst>
                  <a:ext uri="{FF2B5EF4-FFF2-40B4-BE49-F238E27FC236}">
                    <a16:creationId xmlns:a16="http://schemas.microsoft.com/office/drawing/2014/main" id="{ADA50C19-14CC-47AD-A0A9-B208507EED64}"/>
                  </a:ext>
                </a:extLst>
              </p:cNvPr>
              <p:cNvSpPr txBox="1">
                <a:spLocks noRot="1" noChangeAspect="1" noMove="1" noResize="1" noEditPoints="1" noAdjustHandles="1" noChangeArrowheads="1" noChangeShapeType="1" noTextEdit="1"/>
              </p:cNvSpPr>
              <p:nvPr/>
            </p:nvSpPr>
            <p:spPr>
              <a:xfrm>
                <a:off x="8155532" y="1539508"/>
                <a:ext cx="2409121" cy="378630"/>
              </a:xfrm>
              <a:prstGeom prst="rect">
                <a:avLst/>
              </a:prstGeom>
              <a:blipFill>
                <a:blip r:embed="rId4"/>
                <a:stretch>
                  <a:fillRect l="-2278" r="-506" b="-20968"/>
                </a:stretch>
              </a:blipFill>
            </p:spPr>
            <p:txBody>
              <a:bodyPr/>
              <a:lstStyle/>
              <a:p>
                <a:r>
                  <a:rPr lang="es-AR">
                    <a:noFill/>
                  </a:rPr>
                  <a:t> </a:t>
                </a:r>
              </a:p>
            </p:txBody>
          </p:sp>
        </mc:Fallback>
      </mc:AlternateContent>
      <p:pic>
        <p:nvPicPr>
          <p:cNvPr id="32" name="Imagen 31" descr="Imagen que contiene cuchillo, dibujo&#10;&#10;Descripción generada automáticamente">
            <a:extLst>
              <a:ext uri="{FF2B5EF4-FFF2-40B4-BE49-F238E27FC236}">
                <a16:creationId xmlns:a16="http://schemas.microsoft.com/office/drawing/2014/main" id="{DEB821D1-15BB-49F2-BDC0-0BEB529A445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06962" y="2787479"/>
            <a:ext cx="404239" cy="187458"/>
          </a:xfrm>
          <a:prstGeom prst="rect">
            <a:avLst/>
          </a:prstGeom>
        </p:spPr>
      </p:pic>
      <p:sp>
        <p:nvSpPr>
          <p:cNvPr id="4" name="Marcador de contenido 2">
            <a:extLst>
              <a:ext uri="{FF2B5EF4-FFF2-40B4-BE49-F238E27FC236}">
                <a16:creationId xmlns:a16="http://schemas.microsoft.com/office/drawing/2014/main" id="{523D512F-E1BC-4101-B003-270943A15506}"/>
              </a:ext>
            </a:extLst>
          </p:cNvPr>
          <p:cNvSpPr txBox="1">
            <a:spLocks/>
          </p:cNvSpPr>
          <p:nvPr/>
        </p:nvSpPr>
        <p:spPr>
          <a:xfrm>
            <a:off x="20713" y="3190500"/>
            <a:ext cx="5607774" cy="2828556"/>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Esta aceleración A</a:t>
            </a:r>
            <a:r>
              <a:rPr lang="es-AR" sz="1400" baseline="-25000" dirty="0">
                <a:latin typeface="Bahnschrift" panose="020B0502040204020203" pitchFamily="34" charset="0"/>
              </a:rPr>
              <a:t>PA</a:t>
            </a:r>
            <a:r>
              <a:rPr lang="es-AR" sz="1400" dirty="0">
                <a:latin typeface="Bahnschrift" panose="020B0502040204020203" pitchFamily="34" charset="0"/>
              </a:rPr>
              <a:t> puede denominarse </a:t>
            </a:r>
            <a:r>
              <a:rPr lang="es-AR" sz="1400" b="1" dirty="0">
                <a:latin typeface="Bahnschrift" panose="020B0502040204020203" pitchFamily="34" charset="0"/>
              </a:rPr>
              <a:t>ACELERACION ABSOLUTA</a:t>
            </a:r>
            <a:r>
              <a:rPr lang="es-AR" sz="1400" dirty="0">
                <a:latin typeface="Bahnschrift" panose="020B0502040204020203" pitchFamily="34" charset="0"/>
              </a:rPr>
              <a:t> pues el </a:t>
            </a:r>
            <a:r>
              <a:rPr lang="es-AR" sz="1400" dirty="0">
                <a:highlight>
                  <a:srgbClr val="FFC000"/>
                </a:highlight>
                <a:latin typeface="Bahnschrift" panose="020B0502040204020203" pitchFamily="34" charset="0"/>
              </a:rPr>
              <a:t>punto de aplicación A del vector posición coincide con el origen del SISTEMA ABSOLUTO</a:t>
            </a:r>
            <a:r>
              <a:rPr lang="es-AR" sz="1400" dirty="0">
                <a:latin typeface="Bahnschrift" panose="020B0502040204020203" pitchFamily="34" charset="0"/>
              </a:rPr>
              <a:t>. </a:t>
            </a:r>
          </a:p>
          <a:p>
            <a:pPr algn="just">
              <a:buFontTx/>
              <a:buChar char="-"/>
            </a:pPr>
            <a:r>
              <a:rPr lang="es-AR" sz="1400" dirty="0">
                <a:latin typeface="Bahnschrift" panose="020B0502040204020203" pitchFamily="34" charset="0"/>
              </a:rPr>
              <a:t>Si tenemos un sistema diferente, donde el </a:t>
            </a:r>
            <a:r>
              <a:rPr lang="es-AR" sz="1400" dirty="0">
                <a:highlight>
                  <a:srgbClr val="FFC000"/>
                </a:highlight>
                <a:latin typeface="Bahnschrift" panose="020B0502040204020203" pitchFamily="34" charset="0"/>
              </a:rPr>
              <a:t>punto A no es estacionario</a:t>
            </a:r>
            <a:r>
              <a:rPr lang="es-AR" sz="1400" dirty="0">
                <a:latin typeface="Bahnschrift" panose="020B0502040204020203" pitchFamily="34" charset="0"/>
              </a:rPr>
              <a:t>, sino que pertenece a un cuerpo que se mueve respecto del sistema global con una aceleración lineal conocida A</a:t>
            </a:r>
            <a:r>
              <a:rPr lang="es-AR" sz="1400" baseline="-25000" dirty="0">
                <a:latin typeface="Bahnschrift" panose="020B0502040204020203" pitchFamily="34" charset="0"/>
              </a:rPr>
              <a:t>PA</a:t>
            </a:r>
            <a:r>
              <a:rPr lang="es-AR" sz="1400" dirty="0">
                <a:latin typeface="Bahnschrift" panose="020B0502040204020203" pitchFamily="34" charset="0"/>
              </a:rPr>
              <a:t>, dicha aceleración dejara de llamarse ABSOLUTA para denominarse </a:t>
            </a:r>
            <a:r>
              <a:rPr lang="es-AR" sz="1400" b="1" dirty="0">
                <a:latin typeface="Bahnschrift" panose="020B0502040204020203" pitchFamily="34" charset="0"/>
              </a:rPr>
              <a:t>DIFERENCIA DE ACELERACIO</a:t>
            </a:r>
            <a:r>
              <a:rPr lang="es-AR" sz="1400" dirty="0">
                <a:latin typeface="Bahnschrift" panose="020B0502040204020203" pitchFamily="34" charset="0"/>
              </a:rPr>
              <a:t>N. Entonces, en este caso, para hallar la aceleración absoluta de P debe utilizarse la ecuación de diferencia de aceleración. </a:t>
            </a:r>
          </a:p>
          <a:p>
            <a:pPr algn="just">
              <a:buFontTx/>
              <a:buChar char="-"/>
            </a:pPr>
            <a:endParaRPr lang="es-AR" sz="1400" dirty="0">
              <a:latin typeface="Bahnschrift" panose="020B0502040204020203" pitchFamily="34" charset="0"/>
            </a:endParaRPr>
          </a:p>
        </p:txBody>
      </p:sp>
      <p:pic>
        <p:nvPicPr>
          <p:cNvPr id="6" name="Imagen 5">
            <a:extLst>
              <a:ext uri="{FF2B5EF4-FFF2-40B4-BE49-F238E27FC236}">
                <a16:creationId xmlns:a16="http://schemas.microsoft.com/office/drawing/2014/main" id="{701BD6D6-0EEC-42A2-8C76-078A00EBA0D9}"/>
              </a:ext>
            </a:extLst>
          </p:cNvPr>
          <p:cNvPicPr>
            <a:picLocks noChangeAspect="1"/>
          </p:cNvPicPr>
          <p:nvPr/>
        </p:nvPicPr>
        <p:blipFill>
          <a:blip r:embed="rId6"/>
          <a:stretch>
            <a:fillRect/>
          </a:stretch>
        </p:blipFill>
        <p:spPr>
          <a:xfrm>
            <a:off x="5628487" y="3286956"/>
            <a:ext cx="5537294" cy="3045816"/>
          </a:xfrm>
          <a:prstGeom prst="rect">
            <a:avLst/>
          </a:prstGeom>
        </p:spPr>
      </p:pic>
      <p:pic>
        <p:nvPicPr>
          <p:cNvPr id="34" name="Imagen 33" descr="Imagen que contiene dibujo&#10;&#10;Descripción generada automáticamente">
            <a:extLst>
              <a:ext uri="{FF2B5EF4-FFF2-40B4-BE49-F238E27FC236}">
                <a16:creationId xmlns:a16="http://schemas.microsoft.com/office/drawing/2014/main" id="{8B73DEA0-1FE1-42FF-9073-2D6CBAD7F0C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12814061" flipH="1" flipV="1">
            <a:off x="718083" y="2503336"/>
            <a:ext cx="319688" cy="404861"/>
          </a:xfrm>
          <a:prstGeom prst="rect">
            <a:avLst/>
          </a:prstGeom>
        </p:spPr>
      </p:pic>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F0252F62-2E31-4C35-8CD8-AD4FAFD324AE}"/>
                  </a:ext>
                </a:extLst>
              </p:cNvPr>
              <p:cNvSpPr txBox="1"/>
              <p:nvPr/>
            </p:nvSpPr>
            <p:spPr>
              <a:xfrm>
                <a:off x="2056921" y="5641876"/>
                <a:ext cx="154568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s-AR"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𝑃</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𝐴</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𝑃𝐴</m:t>
                          </m:r>
                        </m:sub>
                      </m:sSub>
                    </m:oMath>
                  </m:oMathPara>
                </a14:m>
                <a:endParaRPr lang="es-AR" dirty="0"/>
              </a:p>
            </p:txBody>
          </p:sp>
        </mc:Choice>
        <mc:Fallback xmlns="">
          <p:sp>
            <p:nvSpPr>
              <p:cNvPr id="35" name="CuadroTexto 34">
                <a:extLst>
                  <a:ext uri="{FF2B5EF4-FFF2-40B4-BE49-F238E27FC236}">
                    <a16:creationId xmlns:a16="http://schemas.microsoft.com/office/drawing/2014/main" id="{F0252F62-2E31-4C35-8CD8-AD4FAFD324AE}"/>
                  </a:ext>
                </a:extLst>
              </p:cNvPr>
              <p:cNvSpPr txBox="1">
                <a:spLocks noRot="1" noChangeAspect="1" noMove="1" noResize="1" noEditPoints="1" noAdjustHandles="1" noChangeArrowheads="1" noChangeShapeType="1" noTextEdit="1"/>
              </p:cNvSpPr>
              <p:nvPr/>
            </p:nvSpPr>
            <p:spPr>
              <a:xfrm>
                <a:off x="2056921" y="5641876"/>
                <a:ext cx="1545680" cy="276999"/>
              </a:xfrm>
              <a:prstGeom prst="rect">
                <a:avLst/>
              </a:prstGeom>
              <a:blipFill>
                <a:blip r:embed="rId8"/>
                <a:stretch>
                  <a:fillRect l="-2756" r="-787" b="-1777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1CEC83BA-B9CB-41BD-9BBD-150CB75FAB15}"/>
                  </a:ext>
                </a:extLst>
              </p:cNvPr>
              <p:cNvSpPr txBox="1"/>
              <p:nvPr/>
            </p:nvSpPr>
            <p:spPr>
              <a:xfrm>
                <a:off x="1380684" y="6004560"/>
                <a:ext cx="3759041" cy="2803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sSubSup>
                        <m:sSubSupPr>
                          <m:ctrlPr>
                            <a:rPr lang="en-US" i="1" smtClean="0">
                              <a:latin typeface="Cambria Math" panose="02040503050406030204" pitchFamily="18" charset="0"/>
                              <a:ea typeface="Cambria Math" panose="02040503050406030204" pitchFamily="18" charset="0"/>
                            </a:rPr>
                          </m:ctrlPr>
                        </m:sSubSupPr>
                        <m:e>
                          <m:r>
                            <a:rPr lang="en-US" b="0" i="1">
                              <a:latin typeface="Cambria Math" panose="02040503050406030204" pitchFamily="18" charset="0"/>
                              <a:ea typeface="Cambria Math" panose="02040503050406030204" pitchFamily="18" charset="0"/>
                            </a:rPr>
                            <m:t>𝐴</m:t>
                          </m:r>
                        </m:e>
                        <m:sub>
                          <m:r>
                            <a:rPr lang="en-US" b="0" i="1">
                              <a:latin typeface="Cambria Math" panose="02040503050406030204" pitchFamily="18" charset="0"/>
                              <a:ea typeface="Cambria Math" panose="02040503050406030204" pitchFamily="18" charset="0"/>
                            </a:rPr>
                            <m:t>𝑃</m:t>
                          </m:r>
                        </m:sub>
                        <m:sup>
                          <m:r>
                            <a:rPr lang="en-US" b="0" i="1">
                              <a:latin typeface="Cambria Math" panose="02040503050406030204" pitchFamily="18" charset="0"/>
                              <a:ea typeface="Cambria Math" panose="02040503050406030204" pitchFamily="18" charset="0"/>
                            </a:rPr>
                            <m:t>𝑡</m:t>
                          </m:r>
                        </m:sup>
                      </m:sSubSup>
                      <m:r>
                        <a:rPr lang="en-US" b="0"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b="0" i="1">
                              <a:latin typeface="Cambria Math" panose="02040503050406030204" pitchFamily="18" charset="0"/>
                              <a:ea typeface="Cambria Math" panose="02040503050406030204" pitchFamily="18" charset="0"/>
                            </a:rPr>
                            <m:t>𝐴</m:t>
                          </m:r>
                        </m:e>
                        <m:sub>
                          <m:r>
                            <a:rPr lang="en-US" b="0" i="1">
                              <a:latin typeface="Cambria Math" panose="02040503050406030204" pitchFamily="18" charset="0"/>
                              <a:ea typeface="Cambria Math" panose="02040503050406030204" pitchFamily="18" charset="0"/>
                            </a:rPr>
                            <m:t>𝑃</m:t>
                          </m:r>
                        </m:sub>
                        <m:sup>
                          <m:r>
                            <a:rPr lang="en-US" b="0" i="1">
                              <a:latin typeface="Cambria Math" panose="02040503050406030204" pitchFamily="18" charset="0"/>
                              <a:ea typeface="Cambria Math" panose="02040503050406030204" pitchFamily="18" charset="0"/>
                            </a:rPr>
                            <m:t>𝑛</m:t>
                          </m:r>
                        </m:sup>
                      </m:sSubSup>
                      <m:r>
                        <a:rPr lang="en-US" b="0" i="1" smtClean="0">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b="0" i="1">
                              <a:latin typeface="Cambria Math" panose="02040503050406030204" pitchFamily="18" charset="0"/>
                              <a:ea typeface="Cambria Math" panose="02040503050406030204" pitchFamily="18" charset="0"/>
                            </a:rPr>
                            <m:t>𝐴</m:t>
                          </m:r>
                        </m:e>
                        <m:sub>
                          <m:r>
                            <a:rPr lang="en-US" b="0" i="1">
                              <a:latin typeface="Cambria Math" panose="02040503050406030204" pitchFamily="18" charset="0"/>
                              <a:ea typeface="Cambria Math" panose="02040503050406030204" pitchFamily="18" charset="0"/>
                            </a:rPr>
                            <m:t>𝐴</m:t>
                          </m:r>
                        </m:sub>
                        <m:sup>
                          <m:r>
                            <a:rPr lang="en-US" b="0" i="1">
                              <a:latin typeface="Cambria Math" panose="02040503050406030204" pitchFamily="18" charset="0"/>
                              <a:ea typeface="Cambria Math" panose="02040503050406030204" pitchFamily="18" charset="0"/>
                            </a:rPr>
                            <m:t>𝑡</m:t>
                          </m:r>
                        </m:sup>
                      </m:sSubSup>
                      <m:r>
                        <a:rPr lang="en-US" b="0"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b="0" i="1">
                              <a:latin typeface="Cambria Math" panose="02040503050406030204" pitchFamily="18" charset="0"/>
                              <a:ea typeface="Cambria Math" panose="02040503050406030204" pitchFamily="18" charset="0"/>
                            </a:rPr>
                            <m:t>𝐴</m:t>
                          </m:r>
                        </m:e>
                        <m:sub>
                          <m:r>
                            <a:rPr lang="en-US" b="0" i="1">
                              <a:latin typeface="Cambria Math" panose="02040503050406030204" pitchFamily="18" charset="0"/>
                              <a:ea typeface="Cambria Math" panose="02040503050406030204" pitchFamily="18" charset="0"/>
                            </a:rPr>
                            <m:t>𝐴</m:t>
                          </m:r>
                        </m:sub>
                        <m:sup>
                          <m:r>
                            <a:rPr lang="en-US" b="0" i="1">
                              <a:latin typeface="Cambria Math" panose="02040503050406030204" pitchFamily="18" charset="0"/>
                              <a:ea typeface="Cambria Math" panose="02040503050406030204" pitchFamily="18" charset="0"/>
                            </a:rPr>
                            <m:t>𝑛</m:t>
                          </m:r>
                        </m:sup>
                      </m:sSubSup>
                      <m:r>
                        <a:rPr lang="en-US" b="0" i="1" smtClean="0">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m:t>
                          </m:r>
                          <m:r>
                            <a:rPr lang="en-US" b="0" i="1">
                              <a:latin typeface="Cambria Math" panose="02040503050406030204" pitchFamily="18" charset="0"/>
                              <a:ea typeface="Cambria Math" panose="02040503050406030204" pitchFamily="18" charset="0"/>
                            </a:rPr>
                            <m:t>𝐴</m:t>
                          </m:r>
                        </m:e>
                        <m:sub>
                          <m:r>
                            <a:rPr lang="en-US" b="0" i="1">
                              <a:latin typeface="Cambria Math" panose="02040503050406030204" pitchFamily="18" charset="0"/>
                              <a:ea typeface="Cambria Math" panose="02040503050406030204" pitchFamily="18" charset="0"/>
                            </a:rPr>
                            <m:t>𝑃𝐴</m:t>
                          </m:r>
                        </m:sub>
                        <m:sup>
                          <m:r>
                            <a:rPr lang="en-US" b="0" i="1">
                              <a:latin typeface="Cambria Math" panose="02040503050406030204" pitchFamily="18" charset="0"/>
                              <a:ea typeface="Cambria Math" panose="02040503050406030204" pitchFamily="18" charset="0"/>
                            </a:rPr>
                            <m:t>𝑡</m:t>
                          </m:r>
                        </m:sup>
                      </m:sSubSup>
                      <m:r>
                        <a:rPr lang="en-US" b="0"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b="0" i="1">
                              <a:latin typeface="Cambria Math" panose="02040503050406030204" pitchFamily="18" charset="0"/>
                              <a:ea typeface="Cambria Math" panose="02040503050406030204" pitchFamily="18" charset="0"/>
                            </a:rPr>
                            <m:t>𝐴</m:t>
                          </m:r>
                        </m:e>
                        <m:sub>
                          <m:r>
                            <a:rPr lang="en-US" b="0" i="1">
                              <a:latin typeface="Cambria Math" panose="02040503050406030204" pitchFamily="18" charset="0"/>
                              <a:ea typeface="Cambria Math" panose="02040503050406030204" pitchFamily="18" charset="0"/>
                            </a:rPr>
                            <m:t>𝑃𝐴</m:t>
                          </m:r>
                        </m:sub>
                        <m:sup>
                          <m:r>
                            <a:rPr lang="en-US" b="0" i="1">
                              <a:latin typeface="Cambria Math" panose="02040503050406030204" pitchFamily="18" charset="0"/>
                              <a:ea typeface="Cambria Math" panose="02040503050406030204" pitchFamily="18" charset="0"/>
                            </a:rPr>
                            <m:t>𝑛</m:t>
                          </m:r>
                        </m:sup>
                      </m:sSubSup>
                      <m:r>
                        <a:rPr lang="en-US" b="0" i="1" smtClean="0">
                          <a:latin typeface="Cambria Math" panose="02040503050406030204" pitchFamily="18" charset="0"/>
                          <a:ea typeface="Cambria Math" panose="02040503050406030204" pitchFamily="18" charset="0"/>
                        </a:rPr>
                        <m:t>)</m:t>
                      </m:r>
                    </m:oMath>
                  </m:oMathPara>
                </a14:m>
                <a:endParaRPr lang="es-AR" dirty="0"/>
              </a:p>
            </p:txBody>
          </p:sp>
        </mc:Choice>
        <mc:Fallback xmlns="">
          <p:sp>
            <p:nvSpPr>
              <p:cNvPr id="36" name="CuadroTexto 35">
                <a:extLst>
                  <a:ext uri="{FF2B5EF4-FFF2-40B4-BE49-F238E27FC236}">
                    <a16:creationId xmlns:a16="http://schemas.microsoft.com/office/drawing/2014/main" id="{1CEC83BA-B9CB-41BD-9BBD-150CB75FAB15}"/>
                  </a:ext>
                </a:extLst>
              </p:cNvPr>
              <p:cNvSpPr txBox="1">
                <a:spLocks noRot="1" noChangeAspect="1" noMove="1" noResize="1" noEditPoints="1" noAdjustHandles="1" noChangeArrowheads="1" noChangeShapeType="1" noTextEdit="1"/>
              </p:cNvSpPr>
              <p:nvPr/>
            </p:nvSpPr>
            <p:spPr>
              <a:xfrm>
                <a:off x="1380684" y="6004560"/>
                <a:ext cx="3759041" cy="280333"/>
              </a:xfrm>
              <a:prstGeom prst="rect">
                <a:avLst/>
              </a:prstGeom>
              <a:blipFill>
                <a:blip r:embed="rId9"/>
                <a:stretch>
                  <a:fillRect l="-1621" r="-1621" b="-36957"/>
                </a:stretch>
              </a:blipFill>
            </p:spPr>
            <p:txBody>
              <a:bodyPr/>
              <a:lstStyle/>
              <a:p>
                <a:r>
                  <a:rPr lang="es-AR">
                    <a:noFill/>
                  </a:rPr>
                  <a:t> </a:t>
                </a:r>
              </a:p>
            </p:txBody>
          </p:sp>
        </mc:Fallback>
      </mc:AlternateContent>
    </p:spTree>
    <p:extLst>
      <p:ext uri="{BB962C8B-B14F-4D97-AF65-F5344CB8AC3E}">
        <p14:creationId xmlns:p14="http://schemas.microsoft.com/office/powerpoint/2010/main" val="1777855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7" grpId="0"/>
      <p:bldP spid="4" grpId="0"/>
      <p:bldP spid="35" grpId="0"/>
      <p:bldP spid="3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ángulo 40">
            <a:extLst>
              <a:ext uri="{FF2B5EF4-FFF2-40B4-BE49-F238E27FC236}">
                <a16:creationId xmlns:a16="http://schemas.microsoft.com/office/drawing/2014/main" id="{B743C3E4-B138-4C3C-B69D-DF89993E7FC2}"/>
              </a:ext>
            </a:extLst>
          </p:cNvPr>
          <p:cNvSpPr/>
          <p:nvPr/>
        </p:nvSpPr>
        <p:spPr>
          <a:xfrm>
            <a:off x="0" y="853440"/>
            <a:ext cx="5323840"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10448341" cy="684362"/>
          </a:xfrm>
        </p:spPr>
        <p:txBody>
          <a:bodyPr>
            <a:normAutofit fontScale="90000"/>
          </a:bodyPr>
          <a:lstStyle/>
          <a:p>
            <a:r>
              <a:rPr lang="es-AR" sz="6000" b="1" dirty="0">
                <a:latin typeface="Bahnschrift" panose="020B0502040204020203" pitchFamily="34" charset="0"/>
              </a:rPr>
              <a:t>ANÁLISIS DE ACELERACIÓN</a:t>
            </a:r>
          </a:p>
        </p:txBody>
      </p:sp>
      <p:sp>
        <p:nvSpPr>
          <p:cNvPr id="3" name="Marcador de contenido 2"/>
          <p:cNvSpPr>
            <a:spLocks noGrp="1"/>
          </p:cNvSpPr>
          <p:nvPr>
            <p:ph idx="1"/>
          </p:nvPr>
        </p:nvSpPr>
        <p:spPr>
          <a:xfrm>
            <a:off x="116312" y="830016"/>
            <a:ext cx="5979688" cy="466124"/>
          </a:xfrm>
        </p:spPr>
        <p:txBody>
          <a:bodyPr>
            <a:normAutofit/>
          </a:bodyPr>
          <a:lstStyle/>
          <a:p>
            <a:pPr marL="0" indent="0">
              <a:buNone/>
            </a:pPr>
            <a:r>
              <a:rPr lang="es-AR" sz="2400" b="1" dirty="0">
                <a:latin typeface="Bahnschrift" panose="020B0502040204020203" pitchFamily="34" charset="0"/>
              </a:rPr>
              <a:t>DETERMINACIÓN DE ACELERACIÓN</a:t>
            </a: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7" name="Marcador de contenido 2">
            <a:extLst>
              <a:ext uri="{FF2B5EF4-FFF2-40B4-BE49-F238E27FC236}">
                <a16:creationId xmlns:a16="http://schemas.microsoft.com/office/drawing/2014/main" id="{64316D64-53E4-4F7D-AFFF-3C0996C701C4}"/>
              </a:ext>
            </a:extLst>
          </p:cNvPr>
          <p:cNvSpPr txBox="1">
            <a:spLocks/>
          </p:cNvSpPr>
          <p:nvPr/>
        </p:nvSpPr>
        <p:spPr>
          <a:xfrm>
            <a:off x="71944" y="1554036"/>
            <a:ext cx="11074024" cy="1064255"/>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Si los puntos A y P pertenecen a dos cuerpos independientes moviéndose uno respecto del otro en el plano, si se conocen las aceleraciones de ambos puntos A</a:t>
            </a:r>
            <a:r>
              <a:rPr lang="es-AR" sz="1400" baseline="-25000" dirty="0">
                <a:latin typeface="Bahnschrift" panose="020B0502040204020203" pitchFamily="34" charset="0"/>
              </a:rPr>
              <a:t>A</a:t>
            </a:r>
            <a:r>
              <a:rPr lang="es-AR" sz="1400" dirty="0">
                <a:latin typeface="Bahnschrift" panose="020B0502040204020203" pitchFamily="34" charset="0"/>
              </a:rPr>
              <a:t> y A</a:t>
            </a:r>
            <a:r>
              <a:rPr lang="es-AR" sz="1400" baseline="-25000" dirty="0">
                <a:latin typeface="Bahnschrift" panose="020B0502040204020203" pitchFamily="34" charset="0"/>
              </a:rPr>
              <a:t>P</a:t>
            </a:r>
            <a:r>
              <a:rPr lang="es-AR" sz="1400" dirty="0">
                <a:latin typeface="Bahnschrift" panose="020B0502040204020203" pitchFamily="34" charset="0"/>
              </a:rPr>
              <a:t>, entonces se puede obtener la ACELERACION RELATIVA A</a:t>
            </a:r>
            <a:r>
              <a:rPr lang="es-AR" sz="1400" baseline="-25000" dirty="0">
                <a:latin typeface="Bahnschrift" panose="020B0502040204020203" pitchFamily="34" charset="0"/>
              </a:rPr>
              <a:t>PA</a:t>
            </a:r>
            <a:r>
              <a:rPr lang="es-AR" sz="1400" dirty="0">
                <a:latin typeface="Bahnschrift" panose="020B0502040204020203" pitchFamily="34" charset="0"/>
              </a:rPr>
              <a:t>. </a:t>
            </a:r>
          </a:p>
        </p:txBody>
      </p:sp>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F0252F62-2E31-4C35-8CD8-AD4FAFD324AE}"/>
                  </a:ext>
                </a:extLst>
              </p:cNvPr>
              <p:cNvSpPr txBox="1"/>
              <p:nvPr/>
            </p:nvSpPr>
            <p:spPr>
              <a:xfrm>
                <a:off x="4836116" y="2168556"/>
                <a:ext cx="154568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s-AR"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𝑃𝐴</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𝑃</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𝐴</m:t>
                          </m:r>
                        </m:sub>
                      </m:sSub>
                    </m:oMath>
                  </m:oMathPara>
                </a14:m>
                <a:endParaRPr lang="es-AR" dirty="0"/>
              </a:p>
            </p:txBody>
          </p:sp>
        </mc:Choice>
        <mc:Fallback xmlns="">
          <p:sp>
            <p:nvSpPr>
              <p:cNvPr id="35" name="CuadroTexto 34">
                <a:extLst>
                  <a:ext uri="{FF2B5EF4-FFF2-40B4-BE49-F238E27FC236}">
                    <a16:creationId xmlns:a16="http://schemas.microsoft.com/office/drawing/2014/main" id="{F0252F62-2E31-4C35-8CD8-AD4FAFD324AE}"/>
                  </a:ext>
                </a:extLst>
              </p:cNvPr>
              <p:cNvSpPr txBox="1">
                <a:spLocks noRot="1" noChangeAspect="1" noMove="1" noResize="1" noEditPoints="1" noAdjustHandles="1" noChangeArrowheads="1" noChangeShapeType="1" noTextEdit="1"/>
              </p:cNvSpPr>
              <p:nvPr/>
            </p:nvSpPr>
            <p:spPr>
              <a:xfrm>
                <a:off x="4836116" y="2168556"/>
                <a:ext cx="1545680" cy="276999"/>
              </a:xfrm>
              <a:prstGeom prst="rect">
                <a:avLst/>
              </a:prstGeom>
              <a:blipFill>
                <a:blip r:embed="rId2"/>
                <a:stretch>
                  <a:fillRect l="-2756" r="-787" b="-17778"/>
                </a:stretch>
              </a:blipFill>
            </p:spPr>
            <p:txBody>
              <a:bodyPr/>
              <a:lstStyle/>
              <a:p>
                <a:r>
                  <a:rPr lang="es-AR">
                    <a:noFill/>
                  </a:rPr>
                  <a:t> </a:t>
                </a:r>
              </a:p>
            </p:txBody>
          </p:sp>
        </mc:Fallback>
      </mc:AlternateContent>
      <p:pic>
        <p:nvPicPr>
          <p:cNvPr id="5" name="Imagen 4">
            <a:extLst>
              <a:ext uri="{FF2B5EF4-FFF2-40B4-BE49-F238E27FC236}">
                <a16:creationId xmlns:a16="http://schemas.microsoft.com/office/drawing/2014/main" id="{860BDBA0-0936-4A94-9874-AD077B0A6578}"/>
              </a:ext>
            </a:extLst>
          </p:cNvPr>
          <p:cNvPicPr>
            <a:picLocks noChangeAspect="1"/>
          </p:cNvPicPr>
          <p:nvPr/>
        </p:nvPicPr>
        <p:blipFill>
          <a:blip r:embed="rId3"/>
          <a:stretch>
            <a:fillRect/>
          </a:stretch>
        </p:blipFill>
        <p:spPr>
          <a:xfrm>
            <a:off x="2097885" y="2578726"/>
            <a:ext cx="7022142" cy="2445466"/>
          </a:xfrm>
          <a:prstGeom prst="rect">
            <a:avLst/>
          </a:prstGeom>
        </p:spPr>
      </p:pic>
      <p:sp>
        <p:nvSpPr>
          <p:cNvPr id="8" name="Marcador de contenido 2">
            <a:extLst>
              <a:ext uri="{FF2B5EF4-FFF2-40B4-BE49-F238E27FC236}">
                <a16:creationId xmlns:a16="http://schemas.microsoft.com/office/drawing/2014/main" id="{285D6494-E1DD-4261-BE62-F14CD39680DA}"/>
              </a:ext>
            </a:extLst>
          </p:cNvPr>
          <p:cNvSpPr txBox="1">
            <a:spLocks/>
          </p:cNvSpPr>
          <p:nvPr/>
        </p:nvSpPr>
        <p:spPr>
          <a:xfrm>
            <a:off x="116312" y="5063757"/>
            <a:ext cx="11167635" cy="602607"/>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n-US" sz="1400" dirty="0">
                <a:latin typeface="Bahnschrift" panose="020B0502040204020203" pitchFamily="34" charset="0"/>
              </a:rPr>
              <a:t>L</a:t>
            </a:r>
            <a:r>
              <a:rPr lang="es-AR" sz="1400" dirty="0">
                <a:latin typeface="Bahnschrift" panose="020B0502040204020203" pitchFamily="34" charset="0"/>
              </a:rPr>
              <a:t>os 2 casos descriptos anteriormente pueden ser analizados a través de las mismas ecuaciones presentadas, pero representan dos casos diferentes: </a:t>
            </a:r>
          </a:p>
        </p:txBody>
      </p:sp>
      <p:sp>
        <p:nvSpPr>
          <p:cNvPr id="19" name="CuadroTexto 18">
            <a:extLst>
              <a:ext uri="{FF2B5EF4-FFF2-40B4-BE49-F238E27FC236}">
                <a16:creationId xmlns:a16="http://schemas.microsoft.com/office/drawing/2014/main" id="{3EBD2F5C-CB6D-4B87-B535-F4F08EB4BAAB}"/>
              </a:ext>
            </a:extLst>
          </p:cNvPr>
          <p:cNvSpPr txBox="1"/>
          <p:nvPr/>
        </p:nvSpPr>
        <p:spPr>
          <a:xfrm>
            <a:off x="450813" y="5718831"/>
            <a:ext cx="3650418" cy="584775"/>
          </a:xfrm>
          <a:prstGeom prst="rect">
            <a:avLst/>
          </a:prstGeom>
          <a:noFill/>
        </p:spPr>
        <p:txBody>
          <a:bodyPr wrap="square">
            <a:spAutoFit/>
          </a:bodyPr>
          <a:lstStyle/>
          <a:p>
            <a:r>
              <a:rPr lang="es-AR" sz="1800" b="1" dirty="0">
                <a:solidFill>
                  <a:srgbClr val="C00000"/>
                </a:solidFill>
                <a:latin typeface="Bahnschrift" panose="020B0502040204020203" pitchFamily="34" charset="0"/>
              </a:rPr>
              <a:t>CASO 1 </a:t>
            </a:r>
          </a:p>
          <a:p>
            <a:r>
              <a:rPr lang="es-AR" sz="1400" dirty="0">
                <a:solidFill>
                  <a:srgbClr val="2B241F"/>
                </a:solidFill>
                <a:latin typeface="Bahnschrift" panose="020B0502040204020203" pitchFamily="34" charset="0"/>
              </a:rPr>
              <a:t>Dos puntos en el mismo cuerpo</a:t>
            </a:r>
            <a:endParaRPr lang="es-AR" sz="1400" dirty="0">
              <a:solidFill>
                <a:srgbClr val="2B241F"/>
              </a:solidFill>
            </a:endParaRPr>
          </a:p>
        </p:txBody>
      </p:sp>
      <p:sp>
        <p:nvSpPr>
          <p:cNvPr id="20" name="CuadroTexto 19">
            <a:extLst>
              <a:ext uri="{FF2B5EF4-FFF2-40B4-BE49-F238E27FC236}">
                <a16:creationId xmlns:a16="http://schemas.microsoft.com/office/drawing/2014/main" id="{90FCB667-D705-40D2-A6B6-46B09CD9E1F0}"/>
              </a:ext>
            </a:extLst>
          </p:cNvPr>
          <p:cNvSpPr txBox="1"/>
          <p:nvPr/>
        </p:nvSpPr>
        <p:spPr>
          <a:xfrm>
            <a:off x="5761613" y="5718831"/>
            <a:ext cx="3650418" cy="584775"/>
          </a:xfrm>
          <a:prstGeom prst="rect">
            <a:avLst/>
          </a:prstGeom>
          <a:noFill/>
        </p:spPr>
        <p:txBody>
          <a:bodyPr wrap="square">
            <a:spAutoFit/>
          </a:bodyPr>
          <a:lstStyle/>
          <a:p>
            <a:r>
              <a:rPr lang="es-AR" sz="1800" b="1" dirty="0">
                <a:solidFill>
                  <a:srgbClr val="C00000"/>
                </a:solidFill>
                <a:latin typeface="Bahnschrift" panose="020B0502040204020203" pitchFamily="34" charset="0"/>
              </a:rPr>
              <a:t>CASO 2 </a:t>
            </a:r>
          </a:p>
          <a:p>
            <a:r>
              <a:rPr lang="es-AR" sz="1400" dirty="0">
                <a:solidFill>
                  <a:srgbClr val="2B241F"/>
                </a:solidFill>
                <a:latin typeface="Bahnschrift" panose="020B0502040204020203" pitchFamily="34" charset="0"/>
              </a:rPr>
              <a:t>Dos puntos en cuerpos independientes</a:t>
            </a:r>
            <a:endParaRPr lang="es-AR" sz="1400" dirty="0">
              <a:solidFill>
                <a:srgbClr val="2B241F"/>
              </a:solidFill>
            </a:endParaRPr>
          </a:p>
        </p:txBody>
      </p:sp>
      <p:sp>
        <p:nvSpPr>
          <p:cNvPr id="21" name="CuadroTexto 20">
            <a:extLst>
              <a:ext uri="{FF2B5EF4-FFF2-40B4-BE49-F238E27FC236}">
                <a16:creationId xmlns:a16="http://schemas.microsoft.com/office/drawing/2014/main" id="{5DDF401A-C814-4CCF-8E01-DEA6CEC940F8}"/>
              </a:ext>
            </a:extLst>
          </p:cNvPr>
          <p:cNvSpPr txBox="1"/>
          <p:nvPr/>
        </p:nvSpPr>
        <p:spPr>
          <a:xfrm>
            <a:off x="3429325" y="5885641"/>
            <a:ext cx="1819687" cy="584775"/>
          </a:xfrm>
          <a:prstGeom prst="rect">
            <a:avLst/>
          </a:prstGeom>
          <a:noFill/>
        </p:spPr>
        <p:txBody>
          <a:bodyPr wrap="square">
            <a:spAutoFit/>
          </a:bodyPr>
          <a:lstStyle/>
          <a:p>
            <a:r>
              <a:rPr lang="es-AR" sz="1600" b="1" dirty="0">
                <a:solidFill>
                  <a:srgbClr val="2B241F"/>
                </a:solidFill>
                <a:latin typeface="Bahnschrift" panose="020B0502040204020203" pitchFamily="34" charset="0"/>
              </a:rPr>
              <a:t>DIFERENCIA DE ACELERACIONES</a:t>
            </a:r>
            <a:endParaRPr lang="es-AR" sz="1600" dirty="0">
              <a:solidFill>
                <a:srgbClr val="2B241F"/>
              </a:solidFill>
            </a:endParaRPr>
          </a:p>
        </p:txBody>
      </p:sp>
      <p:sp>
        <p:nvSpPr>
          <p:cNvPr id="22" name="CuadroTexto 21">
            <a:extLst>
              <a:ext uri="{FF2B5EF4-FFF2-40B4-BE49-F238E27FC236}">
                <a16:creationId xmlns:a16="http://schemas.microsoft.com/office/drawing/2014/main" id="{B75A85B9-F35D-43CF-B46C-58BB3800D51F}"/>
              </a:ext>
            </a:extLst>
          </p:cNvPr>
          <p:cNvSpPr txBox="1"/>
          <p:nvPr/>
        </p:nvSpPr>
        <p:spPr>
          <a:xfrm>
            <a:off x="9326281" y="5886792"/>
            <a:ext cx="1819687" cy="584775"/>
          </a:xfrm>
          <a:prstGeom prst="rect">
            <a:avLst/>
          </a:prstGeom>
          <a:noFill/>
        </p:spPr>
        <p:txBody>
          <a:bodyPr wrap="square">
            <a:spAutoFit/>
          </a:bodyPr>
          <a:lstStyle/>
          <a:p>
            <a:r>
              <a:rPr lang="es-AR" sz="1600" b="1" dirty="0">
                <a:solidFill>
                  <a:srgbClr val="2B241F"/>
                </a:solidFill>
                <a:latin typeface="Bahnschrift" panose="020B0502040204020203" pitchFamily="34" charset="0"/>
              </a:rPr>
              <a:t>ACELERACION RELATIVA</a:t>
            </a:r>
            <a:endParaRPr lang="es-AR" sz="1600" dirty="0">
              <a:solidFill>
                <a:srgbClr val="2B241F"/>
              </a:solidFill>
            </a:endParaRPr>
          </a:p>
        </p:txBody>
      </p:sp>
      <p:pic>
        <p:nvPicPr>
          <p:cNvPr id="24" name="Imagen 23" descr="Imagen que contiene cuchillo, dibujo&#10;&#10;Descripción generada automáticamente">
            <a:extLst>
              <a:ext uri="{FF2B5EF4-FFF2-40B4-BE49-F238E27FC236}">
                <a16:creationId xmlns:a16="http://schemas.microsoft.com/office/drawing/2014/main" id="{89428320-FA3A-4AB9-882F-C37EC38F1C1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18977" y="6117733"/>
            <a:ext cx="310348" cy="143918"/>
          </a:xfrm>
          <a:prstGeom prst="rect">
            <a:avLst/>
          </a:prstGeom>
        </p:spPr>
      </p:pic>
      <p:pic>
        <p:nvPicPr>
          <p:cNvPr id="25" name="Imagen 24" descr="Imagen que contiene cuchillo, dibujo&#10;&#10;Descripción generada automáticamente">
            <a:extLst>
              <a:ext uri="{FF2B5EF4-FFF2-40B4-BE49-F238E27FC236}">
                <a16:creationId xmlns:a16="http://schemas.microsoft.com/office/drawing/2014/main" id="{A6F9A9F8-8836-43F8-8960-F57FFE6D23B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15933" y="6107221"/>
            <a:ext cx="310348" cy="143918"/>
          </a:xfrm>
          <a:prstGeom prst="rect">
            <a:avLst/>
          </a:prstGeom>
        </p:spPr>
      </p:pic>
    </p:spTree>
    <p:extLst>
      <p:ext uri="{BB962C8B-B14F-4D97-AF65-F5344CB8AC3E}">
        <p14:creationId xmlns:p14="http://schemas.microsoft.com/office/powerpoint/2010/main" val="1327584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9" grpId="0"/>
      <p:bldP spid="20" grpId="0"/>
      <p:bldP spid="21"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2CCAE51A-2BA3-4542-9556-57577F336225}"/>
              </a:ext>
            </a:extLst>
          </p:cNvPr>
          <p:cNvSpPr/>
          <p:nvPr/>
        </p:nvSpPr>
        <p:spPr>
          <a:xfrm>
            <a:off x="-1" y="853440"/>
            <a:ext cx="6214370"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9329529" cy="684362"/>
          </a:xfrm>
        </p:spPr>
        <p:txBody>
          <a:bodyPr>
            <a:normAutofit fontScale="90000"/>
          </a:bodyPr>
          <a:lstStyle/>
          <a:p>
            <a:r>
              <a:rPr lang="es-AR" sz="6000" b="1" dirty="0">
                <a:latin typeface="Bahnschrift" panose="020B0502040204020203" pitchFamily="34" charset="0"/>
              </a:rPr>
              <a:t>ANÁLISIS DE ACELERACIÓN</a:t>
            </a:r>
          </a:p>
        </p:txBody>
      </p:sp>
      <p:sp>
        <p:nvSpPr>
          <p:cNvPr id="3" name="Marcador de contenido 2"/>
          <p:cNvSpPr>
            <a:spLocks noGrp="1"/>
          </p:cNvSpPr>
          <p:nvPr>
            <p:ph idx="1"/>
          </p:nvPr>
        </p:nvSpPr>
        <p:spPr>
          <a:xfrm>
            <a:off x="116312" y="830016"/>
            <a:ext cx="6346038" cy="466124"/>
          </a:xfrm>
        </p:spPr>
        <p:txBody>
          <a:bodyPr>
            <a:normAutofit fontScale="92500"/>
          </a:bodyPr>
          <a:lstStyle/>
          <a:p>
            <a:pPr marL="0" indent="0">
              <a:buNone/>
            </a:pPr>
            <a:r>
              <a:rPr lang="es-AR" sz="2400" b="1" dirty="0">
                <a:latin typeface="Bahnschrift" panose="020B0502040204020203" pitchFamily="34" charset="0"/>
              </a:rPr>
              <a:t>DETERMINACIÓN GRÁFICA DE ACELERACIÓN</a:t>
            </a:r>
          </a:p>
        </p:txBody>
      </p:sp>
      <p:sp>
        <p:nvSpPr>
          <p:cNvPr id="4" name="Marcador de contenido 2">
            <a:extLst>
              <a:ext uri="{FF2B5EF4-FFF2-40B4-BE49-F238E27FC236}">
                <a16:creationId xmlns:a16="http://schemas.microsoft.com/office/drawing/2014/main" id="{6F29601B-6F87-4863-8F58-E656D3704523}"/>
              </a:ext>
            </a:extLst>
          </p:cNvPr>
          <p:cNvSpPr txBox="1">
            <a:spLocks/>
          </p:cNvSpPr>
          <p:nvPr/>
        </p:nvSpPr>
        <p:spPr>
          <a:xfrm>
            <a:off x="632265" y="131024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18" name="Marcador de contenido 2">
            <a:extLst>
              <a:ext uri="{FF2B5EF4-FFF2-40B4-BE49-F238E27FC236}">
                <a16:creationId xmlns:a16="http://schemas.microsoft.com/office/drawing/2014/main" id="{DBC5DD57-6377-41E1-B4CA-6E5032B7A48B}"/>
              </a:ext>
            </a:extLst>
          </p:cNvPr>
          <p:cNvSpPr txBox="1">
            <a:spLocks/>
          </p:cNvSpPr>
          <p:nvPr/>
        </p:nvSpPr>
        <p:spPr>
          <a:xfrm>
            <a:off x="326737" y="1279225"/>
            <a:ext cx="10647322" cy="394742"/>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Para resolver gráficamente un problema de análisis de a, necesitaremos dos ecuaciones:</a:t>
            </a:r>
          </a:p>
        </p:txBody>
      </p:sp>
      <p:sp>
        <p:nvSpPr>
          <p:cNvPr id="8" name="Marcador de contenido 2">
            <a:extLst>
              <a:ext uri="{FF2B5EF4-FFF2-40B4-BE49-F238E27FC236}">
                <a16:creationId xmlns:a16="http://schemas.microsoft.com/office/drawing/2014/main" id="{AEE40F1C-DF9E-40AE-9339-1185E6987420}"/>
              </a:ext>
            </a:extLst>
          </p:cNvPr>
          <p:cNvSpPr txBox="1">
            <a:spLocks/>
          </p:cNvSpPr>
          <p:nvPr/>
        </p:nvSpPr>
        <p:spPr>
          <a:xfrm>
            <a:off x="4401754" y="2507445"/>
            <a:ext cx="6492767" cy="51086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endParaRPr lang="es-AR" sz="1400" dirty="0">
              <a:latin typeface="Bahnschrift" panose="020B0502040204020203" pitchFamily="34" charset="0"/>
            </a:endParaRPr>
          </a:p>
        </p:txBody>
      </p:sp>
      <p:sp>
        <p:nvSpPr>
          <p:cNvPr id="13" name="Marcador de contenido 2">
            <a:extLst>
              <a:ext uri="{FF2B5EF4-FFF2-40B4-BE49-F238E27FC236}">
                <a16:creationId xmlns:a16="http://schemas.microsoft.com/office/drawing/2014/main" id="{308C3706-A853-46F5-9774-D5F0F976ADD4}"/>
              </a:ext>
            </a:extLst>
          </p:cNvPr>
          <p:cNvSpPr txBox="1">
            <a:spLocks/>
          </p:cNvSpPr>
          <p:nvPr/>
        </p:nvSpPr>
        <p:spPr>
          <a:xfrm>
            <a:off x="326737" y="5399009"/>
            <a:ext cx="10647322" cy="1277162"/>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Consideraremos un eslabonamiento de cuatro barras, en una posición particular cualquiera. Las variables a obtener serán las aceleraciones angulares de los eslabones 3 y 4 (</a:t>
            </a:r>
            <a:r>
              <a:rPr lang="el-GR" sz="1400" dirty="0">
                <a:latin typeface="Bahnschrift" panose="020B0502040204020203" pitchFamily="34" charset="0"/>
                <a:ea typeface="Cambria Math" panose="02040503050406030204" pitchFamily="18" charset="0"/>
              </a:rPr>
              <a:t>α</a:t>
            </a:r>
            <a:r>
              <a:rPr lang="es-AR" sz="1400" baseline="-25000" dirty="0">
                <a:latin typeface="Bahnschrift" panose="020B0502040204020203" pitchFamily="34" charset="0"/>
                <a:ea typeface="Cambria Math" panose="02040503050406030204" pitchFamily="18" charset="0"/>
              </a:rPr>
              <a:t>3</a:t>
            </a:r>
            <a:r>
              <a:rPr lang="es-AR" sz="1400" dirty="0">
                <a:latin typeface="Bahnschrift" panose="020B0502040204020203" pitchFamily="34" charset="0"/>
                <a:ea typeface="Cambria Math" panose="02040503050406030204" pitchFamily="18" charset="0"/>
              </a:rPr>
              <a:t> y </a:t>
            </a:r>
            <a:r>
              <a:rPr lang="el-GR" sz="1400" dirty="0">
                <a:latin typeface="Bahnschrift" panose="020B0502040204020203" pitchFamily="34" charset="0"/>
                <a:ea typeface="Cambria Math" panose="02040503050406030204" pitchFamily="18" charset="0"/>
              </a:rPr>
              <a:t>α</a:t>
            </a:r>
            <a:r>
              <a:rPr lang="es-AR" sz="1400" baseline="-25000" dirty="0">
                <a:latin typeface="Bahnschrift" panose="020B0502040204020203" pitchFamily="34" charset="0"/>
                <a:ea typeface="Cambria Math" panose="02040503050406030204" pitchFamily="18" charset="0"/>
              </a:rPr>
              <a:t>4</a:t>
            </a:r>
            <a:r>
              <a:rPr lang="es-AR" sz="1400" dirty="0">
                <a:latin typeface="Bahnschrift" panose="020B0502040204020203" pitchFamily="34" charset="0"/>
                <a:ea typeface="Cambria Math" panose="02040503050406030204" pitchFamily="18" charset="0"/>
              </a:rPr>
              <a:t>) y las aceleraciones lineales de los puntos A, B y C, es decir A</a:t>
            </a:r>
            <a:r>
              <a:rPr lang="es-AR" sz="1400" baseline="-25000" dirty="0">
                <a:latin typeface="Bahnschrift" panose="020B0502040204020203" pitchFamily="34" charset="0"/>
                <a:ea typeface="Cambria Math" panose="02040503050406030204" pitchFamily="18" charset="0"/>
              </a:rPr>
              <a:t>A</a:t>
            </a:r>
            <a:r>
              <a:rPr lang="es-AR" sz="1400" dirty="0">
                <a:latin typeface="Bahnschrift" panose="020B0502040204020203" pitchFamily="34" charset="0"/>
                <a:ea typeface="Cambria Math" panose="02040503050406030204" pitchFamily="18" charset="0"/>
              </a:rPr>
              <a:t>, A</a:t>
            </a:r>
            <a:r>
              <a:rPr lang="es-AR" sz="1400" baseline="-25000" dirty="0">
                <a:latin typeface="Bahnschrift" panose="020B0502040204020203" pitchFamily="34" charset="0"/>
                <a:ea typeface="Cambria Math" panose="02040503050406030204" pitchFamily="18" charset="0"/>
              </a:rPr>
              <a:t>B</a:t>
            </a:r>
            <a:r>
              <a:rPr lang="es-AR" sz="1400" dirty="0">
                <a:latin typeface="Bahnschrift" panose="020B0502040204020203" pitchFamily="34" charset="0"/>
                <a:ea typeface="Cambria Math" panose="02040503050406030204" pitchFamily="18" charset="0"/>
              </a:rPr>
              <a:t> y A</a:t>
            </a:r>
            <a:r>
              <a:rPr lang="es-AR" sz="1400" baseline="-25000" dirty="0">
                <a:latin typeface="Bahnschrift" panose="020B0502040204020203" pitchFamily="34" charset="0"/>
                <a:ea typeface="Cambria Math" panose="02040503050406030204" pitchFamily="18" charset="0"/>
              </a:rPr>
              <a:t>C</a:t>
            </a:r>
            <a:r>
              <a:rPr lang="es-AR" sz="1400" dirty="0">
                <a:latin typeface="Bahnschrift" panose="020B0502040204020203" pitchFamily="34" charset="0"/>
                <a:ea typeface="Cambria Math" panose="02040503050406030204" pitchFamily="18" charset="0"/>
              </a:rPr>
              <a:t>.</a:t>
            </a:r>
          </a:p>
          <a:p>
            <a:pPr algn="just">
              <a:buFontTx/>
              <a:buChar char="-"/>
            </a:pPr>
            <a:r>
              <a:rPr lang="es-AR" sz="1400" dirty="0">
                <a:latin typeface="Bahnschrift" panose="020B0502040204020203" pitchFamily="34" charset="0"/>
                <a:ea typeface="Cambria Math" panose="02040503050406030204" pitchFamily="18" charset="0"/>
              </a:rPr>
              <a:t>Los datos conocidos serán las longitudes de los eslabones, sus posiciones angulares y la velocidades angulares de todos los eslabones y la aceleración angular del eslabón impulsor o de entrada.</a:t>
            </a:r>
          </a:p>
        </p:txBody>
      </p:sp>
      <p:sp>
        <p:nvSpPr>
          <p:cNvPr id="33" name="CuadroTexto 32">
            <a:extLst>
              <a:ext uri="{FF2B5EF4-FFF2-40B4-BE49-F238E27FC236}">
                <a16:creationId xmlns:a16="http://schemas.microsoft.com/office/drawing/2014/main" id="{3660B21E-5566-4081-AC20-A8C7D3DAEEDD}"/>
              </a:ext>
            </a:extLst>
          </p:cNvPr>
          <p:cNvSpPr txBox="1"/>
          <p:nvPr/>
        </p:nvSpPr>
        <p:spPr>
          <a:xfrm>
            <a:off x="401871" y="3325213"/>
            <a:ext cx="3206407" cy="400110"/>
          </a:xfrm>
          <a:prstGeom prst="rect">
            <a:avLst/>
          </a:prstGeom>
          <a:noFill/>
        </p:spPr>
        <p:txBody>
          <a:bodyPr wrap="square">
            <a:spAutoFit/>
          </a:bodyPr>
          <a:lstStyle/>
          <a:p>
            <a:r>
              <a:rPr lang="es-AR" sz="2000" b="1" dirty="0">
                <a:solidFill>
                  <a:srgbClr val="C00000"/>
                </a:solidFill>
                <a:latin typeface="Bahnschrift" panose="020B0502040204020203" pitchFamily="34" charset="0"/>
              </a:rPr>
              <a:t>RESOLUCIÓN GENERAL </a:t>
            </a:r>
          </a:p>
        </p:txBody>
      </p:sp>
      <p:sp>
        <p:nvSpPr>
          <p:cNvPr id="19" name="Marcador de contenido 2">
            <a:extLst>
              <a:ext uri="{FF2B5EF4-FFF2-40B4-BE49-F238E27FC236}">
                <a16:creationId xmlns:a16="http://schemas.microsoft.com/office/drawing/2014/main" id="{91CB57D5-7DF1-484A-943A-BB06B475838F}"/>
              </a:ext>
            </a:extLst>
          </p:cNvPr>
          <p:cNvSpPr txBox="1">
            <a:spLocks/>
          </p:cNvSpPr>
          <p:nvPr/>
        </p:nvSpPr>
        <p:spPr>
          <a:xfrm>
            <a:off x="413999" y="3655624"/>
            <a:ext cx="10635193" cy="2816197"/>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r>
              <a:rPr lang="es-AR" sz="1400" dirty="0">
                <a:latin typeface="Bahnschrift" panose="020B0502040204020203" pitchFamily="34" charset="0"/>
              </a:rPr>
              <a:t>1. Sintetizar el mecanismo: obtención de las longitudes de las barras.</a:t>
            </a:r>
          </a:p>
          <a:p>
            <a:pPr marL="0" indent="0" algn="just">
              <a:buNone/>
            </a:pPr>
            <a:r>
              <a:rPr lang="es-AR" sz="1400" dirty="0">
                <a:latin typeface="Bahnschrift" panose="020B0502040204020203" pitchFamily="34" charset="0"/>
                <a:ea typeface="Cambria Math" panose="02040503050406030204" pitchFamily="18" charset="0"/>
              </a:rPr>
              <a:t>2. Determinación de las posiciones de las distintas barras </a:t>
            </a:r>
            <a:r>
              <a:rPr lang="es-AR" sz="1400" dirty="0">
                <a:latin typeface="Bahnschrift" panose="020B0502040204020203" pitchFamily="34" charset="0"/>
                <a:ea typeface="Cambria Math" panose="02040503050406030204" pitchFamily="18" charset="0"/>
                <a:sym typeface="Wingdings" panose="05000000000000000000" pitchFamily="2" charset="2"/>
              </a:rPr>
              <a:t> θ</a:t>
            </a:r>
            <a:r>
              <a:rPr lang="es-AR" sz="1400" baseline="-25000" dirty="0">
                <a:latin typeface="Bahnschrift" panose="020B0502040204020203" pitchFamily="34" charset="0"/>
                <a:ea typeface="Cambria Math" panose="02040503050406030204" pitchFamily="18" charset="0"/>
                <a:sym typeface="Wingdings" panose="05000000000000000000" pitchFamily="2" charset="2"/>
              </a:rPr>
              <a:t>3</a:t>
            </a:r>
            <a:r>
              <a:rPr lang="es-AR" sz="1400" dirty="0">
                <a:latin typeface="Bahnschrift" panose="020B0502040204020203" pitchFamily="34" charset="0"/>
                <a:ea typeface="Cambria Math" panose="02040503050406030204" pitchFamily="18" charset="0"/>
                <a:sym typeface="Wingdings" panose="05000000000000000000" pitchFamily="2" charset="2"/>
              </a:rPr>
              <a:t> y θ</a:t>
            </a:r>
            <a:r>
              <a:rPr lang="es-AR" sz="1400" baseline="-25000" dirty="0">
                <a:latin typeface="Bahnschrift" panose="020B0502040204020203" pitchFamily="34" charset="0"/>
                <a:ea typeface="Cambria Math" panose="02040503050406030204" pitchFamily="18" charset="0"/>
                <a:sym typeface="Wingdings" panose="05000000000000000000" pitchFamily="2" charset="2"/>
              </a:rPr>
              <a:t>4</a:t>
            </a:r>
            <a:r>
              <a:rPr lang="es-AR" sz="1400" dirty="0">
                <a:latin typeface="Bahnschrift" panose="020B0502040204020203" pitchFamily="34" charset="0"/>
                <a:ea typeface="Cambria Math" panose="02040503050406030204" pitchFamily="18" charset="0"/>
                <a:sym typeface="Wingdings" panose="05000000000000000000" pitchFamily="2" charset="2"/>
              </a:rPr>
              <a:t> en función de θ</a:t>
            </a:r>
            <a:r>
              <a:rPr lang="es-AR" sz="1400" baseline="-25000" dirty="0">
                <a:latin typeface="Bahnschrift" panose="020B0502040204020203" pitchFamily="34" charset="0"/>
                <a:ea typeface="Cambria Math" panose="02040503050406030204" pitchFamily="18" charset="0"/>
                <a:sym typeface="Wingdings" panose="05000000000000000000" pitchFamily="2" charset="2"/>
              </a:rPr>
              <a:t>2</a:t>
            </a:r>
            <a:r>
              <a:rPr lang="es-AR" sz="1400" dirty="0">
                <a:latin typeface="Bahnschrift" panose="020B0502040204020203" pitchFamily="34" charset="0"/>
                <a:ea typeface="Cambria Math" panose="02040503050406030204" pitchFamily="18" charset="0"/>
                <a:sym typeface="Wingdings" panose="05000000000000000000" pitchFamily="2" charset="2"/>
              </a:rPr>
              <a:t>.</a:t>
            </a:r>
          </a:p>
          <a:p>
            <a:pPr marL="0" indent="0" algn="just">
              <a:buNone/>
            </a:pPr>
            <a:r>
              <a:rPr lang="es-AR" sz="1400" dirty="0">
                <a:latin typeface="Bahnschrift" panose="020B0502040204020203" pitchFamily="34" charset="0"/>
                <a:ea typeface="Cambria Math" panose="02040503050406030204" pitchFamily="18" charset="0"/>
                <a:sym typeface="Wingdings" panose="05000000000000000000" pitchFamily="2" charset="2"/>
              </a:rPr>
              <a:t>3. Determinación de las velocidades angulares y </a:t>
            </a:r>
            <a:r>
              <a:rPr lang="es-AR" sz="1400" dirty="0">
                <a:latin typeface="Bahnschrift" panose="020B0502040204020203" pitchFamily="34" charset="0"/>
                <a:ea typeface="Cambria Math" panose="02040503050406030204" pitchFamily="18" charset="0"/>
              </a:rPr>
              <a:t>lineales en función de ω</a:t>
            </a:r>
            <a:r>
              <a:rPr lang="es-AR" sz="1400" baseline="-25000" dirty="0">
                <a:latin typeface="Bahnschrift" panose="020B0502040204020203" pitchFamily="34" charset="0"/>
                <a:ea typeface="Cambria Math" panose="02040503050406030204" pitchFamily="18" charset="0"/>
              </a:rPr>
              <a:t>2</a:t>
            </a:r>
            <a:r>
              <a:rPr lang="es-AR" sz="1400" dirty="0">
                <a:latin typeface="Bahnschrift" panose="020B0502040204020203" pitchFamily="34" charset="0"/>
                <a:ea typeface="Cambria Math" panose="02040503050406030204" pitchFamily="18" charset="0"/>
              </a:rPr>
              <a:t>. </a:t>
            </a:r>
          </a:p>
          <a:p>
            <a:pPr marL="0" indent="0" algn="just">
              <a:buNone/>
            </a:pPr>
            <a:r>
              <a:rPr lang="es-AR" sz="1400" dirty="0">
                <a:latin typeface="Bahnschrift" panose="020B0502040204020203" pitchFamily="34" charset="0"/>
                <a:ea typeface="Cambria Math" panose="02040503050406030204" pitchFamily="18" charset="0"/>
              </a:rPr>
              <a:t>4. Determinación de las aceleraciones angulares y lineales en función de </a:t>
            </a:r>
            <a:r>
              <a:rPr lang="el-GR" sz="1400" dirty="0">
                <a:latin typeface="Bahnschrift" panose="020B0502040204020203" pitchFamily="34" charset="0"/>
                <a:ea typeface="Cambria Math" panose="02040503050406030204" pitchFamily="18" charset="0"/>
              </a:rPr>
              <a:t>α</a:t>
            </a:r>
            <a:r>
              <a:rPr lang="es-AR" sz="1400" baseline="-25000" dirty="0">
                <a:latin typeface="Bahnschrift" panose="020B0502040204020203" pitchFamily="34" charset="0"/>
                <a:ea typeface="Cambria Math" panose="02040503050406030204" pitchFamily="18" charset="0"/>
              </a:rPr>
              <a:t>2</a:t>
            </a:r>
            <a:r>
              <a:rPr lang="es-AR" sz="1400" dirty="0">
                <a:latin typeface="Bahnschrift" panose="020B0502040204020203" pitchFamily="34" charset="0"/>
                <a:ea typeface="Cambria Math" panose="02040503050406030204" pitchFamily="18" charset="0"/>
              </a:rPr>
              <a:t>.</a:t>
            </a:r>
          </a:p>
        </p:txBody>
      </p:sp>
      <p:sp>
        <p:nvSpPr>
          <p:cNvPr id="21" name="Marcador de contenido 2">
            <a:extLst>
              <a:ext uri="{FF2B5EF4-FFF2-40B4-BE49-F238E27FC236}">
                <a16:creationId xmlns:a16="http://schemas.microsoft.com/office/drawing/2014/main" id="{396E0538-23B9-47D4-A4F3-0EBCE3365182}"/>
              </a:ext>
            </a:extLst>
          </p:cNvPr>
          <p:cNvSpPr txBox="1">
            <a:spLocks/>
          </p:cNvSpPr>
          <p:nvPr/>
        </p:nvSpPr>
        <p:spPr>
          <a:xfrm>
            <a:off x="326737" y="2549428"/>
            <a:ext cx="10647322" cy="816037"/>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n-US" sz="1400" dirty="0">
                <a:latin typeface="Bahnschrift" panose="020B0502040204020203" pitchFamily="34" charset="0"/>
                <a:ea typeface="Cambria Math" panose="02040503050406030204" pitchFamily="18" charset="0"/>
              </a:rPr>
              <a:t>S</a:t>
            </a:r>
            <a:r>
              <a:rPr lang="es-AR" sz="1400" dirty="0">
                <a:latin typeface="Bahnschrift" panose="020B0502040204020203" pitchFamily="34" charset="0"/>
                <a:ea typeface="Cambria Math" panose="02040503050406030204" pitchFamily="18" charset="0"/>
              </a:rPr>
              <a:t>e usara la forma escalar de la ecuación para calcular el valor de las aceleraciones, siempre teniendo en cuenta que según la forma vectorial, el vector aceleración normal tiene la misma dirección del vector posición (eslabón) y sentido hacia el centro de rotación, y el vector aceleración tangencial tiene dirección perpendicular al vector posición y sentido según </a:t>
            </a:r>
            <a:r>
              <a:rPr lang="el-GR" sz="1400" dirty="0">
                <a:latin typeface="Bahnschrift" panose="020B0502040204020203" pitchFamily="34" charset="0"/>
                <a:ea typeface="Cambria Math" panose="02040503050406030204" pitchFamily="18" charset="0"/>
              </a:rPr>
              <a:t>α</a:t>
            </a:r>
            <a:r>
              <a:rPr lang="en-US" sz="1400" dirty="0">
                <a:latin typeface="Bahnschrift" panose="020B0502040204020203" pitchFamily="34" charset="0"/>
                <a:ea typeface="Cambria Math" panose="02040503050406030204" pitchFamily="18" charset="0"/>
              </a:rPr>
              <a:t>.</a:t>
            </a:r>
            <a:r>
              <a:rPr lang="es-AR" sz="1400" dirty="0">
                <a:latin typeface="Bahnschrift" panose="020B0502040204020203" pitchFamily="34" charset="0"/>
                <a:ea typeface="Cambria Math" panose="02040503050406030204" pitchFamily="18" charset="0"/>
              </a:rPr>
              <a:t>  </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5BF56389-A02E-4165-BADC-0F9D74410F8A}"/>
                  </a:ext>
                </a:extLst>
              </p:cNvPr>
              <p:cNvSpPr txBox="1"/>
              <p:nvPr/>
            </p:nvSpPr>
            <p:spPr>
              <a:xfrm>
                <a:off x="896045" y="1907253"/>
                <a:ext cx="1532151" cy="3166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AR" i="1" smtClean="0">
                              <a:latin typeface="Cambria Math" panose="02040503050406030204" pitchFamily="18" charset="0"/>
                            </a:rPr>
                          </m:ctrlPr>
                        </m:dPr>
                        <m:e>
                          <m:acc>
                            <m:accPr>
                              <m:chr m:val="̅"/>
                              <m:ctrlPr>
                                <a:rPr lang="es-AR" i="1" smtClean="0">
                                  <a:latin typeface="Cambria Math" panose="02040503050406030204" pitchFamily="18" charset="0"/>
                                </a:rPr>
                              </m:ctrlPr>
                            </m:acc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𝑡</m:t>
                                  </m:r>
                                </m:sup>
                              </m:sSup>
                            </m:e>
                          </m:acc>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𝑡</m:t>
                          </m:r>
                        </m:sup>
                      </m:s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𝑟</m:t>
                      </m:r>
                    </m:oMath>
                  </m:oMathPara>
                </a14:m>
                <a:endParaRPr lang="es-AR" dirty="0"/>
              </a:p>
            </p:txBody>
          </p:sp>
        </mc:Choice>
        <mc:Fallback xmlns="">
          <p:sp>
            <p:nvSpPr>
              <p:cNvPr id="23" name="CuadroTexto 22">
                <a:extLst>
                  <a:ext uri="{FF2B5EF4-FFF2-40B4-BE49-F238E27FC236}">
                    <a16:creationId xmlns:a16="http://schemas.microsoft.com/office/drawing/2014/main" id="{5BF56389-A02E-4165-BADC-0F9D74410F8A}"/>
                  </a:ext>
                </a:extLst>
              </p:cNvPr>
              <p:cNvSpPr txBox="1">
                <a:spLocks noRot="1" noChangeAspect="1" noMove="1" noResize="1" noEditPoints="1" noAdjustHandles="1" noChangeArrowheads="1" noChangeShapeType="1" noTextEdit="1"/>
              </p:cNvSpPr>
              <p:nvPr/>
            </p:nvSpPr>
            <p:spPr>
              <a:xfrm>
                <a:off x="896045" y="1907253"/>
                <a:ext cx="1532151" cy="316625"/>
              </a:xfrm>
              <a:prstGeom prst="rect">
                <a:avLst/>
              </a:prstGeom>
              <a:blipFill>
                <a:blip r:embed="rId2"/>
                <a:stretch>
                  <a:fillRect r="-159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01B16DB6-02D3-4A25-BE7D-64A20F20F05A}"/>
                  </a:ext>
                </a:extLst>
              </p:cNvPr>
              <p:cNvSpPr txBox="1"/>
              <p:nvPr/>
            </p:nvSpPr>
            <p:spPr>
              <a:xfrm>
                <a:off x="3652745" y="1907253"/>
                <a:ext cx="1740733" cy="27757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AR" i="1" smtClean="0">
                              <a:latin typeface="Cambria Math" panose="02040503050406030204" pitchFamily="18" charset="0"/>
                            </a:rPr>
                          </m:ctrlPr>
                        </m:dPr>
                        <m:e>
                          <m:acc>
                            <m:accPr>
                              <m:chr m:val="̅"/>
                              <m:ctrlPr>
                                <a:rPr lang="es-AR" i="1" smtClean="0">
                                  <a:latin typeface="Cambria Math" panose="02040503050406030204" pitchFamily="18" charset="0"/>
                                </a:rPr>
                              </m:ctrlPr>
                            </m:acc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𝑛</m:t>
                                  </m:r>
                                </m:sup>
                              </m:sSup>
                            </m:e>
                          </m:acc>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𝑛</m:t>
                          </m:r>
                        </m:sup>
                      </m:sSup>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𝜔</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𝑟</m:t>
                      </m:r>
                    </m:oMath>
                  </m:oMathPara>
                </a14:m>
                <a:endParaRPr lang="es-AR" dirty="0"/>
              </a:p>
            </p:txBody>
          </p:sp>
        </mc:Choice>
        <mc:Fallback xmlns="">
          <p:sp>
            <p:nvSpPr>
              <p:cNvPr id="24" name="CuadroTexto 23">
                <a:extLst>
                  <a:ext uri="{FF2B5EF4-FFF2-40B4-BE49-F238E27FC236}">
                    <a16:creationId xmlns:a16="http://schemas.microsoft.com/office/drawing/2014/main" id="{01B16DB6-02D3-4A25-BE7D-64A20F20F05A}"/>
                  </a:ext>
                </a:extLst>
              </p:cNvPr>
              <p:cNvSpPr txBox="1">
                <a:spLocks noRot="1" noChangeAspect="1" noMove="1" noResize="1" noEditPoints="1" noAdjustHandles="1" noChangeArrowheads="1" noChangeShapeType="1" noTextEdit="1"/>
              </p:cNvSpPr>
              <p:nvPr/>
            </p:nvSpPr>
            <p:spPr>
              <a:xfrm>
                <a:off x="3652745" y="1907253"/>
                <a:ext cx="1740733" cy="277576"/>
              </a:xfrm>
              <a:prstGeom prst="rect">
                <a:avLst/>
              </a:prstGeom>
              <a:blipFill>
                <a:blip r:embed="rId3"/>
                <a:stretch>
                  <a:fillRect r="-1049" b="-11111"/>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BE7448C7-FA8F-4126-8385-0BA393417A3F}"/>
                  </a:ext>
                </a:extLst>
              </p:cNvPr>
              <p:cNvSpPr txBox="1"/>
              <p:nvPr/>
            </p:nvSpPr>
            <p:spPr>
              <a:xfrm>
                <a:off x="6618027" y="1904496"/>
                <a:ext cx="3759041" cy="2803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sSubSup>
                        <m:sSubSupPr>
                          <m:ctrlPr>
                            <a:rPr lang="en-US" i="1" smtClean="0">
                              <a:latin typeface="Cambria Math" panose="02040503050406030204" pitchFamily="18" charset="0"/>
                              <a:ea typeface="Cambria Math" panose="02040503050406030204" pitchFamily="18" charset="0"/>
                            </a:rPr>
                          </m:ctrlPr>
                        </m:sSubSupPr>
                        <m:e>
                          <m:r>
                            <a:rPr lang="en-US" b="0" i="1">
                              <a:latin typeface="Cambria Math" panose="02040503050406030204" pitchFamily="18" charset="0"/>
                              <a:ea typeface="Cambria Math" panose="02040503050406030204" pitchFamily="18" charset="0"/>
                            </a:rPr>
                            <m:t>𝐴</m:t>
                          </m:r>
                        </m:e>
                        <m:sub>
                          <m:r>
                            <a:rPr lang="en-US" b="0" i="1">
                              <a:latin typeface="Cambria Math" panose="02040503050406030204" pitchFamily="18" charset="0"/>
                              <a:ea typeface="Cambria Math" panose="02040503050406030204" pitchFamily="18" charset="0"/>
                            </a:rPr>
                            <m:t>𝑃</m:t>
                          </m:r>
                        </m:sub>
                        <m:sup>
                          <m:r>
                            <a:rPr lang="en-US" b="0" i="1">
                              <a:latin typeface="Cambria Math" panose="02040503050406030204" pitchFamily="18" charset="0"/>
                              <a:ea typeface="Cambria Math" panose="02040503050406030204" pitchFamily="18" charset="0"/>
                            </a:rPr>
                            <m:t>𝑡</m:t>
                          </m:r>
                        </m:sup>
                      </m:sSubSup>
                      <m:r>
                        <a:rPr lang="en-US" b="0"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b="0" i="1">
                              <a:latin typeface="Cambria Math" panose="02040503050406030204" pitchFamily="18" charset="0"/>
                              <a:ea typeface="Cambria Math" panose="02040503050406030204" pitchFamily="18" charset="0"/>
                            </a:rPr>
                            <m:t>𝐴</m:t>
                          </m:r>
                        </m:e>
                        <m:sub>
                          <m:r>
                            <a:rPr lang="en-US" b="0" i="1">
                              <a:latin typeface="Cambria Math" panose="02040503050406030204" pitchFamily="18" charset="0"/>
                              <a:ea typeface="Cambria Math" panose="02040503050406030204" pitchFamily="18" charset="0"/>
                            </a:rPr>
                            <m:t>𝑃</m:t>
                          </m:r>
                        </m:sub>
                        <m:sup>
                          <m:r>
                            <a:rPr lang="en-US" b="0" i="1">
                              <a:latin typeface="Cambria Math" panose="02040503050406030204" pitchFamily="18" charset="0"/>
                              <a:ea typeface="Cambria Math" panose="02040503050406030204" pitchFamily="18" charset="0"/>
                            </a:rPr>
                            <m:t>𝑛</m:t>
                          </m:r>
                        </m:sup>
                      </m:sSubSup>
                      <m:r>
                        <a:rPr lang="en-US" b="0" i="1" smtClean="0">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b="0" i="1">
                              <a:latin typeface="Cambria Math" panose="02040503050406030204" pitchFamily="18" charset="0"/>
                              <a:ea typeface="Cambria Math" panose="02040503050406030204" pitchFamily="18" charset="0"/>
                            </a:rPr>
                            <m:t>𝐴</m:t>
                          </m:r>
                        </m:e>
                        <m:sub>
                          <m:r>
                            <a:rPr lang="en-US" b="0" i="1">
                              <a:latin typeface="Cambria Math" panose="02040503050406030204" pitchFamily="18" charset="0"/>
                              <a:ea typeface="Cambria Math" panose="02040503050406030204" pitchFamily="18" charset="0"/>
                            </a:rPr>
                            <m:t>𝐴</m:t>
                          </m:r>
                        </m:sub>
                        <m:sup>
                          <m:r>
                            <a:rPr lang="en-US" b="0" i="1">
                              <a:latin typeface="Cambria Math" panose="02040503050406030204" pitchFamily="18" charset="0"/>
                              <a:ea typeface="Cambria Math" panose="02040503050406030204" pitchFamily="18" charset="0"/>
                            </a:rPr>
                            <m:t>𝑡</m:t>
                          </m:r>
                        </m:sup>
                      </m:sSubSup>
                      <m:r>
                        <a:rPr lang="en-US" b="0"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b="0" i="1">
                              <a:latin typeface="Cambria Math" panose="02040503050406030204" pitchFamily="18" charset="0"/>
                              <a:ea typeface="Cambria Math" panose="02040503050406030204" pitchFamily="18" charset="0"/>
                            </a:rPr>
                            <m:t>𝐴</m:t>
                          </m:r>
                        </m:e>
                        <m:sub>
                          <m:r>
                            <a:rPr lang="en-US" b="0" i="1">
                              <a:latin typeface="Cambria Math" panose="02040503050406030204" pitchFamily="18" charset="0"/>
                              <a:ea typeface="Cambria Math" panose="02040503050406030204" pitchFamily="18" charset="0"/>
                            </a:rPr>
                            <m:t>𝐴</m:t>
                          </m:r>
                        </m:sub>
                        <m:sup>
                          <m:r>
                            <a:rPr lang="en-US" b="0" i="1">
                              <a:latin typeface="Cambria Math" panose="02040503050406030204" pitchFamily="18" charset="0"/>
                              <a:ea typeface="Cambria Math" panose="02040503050406030204" pitchFamily="18" charset="0"/>
                            </a:rPr>
                            <m:t>𝑛</m:t>
                          </m:r>
                        </m:sup>
                      </m:sSubSup>
                      <m:r>
                        <a:rPr lang="en-US" b="0" i="1" smtClean="0">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m:t>
                          </m:r>
                          <m:r>
                            <a:rPr lang="en-US" b="0" i="1">
                              <a:latin typeface="Cambria Math" panose="02040503050406030204" pitchFamily="18" charset="0"/>
                              <a:ea typeface="Cambria Math" panose="02040503050406030204" pitchFamily="18" charset="0"/>
                            </a:rPr>
                            <m:t>𝐴</m:t>
                          </m:r>
                        </m:e>
                        <m:sub>
                          <m:r>
                            <a:rPr lang="en-US" b="0" i="1">
                              <a:latin typeface="Cambria Math" panose="02040503050406030204" pitchFamily="18" charset="0"/>
                              <a:ea typeface="Cambria Math" panose="02040503050406030204" pitchFamily="18" charset="0"/>
                            </a:rPr>
                            <m:t>𝑃𝐴</m:t>
                          </m:r>
                        </m:sub>
                        <m:sup>
                          <m:r>
                            <a:rPr lang="en-US" b="0" i="1">
                              <a:latin typeface="Cambria Math" panose="02040503050406030204" pitchFamily="18" charset="0"/>
                              <a:ea typeface="Cambria Math" panose="02040503050406030204" pitchFamily="18" charset="0"/>
                            </a:rPr>
                            <m:t>𝑡</m:t>
                          </m:r>
                        </m:sup>
                      </m:sSubSup>
                      <m:r>
                        <a:rPr lang="en-US" b="0"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b="0" i="1">
                              <a:latin typeface="Cambria Math" panose="02040503050406030204" pitchFamily="18" charset="0"/>
                              <a:ea typeface="Cambria Math" panose="02040503050406030204" pitchFamily="18" charset="0"/>
                            </a:rPr>
                            <m:t>𝐴</m:t>
                          </m:r>
                        </m:e>
                        <m:sub>
                          <m:r>
                            <a:rPr lang="en-US" b="0" i="1">
                              <a:latin typeface="Cambria Math" panose="02040503050406030204" pitchFamily="18" charset="0"/>
                              <a:ea typeface="Cambria Math" panose="02040503050406030204" pitchFamily="18" charset="0"/>
                            </a:rPr>
                            <m:t>𝑃𝐴</m:t>
                          </m:r>
                        </m:sub>
                        <m:sup>
                          <m:r>
                            <a:rPr lang="en-US" b="0" i="1">
                              <a:latin typeface="Cambria Math" panose="02040503050406030204" pitchFamily="18" charset="0"/>
                              <a:ea typeface="Cambria Math" panose="02040503050406030204" pitchFamily="18" charset="0"/>
                            </a:rPr>
                            <m:t>𝑛</m:t>
                          </m:r>
                        </m:sup>
                      </m:sSubSup>
                      <m:r>
                        <a:rPr lang="en-US" b="0" i="1" smtClean="0">
                          <a:latin typeface="Cambria Math" panose="02040503050406030204" pitchFamily="18" charset="0"/>
                          <a:ea typeface="Cambria Math" panose="02040503050406030204" pitchFamily="18" charset="0"/>
                        </a:rPr>
                        <m:t>)</m:t>
                      </m:r>
                    </m:oMath>
                  </m:oMathPara>
                </a14:m>
                <a:endParaRPr lang="es-AR" dirty="0"/>
              </a:p>
            </p:txBody>
          </p:sp>
        </mc:Choice>
        <mc:Fallback xmlns="">
          <p:sp>
            <p:nvSpPr>
              <p:cNvPr id="43" name="CuadroTexto 42">
                <a:extLst>
                  <a:ext uri="{FF2B5EF4-FFF2-40B4-BE49-F238E27FC236}">
                    <a16:creationId xmlns:a16="http://schemas.microsoft.com/office/drawing/2014/main" id="{BE7448C7-FA8F-4126-8385-0BA393417A3F}"/>
                  </a:ext>
                </a:extLst>
              </p:cNvPr>
              <p:cNvSpPr txBox="1">
                <a:spLocks noRot="1" noChangeAspect="1" noMove="1" noResize="1" noEditPoints="1" noAdjustHandles="1" noChangeArrowheads="1" noChangeShapeType="1" noTextEdit="1"/>
              </p:cNvSpPr>
              <p:nvPr/>
            </p:nvSpPr>
            <p:spPr>
              <a:xfrm>
                <a:off x="6618027" y="1904496"/>
                <a:ext cx="3759041" cy="280333"/>
              </a:xfrm>
              <a:prstGeom prst="rect">
                <a:avLst/>
              </a:prstGeom>
              <a:blipFill>
                <a:blip r:embed="rId4"/>
                <a:stretch>
                  <a:fillRect l="-1623" r="-1786" b="-36957"/>
                </a:stretch>
              </a:blipFill>
            </p:spPr>
            <p:txBody>
              <a:bodyPr/>
              <a:lstStyle/>
              <a:p>
                <a:r>
                  <a:rPr lang="es-AR">
                    <a:noFill/>
                  </a:rPr>
                  <a:t> </a:t>
                </a:r>
              </a:p>
            </p:txBody>
          </p:sp>
        </mc:Fallback>
      </mc:AlternateContent>
    </p:spTree>
    <p:extLst>
      <p:ext uri="{BB962C8B-B14F-4D97-AF65-F5344CB8AC3E}">
        <p14:creationId xmlns:p14="http://schemas.microsoft.com/office/powerpoint/2010/main" val="314809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3" grpId="0"/>
      <p:bldP spid="19" grpId="0"/>
      <p:bldP spid="21" grpId="0"/>
      <p:bldP spid="4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2CCAE51A-2BA3-4542-9556-57577F336225}"/>
              </a:ext>
            </a:extLst>
          </p:cNvPr>
          <p:cNvSpPr/>
          <p:nvPr/>
        </p:nvSpPr>
        <p:spPr>
          <a:xfrm>
            <a:off x="-2" y="853440"/>
            <a:ext cx="6676009"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9977599" cy="684362"/>
          </a:xfrm>
        </p:spPr>
        <p:txBody>
          <a:bodyPr>
            <a:normAutofit fontScale="90000"/>
          </a:bodyPr>
          <a:lstStyle/>
          <a:p>
            <a:r>
              <a:rPr lang="es-AR" sz="6000" b="1" dirty="0">
                <a:latin typeface="Bahnschrift" panose="020B0502040204020203" pitchFamily="34" charset="0"/>
              </a:rPr>
              <a:t>ANÁLISIS DE ACELERACIÓN</a:t>
            </a:r>
          </a:p>
        </p:txBody>
      </p:sp>
      <p:sp>
        <p:nvSpPr>
          <p:cNvPr id="3" name="Marcador de contenido 2"/>
          <p:cNvSpPr>
            <a:spLocks noGrp="1"/>
          </p:cNvSpPr>
          <p:nvPr>
            <p:ph idx="1"/>
          </p:nvPr>
        </p:nvSpPr>
        <p:spPr>
          <a:xfrm>
            <a:off x="116311" y="830016"/>
            <a:ext cx="8042267" cy="466124"/>
          </a:xfrm>
        </p:spPr>
        <p:txBody>
          <a:bodyPr>
            <a:normAutofit/>
          </a:bodyPr>
          <a:lstStyle/>
          <a:p>
            <a:pPr marL="0" indent="0">
              <a:buNone/>
            </a:pPr>
            <a:r>
              <a:rPr lang="es-AR" sz="2400" b="1" dirty="0">
                <a:latin typeface="Bahnschrift" panose="020B0502040204020203" pitchFamily="34" charset="0"/>
              </a:rPr>
              <a:t>DETERMINACIÓN GRÁFICA DE ACELERACIÓN</a:t>
            </a: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27" name="Marcador de contenido 2">
            <a:extLst>
              <a:ext uri="{FF2B5EF4-FFF2-40B4-BE49-F238E27FC236}">
                <a16:creationId xmlns:a16="http://schemas.microsoft.com/office/drawing/2014/main" id="{2783097D-54ED-4A36-B9EA-01C434CFA345}"/>
              </a:ext>
            </a:extLst>
          </p:cNvPr>
          <p:cNvSpPr txBox="1">
            <a:spLocks/>
          </p:cNvSpPr>
          <p:nvPr/>
        </p:nvSpPr>
        <p:spPr>
          <a:xfrm>
            <a:off x="161149" y="1379563"/>
            <a:ext cx="10647322" cy="668539"/>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r>
              <a:rPr lang="es-AR" sz="1600" dirty="0">
                <a:latin typeface="Bahnschrift" panose="020B0502040204020203" pitchFamily="34" charset="0"/>
              </a:rPr>
              <a:t>1. Se comienza por el extremo del mecanismo del cual se tiene mas información. Se calcula la magnitud de la aceleración normal y tangencial en el punto A. En el diagrama vectorial a la derecha del mecanismo se trazan los vectores A</a:t>
            </a:r>
            <a:r>
              <a:rPr lang="es-AR" sz="1600" baseline="-25000" dirty="0">
                <a:latin typeface="Bahnschrift" panose="020B0502040204020203" pitchFamily="34" charset="0"/>
              </a:rPr>
              <a:t>A</a:t>
            </a:r>
            <a:r>
              <a:rPr lang="es-AR" sz="1600" dirty="0">
                <a:latin typeface="Bahnschrift" panose="020B0502040204020203" pitchFamily="34" charset="0"/>
              </a:rPr>
              <a:t> con su dirección y modulo a partir de un cero de aceleración elegido arbitrariamente, utilizando una escala adecuada, expresada en , por ejemplo, 1cm </a:t>
            </a:r>
            <a:r>
              <a:rPr lang="es-AR" sz="1600" dirty="0">
                <a:latin typeface="Bahnschrift" panose="020B0502040204020203" pitchFamily="34" charset="0"/>
                <a:sym typeface="Wingdings" panose="05000000000000000000" pitchFamily="2" charset="2"/>
              </a:rPr>
              <a:t> 1m/s</a:t>
            </a:r>
            <a:r>
              <a:rPr lang="es-AR" sz="1600" baseline="30000" dirty="0">
                <a:latin typeface="Bahnschrift" panose="020B0502040204020203" pitchFamily="34" charset="0"/>
                <a:sym typeface="Wingdings" panose="05000000000000000000" pitchFamily="2" charset="2"/>
              </a:rPr>
              <a:t>2</a:t>
            </a:r>
            <a:r>
              <a:rPr lang="es-AR" sz="1600" dirty="0">
                <a:latin typeface="Bahnschrift" panose="020B0502040204020203" pitchFamily="34" charset="0"/>
                <a:sym typeface="Wingdings" panose="05000000000000000000" pitchFamily="2" charset="2"/>
              </a:rPr>
              <a:t>.</a:t>
            </a:r>
            <a:endParaRPr lang="es-AR" sz="1600" dirty="0">
              <a:latin typeface="Bahnschrift" panose="020B0502040204020203" pitchFamily="34" charset="0"/>
            </a:endParaRPr>
          </a:p>
        </p:txBody>
      </p:sp>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1D5A8114-EF59-4117-BE30-BA0046479852}"/>
                  </a:ext>
                </a:extLst>
              </p:cNvPr>
              <p:cNvSpPr txBox="1"/>
              <p:nvPr/>
            </p:nvSpPr>
            <p:spPr>
              <a:xfrm>
                <a:off x="1513503" y="2470045"/>
                <a:ext cx="7756867" cy="398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sSub>
                            <m:sSubPr>
                              <m:ctrlPr>
                                <a:rPr lang="en-US" i="1" smtClean="0">
                                  <a:latin typeface="Cambria Math" panose="02040503050406030204" pitchFamily="18" charset="0"/>
                                  <a:ea typeface="Cambria Math" panose="02040503050406030204" pitchFamily="18" charset="0"/>
                                </a:rPr>
                              </m:ctrlPr>
                            </m:sSubPr>
                            <m:e>
                              <m:r>
                                <a:rPr lang="es-AR"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𝐴</m:t>
                              </m:r>
                            </m:sub>
                          </m:sSub>
                        </m:e>
                      </m:acc>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s-AR" b="0" i="1" smtClean="0">
                                  <a:latin typeface="Cambria Math" panose="02040503050406030204" pitchFamily="18" charset="0"/>
                                  <a:ea typeface="Cambria Math" panose="02040503050406030204" pitchFamily="18" charset="0"/>
                                </a:rPr>
                                <m:t>𝐴</m:t>
                              </m:r>
                            </m:e>
                            <m:sub>
                              <m:sSub>
                                <m:sSubPr>
                                  <m:ctrlPr>
                                    <a:rPr lang="en-US" b="0" i="1" smtClean="0">
                                      <a:latin typeface="Cambria Math" panose="02040503050406030204" pitchFamily="18" charset="0"/>
                                      <a:ea typeface="Cambria Math" panose="02040503050406030204" pitchFamily="18" charset="0"/>
                                    </a:rPr>
                                  </m:ctrlPr>
                                </m:sSubPr>
                                <m:e>
                                  <m:r>
                                    <a:rPr lang="es-AR" b="0" i="1" smtClean="0">
                                      <a:latin typeface="Cambria Math" panose="02040503050406030204" pitchFamily="18" charset="0"/>
                                      <a:ea typeface="Cambria Math" panose="02040503050406030204" pitchFamily="18" charset="0"/>
                                    </a:rPr>
                                    <m:t>𝑂</m:t>
                                  </m:r>
                                </m:e>
                                <m:sub>
                                  <m:r>
                                    <a:rPr lang="es-AR" b="0" i="1" smtClean="0">
                                      <a:latin typeface="Cambria Math" panose="02040503050406030204" pitchFamily="18" charset="0"/>
                                      <a:ea typeface="Cambria Math" panose="02040503050406030204" pitchFamily="18" charset="0"/>
                                    </a:rPr>
                                    <m:t>2</m:t>
                                  </m:r>
                                </m:sub>
                              </m:sSub>
                              <m:r>
                                <a:rPr lang="es-AR" b="0" i="1" smtClean="0">
                                  <a:latin typeface="Cambria Math" panose="02040503050406030204" pitchFamily="18" charset="0"/>
                                  <a:ea typeface="Cambria Math" panose="02040503050406030204" pitchFamily="18" charset="0"/>
                                </a:rPr>
                                <m:t> </m:t>
                              </m:r>
                            </m:sub>
                          </m:sSub>
                        </m:e>
                      </m:acc>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2</m:t>
                                  </m:r>
                                </m:sub>
                              </m:sSub>
                            </m:sub>
                          </m:sSub>
                        </m:e>
                      </m:acc>
                      <m:r>
                        <a:rPr lang="en-US" b="0" i="1" smtClean="0">
                          <a:latin typeface="Cambria Math" panose="02040503050406030204" pitchFamily="18" charset="0"/>
                          <a:ea typeface="Cambria Math" panose="02040503050406030204" pitchFamily="18" charset="0"/>
                        </a:rPr>
                        <m:t>=0+</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𝐴</m:t>
                                  </m:r>
                                </m:e>
                                <m:sub>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𝑂</m:t>
                                      </m:r>
                                    </m:e>
                                    <m:sub>
                                      <m:r>
                                        <a:rPr lang="en-US" i="1">
                                          <a:latin typeface="Cambria Math" panose="02040503050406030204" pitchFamily="18" charset="0"/>
                                          <a:ea typeface="Cambria Math" panose="02040503050406030204" pitchFamily="18" charset="0"/>
                                        </a:rPr>
                                        <m:t>2</m:t>
                                      </m:r>
                                    </m:sub>
                                  </m:sSub>
                                </m:sub>
                                <m:sup>
                                  <m:r>
                                    <a:rPr lang="en-US" i="1">
                                      <a:latin typeface="Cambria Math" panose="02040503050406030204" pitchFamily="18" charset="0"/>
                                      <a:ea typeface="Cambria Math" panose="02040503050406030204" pitchFamily="18" charset="0"/>
                                    </a:rPr>
                                    <m:t>𝑛</m:t>
                                  </m:r>
                                </m:sup>
                              </m:sSubSup>
                            </m:e>
                            <m:sub>
                              <m:r>
                                <a:rPr lang="es-AR" i="1">
                                  <a:latin typeface="Cambria Math" panose="02040503050406030204" pitchFamily="18" charset="0"/>
                                  <a:ea typeface="Cambria Math" panose="02040503050406030204" pitchFamily="18" charset="0"/>
                                </a:rPr>
                                <m:t> </m:t>
                              </m:r>
                            </m:sub>
                          </m:sSub>
                        </m:e>
                      </m:acc>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sSubSup>
                            <m:sSubSupPr>
                              <m:ctrlPr>
                                <a:rPr lang="en-US" b="0" i="1" smtClean="0">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2</m:t>
                                  </m:r>
                                </m:sub>
                              </m:sSub>
                            </m:sub>
                            <m:sup>
                              <m:r>
                                <a:rPr lang="en-US" b="0" i="1" smtClean="0">
                                  <a:latin typeface="Cambria Math" panose="02040503050406030204" pitchFamily="18" charset="0"/>
                                  <a:ea typeface="Cambria Math" panose="02040503050406030204" pitchFamily="18" charset="0"/>
                                </a:rPr>
                                <m:t>𝑡</m:t>
                              </m:r>
                            </m:sup>
                          </m:sSubSup>
                        </m:e>
                      </m:acc>
                      <m:r>
                        <a:rPr lang="en-US" b="0" i="0"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𝐴</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2</m:t>
                                  </m:r>
                                </m:sub>
                              </m:sSub>
                            </m:sub>
                          </m:sSub>
                        </m:e>
                      </m:acc>
                      <m:r>
                        <a:rPr lang="en-US" b="0" i="1" smtClean="0">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𝐴</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𝑂</m:t>
                                  </m:r>
                                </m:e>
                                <m:sub>
                                  <m:r>
                                    <a:rPr lang="en-US" i="1">
                                      <a:latin typeface="Cambria Math" panose="02040503050406030204" pitchFamily="18" charset="0"/>
                                      <a:ea typeface="Cambria Math" panose="02040503050406030204" pitchFamily="18" charset="0"/>
                                    </a:rPr>
                                    <m:t>2</m:t>
                                  </m:r>
                                </m:sub>
                              </m:sSub>
                            </m:sub>
                          </m:sSub>
                        </m:e>
                      </m:acc>
                      <m:r>
                        <a:rPr lang="en-US" i="1" smtClean="0">
                          <a:latin typeface="Cambria Math" panose="02040503050406030204" pitchFamily="18" charset="0"/>
                          <a:ea typeface="Cambria Math" panose="02040503050406030204" pitchFamily="18" charset="0"/>
                        </a:rPr>
                        <m:t>×</m:t>
                      </m:r>
                      <m:bar>
                        <m:barPr>
                          <m:pos m:val="top"/>
                          <m:ctrlPr>
                            <a:rPr lang="en-US" b="0" i="1" smtClean="0">
                              <a:latin typeface="Cambria Math" panose="02040503050406030204" pitchFamily="18" charset="0"/>
                              <a:ea typeface="Cambria Math" panose="02040503050406030204" pitchFamily="18" charset="0"/>
                            </a:rPr>
                          </m:ctrlPr>
                        </m:bar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2</m:t>
                                  </m:r>
                                </m:sub>
                              </m:sSub>
                            </m:sub>
                          </m:sSub>
                        </m:e>
                      </m:bar>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𝐴</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2</m:t>
                                  </m:r>
                                </m:sub>
                              </m:sSub>
                            </m:sub>
                          </m:sSub>
                        </m:e>
                      </m:acc>
                      <m:r>
                        <a:rPr lang="en-US" b="0" i="1" smtClean="0">
                          <a:latin typeface="Cambria Math" panose="02040503050406030204" pitchFamily="18" charset="0"/>
                          <a:ea typeface="Cambria Math" panose="02040503050406030204" pitchFamily="18" charset="0"/>
                        </a:rPr>
                        <m:t>×</m:t>
                      </m:r>
                      <m:bar>
                        <m:barPr>
                          <m:pos m:val="top"/>
                          <m:ctrlPr>
                            <a:rPr lang="en-US" i="1">
                              <a:latin typeface="Cambria Math" panose="02040503050406030204" pitchFamily="18" charset="0"/>
                              <a:ea typeface="Cambria Math" panose="02040503050406030204" pitchFamily="18" charset="0"/>
                            </a:rPr>
                          </m:ctrlPr>
                        </m:barPr>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2</m:t>
                                  </m:r>
                                </m:sub>
                              </m:sSub>
                            </m:sub>
                          </m:sSub>
                        </m:e>
                      </m:bar>
                    </m:oMath>
                  </m:oMathPara>
                </a14:m>
                <a:endParaRPr lang="es-AR" dirty="0"/>
              </a:p>
            </p:txBody>
          </p:sp>
        </mc:Choice>
        <mc:Fallback xmlns="">
          <p:sp>
            <p:nvSpPr>
              <p:cNvPr id="26" name="CuadroTexto 25">
                <a:extLst>
                  <a:ext uri="{FF2B5EF4-FFF2-40B4-BE49-F238E27FC236}">
                    <a16:creationId xmlns:a16="http://schemas.microsoft.com/office/drawing/2014/main" id="{1D5A8114-EF59-4117-BE30-BA0046479852}"/>
                  </a:ext>
                </a:extLst>
              </p:cNvPr>
              <p:cNvSpPr txBox="1">
                <a:spLocks noRot="1" noChangeAspect="1" noMove="1" noResize="1" noEditPoints="1" noAdjustHandles="1" noChangeArrowheads="1" noChangeShapeType="1" noTextEdit="1"/>
              </p:cNvSpPr>
              <p:nvPr/>
            </p:nvSpPr>
            <p:spPr>
              <a:xfrm>
                <a:off x="1513503" y="2470045"/>
                <a:ext cx="7756867" cy="398442"/>
              </a:xfrm>
              <a:prstGeom prst="rect">
                <a:avLst/>
              </a:prstGeom>
              <a:blipFill>
                <a:blip r:embed="rId2"/>
                <a:stretch>
                  <a:fillRect b="-10606"/>
                </a:stretch>
              </a:blipFill>
            </p:spPr>
            <p:txBody>
              <a:bodyPr/>
              <a:lstStyle/>
              <a:p>
                <a:r>
                  <a:rPr lang="es-AR">
                    <a:noFill/>
                  </a:rPr>
                  <a:t> </a:t>
                </a:r>
              </a:p>
            </p:txBody>
          </p:sp>
        </mc:Fallback>
      </mc:AlternateContent>
      <p:pic>
        <p:nvPicPr>
          <p:cNvPr id="25" name="Imagen 24" descr="Diagrama&#10;&#10;Descripción generada automáticamente">
            <a:extLst>
              <a:ext uri="{FF2B5EF4-FFF2-40B4-BE49-F238E27FC236}">
                <a16:creationId xmlns:a16="http://schemas.microsoft.com/office/drawing/2014/main" id="{6E2D9361-A616-4667-8EC2-1953B46B4A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3503" y="3004127"/>
            <a:ext cx="7885227" cy="3853873"/>
          </a:xfrm>
          <a:prstGeom prst="rect">
            <a:avLst/>
          </a:prstGeom>
        </p:spPr>
      </p:pic>
      <p:pic>
        <p:nvPicPr>
          <p:cNvPr id="29" name="Imagen 28" descr="Gráfico, Diagrama, Gráfico radial&#10;&#10;Descripción generada automáticamente">
            <a:extLst>
              <a:ext uri="{FF2B5EF4-FFF2-40B4-BE49-F238E27FC236}">
                <a16:creationId xmlns:a16="http://schemas.microsoft.com/office/drawing/2014/main" id="{E1448FC2-1EEF-4D6A-90B6-E5086FB232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13503" y="3004128"/>
            <a:ext cx="7885227" cy="3858944"/>
          </a:xfrm>
          <a:prstGeom prst="rect">
            <a:avLst/>
          </a:prstGeom>
        </p:spPr>
      </p:pic>
      <p:pic>
        <p:nvPicPr>
          <p:cNvPr id="33" name="Imagen 32" descr="Gráfico, Diagrama, Gráfico radial&#10;&#10;Descripción generada automáticamente">
            <a:extLst>
              <a:ext uri="{FF2B5EF4-FFF2-40B4-BE49-F238E27FC236}">
                <a16:creationId xmlns:a16="http://schemas.microsoft.com/office/drawing/2014/main" id="{BD5F089E-63EF-4D3C-BFF7-066DA8800A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13503" y="3004128"/>
            <a:ext cx="7885227" cy="3858944"/>
          </a:xfrm>
          <a:prstGeom prst="rect">
            <a:avLst/>
          </a:prstGeom>
        </p:spPr>
      </p:pic>
      <p:pic>
        <p:nvPicPr>
          <p:cNvPr id="39" name="Imagen 38" descr="Gráfico, Diagrama&#10;&#10;Descripción generada automáticamente">
            <a:extLst>
              <a:ext uri="{FF2B5EF4-FFF2-40B4-BE49-F238E27FC236}">
                <a16:creationId xmlns:a16="http://schemas.microsoft.com/office/drawing/2014/main" id="{BC6D7156-4B83-4B2E-9B07-18346846D79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13503" y="3004128"/>
            <a:ext cx="7885227" cy="3858944"/>
          </a:xfrm>
          <a:prstGeom prst="rect">
            <a:avLst/>
          </a:prstGeom>
        </p:spPr>
      </p:pic>
      <p:pic>
        <p:nvPicPr>
          <p:cNvPr id="41" name="Imagen 40" descr="Diagrama, Esquemático&#10;&#10;Descripción generada automáticamente">
            <a:extLst>
              <a:ext uri="{FF2B5EF4-FFF2-40B4-BE49-F238E27FC236}">
                <a16:creationId xmlns:a16="http://schemas.microsoft.com/office/drawing/2014/main" id="{143EA199-40CD-4E50-AE39-A6D7FC8352C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13503" y="3004128"/>
            <a:ext cx="7885227" cy="3858944"/>
          </a:xfrm>
          <a:prstGeom prst="rect">
            <a:avLst/>
          </a:prstGeom>
        </p:spPr>
      </p:pic>
      <p:pic>
        <p:nvPicPr>
          <p:cNvPr id="43" name="Imagen 42" descr="Diagrama&#10;&#10;Descripción generada automáticamente">
            <a:extLst>
              <a:ext uri="{FF2B5EF4-FFF2-40B4-BE49-F238E27FC236}">
                <a16:creationId xmlns:a16="http://schemas.microsoft.com/office/drawing/2014/main" id="{2201969F-A325-46A1-832C-9672016BFB9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13503" y="3004127"/>
            <a:ext cx="7885227" cy="3853873"/>
          </a:xfrm>
          <a:prstGeom prst="rect">
            <a:avLst/>
          </a:prstGeom>
        </p:spPr>
      </p:pic>
      <p:sp>
        <p:nvSpPr>
          <p:cNvPr id="31" name="Marcador de contenido 2">
            <a:extLst>
              <a:ext uri="{FF2B5EF4-FFF2-40B4-BE49-F238E27FC236}">
                <a16:creationId xmlns:a16="http://schemas.microsoft.com/office/drawing/2014/main" id="{C8A27FE7-7DAB-4038-9588-B1D2149D5EE6}"/>
              </a:ext>
            </a:extLst>
          </p:cNvPr>
          <p:cNvSpPr txBox="1">
            <a:spLocks/>
          </p:cNvSpPr>
          <p:nvPr/>
        </p:nvSpPr>
        <p:spPr>
          <a:xfrm>
            <a:off x="161149" y="1378387"/>
            <a:ext cx="10647322" cy="1237582"/>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r>
              <a:rPr lang="es-AR" sz="1600" dirty="0">
                <a:latin typeface="Bahnschrift" panose="020B0502040204020203" pitchFamily="34" charset="0"/>
              </a:rPr>
              <a:t>2. Encontrada la aceleración del punto A, se estudia el punto B, pues se encuentra en el mismo eslabón que A, aplicando la ecuación de diferencia de aceleraciones. Dicha ecuación soporta SOLO DOS INCOGNITAS. En este caso se conoce MODULO Y DIRECCION de </a:t>
            </a:r>
            <a:r>
              <a:rPr lang="es-AR" sz="1600" dirty="0" err="1">
                <a:latin typeface="Bahnschrift" panose="020B0502040204020203" pitchFamily="34" charset="0"/>
              </a:rPr>
              <a:t>A</a:t>
            </a:r>
            <a:r>
              <a:rPr lang="es-AR" sz="1600" baseline="-25000" dirty="0" err="1">
                <a:latin typeface="Bahnschrift" panose="020B0502040204020203" pitchFamily="34" charset="0"/>
              </a:rPr>
              <a:t>A</a:t>
            </a:r>
            <a:r>
              <a:rPr lang="es-AR" sz="1600" baseline="30000" dirty="0" err="1">
                <a:latin typeface="Bahnschrift" panose="020B0502040204020203" pitchFamily="34" charset="0"/>
              </a:rPr>
              <a:t>t</a:t>
            </a:r>
            <a:r>
              <a:rPr lang="es-AR" sz="1600" dirty="0">
                <a:latin typeface="Bahnschrift" panose="020B0502040204020203" pitchFamily="34" charset="0"/>
              </a:rPr>
              <a:t>, </a:t>
            </a:r>
            <a:r>
              <a:rPr lang="es-AR" sz="1600" dirty="0" err="1">
                <a:latin typeface="Bahnschrift" panose="020B0502040204020203" pitchFamily="34" charset="0"/>
              </a:rPr>
              <a:t>A</a:t>
            </a:r>
            <a:r>
              <a:rPr lang="es-AR" sz="1600" baseline="-25000" dirty="0" err="1">
                <a:latin typeface="Bahnschrift" panose="020B0502040204020203" pitchFamily="34" charset="0"/>
              </a:rPr>
              <a:t>A</a:t>
            </a:r>
            <a:r>
              <a:rPr lang="es-AR" sz="1600" baseline="30000" dirty="0" err="1">
                <a:latin typeface="Bahnschrift" panose="020B0502040204020203" pitchFamily="34" charset="0"/>
              </a:rPr>
              <a:t>n</a:t>
            </a:r>
            <a:r>
              <a:rPr lang="es-AR" sz="1600" dirty="0">
                <a:latin typeface="Bahnschrift" panose="020B0502040204020203" pitchFamily="34" charset="0"/>
              </a:rPr>
              <a:t> y A</a:t>
            </a:r>
            <a:r>
              <a:rPr lang="es-AR" sz="1600" baseline="-25000" dirty="0">
                <a:latin typeface="Bahnschrift" panose="020B0502040204020203" pitchFamily="34" charset="0"/>
              </a:rPr>
              <a:t>B/</a:t>
            </a:r>
            <a:r>
              <a:rPr lang="es-AR" sz="1600" baseline="-25000" dirty="0" err="1">
                <a:latin typeface="Bahnschrift" panose="020B0502040204020203" pitchFamily="34" charset="0"/>
              </a:rPr>
              <a:t>A</a:t>
            </a:r>
            <a:r>
              <a:rPr lang="es-AR" sz="1600" baseline="30000" dirty="0" err="1">
                <a:latin typeface="Bahnschrift" panose="020B0502040204020203" pitchFamily="34" charset="0"/>
              </a:rPr>
              <a:t>n</a:t>
            </a:r>
            <a:r>
              <a:rPr lang="es-AR" sz="1600" dirty="0">
                <a:latin typeface="Bahnschrift" panose="020B0502040204020203" pitchFamily="34" charset="0"/>
              </a:rPr>
              <a:t> y DIRECCION de A</a:t>
            </a:r>
            <a:r>
              <a:rPr lang="es-AR" sz="1600" baseline="-25000" dirty="0">
                <a:latin typeface="Bahnschrift" panose="020B0502040204020203" pitchFamily="34" charset="0"/>
              </a:rPr>
              <a:t>B/A</a:t>
            </a:r>
            <a:r>
              <a:rPr lang="es-AR" sz="1600" baseline="30000" dirty="0">
                <a:latin typeface="Bahnschrift" panose="020B0502040204020203" pitchFamily="34" charset="0"/>
              </a:rPr>
              <a:t>t </a:t>
            </a:r>
            <a:r>
              <a:rPr lang="es-AR" sz="1600" dirty="0">
                <a:latin typeface="Bahnschrift" panose="020B0502040204020203" pitchFamily="34" charset="0"/>
              </a:rPr>
              <a:t>(pero no su modulo), además no se conoce ni modulo ni dirección de A</a:t>
            </a:r>
            <a:r>
              <a:rPr lang="es-AR" sz="1600" baseline="-25000" dirty="0">
                <a:latin typeface="Bahnschrift" panose="020B0502040204020203" pitchFamily="34" charset="0"/>
              </a:rPr>
              <a:t>B</a:t>
            </a:r>
            <a:r>
              <a:rPr lang="es-AR" sz="1600" dirty="0">
                <a:latin typeface="Bahnschrift" panose="020B0502040204020203" pitchFamily="34" charset="0"/>
              </a:rPr>
              <a:t> (absoluta). Por lo tanto se tienen 3 incógnitas. Entonces se grafica la dirección </a:t>
            </a:r>
            <a:r>
              <a:rPr lang="es-AR" sz="1600" b="1" dirty="0">
                <a:latin typeface="Bahnschrift" panose="020B0502040204020203" pitchFamily="34" charset="0"/>
              </a:rPr>
              <a:t>mm</a:t>
            </a:r>
            <a:r>
              <a:rPr lang="es-AR" sz="1600" dirty="0">
                <a:latin typeface="Bahnschrift" panose="020B0502040204020203" pitchFamily="34" charset="0"/>
              </a:rPr>
              <a:t> de A</a:t>
            </a:r>
            <a:r>
              <a:rPr lang="es-AR" sz="1600" baseline="-25000" dirty="0">
                <a:latin typeface="Bahnschrift" panose="020B0502040204020203" pitchFamily="34" charset="0"/>
              </a:rPr>
              <a:t>B/</a:t>
            </a:r>
            <a:r>
              <a:rPr lang="es-AR" sz="1600" baseline="-25000" dirty="0" err="1">
                <a:latin typeface="Bahnschrift" panose="020B0502040204020203" pitchFamily="34" charset="0"/>
              </a:rPr>
              <a:t>A</a:t>
            </a:r>
            <a:r>
              <a:rPr lang="es-AR" sz="1600" baseline="30000" dirty="0" err="1">
                <a:latin typeface="Bahnschrift" panose="020B0502040204020203" pitchFamily="34" charset="0"/>
              </a:rPr>
              <a:t>n</a:t>
            </a:r>
            <a:r>
              <a:rPr lang="es-AR" sz="1600" dirty="0">
                <a:latin typeface="Bahnschrift" panose="020B0502040204020203" pitchFamily="34" charset="0"/>
              </a:rPr>
              <a:t> y su modulo (conocido) a partir del vector </a:t>
            </a:r>
            <a:r>
              <a:rPr lang="es-AR" sz="1600" dirty="0" err="1">
                <a:latin typeface="Bahnschrift" panose="020B0502040204020203" pitchFamily="34" charset="0"/>
              </a:rPr>
              <a:t>A</a:t>
            </a:r>
            <a:r>
              <a:rPr lang="es-AR" sz="1600" baseline="-25000" dirty="0" err="1">
                <a:latin typeface="Bahnschrift" panose="020B0502040204020203" pitchFamily="34" charset="0"/>
              </a:rPr>
              <a:t>A</a:t>
            </a:r>
            <a:r>
              <a:rPr lang="es-AR" sz="1600" baseline="30000" dirty="0" err="1">
                <a:latin typeface="Bahnschrift" panose="020B0502040204020203" pitchFamily="34" charset="0"/>
              </a:rPr>
              <a:t>t</a:t>
            </a:r>
            <a:r>
              <a:rPr lang="es-AR" sz="1600" baseline="30000" dirty="0">
                <a:latin typeface="Bahnschrift" panose="020B0502040204020203" pitchFamily="34" charset="0"/>
              </a:rPr>
              <a:t>  </a:t>
            </a:r>
            <a:r>
              <a:rPr lang="es-AR" sz="1600" dirty="0">
                <a:latin typeface="Bahnschrift" panose="020B0502040204020203" pitchFamily="34" charset="0"/>
              </a:rPr>
              <a:t>y la dirección </a:t>
            </a:r>
            <a:r>
              <a:rPr lang="es-AR" sz="1600" b="1" dirty="0" err="1">
                <a:latin typeface="Bahnschrift" panose="020B0502040204020203" pitchFamily="34" charset="0"/>
              </a:rPr>
              <a:t>qq</a:t>
            </a:r>
            <a:r>
              <a:rPr lang="es-AR" sz="1600" dirty="0">
                <a:latin typeface="Bahnschrift" panose="020B0502040204020203" pitchFamily="34" charset="0"/>
              </a:rPr>
              <a:t> de A</a:t>
            </a:r>
            <a:r>
              <a:rPr lang="es-AR" sz="1600" baseline="-25000" dirty="0">
                <a:latin typeface="Bahnschrift" panose="020B0502040204020203" pitchFamily="34" charset="0"/>
              </a:rPr>
              <a:t>B/A</a:t>
            </a:r>
            <a:r>
              <a:rPr lang="es-AR" sz="1600" baseline="30000" dirty="0">
                <a:latin typeface="Bahnschrift" panose="020B0502040204020203" pitchFamily="34" charset="0"/>
              </a:rPr>
              <a:t>t </a:t>
            </a:r>
            <a:r>
              <a:rPr lang="es-AR" sz="1600" dirty="0">
                <a:latin typeface="Bahnschrift" panose="020B0502040204020203" pitchFamily="34" charset="0"/>
              </a:rPr>
              <a:t> que es perpendicular a la barra BA, pues la barra es rígida. </a:t>
            </a:r>
          </a:p>
        </p:txBody>
      </p:sp>
      <mc:AlternateContent xmlns:mc="http://schemas.openxmlformats.org/markup-compatibility/2006" xmlns:a14="http://schemas.microsoft.com/office/drawing/2010/main">
        <mc:Choice Requires="a14">
          <p:sp>
            <p:nvSpPr>
              <p:cNvPr id="44" name="CuadroTexto 43">
                <a:extLst>
                  <a:ext uri="{FF2B5EF4-FFF2-40B4-BE49-F238E27FC236}">
                    <a16:creationId xmlns:a16="http://schemas.microsoft.com/office/drawing/2014/main" id="{BCCFAF87-A7C2-4CBF-AF7B-B9C4DAC8BEB0}"/>
                  </a:ext>
                </a:extLst>
              </p:cNvPr>
              <p:cNvSpPr txBox="1"/>
              <p:nvPr/>
            </p:nvSpPr>
            <p:spPr>
              <a:xfrm>
                <a:off x="1513503" y="2845381"/>
                <a:ext cx="7741478" cy="398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s-AR"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𝐵</m:t>
                              </m:r>
                            </m:sub>
                          </m:sSub>
                        </m:e>
                      </m:acc>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s-AR"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𝐴</m:t>
                              </m:r>
                              <m:r>
                                <a:rPr lang="es-AR" b="0" i="1" smtClean="0">
                                  <a:latin typeface="Cambria Math" panose="02040503050406030204" pitchFamily="18" charset="0"/>
                                  <a:ea typeface="Cambria Math" panose="02040503050406030204" pitchFamily="18" charset="0"/>
                                </a:rPr>
                                <m:t> </m:t>
                              </m:r>
                            </m:sub>
                          </m:sSub>
                        </m:e>
                      </m:acc>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sub>
                          </m:sSub>
                        </m:e>
                      </m:acc>
                      <m:r>
                        <a:rPr lang="en-US" b="0" i="1" smtClean="0">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𝐴</m:t>
                              </m:r>
                              <m:r>
                                <a:rPr lang="es-AR" i="1">
                                  <a:latin typeface="Cambria Math" panose="02040503050406030204" pitchFamily="18" charset="0"/>
                                  <a:ea typeface="Cambria Math" panose="02040503050406030204" pitchFamily="18" charset="0"/>
                                </a:rPr>
                                <m:t> </m:t>
                              </m:r>
                            </m:sub>
                          </m:sSub>
                        </m:e>
                      </m:acc>
                      <m:r>
                        <a:rPr lang="en-US" b="0" i="1" smtClean="0">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𝐴</m:t>
                                  </m:r>
                                </m:sub>
                                <m:sup>
                                  <m:r>
                                    <a:rPr lang="en-US" i="1">
                                      <a:latin typeface="Cambria Math" panose="02040503050406030204" pitchFamily="18" charset="0"/>
                                      <a:ea typeface="Cambria Math" panose="02040503050406030204" pitchFamily="18" charset="0"/>
                                    </a:rPr>
                                    <m:t>𝑛</m:t>
                                  </m:r>
                                </m:sup>
                              </m:sSubSup>
                            </m:e>
                            <m:sub>
                              <m:r>
                                <a:rPr lang="es-AR" i="1">
                                  <a:latin typeface="Cambria Math" panose="02040503050406030204" pitchFamily="18" charset="0"/>
                                  <a:ea typeface="Cambria Math" panose="02040503050406030204" pitchFamily="18" charset="0"/>
                                </a:rPr>
                                <m:t> </m:t>
                              </m:r>
                            </m:sub>
                          </m:sSub>
                        </m:e>
                      </m:acc>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sSubSup>
                            <m:sSubSupPr>
                              <m:ctrlPr>
                                <a:rPr lang="en-US" b="0" i="1" smtClean="0">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sub>
                            <m:sup>
                              <m:r>
                                <a:rPr lang="en-US" b="0" i="1" smtClean="0">
                                  <a:latin typeface="Cambria Math" panose="02040503050406030204" pitchFamily="18" charset="0"/>
                                  <a:ea typeface="Cambria Math" panose="02040503050406030204" pitchFamily="18" charset="0"/>
                                </a:rPr>
                                <m:t>𝑡</m:t>
                              </m:r>
                            </m:sup>
                          </m:sSubSup>
                        </m:e>
                      </m:acc>
                      <m:r>
                        <a:rPr lang="en-US" b="0" i="0" smtClean="0">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𝐴</m:t>
                              </m:r>
                              <m:r>
                                <a:rPr lang="es-AR" i="1">
                                  <a:latin typeface="Cambria Math" panose="02040503050406030204" pitchFamily="18" charset="0"/>
                                  <a:ea typeface="Cambria Math" panose="02040503050406030204" pitchFamily="18" charset="0"/>
                                </a:rPr>
                                <m:t> </m:t>
                              </m:r>
                            </m:sub>
                          </m:sSub>
                        </m:e>
                      </m:acc>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𝐴𝐵</m:t>
                              </m:r>
                            </m:sub>
                          </m:sSub>
                        </m:e>
                      </m:acc>
                      <m:r>
                        <a:rPr lang="en-US" b="0" i="1" smtClean="0">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𝐵</m:t>
                              </m:r>
                            </m:sub>
                          </m:sSub>
                        </m:e>
                      </m:acc>
                      <m:r>
                        <a:rPr lang="en-US" i="1" smtClean="0">
                          <a:latin typeface="Cambria Math" panose="02040503050406030204" pitchFamily="18" charset="0"/>
                          <a:ea typeface="Cambria Math" panose="02040503050406030204" pitchFamily="18" charset="0"/>
                        </a:rPr>
                        <m:t>×</m:t>
                      </m:r>
                      <m:bar>
                        <m:barPr>
                          <m:pos m:val="top"/>
                          <m:ctrlPr>
                            <a:rPr lang="en-US" b="0" i="1" smtClean="0">
                              <a:latin typeface="Cambria Math" panose="02040503050406030204" pitchFamily="18" charset="0"/>
                              <a:ea typeface="Cambria Math" panose="02040503050406030204" pitchFamily="18" charset="0"/>
                            </a:rPr>
                          </m:ctrlPr>
                        </m:bar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sub>
                          </m:sSub>
                        </m:e>
                      </m:bar>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𝐴𝐵</m:t>
                              </m:r>
                            </m:sub>
                          </m:sSub>
                        </m:e>
                      </m:acc>
                      <m:r>
                        <a:rPr lang="en-US" b="0" i="1" smtClean="0">
                          <a:latin typeface="Cambria Math" panose="02040503050406030204" pitchFamily="18" charset="0"/>
                          <a:ea typeface="Cambria Math" panose="02040503050406030204" pitchFamily="18" charset="0"/>
                        </a:rPr>
                        <m:t>×</m:t>
                      </m:r>
                      <m:bar>
                        <m:barPr>
                          <m:pos m:val="top"/>
                          <m:ctrlPr>
                            <a:rPr lang="en-US" i="1">
                              <a:latin typeface="Cambria Math" panose="02040503050406030204" pitchFamily="18" charset="0"/>
                              <a:ea typeface="Cambria Math" panose="02040503050406030204" pitchFamily="18" charset="0"/>
                            </a:rPr>
                          </m:ctrlPr>
                        </m:barPr>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sub>
                          </m:sSub>
                        </m:e>
                      </m:bar>
                    </m:oMath>
                  </m:oMathPara>
                </a14:m>
                <a:endParaRPr lang="es-AR" dirty="0"/>
              </a:p>
            </p:txBody>
          </p:sp>
        </mc:Choice>
        <mc:Fallback xmlns="">
          <p:sp>
            <p:nvSpPr>
              <p:cNvPr id="44" name="CuadroTexto 43">
                <a:extLst>
                  <a:ext uri="{FF2B5EF4-FFF2-40B4-BE49-F238E27FC236}">
                    <a16:creationId xmlns:a16="http://schemas.microsoft.com/office/drawing/2014/main" id="{BCCFAF87-A7C2-4CBF-AF7B-B9C4DAC8BEB0}"/>
                  </a:ext>
                </a:extLst>
              </p:cNvPr>
              <p:cNvSpPr txBox="1">
                <a:spLocks noRot="1" noChangeAspect="1" noMove="1" noResize="1" noEditPoints="1" noAdjustHandles="1" noChangeArrowheads="1" noChangeShapeType="1" noTextEdit="1"/>
              </p:cNvSpPr>
              <p:nvPr/>
            </p:nvSpPr>
            <p:spPr>
              <a:xfrm>
                <a:off x="1513503" y="2845381"/>
                <a:ext cx="7741478" cy="398442"/>
              </a:xfrm>
              <a:prstGeom prst="rect">
                <a:avLst/>
              </a:prstGeom>
              <a:blipFill>
                <a:blip r:embed="rId9"/>
                <a:stretch>
                  <a:fillRect l="-157" b="-10769"/>
                </a:stretch>
              </a:blipFill>
            </p:spPr>
            <p:txBody>
              <a:bodyPr/>
              <a:lstStyle/>
              <a:p>
                <a:r>
                  <a:rPr lang="es-AR">
                    <a:noFill/>
                  </a:rPr>
                  <a:t> </a:t>
                </a:r>
              </a:p>
            </p:txBody>
          </p:sp>
        </mc:Fallback>
      </mc:AlternateContent>
      <p:sp>
        <p:nvSpPr>
          <p:cNvPr id="32" name="Marcador de contenido 2">
            <a:extLst>
              <a:ext uri="{FF2B5EF4-FFF2-40B4-BE49-F238E27FC236}">
                <a16:creationId xmlns:a16="http://schemas.microsoft.com/office/drawing/2014/main" id="{79A63B2B-C469-4507-8696-4EE4A31D9DBE}"/>
              </a:ext>
            </a:extLst>
          </p:cNvPr>
          <p:cNvSpPr txBox="1">
            <a:spLocks/>
          </p:cNvSpPr>
          <p:nvPr/>
        </p:nvSpPr>
        <p:spPr>
          <a:xfrm>
            <a:off x="161149" y="1379503"/>
            <a:ext cx="10647322" cy="123758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r>
              <a:rPr lang="es-AR" sz="1600" dirty="0">
                <a:latin typeface="Bahnschrift" panose="020B0502040204020203" pitchFamily="34" charset="0"/>
              </a:rPr>
              <a:t>3. Debido a que se tienen mas incógnitas que ecuaciones, se deberá plantear otra ecuación de la aceleración de B vista desde otro punto con datos conocidos. Este punto es el pivote fijo O</a:t>
            </a:r>
            <a:r>
              <a:rPr lang="es-AR" sz="1600" baseline="-25000" dirty="0">
                <a:latin typeface="Bahnschrift" panose="020B0502040204020203" pitchFamily="34" charset="0"/>
              </a:rPr>
              <a:t>4</a:t>
            </a:r>
            <a:r>
              <a:rPr lang="es-AR" sz="1600" dirty="0">
                <a:latin typeface="Bahnschrift" panose="020B0502040204020203" pitchFamily="34" charset="0"/>
              </a:rPr>
              <a:t> de la barra O</a:t>
            </a:r>
            <a:r>
              <a:rPr lang="es-AR" sz="1600" baseline="-25000" dirty="0">
                <a:latin typeface="Bahnschrift" panose="020B0502040204020203" pitchFamily="34" charset="0"/>
              </a:rPr>
              <a:t>4</a:t>
            </a:r>
            <a:r>
              <a:rPr lang="es-AR" sz="1600" dirty="0">
                <a:latin typeface="Bahnschrift" panose="020B0502040204020203" pitchFamily="34" charset="0"/>
              </a:rPr>
              <a:t>B al cual también pertenece el punto B. En esta ecuación, A</a:t>
            </a:r>
            <a:r>
              <a:rPr lang="es-AR" sz="1600" baseline="-25000" dirty="0">
                <a:latin typeface="Bahnschrift" panose="020B0502040204020203" pitchFamily="34" charset="0"/>
              </a:rPr>
              <a:t>O4</a:t>
            </a:r>
            <a:r>
              <a:rPr lang="es-AR" sz="1600" dirty="0">
                <a:latin typeface="Bahnschrift" panose="020B0502040204020203" pitchFamily="34" charset="0"/>
              </a:rPr>
              <a:t> es cero, y de A</a:t>
            </a:r>
            <a:r>
              <a:rPr lang="es-AR" sz="1600" baseline="-25000" dirty="0">
                <a:latin typeface="Bahnschrift" panose="020B0502040204020203" pitchFamily="34" charset="0"/>
              </a:rPr>
              <a:t>BO4</a:t>
            </a:r>
            <a:r>
              <a:rPr lang="es-AR" sz="1600" dirty="0">
                <a:latin typeface="Bahnschrift" panose="020B0502040204020203" pitchFamily="34" charset="0"/>
              </a:rPr>
              <a:t> se conoce completamente (dirección y modulo) solo su componente normal A</a:t>
            </a:r>
            <a:r>
              <a:rPr lang="es-AR" sz="1600" baseline="-25000" dirty="0">
                <a:latin typeface="Bahnschrift" panose="020B0502040204020203" pitchFamily="34" charset="0"/>
              </a:rPr>
              <a:t>BO4</a:t>
            </a:r>
            <a:r>
              <a:rPr lang="es-AR" sz="1600" baseline="30000" dirty="0">
                <a:latin typeface="Bahnschrift" panose="020B0502040204020203" pitchFamily="34" charset="0"/>
              </a:rPr>
              <a:t>n</a:t>
            </a:r>
            <a:r>
              <a:rPr lang="es-AR" sz="1600" dirty="0">
                <a:latin typeface="Bahnschrift" panose="020B0502040204020203" pitchFamily="34" charset="0"/>
              </a:rPr>
              <a:t> y de A</a:t>
            </a:r>
            <a:r>
              <a:rPr lang="es-AR" sz="1600" baseline="-25000" dirty="0">
                <a:latin typeface="Bahnschrift" panose="020B0502040204020203" pitchFamily="34" charset="0"/>
              </a:rPr>
              <a:t>BO4</a:t>
            </a:r>
            <a:r>
              <a:rPr lang="es-AR" sz="1600" baseline="30000" dirty="0">
                <a:latin typeface="Bahnschrift" panose="020B0502040204020203" pitchFamily="34" charset="0"/>
              </a:rPr>
              <a:t>t</a:t>
            </a:r>
            <a:r>
              <a:rPr lang="es-AR" sz="1600" baseline="-25000" dirty="0">
                <a:latin typeface="Bahnschrift" panose="020B0502040204020203" pitchFamily="34" charset="0"/>
              </a:rPr>
              <a:t> </a:t>
            </a:r>
            <a:r>
              <a:rPr lang="es-AR" sz="1600" dirty="0">
                <a:latin typeface="Bahnschrift" panose="020B0502040204020203" pitchFamily="34" charset="0"/>
              </a:rPr>
              <a:t>solo se conoce su dirección </a:t>
            </a:r>
            <a:r>
              <a:rPr lang="es-AR" sz="1600" b="1" dirty="0" err="1">
                <a:latin typeface="Bahnschrift" panose="020B0502040204020203" pitchFamily="34" charset="0"/>
              </a:rPr>
              <a:t>pp</a:t>
            </a:r>
            <a:r>
              <a:rPr lang="es-AR" sz="1600" b="1" dirty="0">
                <a:latin typeface="Bahnschrift" panose="020B0502040204020203" pitchFamily="34" charset="0"/>
              </a:rPr>
              <a:t>,</a:t>
            </a:r>
            <a:r>
              <a:rPr lang="es-AR" sz="1600" dirty="0">
                <a:latin typeface="Bahnschrift" panose="020B0502040204020203" pitchFamily="34" charset="0"/>
              </a:rPr>
              <a:t> la cual se traza en el diagrama  perpendicular a la barra O</a:t>
            </a:r>
            <a:r>
              <a:rPr lang="es-AR" sz="1600" baseline="-25000" dirty="0">
                <a:latin typeface="Bahnschrift" panose="020B0502040204020203" pitchFamily="34" charset="0"/>
              </a:rPr>
              <a:t>4</a:t>
            </a:r>
            <a:r>
              <a:rPr lang="es-AR" sz="1600" dirty="0">
                <a:latin typeface="Bahnschrift" panose="020B0502040204020203" pitchFamily="34" charset="0"/>
              </a:rPr>
              <a:t>B a partir del vector A</a:t>
            </a:r>
            <a:r>
              <a:rPr lang="es-AR" sz="1600" baseline="-25000" dirty="0">
                <a:latin typeface="Bahnschrift" panose="020B0502040204020203" pitchFamily="34" charset="0"/>
              </a:rPr>
              <a:t>BO4</a:t>
            </a:r>
            <a:r>
              <a:rPr lang="es-AR" sz="1600" baseline="30000" dirty="0">
                <a:latin typeface="Bahnschrift" panose="020B0502040204020203" pitchFamily="34" charset="0"/>
              </a:rPr>
              <a:t>n</a:t>
            </a:r>
            <a:r>
              <a:rPr lang="es-AR" sz="1600" dirty="0">
                <a:latin typeface="Bahnschrift" panose="020B0502040204020203" pitchFamily="34" charset="0"/>
              </a:rPr>
              <a:t>.</a:t>
            </a:r>
            <a:endParaRPr lang="es-AR" sz="1600" b="1" dirty="0">
              <a:latin typeface="Bahnschrift" panose="020B0502040204020203" pitchFamily="34" charset="0"/>
            </a:endParaRPr>
          </a:p>
        </p:txBody>
      </p:sp>
      <mc:AlternateContent xmlns:mc="http://schemas.openxmlformats.org/markup-compatibility/2006" xmlns:a14="http://schemas.microsoft.com/office/drawing/2010/main">
        <mc:Choice Requires="a14">
          <p:sp>
            <p:nvSpPr>
              <p:cNvPr id="45" name="CuadroTexto 44">
                <a:extLst>
                  <a:ext uri="{FF2B5EF4-FFF2-40B4-BE49-F238E27FC236}">
                    <a16:creationId xmlns:a16="http://schemas.microsoft.com/office/drawing/2014/main" id="{B45B96A2-C78F-4B72-80A8-1FB6E4813DD9}"/>
                  </a:ext>
                </a:extLst>
              </p:cNvPr>
              <p:cNvSpPr txBox="1"/>
              <p:nvPr/>
            </p:nvSpPr>
            <p:spPr>
              <a:xfrm>
                <a:off x="1445695" y="2686478"/>
                <a:ext cx="7892482" cy="398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s-AR"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𝐵</m:t>
                              </m:r>
                            </m:sub>
                          </m:sSub>
                        </m:e>
                      </m:acc>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s-AR" b="0" i="1" smtClean="0">
                                  <a:latin typeface="Cambria Math" panose="02040503050406030204" pitchFamily="18" charset="0"/>
                                  <a:ea typeface="Cambria Math" panose="02040503050406030204" pitchFamily="18" charset="0"/>
                                </a:rPr>
                                <m:t>𝐴</m:t>
                              </m:r>
                            </m:e>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4</m:t>
                                  </m:r>
                                </m:sub>
                              </m:sSub>
                              <m:r>
                                <a:rPr lang="es-AR" b="0" i="1" smtClean="0">
                                  <a:latin typeface="Cambria Math" panose="02040503050406030204" pitchFamily="18" charset="0"/>
                                  <a:ea typeface="Cambria Math" panose="02040503050406030204" pitchFamily="18" charset="0"/>
                                </a:rPr>
                                <m:t> </m:t>
                              </m:r>
                            </m:sub>
                          </m:sSub>
                        </m:e>
                      </m:acc>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4</m:t>
                                  </m:r>
                                </m:sub>
                              </m:sSub>
                            </m:sub>
                          </m:sSub>
                        </m:e>
                      </m:acc>
                      <m:r>
                        <a:rPr lang="en-US" b="0" i="1" smtClean="0">
                          <a:latin typeface="Cambria Math" panose="02040503050406030204" pitchFamily="18" charset="0"/>
                          <a:ea typeface="Cambria Math" panose="02040503050406030204" pitchFamily="18" charset="0"/>
                        </a:rPr>
                        <m:t>=0+</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4</m:t>
                                      </m:r>
                                    </m:sub>
                                  </m:sSub>
                                </m:sub>
                                <m:sup>
                                  <m:r>
                                    <a:rPr lang="en-US" i="1">
                                      <a:latin typeface="Cambria Math" panose="02040503050406030204" pitchFamily="18" charset="0"/>
                                      <a:ea typeface="Cambria Math" panose="02040503050406030204" pitchFamily="18" charset="0"/>
                                    </a:rPr>
                                    <m:t>𝑛</m:t>
                                  </m:r>
                                </m:sup>
                              </m:sSubSup>
                            </m:e>
                            <m:sub>
                              <m:r>
                                <a:rPr lang="es-AR" i="1">
                                  <a:latin typeface="Cambria Math" panose="02040503050406030204" pitchFamily="18" charset="0"/>
                                  <a:ea typeface="Cambria Math" panose="02040503050406030204" pitchFamily="18" charset="0"/>
                                </a:rPr>
                                <m:t> </m:t>
                              </m:r>
                            </m:sub>
                          </m:sSub>
                        </m:e>
                      </m:acc>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sSubSup>
                            <m:sSubSupPr>
                              <m:ctrlPr>
                                <a:rPr lang="en-US" b="0" i="1" smtClean="0">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𝐵</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𝑂</m:t>
                                  </m:r>
                                </m:e>
                                <m:sub>
                                  <m:r>
                                    <a:rPr lang="en-US" i="1">
                                      <a:latin typeface="Cambria Math" panose="02040503050406030204" pitchFamily="18" charset="0"/>
                                      <a:ea typeface="Cambria Math" panose="02040503050406030204" pitchFamily="18" charset="0"/>
                                    </a:rPr>
                                    <m:t>4</m:t>
                                  </m:r>
                                </m:sub>
                              </m:sSub>
                            </m:sub>
                            <m:sup>
                              <m:r>
                                <a:rPr lang="en-US" b="0" i="1" smtClean="0">
                                  <a:latin typeface="Cambria Math" panose="02040503050406030204" pitchFamily="18" charset="0"/>
                                  <a:ea typeface="Cambria Math" panose="02040503050406030204" pitchFamily="18" charset="0"/>
                                </a:rPr>
                                <m:t>𝑡</m:t>
                              </m:r>
                            </m:sup>
                          </m:sSubSup>
                        </m:e>
                      </m:acc>
                      <m:r>
                        <a:rPr lang="en-US" b="0" i="0"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𝐵</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𝑂</m:t>
                                  </m:r>
                                </m:e>
                                <m:sub>
                                  <m:r>
                                    <a:rPr lang="en-US" i="1">
                                      <a:latin typeface="Cambria Math" panose="02040503050406030204" pitchFamily="18" charset="0"/>
                                      <a:ea typeface="Cambria Math" panose="02040503050406030204" pitchFamily="18" charset="0"/>
                                    </a:rPr>
                                    <m:t>4</m:t>
                                  </m:r>
                                </m:sub>
                              </m:sSub>
                            </m:sub>
                          </m:sSub>
                        </m:e>
                      </m:acc>
                      <m:r>
                        <a:rPr lang="en-US" b="0" i="1" smtClean="0">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𝐵</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𝑂</m:t>
                                  </m:r>
                                </m:e>
                                <m:sub>
                                  <m:r>
                                    <a:rPr lang="en-US" i="1">
                                      <a:latin typeface="Cambria Math" panose="02040503050406030204" pitchFamily="18" charset="0"/>
                                      <a:ea typeface="Cambria Math" panose="02040503050406030204" pitchFamily="18" charset="0"/>
                                    </a:rPr>
                                    <m:t>4</m:t>
                                  </m:r>
                                </m:sub>
                              </m:sSub>
                            </m:sub>
                          </m:sSub>
                        </m:e>
                      </m:acc>
                      <m:r>
                        <a:rPr lang="en-US" i="1" smtClean="0">
                          <a:latin typeface="Cambria Math" panose="02040503050406030204" pitchFamily="18" charset="0"/>
                          <a:ea typeface="Cambria Math" panose="02040503050406030204" pitchFamily="18" charset="0"/>
                        </a:rPr>
                        <m:t>×</m:t>
                      </m:r>
                      <m:bar>
                        <m:barPr>
                          <m:pos m:val="top"/>
                          <m:ctrlPr>
                            <a:rPr lang="en-US" b="0" i="1" smtClean="0">
                              <a:latin typeface="Cambria Math" panose="02040503050406030204" pitchFamily="18" charset="0"/>
                              <a:ea typeface="Cambria Math" panose="02040503050406030204" pitchFamily="18" charset="0"/>
                            </a:rPr>
                          </m:ctrlPr>
                        </m:bar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4</m:t>
                                  </m:r>
                                </m:sub>
                              </m:sSub>
                            </m:sub>
                          </m:sSub>
                        </m:e>
                      </m:bar>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𝐵</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𝑂</m:t>
                                  </m:r>
                                </m:e>
                                <m:sub>
                                  <m:r>
                                    <a:rPr lang="en-US" i="1">
                                      <a:latin typeface="Cambria Math" panose="02040503050406030204" pitchFamily="18" charset="0"/>
                                      <a:ea typeface="Cambria Math" panose="02040503050406030204" pitchFamily="18" charset="0"/>
                                    </a:rPr>
                                    <m:t>4</m:t>
                                  </m:r>
                                </m:sub>
                              </m:sSub>
                            </m:sub>
                          </m:sSub>
                        </m:e>
                      </m:acc>
                      <m:r>
                        <a:rPr lang="en-US" b="0" i="1" smtClean="0">
                          <a:latin typeface="Cambria Math" panose="02040503050406030204" pitchFamily="18" charset="0"/>
                          <a:ea typeface="Cambria Math" panose="02040503050406030204" pitchFamily="18" charset="0"/>
                        </a:rPr>
                        <m:t>×</m:t>
                      </m:r>
                      <m:bar>
                        <m:barPr>
                          <m:pos m:val="top"/>
                          <m:ctrlPr>
                            <a:rPr lang="en-US" i="1">
                              <a:latin typeface="Cambria Math" panose="02040503050406030204" pitchFamily="18" charset="0"/>
                              <a:ea typeface="Cambria Math" panose="02040503050406030204" pitchFamily="18" charset="0"/>
                            </a:rPr>
                          </m:ctrlPr>
                        </m:barPr>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4</m:t>
                                  </m:r>
                                </m:sub>
                              </m:sSub>
                            </m:sub>
                          </m:sSub>
                        </m:e>
                      </m:bar>
                    </m:oMath>
                  </m:oMathPara>
                </a14:m>
                <a:endParaRPr lang="es-AR" dirty="0"/>
              </a:p>
            </p:txBody>
          </p:sp>
        </mc:Choice>
        <mc:Fallback xmlns="">
          <p:sp>
            <p:nvSpPr>
              <p:cNvPr id="45" name="CuadroTexto 44">
                <a:extLst>
                  <a:ext uri="{FF2B5EF4-FFF2-40B4-BE49-F238E27FC236}">
                    <a16:creationId xmlns:a16="http://schemas.microsoft.com/office/drawing/2014/main" id="{B45B96A2-C78F-4B72-80A8-1FB6E4813DD9}"/>
                  </a:ext>
                </a:extLst>
              </p:cNvPr>
              <p:cNvSpPr txBox="1">
                <a:spLocks noRot="1" noChangeAspect="1" noMove="1" noResize="1" noEditPoints="1" noAdjustHandles="1" noChangeArrowheads="1" noChangeShapeType="1" noTextEdit="1"/>
              </p:cNvSpPr>
              <p:nvPr/>
            </p:nvSpPr>
            <p:spPr>
              <a:xfrm>
                <a:off x="1445695" y="2686478"/>
                <a:ext cx="7892482" cy="398442"/>
              </a:xfrm>
              <a:prstGeom prst="rect">
                <a:avLst/>
              </a:prstGeom>
              <a:blipFill>
                <a:blip r:embed="rId10"/>
                <a:stretch>
                  <a:fillRect b="-10769"/>
                </a:stretch>
              </a:blipFill>
            </p:spPr>
            <p:txBody>
              <a:bodyPr/>
              <a:lstStyle/>
              <a:p>
                <a:r>
                  <a:rPr lang="es-AR">
                    <a:noFill/>
                  </a:rPr>
                  <a:t> </a:t>
                </a:r>
              </a:p>
            </p:txBody>
          </p:sp>
        </mc:Fallback>
      </mc:AlternateContent>
      <p:sp>
        <p:nvSpPr>
          <p:cNvPr id="35" name="Marcador de contenido 2">
            <a:extLst>
              <a:ext uri="{FF2B5EF4-FFF2-40B4-BE49-F238E27FC236}">
                <a16:creationId xmlns:a16="http://schemas.microsoft.com/office/drawing/2014/main" id="{A03E7AF1-DC34-43FA-8C81-83D1C4D61808}"/>
              </a:ext>
            </a:extLst>
          </p:cNvPr>
          <p:cNvSpPr txBox="1">
            <a:spLocks/>
          </p:cNvSpPr>
          <p:nvPr/>
        </p:nvSpPr>
        <p:spPr>
          <a:xfrm>
            <a:off x="161149" y="1387581"/>
            <a:ext cx="10647322" cy="668539"/>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r>
              <a:rPr lang="es-AR" sz="1600" dirty="0">
                <a:latin typeface="Bahnschrift" panose="020B0502040204020203" pitchFamily="34" charset="0"/>
              </a:rPr>
              <a:t>4. Para resolver el trazado se deben igual las dos ecuaciones de A</a:t>
            </a:r>
            <a:r>
              <a:rPr lang="es-AR" sz="1600" baseline="-25000" dirty="0">
                <a:latin typeface="Bahnschrift" panose="020B0502040204020203" pitchFamily="34" charset="0"/>
              </a:rPr>
              <a:t>B</a:t>
            </a:r>
            <a:r>
              <a:rPr lang="es-AR" sz="1600" dirty="0">
                <a:latin typeface="Bahnschrift" panose="020B0502040204020203" pitchFamily="34" charset="0"/>
              </a:rPr>
              <a:t> anteriores, obteniéndose de esta manera una sola ecuación con dos incógnitas. Su resolución grafica se determina trazando las direcciones </a:t>
            </a:r>
            <a:r>
              <a:rPr lang="es-AR" sz="1600" b="1" dirty="0" err="1">
                <a:latin typeface="Bahnschrift" panose="020B0502040204020203" pitchFamily="34" charset="0"/>
              </a:rPr>
              <a:t>pp</a:t>
            </a:r>
            <a:r>
              <a:rPr lang="es-AR" sz="1600" dirty="0">
                <a:latin typeface="Bahnschrift" panose="020B0502040204020203" pitchFamily="34" charset="0"/>
              </a:rPr>
              <a:t> y </a:t>
            </a:r>
            <a:r>
              <a:rPr lang="es-AR" sz="1600" b="1" dirty="0" err="1">
                <a:latin typeface="Bahnschrift" panose="020B0502040204020203" pitchFamily="34" charset="0"/>
              </a:rPr>
              <a:t>qq</a:t>
            </a:r>
            <a:r>
              <a:rPr lang="es-AR" sz="1600" dirty="0">
                <a:latin typeface="Bahnschrift" panose="020B0502040204020203" pitchFamily="34" charset="0"/>
              </a:rPr>
              <a:t>, que se cortan en un punto definiendo los módulos de los vectores </a:t>
            </a:r>
            <a:r>
              <a:rPr lang="es-AR" sz="1600" dirty="0" err="1">
                <a:latin typeface="Bahnschrift" panose="020B0502040204020203" pitchFamily="34" charset="0"/>
              </a:rPr>
              <a:t>A</a:t>
            </a:r>
            <a:r>
              <a:rPr lang="es-AR" sz="1600" baseline="-25000" dirty="0" err="1">
                <a:latin typeface="Bahnschrift" panose="020B0502040204020203" pitchFamily="34" charset="0"/>
              </a:rPr>
              <a:t>BA</a:t>
            </a:r>
            <a:r>
              <a:rPr lang="es-AR" sz="1600" baseline="30000" dirty="0" err="1">
                <a:latin typeface="Bahnschrift" panose="020B0502040204020203" pitchFamily="34" charset="0"/>
              </a:rPr>
              <a:t>t</a:t>
            </a:r>
            <a:r>
              <a:rPr lang="es-AR" sz="1600" dirty="0">
                <a:latin typeface="Bahnschrift" panose="020B0502040204020203" pitchFamily="34" charset="0"/>
              </a:rPr>
              <a:t> y A</a:t>
            </a:r>
            <a:r>
              <a:rPr lang="es-AR" sz="1600" baseline="-25000" dirty="0">
                <a:latin typeface="Bahnschrift" panose="020B0502040204020203" pitchFamily="34" charset="0"/>
              </a:rPr>
              <a:t>BO4</a:t>
            </a:r>
            <a:r>
              <a:rPr lang="es-AR" sz="1600" baseline="30000" dirty="0">
                <a:latin typeface="Bahnschrift" panose="020B0502040204020203" pitchFamily="34" charset="0"/>
              </a:rPr>
              <a:t>t</a:t>
            </a:r>
            <a:r>
              <a:rPr lang="es-AR" sz="1600" dirty="0">
                <a:latin typeface="Bahnschrift" panose="020B0502040204020203" pitchFamily="34" charset="0"/>
              </a:rPr>
              <a:t>. El sentido de dichos vectores queda determinado por la ultima ecuación resultado de la igualación. Una vez determinados los módulos de los vectores de aceleración tangencial mediante el trazado, se determinan los valores de las aceleraciones angulares a través de las siguientes ecuaciones. </a:t>
            </a:r>
            <a:endParaRPr lang="es-AR" sz="1600" b="1" dirty="0">
              <a:latin typeface="Bahnschrift" panose="020B0502040204020203" pitchFamily="34" charset="0"/>
            </a:endParaRPr>
          </a:p>
        </p:txBody>
      </p:sp>
      <mc:AlternateContent xmlns:mc="http://schemas.openxmlformats.org/markup-compatibility/2006" xmlns:a14="http://schemas.microsoft.com/office/drawing/2010/main">
        <mc:Choice Requires="a14">
          <p:sp>
            <p:nvSpPr>
              <p:cNvPr id="46" name="CuadroTexto 45">
                <a:extLst>
                  <a:ext uri="{FF2B5EF4-FFF2-40B4-BE49-F238E27FC236}">
                    <a16:creationId xmlns:a16="http://schemas.microsoft.com/office/drawing/2014/main" id="{6DA92ED4-1CE2-4C1F-8901-3A65839B1F4B}"/>
                  </a:ext>
                </a:extLst>
              </p:cNvPr>
              <p:cNvSpPr txBox="1"/>
              <p:nvPr/>
            </p:nvSpPr>
            <p:spPr>
              <a:xfrm>
                <a:off x="326738" y="3086599"/>
                <a:ext cx="7500258" cy="3088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𝐴</m:t>
                              </m:r>
                              <m:r>
                                <a:rPr lang="es-AR" i="1">
                                  <a:latin typeface="Cambria Math" panose="02040503050406030204" pitchFamily="18" charset="0"/>
                                  <a:ea typeface="Cambria Math" panose="02040503050406030204" pitchFamily="18" charset="0"/>
                                </a:rPr>
                                <m:t> </m:t>
                              </m:r>
                            </m:sub>
                          </m:sSub>
                        </m:e>
                      </m:acc>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𝐴𝐵</m:t>
                              </m:r>
                            </m:sub>
                          </m:sSub>
                        </m:e>
                      </m:acc>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𝐴𝐵</m:t>
                              </m:r>
                            </m:sub>
                          </m:sSub>
                        </m:e>
                      </m:acc>
                      <m:r>
                        <a:rPr lang="en-US" i="1">
                          <a:latin typeface="Cambria Math" panose="02040503050406030204" pitchFamily="18" charset="0"/>
                          <a:ea typeface="Cambria Math" panose="02040503050406030204" pitchFamily="18" charset="0"/>
                        </a:rPr>
                        <m:t>×</m:t>
                      </m:r>
                      <m:bar>
                        <m:barPr>
                          <m:pos m:val="top"/>
                          <m:ctrlPr>
                            <a:rPr lang="en-US" i="1">
                              <a:latin typeface="Cambria Math" panose="02040503050406030204" pitchFamily="18" charset="0"/>
                              <a:ea typeface="Cambria Math" panose="02040503050406030204" pitchFamily="18" charset="0"/>
                            </a:rPr>
                          </m:ctrlPr>
                        </m:bar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i="1">
                                  <a:latin typeface="Cambria Math" panose="02040503050406030204" pitchFamily="18" charset="0"/>
                                  <a:ea typeface="Cambria Math" panose="02040503050406030204" pitchFamily="18" charset="0"/>
                                </a:rPr>
                                <m:t>𝐵</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sub>
                          </m:sSub>
                        </m:e>
                      </m:bar>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𝐴𝐵</m:t>
                              </m:r>
                            </m:sub>
                          </m:sSub>
                        </m:e>
                      </m:acc>
                      <m:r>
                        <a:rPr lang="en-US" i="1">
                          <a:latin typeface="Cambria Math" panose="02040503050406030204" pitchFamily="18" charset="0"/>
                          <a:ea typeface="Cambria Math" panose="02040503050406030204" pitchFamily="18" charset="0"/>
                        </a:rPr>
                        <m:t>×</m:t>
                      </m:r>
                      <m:bar>
                        <m:barPr>
                          <m:pos m:val="top"/>
                          <m:ctrlPr>
                            <a:rPr lang="en-US" i="1">
                              <a:latin typeface="Cambria Math" panose="02040503050406030204" pitchFamily="18" charset="0"/>
                              <a:ea typeface="Cambria Math" panose="02040503050406030204" pitchFamily="18" charset="0"/>
                            </a:rPr>
                          </m:ctrlPr>
                        </m:bar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i="1">
                                  <a:latin typeface="Cambria Math" panose="02040503050406030204" pitchFamily="18" charset="0"/>
                                  <a:ea typeface="Cambria Math" panose="02040503050406030204" pitchFamily="18" charset="0"/>
                                </a:rPr>
                                <m:t>𝐵</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sub>
                          </m:sSub>
                        </m:e>
                      </m:bar>
                      <m:r>
                        <a:rPr lang="en-US" b="0" i="0"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𝐵</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𝑂</m:t>
                                  </m:r>
                                </m:e>
                                <m:sub>
                                  <m:r>
                                    <a:rPr lang="en-US" i="1">
                                      <a:latin typeface="Cambria Math" panose="02040503050406030204" pitchFamily="18" charset="0"/>
                                      <a:ea typeface="Cambria Math" panose="02040503050406030204" pitchFamily="18" charset="0"/>
                                    </a:rPr>
                                    <m:t>4</m:t>
                                  </m:r>
                                </m:sub>
                              </m:sSub>
                            </m:sub>
                          </m:sSub>
                        </m:e>
                      </m:acc>
                      <m:r>
                        <a:rPr lang="en-US" b="0" i="1" smtClean="0">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𝐵</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𝑂</m:t>
                                  </m:r>
                                </m:e>
                                <m:sub>
                                  <m:r>
                                    <a:rPr lang="en-US" i="1">
                                      <a:latin typeface="Cambria Math" panose="02040503050406030204" pitchFamily="18" charset="0"/>
                                      <a:ea typeface="Cambria Math" panose="02040503050406030204" pitchFamily="18" charset="0"/>
                                    </a:rPr>
                                    <m:t>4</m:t>
                                  </m:r>
                                </m:sub>
                              </m:sSub>
                            </m:sub>
                          </m:sSub>
                        </m:e>
                      </m:acc>
                      <m:r>
                        <a:rPr lang="en-US" i="1" smtClean="0">
                          <a:latin typeface="Cambria Math" panose="02040503050406030204" pitchFamily="18" charset="0"/>
                          <a:ea typeface="Cambria Math" panose="02040503050406030204" pitchFamily="18" charset="0"/>
                        </a:rPr>
                        <m:t>×</m:t>
                      </m:r>
                      <m:bar>
                        <m:barPr>
                          <m:pos m:val="top"/>
                          <m:ctrlPr>
                            <a:rPr lang="en-US" b="0" i="1" smtClean="0">
                              <a:latin typeface="Cambria Math" panose="02040503050406030204" pitchFamily="18" charset="0"/>
                              <a:ea typeface="Cambria Math" panose="02040503050406030204" pitchFamily="18" charset="0"/>
                            </a:rPr>
                          </m:ctrlPr>
                        </m:bar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4</m:t>
                                  </m:r>
                                </m:sub>
                              </m:sSub>
                            </m:sub>
                          </m:sSub>
                        </m:e>
                      </m:bar>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𝐵</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𝑂</m:t>
                                  </m:r>
                                </m:e>
                                <m:sub>
                                  <m:r>
                                    <a:rPr lang="en-US" i="1">
                                      <a:latin typeface="Cambria Math" panose="02040503050406030204" pitchFamily="18" charset="0"/>
                                      <a:ea typeface="Cambria Math" panose="02040503050406030204" pitchFamily="18" charset="0"/>
                                    </a:rPr>
                                    <m:t>4</m:t>
                                  </m:r>
                                </m:sub>
                              </m:sSub>
                            </m:sub>
                          </m:sSub>
                        </m:e>
                      </m:acc>
                      <m:r>
                        <a:rPr lang="en-US" b="0" i="1" smtClean="0">
                          <a:latin typeface="Cambria Math" panose="02040503050406030204" pitchFamily="18" charset="0"/>
                          <a:ea typeface="Cambria Math" panose="02040503050406030204" pitchFamily="18" charset="0"/>
                        </a:rPr>
                        <m:t>×</m:t>
                      </m:r>
                      <m:bar>
                        <m:barPr>
                          <m:pos m:val="top"/>
                          <m:ctrlPr>
                            <a:rPr lang="en-US" i="1">
                              <a:latin typeface="Cambria Math" panose="02040503050406030204" pitchFamily="18" charset="0"/>
                              <a:ea typeface="Cambria Math" panose="02040503050406030204" pitchFamily="18" charset="0"/>
                            </a:rPr>
                          </m:ctrlPr>
                        </m:barPr>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4</m:t>
                                  </m:r>
                                </m:sub>
                              </m:sSub>
                            </m:sub>
                          </m:sSub>
                        </m:e>
                      </m:bar>
                    </m:oMath>
                  </m:oMathPara>
                </a14:m>
                <a:endParaRPr lang="es-AR" dirty="0"/>
              </a:p>
            </p:txBody>
          </p:sp>
        </mc:Choice>
        <mc:Fallback xmlns="">
          <p:sp>
            <p:nvSpPr>
              <p:cNvPr id="46" name="CuadroTexto 45">
                <a:extLst>
                  <a:ext uri="{FF2B5EF4-FFF2-40B4-BE49-F238E27FC236}">
                    <a16:creationId xmlns:a16="http://schemas.microsoft.com/office/drawing/2014/main" id="{6DA92ED4-1CE2-4C1F-8901-3A65839B1F4B}"/>
                  </a:ext>
                </a:extLst>
              </p:cNvPr>
              <p:cNvSpPr txBox="1">
                <a:spLocks noRot="1" noChangeAspect="1" noMove="1" noResize="1" noEditPoints="1" noAdjustHandles="1" noChangeArrowheads="1" noChangeShapeType="1" noTextEdit="1"/>
              </p:cNvSpPr>
              <p:nvPr/>
            </p:nvSpPr>
            <p:spPr>
              <a:xfrm>
                <a:off x="326738" y="3086599"/>
                <a:ext cx="7500258" cy="308802"/>
              </a:xfrm>
              <a:prstGeom prst="rect">
                <a:avLst/>
              </a:prstGeom>
              <a:blipFill>
                <a:blip r:embed="rId11"/>
                <a:stretch>
                  <a:fillRect l="-244" b="-27451"/>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7" name="Marcador de contenido 2">
                <a:extLst>
                  <a:ext uri="{FF2B5EF4-FFF2-40B4-BE49-F238E27FC236}">
                    <a16:creationId xmlns:a16="http://schemas.microsoft.com/office/drawing/2014/main" id="{47A7DBB0-CB44-43A1-BB31-FF388CB1E515}"/>
                  </a:ext>
                </a:extLst>
              </p:cNvPr>
              <p:cNvSpPr txBox="1">
                <a:spLocks/>
              </p:cNvSpPr>
              <p:nvPr/>
            </p:nvSpPr>
            <p:spPr>
              <a:xfrm>
                <a:off x="161149" y="1379456"/>
                <a:ext cx="10647322" cy="123758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r>
                  <a:rPr lang="en-US" sz="1600" dirty="0">
                    <a:latin typeface="Bahnschrift" panose="020B0502040204020203" pitchFamily="34" charset="0"/>
                  </a:rPr>
                  <a:t>5. </a:t>
                </a:r>
                <a:r>
                  <a:rPr lang="es-AR" sz="1600" dirty="0">
                    <a:latin typeface="Bahnschrift" panose="020B0502040204020203" pitchFamily="34" charset="0"/>
                  </a:rPr>
                  <a:t>Para obtener la aceleración del punto C, A</a:t>
                </a:r>
                <a:r>
                  <a:rPr lang="es-AR" sz="1600" baseline="-25000" dirty="0">
                    <a:latin typeface="Bahnschrift" panose="020B0502040204020203" pitchFamily="34" charset="0"/>
                  </a:rPr>
                  <a:t>C</a:t>
                </a:r>
                <a:r>
                  <a:rPr lang="es-AR" sz="1600" dirty="0">
                    <a:latin typeface="Bahnschrift" panose="020B0502040204020203" pitchFamily="34" charset="0"/>
                  </a:rPr>
                  <a:t>, se plantea la ecuación de diferencia de aceleraciones  tomando como base el punto A. De la ecuación </a:t>
                </a:r>
                <a14:m>
                  <m:oMath xmlns:m="http://schemas.openxmlformats.org/officeDocument/2006/math">
                    <m:sSub>
                      <m:sSubPr>
                        <m:ctrlPr>
                          <a:rPr lang="en-US" sz="1600" i="1">
                            <a:latin typeface="Cambria Math" panose="02040503050406030204" pitchFamily="18" charset="0"/>
                          </a:rPr>
                        </m:ctrlPr>
                      </m:sSubPr>
                      <m:e>
                        <m:r>
                          <a:rPr lang="en-US" sz="1600" b="0" i="1" smtClean="0">
                            <a:latin typeface="Cambria Math" panose="02040503050406030204" pitchFamily="18" charset="0"/>
                          </a:rPr>
                          <m:t>𝐴</m:t>
                        </m:r>
                      </m:e>
                      <m:sub>
                        <m:r>
                          <a:rPr lang="en-US" sz="1600" i="1">
                            <a:latin typeface="Cambria Math" panose="02040503050406030204" pitchFamily="18" charset="0"/>
                          </a:rPr>
                          <m:t>𝐶</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b="0" i="1" smtClean="0">
                            <a:latin typeface="Cambria Math" panose="02040503050406030204" pitchFamily="18" charset="0"/>
                          </a:rPr>
                          <m:t>𝐴</m:t>
                        </m:r>
                      </m:e>
                      <m:sub>
                        <m:r>
                          <a:rPr lang="en-US" sz="1600" i="1">
                            <a:latin typeface="Cambria Math" panose="02040503050406030204" pitchFamily="18" charset="0"/>
                          </a:rPr>
                          <m:t>𝐴</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b="0" i="1" smtClean="0">
                            <a:latin typeface="Cambria Math" panose="02040503050406030204" pitchFamily="18" charset="0"/>
                          </a:rPr>
                          <m:t>𝐴</m:t>
                        </m:r>
                      </m:e>
                      <m:sub>
                        <m:r>
                          <a:rPr lang="en-US" sz="1600" i="1">
                            <a:latin typeface="Cambria Math" panose="02040503050406030204" pitchFamily="18" charset="0"/>
                          </a:rPr>
                          <m:t>𝐶</m:t>
                        </m:r>
                        <m:r>
                          <a:rPr lang="en-US" sz="1600" b="0" i="1" smtClean="0">
                            <a:latin typeface="Cambria Math" panose="02040503050406030204" pitchFamily="18" charset="0"/>
                          </a:rPr>
                          <m:t>/</m:t>
                        </m:r>
                        <m:r>
                          <a:rPr lang="en-US" sz="1600" i="1">
                            <a:latin typeface="Cambria Math" panose="02040503050406030204" pitchFamily="18" charset="0"/>
                          </a:rPr>
                          <m:t>𝐴</m:t>
                        </m:r>
                      </m:sub>
                    </m:sSub>
                  </m:oMath>
                </a14:m>
                <a:r>
                  <a:rPr lang="es-AR" sz="1600" dirty="0">
                    <a:latin typeface="Bahnschrift" panose="020B0502040204020203" pitchFamily="34" charset="0"/>
                  </a:rPr>
                  <a:t> los valores de A</a:t>
                </a:r>
                <a:r>
                  <a:rPr lang="es-AR" sz="1600" baseline="-25000" dirty="0">
                    <a:latin typeface="Bahnschrift" panose="020B0502040204020203" pitchFamily="34" charset="0"/>
                  </a:rPr>
                  <a:t>C/A</a:t>
                </a:r>
                <a:r>
                  <a:rPr lang="es-AR" sz="1600" baseline="30000" dirty="0">
                    <a:latin typeface="Bahnschrift" panose="020B0502040204020203" pitchFamily="34" charset="0"/>
                  </a:rPr>
                  <a:t>t</a:t>
                </a:r>
                <a:r>
                  <a:rPr lang="es-AR" sz="1600" dirty="0">
                    <a:latin typeface="Bahnschrift" panose="020B0502040204020203" pitchFamily="34" charset="0"/>
                  </a:rPr>
                  <a:t> y A</a:t>
                </a:r>
                <a:r>
                  <a:rPr lang="es-AR" sz="1600" baseline="-25000" dirty="0">
                    <a:latin typeface="Bahnschrift" panose="020B0502040204020203" pitchFamily="34" charset="0"/>
                  </a:rPr>
                  <a:t>C/</a:t>
                </a:r>
                <a:r>
                  <a:rPr lang="es-AR" sz="1600" baseline="-25000" dirty="0" err="1">
                    <a:latin typeface="Bahnschrift" panose="020B0502040204020203" pitchFamily="34" charset="0"/>
                  </a:rPr>
                  <a:t>A</a:t>
                </a:r>
                <a:r>
                  <a:rPr lang="es-AR" sz="1600" baseline="30000" dirty="0" err="1">
                    <a:latin typeface="Bahnschrift" panose="020B0502040204020203" pitchFamily="34" charset="0"/>
                  </a:rPr>
                  <a:t>n</a:t>
                </a:r>
                <a:r>
                  <a:rPr lang="es-AR" sz="1600" dirty="0">
                    <a:latin typeface="Bahnschrift" panose="020B0502040204020203" pitchFamily="34" charset="0"/>
                  </a:rPr>
                  <a:t> son conocidos (resultado del calculo anterior), por lo tanto se los traza a partir del vector A</a:t>
                </a:r>
                <a:r>
                  <a:rPr lang="es-AR" sz="1600" baseline="-25000" dirty="0">
                    <a:latin typeface="Bahnschrift" panose="020B0502040204020203" pitchFamily="34" charset="0"/>
                  </a:rPr>
                  <a:t>A</a:t>
                </a:r>
                <a:r>
                  <a:rPr lang="es-AR" sz="1600" dirty="0">
                    <a:latin typeface="Bahnschrift" panose="020B0502040204020203" pitchFamily="34" charset="0"/>
                  </a:rPr>
                  <a:t> en dirección y modulo.  </a:t>
                </a:r>
                <a:endParaRPr lang="es-AR" sz="1600" b="1" dirty="0">
                  <a:latin typeface="Bahnschrift" panose="020B0502040204020203" pitchFamily="34" charset="0"/>
                </a:endParaRPr>
              </a:p>
            </p:txBody>
          </p:sp>
        </mc:Choice>
        <mc:Fallback xmlns="">
          <p:sp>
            <p:nvSpPr>
              <p:cNvPr id="37" name="Marcador de contenido 2">
                <a:extLst>
                  <a:ext uri="{FF2B5EF4-FFF2-40B4-BE49-F238E27FC236}">
                    <a16:creationId xmlns:a16="http://schemas.microsoft.com/office/drawing/2014/main" id="{47A7DBB0-CB44-43A1-BB31-FF388CB1E515}"/>
                  </a:ext>
                </a:extLst>
              </p:cNvPr>
              <p:cNvSpPr txBox="1">
                <a:spLocks noRot="1" noChangeAspect="1" noMove="1" noResize="1" noEditPoints="1" noAdjustHandles="1" noChangeArrowheads="1" noChangeShapeType="1" noTextEdit="1"/>
              </p:cNvSpPr>
              <p:nvPr/>
            </p:nvSpPr>
            <p:spPr>
              <a:xfrm>
                <a:off x="161149" y="1379456"/>
                <a:ext cx="10647322" cy="1237581"/>
              </a:xfrm>
              <a:prstGeom prst="rect">
                <a:avLst/>
              </a:prstGeom>
              <a:blipFill>
                <a:blip r:embed="rId12"/>
                <a:stretch>
                  <a:fillRect l="-286" t="-2463" r="-28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6EC0D3FF-4C30-4AF3-9645-464A4DE3D0ED}"/>
                  </a:ext>
                </a:extLst>
              </p:cNvPr>
              <p:cNvSpPr txBox="1"/>
              <p:nvPr/>
            </p:nvSpPr>
            <p:spPr>
              <a:xfrm>
                <a:off x="7989072" y="2915174"/>
                <a:ext cx="1321131" cy="6544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𝐵</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4</m:t>
                              </m:r>
                            </m:sub>
                          </m:sSub>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𝐵</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4</m:t>
                                  </m:r>
                                </m:sub>
                              </m:sSub>
                            </m:sub>
                            <m:sup>
                              <m:r>
                                <a:rPr lang="en-US" b="0" i="1" smtClean="0">
                                  <a:latin typeface="Cambria Math" panose="02040503050406030204" pitchFamily="18" charset="0"/>
                                  <a:ea typeface="Cambria Math" panose="02040503050406030204" pitchFamily="18" charset="0"/>
                                </a:rPr>
                                <m:t>𝑡</m:t>
                              </m:r>
                            </m:sup>
                          </m:sSubSup>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4</m:t>
                                  </m:r>
                                </m:sub>
                              </m:sSub>
                            </m:sub>
                          </m:sSub>
                        </m:den>
                      </m:f>
                    </m:oMath>
                  </m:oMathPara>
                </a14:m>
                <a:endParaRPr lang="es-AR" dirty="0"/>
              </a:p>
            </p:txBody>
          </p:sp>
        </mc:Choice>
        <mc:Fallback xmlns="">
          <p:sp>
            <p:nvSpPr>
              <p:cNvPr id="47" name="CuadroTexto 46">
                <a:extLst>
                  <a:ext uri="{FF2B5EF4-FFF2-40B4-BE49-F238E27FC236}">
                    <a16:creationId xmlns:a16="http://schemas.microsoft.com/office/drawing/2014/main" id="{6EC0D3FF-4C30-4AF3-9645-464A4DE3D0ED}"/>
                  </a:ext>
                </a:extLst>
              </p:cNvPr>
              <p:cNvSpPr txBox="1">
                <a:spLocks noRot="1" noChangeAspect="1" noMove="1" noResize="1" noEditPoints="1" noAdjustHandles="1" noChangeArrowheads="1" noChangeShapeType="1" noTextEdit="1"/>
              </p:cNvSpPr>
              <p:nvPr/>
            </p:nvSpPr>
            <p:spPr>
              <a:xfrm>
                <a:off x="7989072" y="2915174"/>
                <a:ext cx="1321131" cy="654475"/>
              </a:xfrm>
              <a:prstGeom prst="rect">
                <a:avLst/>
              </a:prstGeom>
              <a:blipFill>
                <a:blip r:embed="rId1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9" name="CuadroTexto 48">
                <a:extLst>
                  <a:ext uri="{FF2B5EF4-FFF2-40B4-BE49-F238E27FC236}">
                    <a16:creationId xmlns:a16="http://schemas.microsoft.com/office/drawing/2014/main" id="{C151835D-BA24-4E12-961A-C7D0C18D71E6}"/>
                  </a:ext>
                </a:extLst>
              </p:cNvPr>
              <p:cNvSpPr txBox="1"/>
              <p:nvPr/>
            </p:nvSpPr>
            <p:spPr>
              <a:xfrm>
                <a:off x="9466538" y="2930692"/>
                <a:ext cx="1140632" cy="6389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𝐴𝐵</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𝐴𝐵</m:t>
                              </m:r>
                            </m:sub>
                            <m:sup>
                              <m:r>
                                <a:rPr lang="en-US" b="0" i="1" smtClean="0">
                                  <a:latin typeface="Cambria Math" panose="02040503050406030204" pitchFamily="18" charset="0"/>
                                  <a:ea typeface="Cambria Math" panose="02040503050406030204" pitchFamily="18" charset="0"/>
                                </a:rPr>
                                <m:t>𝑡</m:t>
                              </m:r>
                            </m:sup>
                          </m:sSubSup>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sub>
                          </m:sSub>
                        </m:den>
                      </m:f>
                    </m:oMath>
                  </m:oMathPara>
                </a14:m>
                <a:endParaRPr lang="es-AR" dirty="0"/>
              </a:p>
            </p:txBody>
          </p:sp>
        </mc:Choice>
        <mc:Fallback xmlns="">
          <p:sp>
            <p:nvSpPr>
              <p:cNvPr id="49" name="CuadroTexto 48">
                <a:extLst>
                  <a:ext uri="{FF2B5EF4-FFF2-40B4-BE49-F238E27FC236}">
                    <a16:creationId xmlns:a16="http://schemas.microsoft.com/office/drawing/2014/main" id="{C151835D-BA24-4E12-961A-C7D0C18D71E6}"/>
                  </a:ext>
                </a:extLst>
              </p:cNvPr>
              <p:cNvSpPr txBox="1">
                <a:spLocks noRot="1" noChangeAspect="1" noMove="1" noResize="1" noEditPoints="1" noAdjustHandles="1" noChangeArrowheads="1" noChangeShapeType="1" noTextEdit="1"/>
              </p:cNvSpPr>
              <p:nvPr/>
            </p:nvSpPr>
            <p:spPr>
              <a:xfrm>
                <a:off x="9466538" y="2930692"/>
                <a:ext cx="1140632" cy="638957"/>
              </a:xfrm>
              <a:prstGeom prst="rect">
                <a:avLst/>
              </a:prstGeom>
              <a:blipFill>
                <a:blip r:embed="rId14"/>
                <a:stretch>
                  <a:fillRect/>
                </a:stretch>
              </a:blipFill>
            </p:spPr>
            <p:txBody>
              <a:bodyPr/>
              <a:lstStyle/>
              <a:p>
                <a:r>
                  <a:rPr lang="es-AR">
                    <a:noFill/>
                  </a:rPr>
                  <a:t> </a:t>
                </a:r>
              </a:p>
            </p:txBody>
          </p:sp>
        </mc:Fallback>
      </mc:AlternateContent>
      <p:sp>
        <p:nvSpPr>
          <p:cNvPr id="50" name="Marcador de contenido 2">
            <a:extLst>
              <a:ext uri="{FF2B5EF4-FFF2-40B4-BE49-F238E27FC236}">
                <a16:creationId xmlns:a16="http://schemas.microsoft.com/office/drawing/2014/main" id="{F8B5A306-53F1-4086-A305-09E1FD81162E}"/>
              </a:ext>
            </a:extLst>
          </p:cNvPr>
          <p:cNvSpPr txBox="1">
            <a:spLocks/>
          </p:cNvSpPr>
          <p:nvPr/>
        </p:nvSpPr>
        <p:spPr>
          <a:xfrm>
            <a:off x="161149" y="1381726"/>
            <a:ext cx="10647322" cy="123758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r>
              <a:rPr lang="en-US" sz="1600" dirty="0">
                <a:latin typeface="Bahnschrift" panose="020B0502040204020203" pitchFamily="34" charset="0"/>
              </a:rPr>
              <a:t>6. </a:t>
            </a:r>
            <a:r>
              <a:rPr lang="es-AR" sz="1600" dirty="0">
                <a:latin typeface="Bahnschrift" panose="020B0502040204020203" pitchFamily="34" charset="0"/>
              </a:rPr>
              <a:t>Finalmente se determina la aceleración del punto C, A</a:t>
            </a:r>
            <a:r>
              <a:rPr lang="es-AR" sz="1600" baseline="-25000" dirty="0">
                <a:latin typeface="Bahnschrift" panose="020B0502040204020203" pitchFamily="34" charset="0"/>
              </a:rPr>
              <a:t>C</a:t>
            </a:r>
            <a:r>
              <a:rPr lang="es-AR" sz="1600" dirty="0">
                <a:latin typeface="Bahnschrift" panose="020B0502040204020203" pitchFamily="34" charset="0"/>
              </a:rPr>
              <a:t> uniendo el origen de aceleración con el extremo del vector A</a:t>
            </a:r>
            <a:r>
              <a:rPr lang="es-AR" sz="1600" baseline="-25000" dirty="0">
                <a:latin typeface="Bahnschrift" panose="020B0502040204020203" pitchFamily="34" charset="0"/>
              </a:rPr>
              <a:t>C/A</a:t>
            </a:r>
            <a:r>
              <a:rPr lang="es-AR" sz="1600" baseline="30000" dirty="0">
                <a:latin typeface="Bahnschrift" panose="020B0502040204020203" pitchFamily="34" charset="0"/>
              </a:rPr>
              <a:t>t</a:t>
            </a:r>
            <a:r>
              <a:rPr lang="es-AR" sz="1600" dirty="0">
                <a:latin typeface="Bahnschrift" panose="020B0502040204020203" pitchFamily="34" charset="0"/>
              </a:rPr>
              <a:t> cerrando el polígono de aceleraciones. Se mide el vector, y se multiplica por la escala correspondiente para obtenerlo en las unidades elegidas (ejemplo m/s</a:t>
            </a:r>
            <a:r>
              <a:rPr lang="es-AR" sz="1600" baseline="30000" dirty="0">
                <a:latin typeface="Bahnschrift" panose="020B0502040204020203" pitchFamily="34" charset="0"/>
              </a:rPr>
              <a:t>2</a:t>
            </a:r>
            <a:r>
              <a:rPr lang="es-AR" sz="1600" dirty="0">
                <a:latin typeface="Bahnschrift" panose="020B0502040204020203" pitchFamily="34" charset="0"/>
              </a:rPr>
              <a:t>). </a:t>
            </a:r>
            <a:endParaRPr lang="es-AR" sz="1600" b="1" dirty="0">
              <a:latin typeface="Bahnschrift" panose="020B0502040204020203" pitchFamily="34" charset="0"/>
            </a:endParaRPr>
          </a:p>
        </p:txBody>
      </p:sp>
    </p:spTree>
    <p:extLst>
      <p:ext uri="{BB962C8B-B14F-4D97-AF65-F5344CB8AC3E}">
        <p14:creationId xmlns:p14="http://schemas.microsoft.com/office/powerpoint/2010/main" val="3321744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subTnLst>
                                    <p:set>
                                      <p:cBhvr override="childStyle">
                                        <p:cTn dur="1" fill="hold" display="0" masterRel="nextClick" afterEffect="1"/>
                                        <p:tgtEl>
                                          <p:spTgt spid="25"/>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subTnLst>
                                    <p:set>
                                      <p:cBhvr override="childStyle">
                                        <p:cTn dur="1" fill="hold" display="0" masterRel="nextClick" afterEffect="1"/>
                                        <p:tgtEl>
                                          <p:spTgt spid="29"/>
                                        </p:tgtEl>
                                        <p:attrNameLst>
                                          <p:attrName>style.visibility</p:attrName>
                                        </p:attrNameLst>
                                      </p:cBhvr>
                                      <p:to>
                                        <p:strVal val="hidden"/>
                                      </p:to>
                                    </p:set>
                                  </p:subTnLst>
                                </p:cTn>
                              </p:par>
                              <p:par>
                                <p:cTn id="15" presetID="1" presetClass="entr" presetSubtype="0" fill="hold" grpId="0" nodeType="withEffect">
                                  <p:stCondLst>
                                    <p:cond delay="0"/>
                                  </p:stCondLst>
                                  <p:childTnLst>
                                    <p:set>
                                      <p:cBhvr>
                                        <p:cTn id="16" dur="1" fill="hold">
                                          <p:stCondLst>
                                            <p:cond delay="0"/>
                                          </p:stCondLst>
                                        </p:cTn>
                                        <p:tgtEl>
                                          <p:spTgt spid="44"/>
                                        </p:tgtEl>
                                        <p:attrNameLst>
                                          <p:attrName>style.visibility</p:attrName>
                                        </p:attrNameLst>
                                      </p:cBhvr>
                                      <p:to>
                                        <p:strVal val="visible"/>
                                      </p:to>
                                    </p:set>
                                  </p:childTnLst>
                                  <p:subTnLst>
                                    <p:set>
                                      <p:cBhvr override="childStyle">
                                        <p:cTn dur="1" fill="hold" display="0" masterRel="nextClick" afterEffect="1"/>
                                        <p:tgtEl>
                                          <p:spTgt spid="44"/>
                                        </p:tgtEl>
                                        <p:attrNameLst>
                                          <p:attrName>style.visibility</p:attrName>
                                        </p:attrNameLst>
                                      </p:cBhvr>
                                      <p:to>
                                        <p:strVal val="hidden"/>
                                      </p:to>
                                    </p:set>
                                  </p:sub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subTnLst>
                                    <p:set>
                                      <p:cBhvr override="childStyle">
                                        <p:cTn dur="1" fill="hold" display="0" masterRel="nextClick" afterEffect="1"/>
                                        <p:tgtEl>
                                          <p:spTgt spid="31"/>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subTnLst>
                                    <p:set>
                                      <p:cBhvr override="childStyle">
                                        <p:cTn dur="1" fill="hold" display="0" masterRel="nextClick" afterEffect="1"/>
                                        <p:tgtEl>
                                          <p:spTgt spid="33"/>
                                        </p:tgtEl>
                                        <p:attrNameLst>
                                          <p:attrName>style.visibility</p:attrName>
                                        </p:attrNameLst>
                                      </p:cBhvr>
                                      <p:to>
                                        <p:strVal val="hidden"/>
                                      </p:to>
                                    </p:set>
                                  </p:subTnLst>
                                </p:cTn>
                              </p:par>
                              <p:par>
                                <p:cTn id="23" presetID="1" presetClass="entr" presetSubtype="0"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subTnLst>
                                    <p:set>
                                      <p:cBhvr override="childStyle">
                                        <p:cTn dur="1" fill="hold" display="0" masterRel="nextClick" afterEffect="1"/>
                                        <p:tgtEl>
                                          <p:spTgt spid="45"/>
                                        </p:tgtEl>
                                        <p:attrNameLst>
                                          <p:attrName>style.visibility</p:attrName>
                                        </p:attrNameLst>
                                      </p:cBhvr>
                                      <p:to>
                                        <p:strVal val="hidden"/>
                                      </p:to>
                                    </p:set>
                                  </p:sub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subTnLst>
                                    <p:set>
                                      <p:cBhvr override="childStyle">
                                        <p:cTn dur="1" fill="hold" display="0" masterRel="nextClick" afterEffect="1"/>
                                        <p:tgtEl>
                                          <p:spTgt spid="32"/>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subTnLst>
                                    <p:set>
                                      <p:cBhvr override="childStyle">
                                        <p:cTn dur="1" fill="hold" display="0" masterRel="nextClick" afterEffect="1"/>
                                        <p:tgtEl>
                                          <p:spTgt spid="39"/>
                                        </p:tgtEl>
                                        <p:attrNameLst>
                                          <p:attrName>style.visibility</p:attrName>
                                        </p:attrNameLst>
                                      </p:cBhvr>
                                      <p:to>
                                        <p:strVal val="hidden"/>
                                      </p:to>
                                    </p:set>
                                  </p:sub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subTnLst>
                                    <p:set>
                                      <p:cBhvr override="childStyle">
                                        <p:cTn dur="1" fill="hold" display="0" masterRel="nextClick" afterEffect="1"/>
                                        <p:tgtEl>
                                          <p:spTgt spid="35"/>
                                        </p:tgtEl>
                                        <p:attrNameLst>
                                          <p:attrName>style.visibility</p:attrName>
                                        </p:attrNameLst>
                                      </p:cBhvr>
                                      <p:to>
                                        <p:strVal val="hidden"/>
                                      </p:to>
                                    </p:set>
                                  </p:subTnLst>
                                </p:cTn>
                              </p:par>
                              <p:par>
                                <p:cTn id="33" presetID="1" presetClass="entr" presetSubtype="0"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childTnLst>
                                  <p:subTnLst>
                                    <p:set>
                                      <p:cBhvr override="childStyle">
                                        <p:cTn dur="1" fill="hold" display="0" masterRel="nextClick" afterEffect="1"/>
                                        <p:tgtEl>
                                          <p:spTgt spid="46"/>
                                        </p:tgtEl>
                                        <p:attrNameLst>
                                          <p:attrName>style.visibility</p:attrName>
                                        </p:attrNameLst>
                                      </p:cBhvr>
                                      <p:to>
                                        <p:strVal val="hidden"/>
                                      </p:to>
                                    </p:set>
                                  </p:subTnLst>
                                </p:cTn>
                              </p:par>
                              <p:par>
                                <p:cTn id="35" presetID="1" presetClass="entr" presetSubtype="0"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childTnLst>
                                  <p:subTnLst>
                                    <p:set>
                                      <p:cBhvr override="childStyle">
                                        <p:cTn dur="1" fill="hold" display="0" masterRel="nextClick" afterEffect="1"/>
                                        <p:tgtEl>
                                          <p:spTgt spid="47"/>
                                        </p:tgtEl>
                                        <p:attrNameLst>
                                          <p:attrName>style.visibility</p:attrName>
                                        </p:attrNameLst>
                                      </p:cBhvr>
                                      <p:to>
                                        <p:strVal val="hidden"/>
                                      </p:to>
                                    </p:set>
                                  </p:subTnLst>
                                </p:cTn>
                              </p:par>
                              <p:par>
                                <p:cTn id="37" presetID="1" presetClass="entr" presetSubtype="0" fill="hold" grpId="0"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subTnLst>
                                    <p:set>
                                      <p:cBhvr override="childStyle">
                                        <p:cTn dur="1" fill="hold" display="0" masterRel="nextClick" afterEffect="1"/>
                                        <p:tgtEl>
                                          <p:spTgt spid="49"/>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1"/>
                                        </p:tgtEl>
                                        <p:attrNameLst>
                                          <p:attrName>style.visibility</p:attrName>
                                        </p:attrNameLst>
                                      </p:cBhvr>
                                      <p:to>
                                        <p:strVal val="visible"/>
                                      </p:to>
                                    </p:set>
                                  </p:childTnLst>
                                  <p:subTnLst>
                                    <p:set>
                                      <p:cBhvr override="childStyle">
                                        <p:cTn dur="1" fill="hold" display="0" masterRel="nextClick" afterEffect="1"/>
                                        <p:tgtEl>
                                          <p:spTgt spid="41"/>
                                        </p:tgtEl>
                                        <p:attrNameLst>
                                          <p:attrName>style.visibility</p:attrName>
                                        </p:attrNameLst>
                                      </p:cBhvr>
                                      <p:to>
                                        <p:strVal val="hidden"/>
                                      </p:to>
                                    </p:set>
                                  </p:subTnLst>
                                </p:cTn>
                              </p:par>
                              <p:par>
                                <p:cTn id="43" presetID="1" presetClass="entr" presetSubtype="0" fill="hold" grpId="0" nodeType="withEffect">
                                  <p:stCondLst>
                                    <p:cond delay="0"/>
                                  </p:stCondLst>
                                  <p:childTnLst>
                                    <p:set>
                                      <p:cBhvr>
                                        <p:cTn id="44" dur="1" fill="hold">
                                          <p:stCondLst>
                                            <p:cond delay="0"/>
                                          </p:stCondLst>
                                        </p:cTn>
                                        <p:tgtEl>
                                          <p:spTgt spid="37"/>
                                        </p:tgtEl>
                                        <p:attrNameLst>
                                          <p:attrName>style.visibility</p:attrName>
                                        </p:attrNameLst>
                                      </p:cBhvr>
                                      <p:to>
                                        <p:strVal val="visible"/>
                                      </p:to>
                                    </p:set>
                                  </p:childTnLst>
                                  <p:subTnLst>
                                    <p:set>
                                      <p:cBhvr override="childStyle">
                                        <p:cTn dur="1" fill="hold" display="0" masterRel="nextClick" afterEffect="1"/>
                                        <p:tgtEl>
                                          <p:spTgt spid="37"/>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6" grpId="0"/>
      <p:bldP spid="31" grpId="0"/>
      <p:bldP spid="44" grpId="0"/>
      <p:bldP spid="32" grpId="0"/>
      <p:bldP spid="45" grpId="0"/>
      <p:bldP spid="35" grpId="0"/>
      <p:bldP spid="46" grpId="0"/>
      <p:bldP spid="37" grpId="0"/>
      <p:bldP spid="47" grpId="0"/>
      <p:bldP spid="49" grpId="0"/>
      <p:bldP spid="5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2CCAE51A-2BA3-4542-9556-57577F336225}"/>
              </a:ext>
            </a:extLst>
          </p:cNvPr>
          <p:cNvSpPr/>
          <p:nvPr/>
        </p:nvSpPr>
        <p:spPr>
          <a:xfrm>
            <a:off x="-1" y="853440"/>
            <a:ext cx="4270160"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9329529" cy="684362"/>
          </a:xfrm>
        </p:spPr>
        <p:txBody>
          <a:bodyPr>
            <a:normAutofit fontScale="90000"/>
          </a:bodyPr>
          <a:lstStyle/>
          <a:p>
            <a:r>
              <a:rPr lang="es-AR" sz="6000" b="1" dirty="0">
                <a:latin typeface="Bahnschrift" panose="020B0502040204020203" pitchFamily="34" charset="0"/>
              </a:rPr>
              <a:t>ANÁLISIS DE ACELERACIÓN</a:t>
            </a:r>
          </a:p>
        </p:txBody>
      </p:sp>
      <p:sp>
        <p:nvSpPr>
          <p:cNvPr id="3" name="Marcador de contenido 2"/>
          <p:cNvSpPr>
            <a:spLocks noGrp="1"/>
          </p:cNvSpPr>
          <p:nvPr>
            <p:ph idx="1"/>
          </p:nvPr>
        </p:nvSpPr>
        <p:spPr>
          <a:xfrm>
            <a:off x="116312" y="830016"/>
            <a:ext cx="4153847" cy="466124"/>
          </a:xfrm>
        </p:spPr>
        <p:txBody>
          <a:bodyPr>
            <a:normAutofit/>
          </a:bodyPr>
          <a:lstStyle/>
          <a:p>
            <a:pPr marL="0" indent="0">
              <a:buNone/>
            </a:pPr>
            <a:r>
              <a:rPr lang="es-AR" sz="2400" b="1" dirty="0">
                <a:latin typeface="Bahnschrift" panose="020B0502040204020203" pitchFamily="34" charset="0"/>
              </a:rPr>
              <a:t>ACELERACIÓN DE CORIOLIS</a:t>
            </a:r>
          </a:p>
        </p:txBody>
      </p:sp>
      <p:sp>
        <p:nvSpPr>
          <p:cNvPr id="4" name="Marcador de contenido 2">
            <a:extLst>
              <a:ext uri="{FF2B5EF4-FFF2-40B4-BE49-F238E27FC236}">
                <a16:creationId xmlns:a16="http://schemas.microsoft.com/office/drawing/2014/main" id="{6F29601B-6F87-4863-8F58-E656D3704523}"/>
              </a:ext>
            </a:extLst>
          </p:cNvPr>
          <p:cNvSpPr txBox="1">
            <a:spLocks/>
          </p:cNvSpPr>
          <p:nvPr/>
        </p:nvSpPr>
        <p:spPr>
          <a:xfrm>
            <a:off x="632265" y="131024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18" name="Marcador de contenido 2">
            <a:extLst>
              <a:ext uri="{FF2B5EF4-FFF2-40B4-BE49-F238E27FC236}">
                <a16:creationId xmlns:a16="http://schemas.microsoft.com/office/drawing/2014/main" id="{DBC5DD57-6377-41E1-B4CA-6E5032B7A48B}"/>
              </a:ext>
            </a:extLst>
          </p:cNvPr>
          <p:cNvSpPr txBox="1">
            <a:spLocks/>
          </p:cNvSpPr>
          <p:nvPr/>
        </p:nvSpPr>
        <p:spPr>
          <a:xfrm>
            <a:off x="326737" y="1279224"/>
            <a:ext cx="10647322" cy="13219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A continuación se analizara un sistema simple que consiste en un </a:t>
            </a:r>
            <a:r>
              <a:rPr lang="es-AR" sz="1400" dirty="0">
                <a:highlight>
                  <a:srgbClr val="FFC000"/>
                </a:highlight>
                <a:latin typeface="Bahnschrift" panose="020B0502040204020203" pitchFamily="34" charset="0"/>
              </a:rPr>
              <a:t>eslabón con una ranura radial </a:t>
            </a:r>
            <a:r>
              <a:rPr lang="es-AR" sz="1400" dirty="0">
                <a:latin typeface="Bahnschrift" panose="020B0502040204020203" pitchFamily="34" charset="0"/>
              </a:rPr>
              <a:t>y un </a:t>
            </a:r>
            <a:r>
              <a:rPr lang="es-AR" sz="1400" dirty="0">
                <a:highlight>
                  <a:srgbClr val="FFC000"/>
                </a:highlight>
                <a:latin typeface="Bahnschrift" panose="020B0502040204020203" pitchFamily="34" charset="0"/>
              </a:rPr>
              <a:t>bloque que se desliza dentro de esa ranura</a:t>
            </a:r>
            <a:r>
              <a:rPr lang="es-AR" sz="1400" dirty="0">
                <a:latin typeface="Bahnschrift" panose="020B0502040204020203" pitchFamily="34" charset="0"/>
              </a:rPr>
              <a:t>, conformando una </a:t>
            </a:r>
            <a:r>
              <a:rPr lang="es-AR" sz="1400" b="1" dirty="0">
                <a:solidFill>
                  <a:srgbClr val="2B241F"/>
                </a:solidFill>
                <a:latin typeface="Bahnschrift" panose="020B0502040204020203" pitchFamily="34" charset="0"/>
              </a:rPr>
              <a:t>junta de deslizamiento dentro de un eslabón rotatorio </a:t>
            </a:r>
            <a:r>
              <a:rPr lang="es-AR" sz="1400" dirty="0">
                <a:latin typeface="Bahnschrift" panose="020B0502040204020203" pitchFamily="34" charset="0"/>
              </a:rPr>
              <a:t>(distinto a lo que sucede en el mecanismo manivela biela corredera, donde la corredera es aterrizada, es decir, solo tiene movimiento de traslación).</a:t>
            </a:r>
          </a:p>
          <a:p>
            <a:pPr algn="just">
              <a:buFontTx/>
              <a:buChar char="-"/>
            </a:pPr>
            <a:r>
              <a:rPr lang="es-AR" sz="1400" dirty="0">
                <a:latin typeface="Bahnschrift" panose="020B0502040204020203" pitchFamily="34" charset="0"/>
              </a:rPr>
              <a:t>Cuando esto sucede, una componente adicional de la aceleración estará presente, denominada ACELERACION DE CORIOLIS.</a:t>
            </a:r>
          </a:p>
        </p:txBody>
      </p:sp>
      <p:sp>
        <p:nvSpPr>
          <p:cNvPr id="8" name="Marcador de contenido 2">
            <a:extLst>
              <a:ext uri="{FF2B5EF4-FFF2-40B4-BE49-F238E27FC236}">
                <a16:creationId xmlns:a16="http://schemas.microsoft.com/office/drawing/2014/main" id="{AEE40F1C-DF9E-40AE-9339-1185E6987420}"/>
              </a:ext>
            </a:extLst>
          </p:cNvPr>
          <p:cNvSpPr txBox="1">
            <a:spLocks/>
          </p:cNvSpPr>
          <p:nvPr/>
        </p:nvSpPr>
        <p:spPr>
          <a:xfrm>
            <a:off x="4401754" y="2507445"/>
            <a:ext cx="6492767" cy="51086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endParaRPr lang="es-AR" sz="1400" dirty="0">
              <a:latin typeface="Bahnschrift" panose="020B0502040204020203" pitchFamily="34" charset="0"/>
            </a:endParaRPr>
          </a:p>
        </p:txBody>
      </p:sp>
      <p:sp>
        <p:nvSpPr>
          <p:cNvPr id="33" name="CuadroTexto 32">
            <a:extLst>
              <a:ext uri="{FF2B5EF4-FFF2-40B4-BE49-F238E27FC236}">
                <a16:creationId xmlns:a16="http://schemas.microsoft.com/office/drawing/2014/main" id="{3660B21E-5566-4081-AC20-A8C7D3DAEEDD}"/>
              </a:ext>
            </a:extLst>
          </p:cNvPr>
          <p:cNvSpPr txBox="1"/>
          <p:nvPr/>
        </p:nvSpPr>
        <p:spPr>
          <a:xfrm>
            <a:off x="326737" y="2401102"/>
            <a:ext cx="9491966" cy="400110"/>
          </a:xfrm>
          <a:prstGeom prst="rect">
            <a:avLst/>
          </a:prstGeom>
          <a:noFill/>
        </p:spPr>
        <p:txBody>
          <a:bodyPr wrap="square">
            <a:spAutoFit/>
          </a:bodyPr>
          <a:lstStyle/>
          <a:p>
            <a:r>
              <a:rPr lang="es-AR" sz="2000" b="1" dirty="0">
                <a:solidFill>
                  <a:srgbClr val="C00000"/>
                </a:solidFill>
                <a:latin typeface="Bahnschrift" panose="020B0502040204020203" pitchFamily="34" charset="0"/>
              </a:rPr>
              <a:t>Determinación de las ecuaciones que rigen VELOCIDAD y ACELERACIÓN</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5BF56389-A02E-4165-BADC-0F9D74410F8A}"/>
                  </a:ext>
                </a:extLst>
              </p:cNvPr>
              <p:cNvSpPr txBox="1"/>
              <p:nvPr/>
            </p:nvSpPr>
            <p:spPr>
              <a:xfrm>
                <a:off x="774651" y="5152813"/>
                <a:ext cx="1167884" cy="289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rPr>
                            <m:t>𝑅</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𝑝</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sup>
                      </m:sSup>
                    </m:oMath>
                  </m:oMathPara>
                </a14:m>
                <a:endParaRPr lang="es-AR" dirty="0"/>
              </a:p>
            </p:txBody>
          </p:sp>
        </mc:Choice>
        <mc:Fallback xmlns="">
          <p:sp>
            <p:nvSpPr>
              <p:cNvPr id="23" name="CuadroTexto 22">
                <a:extLst>
                  <a:ext uri="{FF2B5EF4-FFF2-40B4-BE49-F238E27FC236}">
                    <a16:creationId xmlns:a16="http://schemas.microsoft.com/office/drawing/2014/main" id="{5BF56389-A02E-4165-BADC-0F9D74410F8A}"/>
                  </a:ext>
                </a:extLst>
              </p:cNvPr>
              <p:cNvSpPr txBox="1">
                <a:spLocks noRot="1" noChangeAspect="1" noMove="1" noResize="1" noEditPoints="1" noAdjustHandles="1" noChangeArrowheads="1" noChangeShapeType="1" noTextEdit="1"/>
              </p:cNvSpPr>
              <p:nvPr/>
            </p:nvSpPr>
            <p:spPr>
              <a:xfrm>
                <a:off x="774651" y="5152813"/>
                <a:ext cx="1167884" cy="289118"/>
              </a:xfrm>
              <a:prstGeom prst="rect">
                <a:avLst/>
              </a:prstGeom>
              <a:blipFill>
                <a:blip r:embed="rId2"/>
                <a:stretch>
                  <a:fillRect l="-3646" t="-4167" b="-2500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01B16DB6-02D3-4A25-BE7D-64A20F20F05A}"/>
                  </a:ext>
                </a:extLst>
              </p:cNvPr>
              <p:cNvSpPr txBox="1"/>
              <p:nvPr/>
            </p:nvSpPr>
            <p:spPr>
              <a:xfrm>
                <a:off x="2339273" y="5118706"/>
                <a:ext cx="2282996" cy="3168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rPr>
                            <m:t>𝑉</m:t>
                          </m:r>
                        </m:e>
                        <m:sub>
                          <m:r>
                            <a:rPr lang="en-US" b="0" i="1" smtClean="0">
                              <a:latin typeface="Cambria Math" panose="02040503050406030204" pitchFamily="18" charset="0"/>
                            </a:rPr>
                            <m:t>𝑝</m:t>
                          </m:r>
                        </m:sub>
                      </m:sSub>
                      <m:r>
                        <a:rPr lang="en-US" b="0" i="1" smtClean="0">
                          <a:latin typeface="Cambria Math" panose="02040503050406030204" pitchFamily="18" charset="0"/>
                        </a:rPr>
                        <m:t>=</m:t>
                      </m:r>
                      <m:r>
                        <a:rPr lang="en-US" b="0" i="1" smtClean="0">
                          <a:latin typeface="Cambria Math" panose="02040503050406030204" pitchFamily="18" charset="0"/>
                        </a:rPr>
                        <m:t>𝑝</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𝑗</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𝑝</m:t>
                          </m:r>
                        </m:e>
                      </m:acc>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sup>
                      </m:sSup>
                    </m:oMath>
                  </m:oMathPara>
                </a14:m>
                <a:endParaRPr lang="es-AR" dirty="0"/>
              </a:p>
            </p:txBody>
          </p:sp>
        </mc:Choice>
        <mc:Fallback xmlns="">
          <p:sp>
            <p:nvSpPr>
              <p:cNvPr id="24" name="CuadroTexto 23">
                <a:extLst>
                  <a:ext uri="{FF2B5EF4-FFF2-40B4-BE49-F238E27FC236}">
                    <a16:creationId xmlns:a16="http://schemas.microsoft.com/office/drawing/2014/main" id="{01B16DB6-02D3-4A25-BE7D-64A20F20F05A}"/>
                  </a:ext>
                </a:extLst>
              </p:cNvPr>
              <p:cNvSpPr txBox="1">
                <a:spLocks noRot="1" noChangeAspect="1" noMove="1" noResize="1" noEditPoints="1" noAdjustHandles="1" noChangeArrowheads="1" noChangeShapeType="1" noTextEdit="1"/>
              </p:cNvSpPr>
              <p:nvPr/>
            </p:nvSpPr>
            <p:spPr>
              <a:xfrm>
                <a:off x="2339273" y="5118706"/>
                <a:ext cx="2282996" cy="316882"/>
              </a:xfrm>
              <a:prstGeom prst="rect">
                <a:avLst/>
              </a:prstGeom>
              <a:blipFill>
                <a:blip r:embed="rId3"/>
                <a:stretch>
                  <a:fillRect l="-1872" t="-3846" b="-25000"/>
                </a:stretch>
              </a:blipFill>
            </p:spPr>
            <p:txBody>
              <a:bodyPr/>
              <a:lstStyle/>
              <a:p>
                <a:r>
                  <a:rPr lang="es-AR">
                    <a:noFill/>
                  </a:rPr>
                  <a:t> </a:t>
                </a:r>
              </a:p>
            </p:txBody>
          </p:sp>
        </mc:Fallback>
      </mc:AlternateContent>
      <p:pic>
        <p:nvPicPr>
          <p:cNvPr id="6" name="Imagen 5">
            <a:extLst>
              <a:ext uri="{FF2B5EF4-FFF2-40B4-BE49-F238E27FC236}">
                <a16:creationId xmlns:a16="http://schemas.microsoft.com/office/drawing/2014/main" id="{26C5497B-D945-445C-A62A-4F4ADD5C8A36}"/>
              </a:ext>
            </a:extLst>
          </p:cNvPr>
          <p:cNvPicPr>
            <a:picLocks noChangeAspect="1"/>
          </p:cNvPicPr>
          <p:nvPr/>
        </p:nvPicPr>
        <p:blipFill>
          <a:blip r:embed="rId4" cstate="print">
            <a:extLst>
              <a:ext uri="{28A0092B-C50C-407E-A947-70E740481C1C}">
                <a14:useLocalDpi xmlns:a14="http://schemas.microsoft.com/office/drawing/2010/main" val="0"/>
              </a:ext>
            </a:extLst>
          </a:blip>
          <a:srcRect t="32" b="32"/>
          <a:stretch/>
        </p:blipFill>
        <p:spPr>
          <a:xfrm>
            <a:off x="7704058" y="3499326"/>
            <a:ext cx="3396808" cy="3223978"/>
          </a:xfrm>
          <a:prstGeom prst="rect">
            <a:avLst/>
          </a:prstGeom>
        </p:spPr>
      </p:pic>
      <p:sp>
        <p:nvSpPr>
          <p:cNvPr id="7" name="Marcador de contenido 2">
            <a:extLst>
              <a:ext uri="{FF2B5EF4-FFF2-40B4-BE49-F238E27FC236}">
                <a16:creationId xmlns:a16="http://schemas.microsoft.com/office/drawing/2014/main" id="{F328C4B9-2BE7-49B7-8C93-FA0A270E018B}"/>
              </a:ext>
            </a:extLst>
          </p:cNvPr>
          <p:cNvSpPr txBox="1">
            <a:spLocks/>
          </p:cNvSpPr>
          <p:nvPr/>
        </p:nvSpPr>
        <p:spPr>
          <a:xfrm>
            <a:off x="326737" y="2882124"/>
            <a:ext cx="10567784" cy="94725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Se considera que el sistema absoluto y el sistema relativo son coincidentes en el origen del vector posición.</a:t>
            </a:r>
          </a:p>
          <a:p>
            <a:pPr algn="just">
              <a:buFontTx/>
              <a:buChar char="-"/>
            </a:pPr>
            <a:r>
              <a:rPr lang="es-AR" sz="1400" dirty="0">
                <a:latin typeface="Bahnschrift" panose="020B0502040204020203" pitchFamily="34" charset="0"/>
              </a:rPr>
              <a:t>El vector de posición R</a:t>
            </a:r>
            <a:r>
              <a:rPr lang="es-AR" sz="1400" baseline="-25000" dirty="0">
                <a:latin typeface="Bahnschrift" panose="020B0502040204020203" pitchFamily="34" charset="0"/>
              </a:rPr>
              <a:t>P</a:t>
            </a:r>
            <a:r>
              <a:rPr lang="es-AR" sz="1400" dirty="0">
                <a:latin typeface="Bahnschrift" panose="020B0502040204020203" pitchFamily="34" charset="0"/>
              </a:rPr>
              <a:t> referido al origen del sistema de coordenadas da la ubicación instantánea del bloque corredizo. A medida que el eslabón gira, este vector cambia su dirección y longitud. </a:t>
            </a:r>
          </a:p>
        </p:txBody>
      </p:sp>
      <p:sp>
        <p:nvSpPr>
          <p:cNvPr id="11" name="Marcador de contenido 2">
            <a:extLst>
              <a:ext uri="{FF2B5EF4-FFF2-40B4-BE49-F238E27FC236}">
                <a16:creationId xmlns:a16="http://schemas.microsoft.com/office/drawing/2014/main" id="{77A9C5A1-B677-4639-9E86-B48263412627}"/>
              </a:ext>
            </a:extLst>
          </p:cNvPr>
          <p:cNvSpPr txBox="1">
            <a:spLocks/>
          </p:cNvSpPr>
          <p:nvPr/>
        </p:nvSpPr>
        <p:spPr>
          <a:xfrm>
            <a:off x="323778" y="3792300"/>
            <a:ext cx="7710513" cy="1289697"/>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Se desea determinar la velocidad y aceleración en el centro de la corredera P según este movimiento combinado de rotación y deslizamiento. Se comienza por expresar R</a:t>
            </a:r>
            <a:r>
              <a:rPr lang="es-AR" sz="1400" baseline="-25000" dirty="0">
                <a:latin typeface="Bahnschrift" panose="020B0502040204020203" pitchFamily="34" charset="0"/>
              </a:rPr>
              <a:t>P</a:t>
            </a:r>
            <a:r>
              <a:rPr lang="es-AR" sz="1400" dirty="0">
                <a:latin typeface="Bahnschrift" panose="020B0502040204020203" pitchFamily="34" charset="0"/>
              </a:rPr>
              <a:t> a través de la notación polar compleja.</a:t>
            </a:r>
          </a:p>
          <a:p>
            <a:pPr algn="just">
              <a:buFontTx/>
              <a:buChar char="-"/>
            </a:pPr>
            <a:r>
              <a:rPr lang="es-AR" sz="1400" dirty="0">
                <a:latin typeface="Bahnschrift" panose="020B0502040204020203" pitchFamily="34" charset="0"/>
              </a:rPr>
              <a:t>Tanto la dirección como el modulo del vector están en función del tiempo.</a:t>
            </a: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8381C20F-47F9-44E2-A8F6-B720952EC56F}"/>
                  </a:ext>
                </a:extLst>
              </p:cNvPr>
              <p:cNvSpPr txBox="1"/>
              <p:nvPr/>
            </p:nvSpPr>
            <p:spPr>
              <a:xfrm>
                <a:off x="5067026" y="5115680"/>
                <a:ext cx="2148602" cy="3030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rPr>
                            <m:t>𝑉</m:t>
                          </m:r>
                        </m:e>
                        <m:sub>
                          <m:r>
                            <a:rPr lang="en-US" b="0" i="1" smtClean="0">
                              <a:latin typeface="Cambria Math" panose="02040503050406030204" pitchFamily="18" charset="0"/>
                            </a:rPr>
                            <m:t>𝑝</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𝑡𝑟𝑎𝑛𝑠𝑚</m:t>
                              </m:r>
                            </m:sub>
                          </m:sSub>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𝑑𝑒𝑠𝑙</m:t>
                              </m:r>
                            </m:sub>
                          </m:sSub>
                        </m:sub>
                      </m:sSub>
                    </m:oMath>
                  </m:oMathPara>
                </a14:m>
                <a:endParaRPr lang="es-AR" dirty="0"/>
              </a:p>
            </p:txBody>
          </p:sp>
        </mc:Choice>
        <mc:Fallback xmlns="">
          <p:sp>
            <p:nvSpPr>
              <p:cNvPr id="12" name="CuadroTexto 11">
                <a:extLst>
                  <a:ext uri="{FF2B5EF4-FFF2-40B4-BE49-F238E27FC236}">
                    <a16:creationId xmlns:a16="http://schemas.microsoft.com/office/drawing/2014/main" id="{8381C20F-47F9-44E2-A8F6-B720952EC56F}"/>
                  </a:ext>
                </a:extLst>
              </p:cNvPr>
              <p:cNvSpPr txBox="1">
                <a:spLocks noRot="1" noChangeAspect="1" noMove="1" noResize="1" noEditPoints="1" noAdjustHandles="1" noChangeArrowheads="1" noChangeShapeType="1" noTextEdit="1"/>
              </p:cNvSpPr>
              <p:nvPr/>
            </p:nvSpPr>
            <p:spPr>
              <a:xfrm>
                <a:off x="5067026" y="5115680"/>
                <a:ext cx="2148602" cy="303096"/>
              </a:xfrm>
              <a:prstGeom prst="rect">
                <a:avLst/>
              </a:prstGeom>
              <a:blipFill>
                <a:blip r:embed="rId5"/>
                <a:stretch>
                  <a:fillRect l="-1700" b="-18000"/>
                </a:stretch>
              </a:blipFill>
            </p:spPr>
            <p:txBody>
              <a:bodyPr/>
              <a:lstStyle/>
              <a:p>
                <a:r>
                  <a:rPr lang="es-AR">
                    <a:noFill/>
                  </a:rPr>
                  <a:t> </a:t>
                </a:r>
              </a:p>
            </p:txBody>
          </p:sp>
        </mc:Fallback>
      </mc:AlternateContent>
      <p:sp>
        <p:nvSpPr>
          <p:cNvPr id="14" name="Marcador de contenido 2">
            <a:extLst>
              <a:ext uri="{FF2B5EF4-FFF2-40B4-BE49-F238E27FC236}">
                <a16:creationId xmlns:a16="http://schemas.microsoft.com/office/drawing/2014/main" id="{BB458551-E444-4FE6-8DB1-F90480D2B5C3}"/>
              </a:ext>
            </a:extLst>
          </p:cNvPr>
          <p:cNvSpPr txBox="1">
            <a:spLocks/>
          </p:cNvSpPr>
          <p:nvPr/>
        </p:nvSpPr>
        <p:spPr>
          <a:xfrm>
            <a:off x="323778" y="5624359"/>
            <a:ext cx="7710513" cy="1289697"/>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La componente </a:t>
            </a:r>
            <a:r>
              <a:rPr lang="es-AR" sz="1400" dirty="0" err="1">
                <a:latin typeface="Bahnschrift" panose="020B0502040204020203" pitchFamily="34" charset="0"/>
              </a:rPr>
              <a:t>V</a:t>
            </a:r>
            <a:r>
              <a:rPr lang="es-AR" sz="1400" baseline="-25000" dirty="0" err="1">
                <a:latin typeface="Bahnschrift" panose="020B0502040204020203" pitchFamily="34" charset="0"/>
              </a:rPr>
              <a:t>Ptransm</a:t>
            </a:r>
            <a:r>
              <a:rPr lang="es-AR" sz="1400" dirty="0">
                <a:latin typeface="Bahnschrift" panose="020B0502040204020203" pitchFamily="34" charset="0"/>
              </a:rPr>
              <a:t> quien se encuentra afectada por el operador j, indica que su dirección es perpendicular al eje de deslizamiento, y por lo tanto al vector de posición R</a:t>
            </a:r>
            <a:r>
              <a:rPr lang="es-AR" sz="1400" baseline="-25000" dirty="0">
                <a:latin typeface="Bahnschrift" panose="020B0502040204020203" pitchFamily="34" charset="0"/>
              </a:rPr>
              <a:t>P</a:t>
            </a:r>
            <a:r>
              <a:rPr lang="es-AR" sz="1400" dirty="0">
                <a:latin typeface="Bahnschrift" panose="020B0502040204020203" pitchFamily="34" charset="0"/>
              </a:rPr>
              <a:t>.</a:t>
            </a:r>
          </a:p>
          <a:p>
            <a:pPr algn="just">
              <a:buFontTx/>
              <a:buChar char="-"/>
            </a:pPr>
            <a:r>
              <a:rPr lang="es-AR" sz="1400" dirty="0">
                <a:latin typeface="Bahnschrift" panose="020B0502040204020203" pitchFamily="34" charset="0"/>
              </a:rPr>
              <a:t>La componente </a:t>
            </a:r>
            <a:r>
              <a:rPr lang="es-AR" sz="1400" dirty="0" err="1">
                <a:latin typeface="Bahnschrift" panose="020B0502040204020203" pitchFamily="34" charset="0"/>
              </a:rPr>
              <a:t>V</a:t>
            </a:r>
            <a:r>
              <a:rPr lang="es-AR" sz="1400" baseline="-25000" dirty="0" err="1">
                <a:latin typeface="Bahnschrift" panose="020B0502040204020203" pitchFamily="34" charset="0"/>
              </a:rPr>
              <a:t>Pdesl</a:t>
            </a:r>
            <a:r>
              <a:rPr lang="es-AR" sz="1400" dirty="0">
                <a:latin typeface="Bahnschrift" panose="020B0502040204020203" pitchFamily="34" charset="0"/>
              </a:rPr>
              <a:t> se encuentra dirigida en la dirección del eje de deslizamiento, y por lo tanto, es coincidente con el vector de posición R</a:t>
            </a:r>
            <a:r>
              <a:rPr lang="es-AR" sz="1400" baseline="-25000" dirty="0">
                <a:latin typeface="Bahnschrift" panose="020B0502040204020203" pitchFamily="34" charset="0"/>
              </a:rPr>
              <a:t>P</a:t>
            </a:r>
            <a:r>
              <a:rPr lang="es-AR" sz="1400" dirty="0">
                <a:latin typeface="Bahnschrift" panose="020B0502040204020203" pitchFamily="34" charset="0"/>
              </a:rPr>
              <a:t>.</a:t>
            </a:r>
          </a:p>
        </p:txBody>
      </p:sp>
      <p:pic>
        <p:nvPicPr>
          <p:cNvPr id="16" name="Imagen 15" descr="Logotipo&#10;&#10;Descripción generada automáticamente">
            <a:extLst>
              <a:ext uri="{FF2B5EF4-FFF2-40B4-BE49-F238E27FC236}">
                <a16:creationId xmlns:a16="http://schemas.microsoft.com/office/drawing/2014/main" id="{89F7385A-635B-4C91-9579-91831C15D20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56263" y="5243000"/>
            <a:ext cx="369282" cy="171247"/>
          </a:xfrm>
          <a:prstGeom prst="rect">
            <a:avLst/>
          </a:prstGeom>
        </p:spPr>
      </p:pic>
      <p:pic>
        <p:nvPicPr>
          <p:cNvPr id="27" name="Imagen 26" descr="Logotipo&#10;&#10;Descripción generada automáticamente">
            <a:extLst>
              <a:ext uri="{FF2B5EF4-FFF2-40B4-BE49-F238E27FC236}">
                <a16:creationId xmlns:a16="http://schemas.microsoft.com/office/drawing/2014/main" id="{85338CE4-9FF9-4ACF-909B-0A4995B245C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60006" y="5243000"/>
            <a:ext cx="369282" cy="171247"/>
          </a:xfrm>
          <a:prstGeom prst="rect">
            <a:avLst/>
          </a:prstGeom>
        </p:spPr>
      </p:pic>
    </p:spTree>
    <p:extLst>
      <p:ext uri="{BB962C8B-B14F-4D97-AF65-F5344CB8AC3E}">
        <p14:creationId xmlns:p14="http://schemas.microsoft.com/office/powerpoint/2010/main" val="1616716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26C5497B-D945-445C-A62A-4F4ADD5C8A36}"/>
              </a:ext>
            </a:extLst>
          </p:cNvPr>
          <p:cNvPicPr>
            <a:picLocks noChangeAspect="1"/>
          </p:cNvPicPr>
          <p:nvPr/>
        </p:nvPicPr>
        <p:blipFill rotWithShape="1">
          <a:blip r:embed="rId2"/>
          <a:srcRect l="38626" t="-309" r="25417" b="309"/>
          <a:stretch/>
        </p:blipFill>
        <p:spPr>
          <a:xfrm>
            <a:off x="8037250" y="2029599"/>
            <a:ext cx="3052803" cy="3142910"/>
          </a:xfrm>
          <a:prstGeom prst="rect">
            <a:avLst/>
          </a:prstGeom>
        </p:spPr>
      </p:pic>
      <p:sp>
        <p:nvSpPr>
          <p:cNvPr id="5" name="Rectángulo 4">
            <a:extLst>
              <a:ext uri="{FF2B5EF4-FFF2-40B4-BE49-F238E27FC236}">
                <a16:creationId xmlns:a16="http://schemas.microsoft.com/office/drawing/2014/main" id="{2CCAE51A-2BA3-4542-9556-57577F336225}"/>
              </a:ext>
            </a:extLst>
          </p:cNvPr>
          <p:cNvSpPr/>
          <p:nvPr/>
        </p:nvSpPr>
        <p:spPr>
          <a:xfrm>
            <a:off x="-1" y="853440"/>
            <a:ext cx="4270160"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9329529" cy="684362"/>
          </a:xfrm>
        </p:spPr>
        <p:txBody>
          <a:bodyPr>
            <a:normAutofit fontScale="90000"/>
          </a:bodyPr>
          <a:lstStyle/>
          <a:p>
            <a:r>
              <a:rPr lang="es-AR" sz="6000" b="1" dirty="0">
                <a:latin typeface="Bahnschrift" panose="020B0502040204020203" pitchFamily="34" charset="0"/>
              </a:rPr>
              <a:t>ANÁLISIS DE ACELERACIÓN</a:t>
            </a:r>
          </a:p>
        </p:txBody>
      </p:sp>
      <p:sp>
        <p:nvSpPr>
          <p:cNvPr id="3" name="Marcador de contenido 2"/>
          <p:cNvSpPr>
            <a:spLocks noGrp="1"/>
          </p:cNvSpPr>
          <p:nvPr>
            <p:ph idx="1"/>
          </p:nvPr>
        </p:nvSpPr>
        <p:spPr>
          <a:xfrm>
            <a:off x="116312" y="830016"/>
            <a:ext cx="4153847" cy="466124"/>
          </a:xfrm>
        </p:spPr>
        <p:txBody>
          <a:bodyPr>
            <a:normAutofit/>
          </a:bodyPr>
          <a:lstStyle/>
          <a:p>
            <a:pPr marL="0" indent="0">
              <a:buNone/>
            </a:pPr>
            <a:r>
              <a:rPr lang="es-AR" sz="2400" b="1" dirty="0">
                <a:latin typeface="Bahnschrift" panose="020B0502040204020203" pitchFamily="34" charset="0"/>
              </a:rPr>
              <a:t>ACELERACIÓN DE CORIOLIS</a:t>
            </a:r>
          </a:p>
        </p:txBody>
      </p:sp>
      <p:sp>
        <p:nvSpPr>
          <p:cNvPr id="4" name="Marcador de contenido 2">
            <a:extLst>
              <a:ext uri="{FF2B5EF4-FFF2-40B4-BE49-F238E27FC236}">
                <a16:creationId xmlns:a16="http://schemas.microsoft.com/office/drawing/2014/main" id="{6F29601B-6F87-4863-8F58-E656D3704523}"/>
              </a:ext>
            </a:extLst>
          </p:cNvPr>
          <p:cNvSpPr txBox="1">
            <a:spLocks/>
          </p:cNvSpPr>
          <p:nvPr/>
        </p:nvSpPr>
        <p:spPr>
          <a:xfrm>
            <a:off x="632265" y="131024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18" name="Marcador de contenido 2">
            <a:extLst>
              <a:ext uri="{FF2B5EF4-FFF2-40B4-BE49-F238E27FC236}">
                <a16:creationId xmlns:a16="http://schemas.microsoft.com/office/drawing/2014/main" id="{DBC5DD57-6377-41E1-B4CA-6E5032B7A48B}"/>
              </a:ext>
            </a:extLst>
          </p:cNvPr>
          <p:cNvSpPr txBox="1">
            <a:spLocks/>
          </p:cNvSpPr>
          <p:nvPr/>
        </p:nvSpPr>
        <p:spPr>
          <a:xfrm>
            <a:off x="326737" y="1279224"/>
            <a:ext cx="10647322" cy="1171239"/>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Para obtener la ecuación de aceleración se deberá derivar la ecuación de velocidad. </a:t>
            </a:r>
          </a:p>
          <a:p>
            <a:pPr algn="just">
              <a:buFontTx/>
              <a:buChar char="-"/>
            </a:pPr>
            <a:r>
              <a:rPr lang="es-AR" sz="1400" dirty="0">
                <a:latin typeface="Bahnschrift" panose="020B0502040204020203" pitchFamily="34" charset="0"/>
              </a:rPr>
              <a:t>La componente de deslizamiento posee 2 variables funciones del tiempo, y la de transmisión posee 3 variables funciones del tiempo. Por lo tanto como producto de la derivación, la ecuación de aceleración estará formada por 5 términos provenientes de la regla de la cadena (en donde dos términos son iguales).</a:t>
            </a:r>
          </a:p>
        </p:txBody>
      </p: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01B16DB6-02D3-4A25-BE7D-64A20F20F05A}"/>
                  </a:ext>
                </a:extLst>
              </p:cNvPr>
              <p:cNvSpPr txBox="1"/>
              <p:nvPr/>
            </p:nvSpPr>
            <p:spPr>
              <a:xfrm>
                <a:off x="571417" y="2538018"/>
                <a:ext cx="2282996" cy="3168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rPr>
                            <m:t>𝑉</m:t>
                          </m:r>
                        </m:e>
                        <m:sub>
                          <m:r>
                            <a:rPr lang="en-US" b="0" i="1" smtClean="0">
                              <a:latin typeface="Cambria Math" panose="02040503050406030204" pitchFamily="18" charset="0"/>
                            </a:rPr>
                            <m:t>𝑝</m:t>
                          </m:r>
                        </m:sub>
                      </m:sSub>
                      <m:r>
                        <a:rPr lang="en-US" b="0" i="1" smtClean="0">
                          <a:latin typeface="Cambria Math" panose="02040503050406030204" pitchFamily="18" charset="0"/>
                        </a:rPr>
                        <m:t>=</m:t>
                      </m:r>
                      <m:r>
                        <a:rPr lang="en-US" b="0" i="1" smtClean="0">
                          <a:latin typeface="Cambria Math" panose="02040503050406030204" pitchFamily="18" charset="0"/>
                        </a:rPr>
                        <m:t>𝑝</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𝑗</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𝑝</m:t>
                          </m:r>
                        </m:e>
                      </m:acc>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sup>
                      </m:sSup>
                    </m:oMath>
                  </m:oMathPara>
                </a14:m>
                <a:endParaRPr lang="es-AR" dirty="0"/>
              </a:p>
            </p:txBody>
          </p:sp>
        </mc:Choice>
        <mc:Fallback xmlns="">
          <p:sp>
            <p:nvSpPr>
              <p:cNvPr id="24" name="CuadroTexto 23">
                <a:extLst>
                  <a:ext uri="{FF2B5EF4-FFF2-40B4-BE49-F238E27FC236}">
                    <a16:creationId xmlns:a16="http://schemas.microsoft.com/office/drawing/2014/main" id="{01B16DB6-02D3-4A25-BE7D-64A20F20F05A}"/>
                  </a:ext>
                </a:extLst>
              </p:cNvPr>
              <p:cNvSpPr txBox="1">
                <a:spLocks noRot="1" noChangeAspect="1" noMove="1" noResize="1" noEditPoints="1" noAdjustHandles="1" noChangeArrowheads="1" noChangeShapeType="1" noTextEdit="1"/>
              </p:cNvSpPr>
              <p:nvPr/>
            </p:nvSpPr>
            <p:spPr>
              <a:xfrm>
                <a:off x="571417" y="2538018"/>
                <a:ext cx="2282996" cy="316882"/>
              </a:xfrm>
              <a:prstGeom prst="rect">
                <a:avLst/>
              </a:prstGeom>
              <a:blipFill>
                <a:blip r:embed="rId3"/>
                <a:stretch>
                  <a:fillRect l="-1872" t="-1923" b="-2500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8381C20F-47F9-44E2-A8F6-B720952EC56F}"/>
                  </a:ext>
                </a:extLst>
              </p:cNvPr>
              <p:cNvSpPr txBox="1"/>
              <p:nvPr/>
            </p:nvSpPr>
            <p:spPr>
              <a:xfrm>
                <a:off x="511350" y="4062897"/>
                <a:ext cx="3160865" cy="309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𝑝</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𝑃</m:t>
                          </m:r>
                        </m:sub>
                        <m:sup>
                          <m:r>
                            <a:rPr lang="en-US" b="0" i="1" smtClean="0">
                              <a:latin typeface="Cambria Math" panose="02040503050406030204" pitchFamily="18" charset="0"/>
                            </a:rPr>
                            <m:t>𝑡</m:t>
                          </m:r>
                        </m:sup>
                      </m:sSubSup>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𝐴</m:t>
                          </m:r>
                        </m:e>
                        <m:sub>
                          <m:r>
                            <a:rPr lang="en-US" b="0" i="1" smtClean="0">
                              <a:latin typeface="Cambria Math" panose="02040503050406030204" pitchFamily="18" charset="0"/>
                            </a:rPr>
                            <m:t>𝑃</m:t>
                          </m:r>
                        </m:sub>
                        <m:sup>
                          <m:r>
                            <a:rPr lang="en-US" b="0" i="1" smtClean="0">
                              <a:latin typeface="Cambria Math" panose="02040503050406030204" pitchFamily="18" charset="0"/>
                            </a:rPr>
                            <m:t>𝑛</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𝑐𝑜𝑟</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𝑑𝑒𝑠𝑙</m:t>
                              </m:r>
                            </m:sub>
                          </m:sSub>
                        </m:sub>
                      </m:sSub>
                    </m:oMath>
                  </m:oMathPara>
                </a14:m>
                <a:endParaRPr lang="es-AR" dirty="0"/>
              </a:p>
            </p:txBody>
          </p:sp>
        </mc:Choice>
        <mc:Fallback xmlns="">
          <p:sp>
            <p:nvSpPr>
              <p:cNvPr id="12" name="CuadroTexto 11">
                <a:extLst>
                  <a:ext uri="{FF2B5EF4-FFF2-40B4-BE49-F238E27FC236}">
                    <a16:creationId xmlns:a16="http://schemas.microsoft.com/office/drawing/2014/main" id="{8381C20F-47F9-44E2-A8F6-B720952EC56F}"/>
                  </a:ext>
                </a:extLst>
              </p:cNvPr>
              <p:cNvSpPr txBox="1">
                <a:spLocks noRot="1" noChangeAspect="1" noMove="1" noResize="1" noEditPoints="1" noAdjustHandles="1" noChangeArrowheads="1" noChangeShapeType="1" noTextEdit="1"/>
              </p:cNvSpPr>
              <p:nvPr/>
            </p:nvSpPr>
            <p:spPr>
              <a:xfrm>
                <a:off x="511350" y="4062897"/>
                <a:ext cx="3160865" cy="309444"/>
              </a:xfrm>
              <a:prstGeom prst="rect">
                <a:avLst/>
              </a:prstGeom>
              <a:blipFill>
                <a:blip r:embed="rId4"/>
                <a:stretch>
                  <a:fillRect b="-1764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Marcador de contenido 2">
                <a:extLst>
                  <a:ext uri="{FF2B5EF4-FFF2-40B4-BE49-F238E27FC236}">
                    <a16:creationId xmlns:a16="http://schemas.microsoft.com/office/drawing/2014/main" id="{BB458551-E444-4FE6-8DB1-F90480D2B5C3}"/>
                  </a:ext>
                </a:extLst>
              </p:cNvPr>
              <p:cNvSpPr txBox="1">
                <a:spLocks/>
              </p:cNvSpPr>
              <p:nvPr/>
            </p:nvSpPr>
            <p:spPr>
              <a:xfrm>
                <a:off x="326737" y="4493837"/>
                <a:ext cx="7710513" cy="195070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El termino de la aceleración de Coriolis resulta de la variación de la longitud del vector posición R</a:t>
                </a:r>
                <a:r>
                  <a:rPr lang="es-AR" sz="1400" baseline="-25000" dirty="0">
                    <a:latin typeface="Bahnschrift" panose="020B0502040204020203" pitchFamily="34" charset="0"/>
                  </a:rPr>
                  <a:t>P</a:t>
                </a:r>
                <a:r>
                  <a:rPr lang="es-AR" sz="1400" dirty="0">
                    <a:latin typeface="Bahnschrift" panose="020B0502040204020203" pitchFamily="34" charset="0"/>
                  </a:rPr>
                  <a:t> y también de la velocidad angular del sistema auxiliar, quien se encuentra adherido al eslabón guía.</a:t>
                </a:r>
              </a:p>
              <a:p>
                <a:pPr algn="just">
                  <a:buFontTx/>
                  <a:buChar char="-"/>
                </a:pPr>
                <a:r>
                  <a:rPr lang="es-AR" sz="1400" dirty="0">
                    <a:latin typeface="Bahnschrift" panose="020B0502040204020203" pitchFamily="34" charset="0"/>
                  </a:rPr>
                  <a:t>Su dirección es normal a la del vector posición R</a:t>
                </a:r>
                <a:r>
                  <a:rPr lang="es-AR" sz="1400" baseline="-25000" dirty="0">
                    <a:latin typeface="Bahnschrift" panose="020B0502040204020203" pitchFamily="34" charset="0"/>
                  </a:rPr>
                  <a:t>P</a:t>
                </a:r>
                <a:r>
                  <a:rPr lang="es-AR" sz="1400" dirty="0">
                    <a:latin typeface="Bahnschrift" panose="020B0502040204020203" pitchFamily="34" charset="0"/>
                  </a:rPr>
                  <a:t> y su sentido depende del sentido de </a:t>
                </a:r>
                <a14:m>
                  <m:oMath xmlns:m="http://schemas.openxmlformats.org/officeDocument/2006/math">
                    <m:r>
                      <a:rPr lang="en-US" sz="1400" i="1" smtClean="0">
                        <a:latin typeface="Cambria Math" panose="02040503050406030204" pitchFamily="18" charset="0"/>
                      </a:rPr>
                      <m:t>𝜔</m:t>
                    </m:r>
                  </m:oMath>
                </a14:m>
                <a:r>
                  <a:rPr lang="es-AR" sz="1400" dirty="0">
                    <a:latin typeface="Bahnschrift" panose="020B0502040204020203" pitchFamily="34" charset="0"/>
                  </a:rPr>
                  <a:t> (dependiendo de si es horario o antihorario).</a:t>
                </a:r>
              </a:p>
              <a:p>
                <a:pPr algn="just">
                  <a:buFontTx/>
                  <a:buChar char="-"/>
                </a:pPr>
                <a:r>
                  <a:rPr lang="es-AR" sz="1400" dirty="0">
                    <a:latin typeface="Bahnschrift" panose="020B0502040204020203" pitchFamily="34" charset="0"/>
                  </a:rPr>
                  <a:t>Finalmente, A</a:t>
                </a:r>
                <a:r>
                  <a:rPr lang="es-AR" sz="1400" baseline="-25000" dirty="0">
                    <a:latin typeface="Bahnschrift" panose="020B0502040204020203" pitchFamily="34" charset="0"/>
                  </a:rPr>
                  <a:t>P</a:t>
                </a:r>
                <a:r>
                  <a:rPr lang="es-AR" sz="1400" dirty="0">
                    <a:latin typeface="Bahnschrift" panose="020B0502040204020203" pitchFamily="34" charset="0"/>
                  </a:rPr>
                  <a:t> es la suma vectorial de los 4 términos, como puede verse en el diagrama a la derecha.</a:t>
                </a:r>
              </a:p>
            </p:txBody>
          </p:sp>
        </mc:Choice>
        <mc:Fallback xmlns="">
          <p:sp>
            <p:nvSpPr>
              <p:cNvPr id="14" name="Marcador de contenido 2">
                <a:extLst>
                  <a:ext uri="{FF2B5EF4-FFF2-40B4-BE49-F238E27FC236}">
                    <a16:creationId xmlns:a16="http://schemas.microsoft.com/office/drawing/2014/main" id="{BB458551-E444-4FE6-8DB1-F90480D2B5C3}"/>
                  </a:ext>
                </a:extLst>
              </p:cNvPr>
              <p:cNvSpPr txBox="1">
                <a:spLocks noRot="1" noChangeAspect="1" noMove="1" noResize="1" noEditPoints="1" noAdjustHandles="1" noChangeArrowheads="1" noChangeShapeType="1" noTextEdit="1"/>
              </p:cNvSpPr>
              <p:nvPr/>
            </p:nvSpPr>
            <p:spPr>
              <a:xfrm>
                <a:off x="326737" y="4493837"/>
                <a:ext cx="7710513" cy="1950701"/>
              </a:xfrm>
              <a:prstGeom prst="rect">
                <a:avLst/>
              </a:prstGeom>
              <a:blipFill>
                <a:blip r:embed="rId5"/>
                <a:stretch>
                  <a:fillRect t="-1250" r="-316" b="-156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547234F0-589B-4E42-9A7D-0D8058EDB7D3}"/>
                  </a:ext>
                </a:extLst>
              </p:cNvPr>
              <p:cNvSpPr txBox="1"/>
              <p:nvPr/>
            </p:nvSpPr>
            <p:spPr>
              <a:xfrm>
                <a:off x="571417" y="3004005"/>
                <a:ext cx="7013587" cy="5329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𝑝</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𝑝</m:t>
                              </m:r>
                            </m:sub>
                          </m:sSub>
                        </m:num>
                        <m:den>
                          <m:r>
                            <a:rPr lang="en-US" b="0" i="1" smtClean="0">
                              <a:latin typeface="Cambria Math" panose="02040503050406030204" pitchFamily="18" charset="0"/>
                            </a:rPr>
                            <m:t>𝑑𝑡</m:t>
                          </m:r>
                        </m:den>
                      </m:f>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𝑝</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𝑗</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sSup>
                            <m:sSupPr>
                              <m:ctrlPr>
                                <a:rPr lang="en-US" i="1">
                                  <a:latin typeface="Cambria Math" panose="02040503050406030204" pitchFamily="18" charset="0"/>
                                </a:rPr>
                              </m:ctrlPr>
                            </m:sSup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𝜔</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sSup>
                                <m:sSupPr>
                                  <m:ctrlPr>
                                    <a:rPr lang="en-US" b="0" i="1" smtClean="0">
                                      <a:latin typeface="Cambria Math" panose="02040503050406030204" pitchFamily="18" charset="0"/>
                                    </a:rPr>
                                  </m:ctrlPr>
                                </m:sSupPr>
                                <m:e>
                                  <m:r>
                                    <a:rPr lang="en-US" b="0" i="1" smtClean="0">
                                      <a:latin typeface="Cambria Math" panose="02040503050406030204" pitchFamily="18" charset="0"/>
                                    </a:rPr>
                                    <m:t>𝑗</m:t>
                                  </m:r>
                                </m:e>
                                <m:sup>
                                  <m:r>
                                    <a:rPr lang="en-US" b="0" i="1" smtClean="0">
                                      <a:latin typeface="Cambria Math" panose="02040503050406030204" pitchFamily="18" charset="0"/>
                                    </a:rPr>
                                    <m:t>2</m:t>
                                  </m:r>
                                </m:sup>
                              </m:sSup>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𝑝</m:t>
                              </m:r>
                            </m:e>
                          </m:acc>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𝑗</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sup>
                          </m:sSup>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𝑝</m:t>
                              </m:r>
                            </m:e>
                          </m:acc>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𝑗</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𝑝</m:t>
                              </m:r>
                            </m:e>
                          </m:acc>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sup>
                          </m:sSup>
                        </m:e>
                      </m:d>
                    </m:oMath>
                  </m:oMathPara>
                </a14:m>
                <a:endParaRPr lang="es-AR" dirty="0"/>
              </a:p>
            </p:txBody>
          </p:sp>
        </mc:Choice>
        <mc:Fallback xmlns="">
          <p:sp>
            <p:nvSpPr>
              <p:cNvPr id="10" name="CuadroTexto 9">
                <a:extLst>
                  <a:ext uri="{FF2B5EF4-FFF2-40B4-BE49-F238E27FC236}">
                    <a16:creationId xmlns:a16="http://schemas.microsoft.com/office/drawing/2014/main" id="{547234F0-589B-4E42-9A7D-0D8058EDB7D3}"/>
                  </a:ext>
                </a:extLst>
              </p:cNvPr>
              <p:cNvSpPr txBox="1">
                <a:spLocks noRot="1" noChangeAspect="1" noMove="1" noResize="1" noEditPoints="1" noAdjustHandles="1" noChangeArrowheads="1" noChangeShapeType="1" noTextEdit="1"/>
              </p:cNvSpPr>
              <p:nvPr/>
            </p:nvSpPr>
            <p:spPr>
              <a:xfrm>
                <a:off x="571417" y="3004005"/>
                <a:ext cx="7013587" cy="532966"/>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7751AE3C-2F4B-4DEC-9BFE-F45512E2B5C0}"/>
                  </a:ext>
                </a:extLst>
              </p:cNvPr>
              <p:cNvSpPr txBox="1"/>
              <p:nvPr/>
            </p:nvSpPr>
            <p:spPr>
              <a:xfrm>
                <a:off x="571417" y="3612943"/>
                <a:ext cx="4702889" cy="3168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𝑝</m:t>
                          </m:r>
                        </m:sub>
                      </m:sSub>
                      <m:r>
                        <a:rPr lang="en-US" i="1">
                          <a:latin typeface="Cambria Math" panose="02040503050406030204" pitchFamily="18" charset="0"/>
                        </a:rPr>
                        <m:t>=</m:t>
                      </m:r>
                      <m:r>
                        <a:rPr lang="en-US" i="1">
                          <a:latin typeface="Cambria Math" panose="02040503050406030204" pitchFamily="18" charset="0"/>
                        </a:rPr>
                        <m:t>𝑝</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𝑗</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𝑝</m:t>
                      </m:r>
                      <m:sSup>
                        <m:sSupPr>
                          <m:ctrlPr>
                            <a:rPr lang="en-US" i="1">
                              <a:latin typeface="Cambria Math" panose="02040503050406030204" pitchFamily="18" charset="0"/>
                            </a:rPr>
                          </m:ctrlPr>
                        </m:sSupPr>
                        <m:e>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2</m:t>
                              </m:r>
                            </m:sub>
                            <m:sup>
                              <m:r>
                                <a:rPr lang="en-US" i="1">
                                  <a:latin typeface="Cambria Math" panose="02040503050406030204" pitchFamily="18" charset="0"/>
                                </a:rPr>
                                <m:t>2</m:t>
                              </m:r>
                            </m:sup>
                          </m:sSubSup>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sup>
                      </m:s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𝑝</m:t>
                          </m:r>
                        </m:e>
                      </m:acc>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𝑗</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sup>
                      </m:sSup>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𝑝</m:t>
                          </m:r>
                        </m:e>
                      </m:acc>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sup>
                      </m:sSup>
                    </m:oMath>
                  </m:oMathPara>
                </a14:m>
                <a:endParaRPr lang="es-AR" dirty="0"/>
              </a:p>
            </p:txBody>
          </p:sp>
        </mc:Choice>
        <mc:Fallback xmlns="">
          <p:sp>
            <p:nvSpPr>
              <p:cNvPr id="13" name="CuadroTexto 12">
                <a:extLst>
                  <a:ext uri="{FF2B5EF4-FFF2-40B4-BE49-F238E27FC236}">
                    <a16:creationId xmlns:a16="http://schemas.microsoft.com/office/drawing/2014/main" id="{7751AE3C-2F4B-4DEC-9BFE-F45512E2B5C0}"/>
                  </a:ext>
                </a:extLst>
              </p:cNvPr>
              <p:cNvSpPr txBox="1">
                <a:spLocks noRot="1" noChangeAspect="1" noMove="1" noResize="1" noEditPoints="1" noAdjustHandles="1" noChangeArrowheads="1" noChangeShapeType="1" noTextEdit="1"/>
              </p:cNvSpPr>
              <p:nvPr/>
            </p:nvSpPr>
            <p:spPr>
              <a:xfrm>
                <a:off x="571417" y="3612943"/>
                <a:ext cx="4702889" cy="316882"/>
              </a:xfrm>
              <a:prstGeom prst="rect">
                <a:avLst/>
              </a:prstGeom>
              <a:blipFill>
                <a:blip r:embed="rId7"/>
                <a:stretch>
                  <a:fillRect l="-649" t="-3846" b="-25000"/>
                </a:stretch>
              </a:blipFill>
            </p:spPr>
            <p:txBody>
              <a:bodyPr/>
              <a:lstStyle/>
              <a:p>
                <a:r>
                  <a:rPr lang="es-AR">
                    <a:noFill/>
                  </a:rPr>
                  <a:t> </a:t>
                </a:r>
              </a:p>
            </p:txBody>
          </p:sp>
        </mc:Fallback>
      </mc:AlternateContent>
      <p:pic>
        <p:nvPicPr>
          <p:cNvPr id="15" name="Imagen 14">
            <a:extLst>
              <a:ext uri="{FF2B5EF4-FFF2-40B4-BE49-F238E27FC236}">
                <a16:creationId xmlns:a16="http://schemas.microsoft.com/office/drawing/2014/main" id="{ECBA658D-369C-4A1A-8425-BE2F45CA8A94}"/>
              </a:ext>
            </a:extLst>
          </p:cNvPr>
          <p:cNvPicPr>
            <a:picLocks noChangeAspect="1"/>
          </p:cNvPicPr>
          <p:nvPr/>
        </p:nvPicPr>
        <p:blipFill rotWithShape="1">
          <a:blip r:embed="rId2"/>
          <a:srcRect l="74480" t="17310" r="-229" b="12184"/>
          <a:stretch/>
        </p:blipFill>
        <p:spPr>
          <a:xfrm>
            <a:off x="9021060" y="5082356"/>
            <a:ext cx="1710190" cy="1733502"/>
          </a:xfrm>
          <a:prstGeom prst="rect">
            <a:avLst/>
          </a:prstGeom>
        </p:spPr>
      </p:pic>
    </p:spTree>
    <p:extLst>
      <p:ext uri="{BB962C8B-B14F-4D97-AF65-F5344CB8AC3E}">
        <p14:creationId xmlns:p14="http://schemas.microsoft.com/office/powerpoint/2010/main" val="4058717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2CCAE51A-2BA3-4542-9556-57577F336225}"/>
              </a:ext>
            </a:extLst>
          </p:cNvPr>
          <p:cNvSpPr/>
          <p:nvPr/>
        </p:nvSpPr>
        <p:spPr>
          <a:xfrm>
            <a:off x="-1" y="853440"/>
            <a:ext cx="4332304"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9329529" cy="684362"/>
          </a:xfrm>
        </p:spPr>
        <p:txBody>
          <a:bodyPr>
            <a:normAutofit fontScale="90000"/>
          </a:bodyPr>
          <a:lstStyle/>
          <a:p>
            <a:r>
              <a:rPr lang="es-AR" sz="6000" b="1" dirty="0">
                <a:latin typeface="Bahnschrift" panose="020B0502040204020203" pitchFamily="34" charset="0"/>
              </a:rPr>
              <a:t>ANÁLISIS DE ACELERACIÓN</a:t>
            </a:r>
          </a:p>
        </p:txBody>
      </p:sp>
      <p:sp>
        <p:nvSpPr>
          <p:cNvPr id="3" name="Marcador de contenido 2"/>
          <p:cNvSpPr>
            <a:spLocks noGrp="1"/>
          </p:cNvSpPr>
          <p:nvPr>
            <p:ph idx="1"/>
          </p:nvPr>
        </p:nvSpPr>
        <p:spPr>
          <a:xfrm>
            <a:off x="116312" y="830016"/>
            <a:ext cx="4153847" cy="466124"/>
          </a:xfrm>
        </p:spPr>
        <p:txBody>
          <a:bodyPr>
            <a:normAutofit/>
          </a:bodyPr>
          <a:lstStyle/>
          <a:p>
            <a:pPr marL="0" indent="0">
              <a:buNone/>
            </a:pPr>
            <a:r>
              <a:rPr lang="es-AR" sz="2400" b="1" dirty="0">
                <a:latin typeface="Bahnschrift" panose="020B0502040204020203" pitchFamily="34" charset="0"/>
              </a:rPr>
              <a:t>DETERMINACIÓ</a:t>
            </a:r>
            <a:r>
              <a:rPr lang="en-US" sz="2400" b="1" dirty="0">
                <a:latin typeface="Bahnschrift" panose="020B0502040204020203" pitchFamily="34" charset="0"/>
              </a:rPr>
              <a:t>N ANAL</a:t>
            </a:r>
            <a:r>
              <a:rPr lang="es-AR" sz="2400" b="1" dirty="0">
                <a:latin typeface="Bahnschrift" panose="020B0502040204020203" pitchFamily="34" charset="0"/>
              </a:rPr>
              <a:t>Í</a:t>
            </a:r>
            <a:r>
              <a:rPr lang="en-US" sz="2400" b="1" dirty="0">
                <a:latin typeface="Bahnschrift" panose="020B0502040204020203" pitchFamily="34" charset="0"/>
              </a:rPr>
              <a:t>TICA</a:t>
            </a:r>
            <a:endParaRPr lang="es-AR" sz="2400" b="1" dirty="0">
              <a:latin typeface="Bahnschrift" panose="020B0502040204020203" pitchFamily="34" charset="0"/>
            </a:endParaRPr>
          </a:p>
        </p:txBody>
      </p:sp>
      <p:sp>
        <p:nvSpPr>
          <p:cNvPr id="4" name="Marcador de contenido 2">
            <a:extLst>
              <a:ext uri="{FF2B5EF4-FFF2-40B4-BE49-F238E27FC236}">
                <a16:creationId xmlns:a16="http://schemas.microsoft.com/office/drawing/2014/main" id="{6F29601B-6F87-4863-8F58-E656D3704523}"/>
              </a:ext>
            </a:extLst>
          </p:cNvPr>
          <p:cNvSpPr txBox="1">
            <a:spLocks/>
          </p:cNvSpPr>
          <p:nvPr/>
        </p:nvSpPr>
        <p:spPr>
          <a:xfrm>
            <a:off x="632265" y="131024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18" name="Marcador de contenido 2">
            <a:extLst>
              <a:ext uri="{FF2B5EF4-FFF2-40B4-BE49-F238E27FC236}">
                <a16:creationId xmlns:a16="http://schemas.microsoft.com/office/drawing/2014/main" id="{DBC5DD57-6377-41E1-B4CA-6E5032B7A48B}"/>
              </a:ext>
            </a:extLst>
          </p:cNvPr>
          <p:cNvSpPr txBox="1">
            <a:spLocks/>
          </p:cNvSpPr>
          <p:nvPr/>
        </p:nvSpPr>
        <p:spPr>
          <a:xfrm>
            <a:off x="326737" y="1279224"/>
            <a:ext cx="10647322" cy="1151596"/>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El mecanismo mostrado corresponde a un eslabonamiento de 4 barras o Cuadrilátero Articulado, del cual se conocen las longitudes de los eslabones y todos los datos referidos al eslabón de entrada (</a:t>
            </a:r>
            <a:r>
              <a:rPr lang="es-AR" sz="1400" dirty="0">
                <a:latin typeface="Bahnschrift" panose="020B0502040204020203" pitchFamily="34" charset="0"/>
                <a:ea typeface="Cambria Math" panose="02040503050406030204" pitchFamily="18" charset="0"/>
              </a:rPr>
              <a:t>θ</a:t>
            </a:r>
            <a:r>
              <a:rPr lang="es-AR" sz="1400" baseline="-25000" dirty="0">
                <a:latin typeface="Bahnschrift" panose="020B0502040204020203" pitchFamily="34" charset="0"/>
                <a:ea typeface="Cambria Math" panose="02040503050406030204" pitchFamily="18" charset="0"/>
              </a:rPr>
              <a:t>2</a:t>
            </a:r>
            <a:r>
              <a:rPr lang="es-AR" sz="1400" dirty="0">
                <a:latin typeface="Bahnschrift" panose="020B0502040204020203" pitchFamily="34" charset="0"/>
                <a:ea typeface="Cambria Math" panose="02040503050406030204" pitchFamily="18" charset="0"/>
              </a:rPr>
              <a:t>, ω</a:t>
            </a:r>
            <a:r>
              <a:rPr lang="es-AR" sz="1400" baseline="-25000" dirty="0">
                <a:latin typeface="Bahnschrift" panose="020B0502040204020203" pitchFamily="34" charset="0"/>
                <a:ea typeface="Cambria Math" panose="02040503050406030204" pitchFamily="18" charset="0"/>
              </a:rPr>
              <a:t>2</a:t>
            </a:r>
            <a:r>
              <a:rPr lang="es-AR" sz="1400" dirty="0">
                <a:latin typeface="Bahnschrift" panose="020B0502040204020203" pitchFamily="34" charset="0"/>
                <a:ea typeface="Cambria Math" panose="02040503050406030204" pitchFamily="18" charset="0"/>
              </a:rPr>
              <a:t>, α</a:t>
            </a:r>
            <a:r>
              <a:rPr lang="es-AR" sz="1400" baseline="-25000" dirty="0">
                <a:latin typeface="Bahnschrift" panose="020B0502040204020203" pitchFamily="34" charset="0"/>
                <a:ea typeface="Cambria Math" panose="02040503050406030204" pitchFamily="18" charset="0"/>
              </a:rPr>
              <a:t>2</a:t>
            </a:r>
            <a:r>
              <a:rPr lang="es-AR" sz="1400" dirty="0">
                <a:latin typeface="Bahnschrift" panose="020B0502040204020203" pitchFamily="34" charset="0"/>
                <a:ea typeface="Cambria Math" panose="02040503050406030204" pitchFamily="18" charset="0"/>
              </a:rPr>
              <a:t>).</a:t>
            </a:r>
          </a:p>
        </p:txBody>
      </p:sp>
      <p:pic>
        <p:nvPicPr>
          <p:cNvPr id="11" name="Imagen 10">
            <a:extLst>
              <a:ext uri="{FF2B5EF4-FFF2-40B4-BE49-F238E27FC236}">
                <a16:creationId xmlns:a16="http://schemas.microsoft.com/office/drawing/2014/main" id="{FF32E93D-5043-4C7B-8855-C1A2174EFF1C}"/>
              </a:ext>
            </a:extLst>
          </p:cNvPr>
          <p:cNvPicPr>
            <a:picLocks noChangeAspect="1"/>
          </p:cNvPicPr>
          <p:nvPr/>
        </p:nvPicPr>
        <p:blipFill rotWithShape="1">
          <a:blip r:embed="rId2"/>
          <a:srcRect r="33132"/>
          <a:stretch/>
        </p:blipFill>
        <p:spPr>
          <a:xfrm>
            <a:off x="1469504" y="1891232"/>
            <a:ext cx="7852049" cy="4790610"/>
          </a:xfrm>
          <a:prstGeom prst="rect">
            <a:avLst/>
          </a:prstGeom>
        </p:spPr>
      </p:pic>
    </p:spTree>
    <p:extLst>
      <p:ext uri="{BB962C8B-B14F-4D97-AF65-F5344CB8AC3E}">
        <p14:creationId xmlns:p14="http://schemas.microsoft.com/office/powerpoint/2010/main" val="3067465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2CCAE51A-2BA3-4542-9556-57577F336225}"/>
              </a:ext>
            </a:extLst>
          </p:cNvPr>
          <p:cNvSpPr/>
          <p:nvPr/>
        </p:nvSpPr>
        <p:spPr>
          <a:xfrm>
            <a:off x="-1" y="853440"/>
            <a:ext cx="4332304"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9329529" cy="684362"/>
          </a:xfrm>
        </p:spPr>
        <p:txBody>
          <a:bodyPr>
            <a:normAutofit fontScale="90000"/>
          </a:bodyPr>
          <a:lstStyle/>
          <a:p>
            <a:r>
              <a:rPr lang="es-AR" sz="6000" b="1" dirty="0">
                <a:latin typeface="Bahnschrift" panose="020B0502040204020203" pitchFamily="34" charset="0"/>
              </a:rPr>
              <a:t>ANÁLISIS DE ACELERACIÓN</a:t>
            </a:r>
          </a:p>
        </p:txBody>
      </p:sp>
      <p:sp>
        <p:nvSpPr>
          <p:cNvPr id="3" name="Marcador de contenido 2"/>
          <p:cNvSpPr>
            <a:spLocks noGrp="1"/>
          </p:cNvSpPr>
          <p:nvPr>
            <p:ph idx="1"/>
          </p:nvPr>
        </p:nvSpPr>
        <p:spPr>
          <a:xfrm>
            <a:off x="116312" y="830016"/>
            <a:ext cx="4153847" cy="466124"/>
          </a:xfrm>
        </p:spPr>
        <p:txBody>
          <a:bodyPr>
            <a:normAutofit/>
          </a:bodyPr>
          <a:lstStyle/>
          <a:p>
            <a:pPr marL="0" indent="0">
              <a:buNone/>
            </a:pPr>
            <a:r>
              <a:rPr lang="es-AR" sz="2400" b="1" dirty="0">
                <a:latin typeface="Bahnschrift" panose="020B0502040204020203" pitchFamily="34" charset="0"/>
              </a:rPr>
              <a:t>DETERMINACIÓ</a:t>
            </a:r>
            <a:r>
              <a:rPr lang="en-US" sz="2400" b="1" dirty="0">
                <a:latin typeface="Bahnschrift" panose="020B0502040204020203" pitchFamily="34" charset="0"/>
              </a:rPr>
              <a:t>N ANAL</a:t>
            </a:r>
            <a:r>
              <a:rPr lang="es-AR" sz="2400" b="1" dirty="0">
                <a:latin typeface="Bahnschrift" panose="020B0502040204020203" pitchFamily="34" charset="0"/>
              </a:rPr>
              <a:t>Í</a:t>
            </a:r>
            <a:r>
              <a:rPr lang="en-US" sz="2400" b="1" dirty="0">
                <a:latin typeface="Bahnschrift" panose="020B0502040204020203" pitchFamily="34" charset="0"/>
              </a:rPr>
              <a:t>TICA</a:t>
            </a:r>
            <a:endParaRPr lang="es-AR" sz="2400" b="1" dirty="0">
              <a:latin typeface="Bahnschrift" panose="020B0502040204020203" pitchFamily="34" charset="0"/>
            </a:endParaRPr>
          </a:p>
        </p:txBody>
      </p:sp>
      <p:sp>
        <p:nvSpPr>
          <p:cNvPr id="4" name="Marcador de contenido 2">
            <a:extLst>
              <a:ext uri="{FF2B5EF4-FFF2-40B4-BE49-F238E27FC236}">
                <a16:creationId xmlns:a16="http://schemas.microsoft.com/office/drawing/2014/main" id="{6F29601B-6F87-4863-8F58-E656D3704523}"/>
              </a:ext>
            </a:extLst>
          </p:cNvPr>
          <p:cNvSpPr txBox="1">
            <a:spLocks/>
          </p:cNvSpPr>
          <p:nvPr/>
        </p:nvSpPr>
        <p:spPr>
          <a:xfrm>
            <a:off x="632265" y="131024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18" name="Marcador de contenido 2">
            <a:extLst>
              <a:ext uri="{FF2B5EF4-FFF2-40B4-BE49-F238E27FC236}">
                <a16:creationId xmlns:a16="http://schemas.microsoft.com/office/drawing/2014/main" id="{DBC5DD57-6377-41E1-B4CA-6E5032B7A48B}"/>
              </a:ext>
            </a:extLst>
          </p:cNvPr>
          <p:cNvSpPr txBox="1">
            <a:spLocks/>
          </p:cNvSpPr>
          <p:nvPr/>
        </p:nvSpPr>
        <p:spPr>
          <a:xfrm>
            <a:off x="326737" y="1279224"/>
            <a:ext cx="10647322" cy="1151596"/>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ea typeface="Cambria Math" panose="02040503050406030204" pitchFamily="18" charset="0"/>
              </a:rPr>
              <a:t>Para la configuración mostrada, la ecuación de lazo cerrado es la siguiente:</a:t>
            </a:r>
            <a:endParaRPr lang="es-AR" sz="1400" dirty="0">
              <a:latin typeface="Bahnschrift" panose="020B0502040204020203" pitchFamily="34" charset="0"/>
            </a:endParaRPr>
          </a:p>
        </p:txBody>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F2AC1237-4539-488D-A853-AF6269CCB0D9}"/>
                  </a:ext>
                </a:extLst>
              </p:cNvPr>
              <p:cNvSpPr txBox="1"/>
              <p:nvPr/>
            </p:nvSpPr>
            <p:spPr>
              <a:xfrm>
                <a:off x="4069964" y="1624934"/>
                <a:ext cx="231890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4</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=0</m:t>
                      </m:r>
                    </m:oMath>
                  </m:oMathPara>
                </a14:m>
                <a:endParaRPr lang="es-AR" dirty="0"/>
              </a:p>
            </p:txBody>
          </p:sp>
        </mc:Choice>
        <mc:Fallback xmlns="">
          <p:sp>
            <p:nvSpPr>
              <p:cNvPr id="16" name="CuadroTexto 15">
                <a:extLst>
                  <a:ext uri="{FF2B5EF4-FFF2-40B4-BE49-F238E27FC236}">
                    <a16:creationId xmlns:a16="http://schemas.microsoft.com/office/drawing/2014/main" id="{F2AC1237-4539-488D-A853-AF6269CCB0D9}"/>
                  </a:ext>
                </a:extLst>
              </p:cNvPr>
              <p:cNvSpPr txBox="1">
                <a:spLocks noRot="1" noChangeAspect="1" noMove="1" noResize="1" noEditPoints="1" noAdjustHandles="1" noChangeArrowheads="1" noChangeShapeType="1" noTextEdit="1"/>
              </p:cNvSpPr>
              <p:nvPr/>
            </p:nvSpPr>
            <p:spPr>
              <a:xfrm>
                <a:off x="4069964" y="1624934"/>
                <a:ext cx="2318905" cy="276999"/>
              </a:xfrm>
              <a:prstGeom prst="rect">
                <a:avLst/>
              </a:prstGeom>
              <a:blipFill>
                <a:blip r:embed="rId2"/>
                <a:stretch>
                  <a:fillRect l="-1842" r="-1579" b="-17778"/>
                </a:stretch>
              </a:blipFill>
            </p:spPr>
            <p:txBody>
              <a:bodyPr/>
              <a:lstStyle/>
              <a:p>
                <a:r>
                  <a:rPr lang="es-AR">
                    <a:noFill/>
                  </a:rPr>
                  <a:t> </a:t>
                </a:r>
              </a:p>
            </p:txBody>
          </p:sp>
        </mc:Fallback>
      </mc:AlternateContent>
      <p:sp>
        <p:nvSpPr>
          <p:cNvPr id="17" name="Marcador de contenido 2">
            <a:extLst>
              <a:ext uri="{FF2B5EF4-FFF2-40B4-BE49-F238E27FC236}">
                <a16:creationId xmlns:a16="http://schemas.microsoft.com/office/drawing/2014/main" id="{3F5F1711-2DB5-4DE9-8196-CA2822A1194A}"/>
              </a:ext>
            </a:extLst>
          </p:cNvPr>
          <p:cNvSpPr txBox="1">
            <a:spLocks/>
          </p:cNvSpPr>
          <p:nvPr/>
        </p:nvSpPr>
        <p:spPr>
          <a:xfrm>
            <a:off x="326737" y="1999795"/>
            <a:ext cx="10647322" cy="38145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Se expresan los vectores con notación polar compleja, y se indican las longitudes con las letras a, b, c y d, dando forma a la </a:t>
            </a:r>
            <a:r>
              <a:rPr lang="es-AR" sz="1400" dirty="0">
                <a:highlight>
                  <a:srgbClr val="FFC000"/>
                </a:highlight>
                <a:latin typeface="Bahnschrift" panose="020B0502040204020203" pitchFamily="34" charset="0"/>
              </a:rPr>
              <a:t>ecuación de </a:t>
            </a:r>
            <a:r>
              <a:rPr lang="es-AR" sz="1400" dirty="0" err="1">
                <a:highlight>
                  <a:srgbClr val="FFC000"/>
                </a:highlight>
                <a:latin typeface="Bahnschrift" panose="020B0502040204020203" pitchFamily="34" charset="0"/>
              </a:rPr>
              <a:t>posicion</a:t>
            </a:r>
            <a:r>
              <a:rPr lang="es-AR" sz="1400" dirty="0">
                <a:latin typeface="Bahnschrift" panose="020B0502040204020203" pitchFamily="34" charset="0"/>
              </a:rPr>
              <a:t>.</a:t>
            </a:r>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616928FD-4BCB-4560-A128-E6B5D9F84900}"/>
                  </a:ext>
                </a:extLst>
              </p:cNvPr>
              <p:cNvSpPr txBox="1"/>
              <p:nvPr/>
            </p:nvSpPr>
            <p:spPr>
              <a:xfrm>
                <a:off x="3368434" y="2383082"/>
                <a:ext cx="3721963" cy="3814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𝑎</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𝑑</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1</m:t>
                              </m:r>
                            </m:sub>
                          </m:sSub>
                        </m:sup>
                      </m:sSup>
                      <m:r>
                        <a:rPr lang="en-US" b="0" i="1" smtClean="0">
                          <a:latin typeface="Cambria Math" panose="02040503050406030204" pitchFamily="18" charset="0"/>
                        </a:rPr>
                        <m:t>=0</m:t>
                      </m:r>
                    </m:oMath>
                  </m:oMathPara>
                </a14:m>
                <a:endParaRPr lang="es-AR" dirty="0"/>
              </a:p>
            </p:txBody>
          </p:sp>
        </mc:Choice>
        <mc:Fallback xmlns="">
          <p:sp>
            <p:nvSpPr>
              <p:cNvPr id="25" name="CuadroTexto 24">
                <a:extLst>
                  <a:ext uri="{FF2B5EF4-FFF2-40B4-BE49-F238E27FC236}">
                    <a16:creationId xmlns:a16="http://schemas.microsoft.com/office/drawing/2014/main" id="{616928FD-4BCB-4560-A128-E6B5D9F84900}"/>
                  </a:ext>
                </a:extLst>
              </p:cNvPr>
              <p:cNvSpPr txBox="1">
                <a:spLocks noRot="1" noChangeAspect="1" noMove="1" noResize="1" noEditPoints="1" noAdjustHandles="1" noChangeArrowheads="1" noChangeShapeType="1" noTextEdit="1"/>
              </p:cNvSpPr>
              <p:nvPr/>
            </p:nvSpPr>
            <p:spPr>
              <a:xfrm>
                <a:off x="3368434" y="2383082"/>
                <a:ext cx="3721963" cy="381451"/>
              </a:xfrm>
              <a:prstGeom prst="rect">
                <a:avLst/>
              </a:prstGeom>
              <a:blipFill>
                <a:blip r:embed="rId3"/>
                <a:stretch>
                  <a:fillRect/>
                </a:stretch>
              </a:blipFill>
            </p:spPr>
            <p:txBody>
              <a:bodyPr/>
              <a:lstStyle/>
              <a:p>
                <a:r>
                  <a:rPr lang="es-AR">
                    <a:noFill/>
                  </a:rPr>
                  <a:t> </a:t>
                </a:r>
              </a:p>
            </p:txBody>
          </p:sp>
        </mc:Fallback>
      </mc:AlternateContent>
      <p:sp>
        <p:nvSpPr>
          <p:cNvPr id="7" name="Marcador de contenido 2">
            <a:extLst>
              <a:ext uri="{FF2B5EF4-FFF2-40B4-BE49-F238E27FC236}">
                <a16:creationId xmlns:a16="http://schemas.microsoft.com/office/drawing/2014/main" id="{A7D1918A-DCF7-4B61-A92E-6A2C09E7CF05}"/>
              </a:ext>
            </a:extLst>
          </p:cNvPr>
          <p:cNvSpPr txBox="1">
            <a:spLocks/>
          </p:cNvSpPr>
          <p:nvPr/>
        </p:nvSpPr>
        <p:spPr>
          <a:xfrm>
            <a:off x="326737" y="2791469"/>
            <a:ext cx="10647322" cy="38145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Se deriva esta ecuación respecto al tiempo para obtener la </a:t>
            </a:r>
            <a:r>
              <a:rPr lang="es-AR" sz="1400" dirty="0">
                <a:highlight>
                  <a:srgbClr val="FFC000"/>
                </a:highlight>
                <a:latin typeface="Bahnschrift" panose="020B0502040204020203" pitchFamily="34" charset="0"/>
              </a:rPr>
              <a:t>velocidad</a:t>
            </a:r>
            <a:r>
              <a:rPr lang="es-AR" sz="1400" dirty="0">
                <a:latin typeface="Bahnschrift" panose="020B0502040204020203" pitchFamily="34" charset="0"/>
              </a:rPr>
              <a:t>.</a:t>
            </a: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FC4B5D70-6A28-4F5A-87BA-05DF816C0826}"/>
                  </a:ext>
                </a:extLst>
              </p:cNvPr>
              <p:cNvSpPr txBox="1"/>
              <p:nvPr/>
            </p:nvSpPr>
            <p:spPr>
              <a:xfrm>
                <a:off x="3081485" y="3145759"/>
                <a:ext cx="4295860" cy="3814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𝑗</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2</m:t>
                          </m:r>
                        </m:sub>
                      </m:sSub>
                      <m:r>
                        <a:rPr lang="en-US" i="1" smtClean="0">
                          <a:latin typeface="Cambria Math" panose="02040503050406030204" pitchFamily="18" charset="0"/>
                        </a:rPr>
                        <m:t>𝑎</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𝑗</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𝑏</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sup>
                      </m:s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𝑗</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𝑐</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sup>
                      </m:sSup>
                      <m:r>
                        <a:rPr lang="en-US" b="0" i="1" smtClean="0">
                          <a:latin typeface="Cambria Math" panose="02040503050406030204" pitchFamily="18" charset="0"/>
                        </a:rPr>
                        <m:t>=0</m:t>
                      </m:r>
                    </m:oMath>
                  </m:oMathPara>
                </a14:m>
                <a:endParaRPr lang="es-AR" dirty="0"/>
              </a:p>
            </p:txBody>
          </p:sp>
        </mc:Choice>
        <mc:Fallback xmlns="">
          <p:sp>
            <p:nvSpPr>
              <p:cNvPr id="8" name="CuadroTexto 7">
                <a:extLst>
                  <a:ext uri="{FF2B5EF4-FFF2-40B4-BE49-F238E27FC236}">
                    <a16:creationId xmlns:a16="http://schemas.microsoft.com/office/drawing/2014/main" id="{FC4B5D70-6A28-4F5A-87BA-05DF816C0826}"/>
                  </a:ext>
                </a:extLst>
              </p:cNvPr>
              <p:cNvSpPr txBox="1">
                <a:spLocks noRot="1" noChangeAspect="1" noMove="1" noResize="1" noEditPoints="1" noAdjustHandles="1" noChangeArrowheads="1" noChangeShapeType="1" noTextEdit="1"/>
              </p:cNvSpPr>
              <p:nvPr/>
            </p:nvSpPr>
            <p:spPr>
              <a:xfrm>
                <a:off x="3081485" y="3145759"/>
                <a:ext cx="4295860" cy="381451"/>
              </a:xfrm>
              <a:prstGeom prst="rect">
                <a:avLst/>
              </a:prstGeom>
              <a:blipFill>
                <a:blip r:embed="rId4"/>
                <a:stretch>
                  <a:fillRect b="-1428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Marcador de contenido 2">
                <a:extLst>
                  <a:ext uri="{FF2B5EF4-FFF2-40B4-BE49-F238E27FC236}">
                    <a16:creationId xmlns:a16="http://schemas.microsoft.com/office/drawing/2014/main" id="{C50760E2-727C-44D6-A024-A8C3CCC098A9}"/>
                  </a:ext>
                </a:extLst>
              </p:cNvPr>
              <p:cNvSpPr txBox="1">
                <a:spLocks/>
              </p:cNvSpPr>
              <p:nvPr/>
            </p:nvSpPr>
            <p:spPr>
              <a:xfrm>
                <a:off x="326737" y="3591939"/>
                <a:ext cx="10647322" cy="38145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Se deriva esta ecuación respecto al tiempo para obtener la </a:t>
                </a:r>
                <a:r>
                  <a:rPr lang="es-AR" sz="1400" dirty="0">
                    <a:highlight>
                      <a:srgbClr val="FFC000"/>
                    </a:highlight>
                    <a:latin typeface="Bahnschrift" panose="020B0502040204020203" pitchFamily="34" charset="0"/>
                  </a:rPr>
                  <a:t>aceleración</a:t>
                </a:r>
                <a:r>
                  <a:rPr lang="es-AR" sz="1400" dirty="0">
                    <a:latin typeface="Bahnschrift" panose="020B0502040204020203" pitchFamily="34" charset="0"/>
                  </a:rPr>
                  <a:t>, teniendo en cuenta que </a:t>
                </a:r>
                <a14:m>
                  <m:oMath xmlns:m="http://schemas.openxmlformats.org/officeDocument/2006/math">
                    <m:r>
                      <a:rPr lang="en-US" sz="1400" i="1" smtClean="0">
                        <a:latin typeface="Cambria Math" panose="02040503050406030204" pitchFamily="18" charset="0"/>
                        <a:ea typeface="Cambria Math" panose="02040503050406030204" pitchFamily="18" charset="0"/>
                      </a:rPr>
                      <m:t>𝜃</m:t>
                    </m:r>
                  </m:oMath>
                </a14:m>
                <a:r>
                  <a:rPr lang="es-AR" sz="1400" dirty="0">
                    <a:latin typeface="Bahnschrift" panose="020B0502040204020203" pitchFamily="34" charset="0"/>
                  </a:rPr>
                  <a:t> y </a:t>
                </a:r>
                <a14:m>
                  <m:oMath xmlns:m="http://schemas.openxmlformats.org/officeDocument/2006/math">
                    <m:r>
                      <a:rPr lang="en-US" sz="1400" i="1">
                        <a:latin typeface="Cambria Math" panose="02040503050406030204" pitchFamily="18" charset="0"/>
                      </a:rPr>
                      <m:t>𝜔</m:t>
                    </m:r>
                  </m:oMath>
                </a14:m>
                <a:r>
                  <a:rPr lang="es-AR" sz="1400" dirty="0">
                    <a:latin typeface="Bahnschrift" panose="020B0502040204020203" pitchFamily="34" charset="0"/>
                  </a:rPr>
                  <a:t> son función del tiempo.</a:t>
                </a:r>
              </a:p>
            </p:txBody>
          </p:sp>
        </mc:Choice>
        <mc:Fallback xmlns="">
          <p:sp>
            <p:nvSpPr>
              <p:cNvPr id="10" name="Marcador de contenido 2">
                <a:extLst>
                  <a:ext uri="{FF2B5EF4-FFF2-40B4-BE49-F238E27FC236}">
                    <a16:creationId xmlns:a16="http://schemas.microsoft.com/office/drawing/2014/main" id="{C50760E2-727C-44D6-A024-A8C3CCC098A9}"/>
                  </a:ext>
                </a:extLst>
              </p:cNvPr>
              <p:cNvSpPr txBox="1">
                <a:spLocks noRot="1" noChangeAspect="1" noMove="1" noResize="1" noEditPoints="1" noAdjustHandles="1" noChangeArrowheads="1" noChangeShapeType="1" noTextEdit="1"/>
              </p:cNvSpPr>
              <p:nvPr/>
            </p:nvSpPr>
            <p:spPr>
              <a:xfrm>
                <a:off x="326737" y="3591939"/>
                <a:ext cx="10647322" cy="381451"/>
              </a:xfrm>
              <a:prstGeom prst="rect">
                <a:avLst/>
              </a:prstGeom>
              <a:blipFill>
                <a:blip r:embed="rId5"/>
                <a:stretch>
                  <a:fillRect t="-634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B918AC39-F5B2-4C54-A591-9EEC6B133F85}"/>
                  </a:ext>
                </a:extLst>
              </p:cNvPr>
              <p:cNvSpPr txBox="1"/>
              <p:nvPr/>
            </p:nvSpPr>
            <p:spPr>
              <a:xfrm>
                <a:off x="593075" y="3987426"/>
                <a:ext cx="9272680" cy="404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𝑗</m:t>
                              </m:r>
                            </m:e>
                            <m:sup>
                              <m:r>
                                <a:rPr lang="en-US" b="0" i="1" smtClean="0">
                                  <a:latin typeface="Cambria Math" panose="02040503050406030204" pitchFamily="18" charset="0"/>
                                </a:rPr>
                                <m:t>2</m:t>
                              </m:r>
                            </m:sup>
                          </m:sSup>
                          <m:r>
                            <a:rPr lang="en-US" b="0" i="1" smtClean="0">
                              <a:latin typeface="Cambria Math" panose="02040503050406030204" pitchFamily="18" charset="0"/>
                            </a:rPr>
                            <m:t>𝑎</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𝜔</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𝑗𝑎</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2</m:t>
                              </m:r>
                            </m:sub>
                          </m:sSub>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sup>
                          </m:sSup>
                        </m:e>
                      </m:d>
                      <m:r>
                        <a:rPr lang="en-US" b="0" i="1" smtClean="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𝑗</m:t>
                              </m:r>
                            </m:e>
                            <m:sup>
                              <m:r>
                                <a:rPr lang="en-US" i="1">
                                  <a:latin typeface="Cambria Math" panose="02040503050406030204" pitchFamily="18" charset="0"/>
                                </a:rPr>
                                <m:t>2</m:t>
                              </m:r>
                            </m:sup>
                          </m:sSup>
                          <m:r>
                            <a:rPr lang="en-US" b="0" i="1" smtClean="0">
                              <a:latin typeface="Cambria Math" panose="02040503050406030204" pitchFamily="18" charset="0"/>
                            </a:rPr>
                            <m:t>𝑏</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b="0" i="1" smtClean="0">
                                  <a:latin typeface="Cambria Math" panose="02040503050406030204" pitchFamily="18" charset="0"/>
                                </a:rPr>
                                <m:t>3</m:t>
                              </m:r>
                            </m:sub>
                            <m:sup>
                              <m:r>
                                <a:rPr lang="en-US" i="1">
                                  <a:latin typeface="Cambria Math" panose="02040503050406030204" pitchFamily="18" charset="0"/>
                                </a:rPr>
                                <m:t>2</m:t>
                              </m:r>
                            </m:sup>
                          </m:sSub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𝑗𝑏</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3</m:t>
                              </m:r>
                            </m:sub>
                          </m:sSub>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sup>
                          </m:sSup>
                        </m:e>
                      </m:d>
                      <m:r>
                        <a:rPr lang="en-US" b="0" i="1" smtClean="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𝑗</m:t>
                              </m:r>
                            </m:e>
                            <m:sup>
                              <m:r>
                                <a:rPr lang="en-US" i="1">
                                  <a:latin typeface="Cambria Math" panose="02040503050406030204" pitchFamily="18" charset="0"/>
                                </a:rPr>
                                <m:t>2</m:t>
                              </m:r>
                            </m:sup>
                          </m:sSup>
                          <m:r>
                            <a:rPr lang="en-US" b="0" i="1" smtClean="0">
                              <a:latin typeface="Cambria Math" panose="02040503050406030204" pitchFamily="18" charset="0"/>
                            </a:rPr>
                            <m:t>𝑐</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b="0" i="1" smtClean="0">
                                  <a:latin typeface="Cambria Math" panose="02040503050406030204" pitchFamily="18" charset="0"/>
                                </a:rPr>
                                <m:t>4</m:t>
                              </m:r>
                            </m:sub>
                            <m:sup>
                              <m:r>
                                <a:rPr lang="en-US" i="1">
                                  <a:latin typeface="Cambria Math" panose="02040503050406030204" pitchFamily="18" charset="0"/>
                                </a:rPr>
                                <m:t>2</m:t>
                              </m:r>
                            </m:sup>
                          </m:sSub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𝑗𝑐</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4</m:t>
                              </m:r>
                            </m:sub>
                          </m:sSub>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sup>
                          </m:sSup>
                        </m:e>
                      </m:d>
                      <m:r>
                        <a:rPr lang="en-US" b="0" i="1" smtClean="0">
                          <a:latin typeface="Cambria Math" panose="02040503050406030204" pitchFamily="18" charset="0"/>
                        </a:rPr>
                        <m:t>=0</m:t>
                      </m:r>
                    </m:oMath>
                  </m:oMathPara>
                </a14:m>
                <a:endParaRPr lang="es-AR" dirty="0"/>
              </a:p>
            </p:txBody>
          </p:sp>
        </mc:Choice>
        <mc:Fallback xmlns="">
          <p:sp>
            <p:nvSpPr>
              <p:cNvPr id="13" name="CuadroTexto 12">
                <a:extLst>
                  <a:ext uri="{FF2B5EF4-FFF2-40B4-BE49-F238E27FC236}">
                    <a16:creationId xmlns:a16="http://schemas.microsoft.com/office/drawing/2014/main" id="{B918AC39-F5B2-4C54-A591-9EEC6B133F85}"/>
                  </a:ext>
                </a:extLst>
              </p:cNvPr>
              <p:cNvSpPr txBox="1">
                <a:spLocks noRot="1" noChangeAspect="1" noMove="1" noResize="1" noEditPoints="1" noAdjustHandles="1" noChangeArrowheads="1" noChangeShapeType="1" noTextEdit="1"/>
              </p:cNvSpPr>
              <p:nvPr/>
            </p:nvSpPr>
            <p:spPr>
              <a:xfrm>
                <a:off x="593075" y="3987426"/>
                <a:ext cx="9272680" cy="404983"/>
              </a:xfrm>
              <a:prstGeom prst="rect">
                <a:avLst/>
              </a:prstGeom>
              <a:blipFill>
                <a:blip r:embed="rId6"/>
                <a:stretch>
                  <a:fillRect b="-895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6DFE991B-3896-4363-B1E6-53556D2DE056}"/>
                  </a:ext>
                </a:extLst>
              </p:cNvPr>
              <p:cNvSpPr txBox="1"/>
              <p:nvPr/>
            </p:nvSpPr>
            <p:spPr>
              <a:xfrm>
                <a:off x="593075" y="4475106"/>
                <a:ext cx="9272680" cy="404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𝑗𝑎</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2</m:t>
                              </m:r>
                            </m:sub>
                          </m:sSub>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𝑎</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2</m:t>
                              </m:r>
                            </m:sub>
                            <m:sup>
                              <m:r>
                                <a:rPr lang="en-US" i="1">
                                  <a:latin typeface="Cambria Math" panose="02040503050406030204" pitchFamily="18" charset="0"/>
                                </a:rPr>
                                <m:t>2</m:t>
                              </m:r>
                            </m:sup>
                          </m:sSub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sup>
                          </m:sSup>
                        </m:e>
                      </m:d>
                      <m:r>
                        <a:rPr lang="en-US" b="0" i="1" smtClean="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𝑗𝑏</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3</m:t>
                              </m:r>
                            </m:sub>
                          </m:sSub>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sup>
                          </m:s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𝑏</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3</m:t>
                              </m:r>
                            </m:sub>
                            <m:sup>
                              <m:r>
                                <a:rPr lang="en-US" i="1">
                                  <a:latin typeface="Cambria Math" panose="02040503050406030204" pitchFamily="18" charset="0"/>
                                </a:rPr>
                                <m:t>2</m:t>
                              </m:r>
                            </m:sup>
                          </m:sSub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sup>
                          </m:sSup>
                        </m:e>
                      </m:d>
                      <m:r>
                        <a:rPr lang="en-US" b="0" i="1" smtClean="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𝑐</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4</m:t>
                              </m:r>
                            </m:sub>
                          </m:sSub>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sup>
                          </m:s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𝑐</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4</m:t>
                              </m:r>
                            </m:sub>
                            <m:sup>
                              <m:r>
                                <a:rPr lang="en-US" i="1">
                                  <a:latin typeface="Cambria Math" panose="02040503050406030204" pitchFamily="18" charset="0"/>
                                </a:rPr>
                                <m:t>2</m:t>
                              </m:r>
                            </m:sup>
                          </m:sSub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4</m:t>
                                  </m:r>
                                </m:sub>
                              </m:sSub>
                            </m:sup>
                          </m:sSup>
                        </m:e>
                      </m:d>
                      <m:r>
                        <a:rPr lang="en-US" b="0" i="1" smtClean="0">
                          <a:latin typeface="Cambria Math" panose="02040503050406030204" pitchFamily="18" charset="0"/>
                        </a:rPr>
                        <m:t>=0</m:t>
                      </m:r>
                    </m:oMath>
                  </m:oMathPara>
                </a14:m>
                <a:endParaRPr lang="es-AR" dirty="0"/>
              </a:p>
            </p:txBody>
          </p:sp>
        </mc:Choice>
        <mc:Fallback xmlns="">
          <p:sp>
            <p:nvSpPr>
              <p:cNvPr id="15" name="CuadroTexto 14">
                <a:extLst>
                  <a:ext uri="{FF2B5EF4-FFF2-40B4-BE49-F238E27FC236}">
                    <a16:creationId xmlns:a16="http://schemas.microsoft.com/office/drawing/2014/main" id="{6DFE991B-3896-4363-B1E6-53556D2DE056}"/>
                  </a:ext>
                </a:extLst>
              </p:cNvPr>
              <p:cNvSpPr txBox="1">
                <a:spLocks noRot="1" noChangeAspect="1" noMove="1" noResize="1" noEditPoints="1" noAdjustHandles="1" noChangeArrowheads="1" noChangeShapeType="1" noTextEdit="1"/>
              </p:cNvSpPr>
              <p:nvPr/>
            </p:nvSpPr>
            <p:spPr>
              <a:xfrm>
                <a:off x="593075" y="4475106"/>
                <a:ext cx="9272680" cy="404983"/>
              </a:xfrm>
              <a:prstGeom prst="rect">
                <a:avLst/>
              </a:prstGeom>
              <a:blipFill>
                <a:blip r:embed="rId7"/>
                <a:stretch>
                  <a:fillRect b="-8955"/>
                </a:stretch>
              </a:blipFill>
            </p:spPr>
            <p:txBody>
              <a:bodyPr/>
              <a:lstStyle/>
              <a:p>
                <a:r>
                  <a:rPr lang="es-AR">
                    <a:noFill/>
                  </a:rPr>
                  <a:t> </a:t>
                </a:r>
              </a:p>
            </p:txBody>
          </p:sp>
        </mc:Fallback>
      </mc:AlternateContent>
      <p:sp>
        <p:nvSpPr>
          <p:cNvPr id="23" name="Marcador de contenido 2">
            <a:extLst>
              <a:ext uri="{FF2B5EF4-FFF2-40B4-BE49-F238E27FC236}">
                <a16:creationId xmlns:a16="http://schemas.microsoft.com/office/drawing/2014/main" id="{992DB169-1B1A-43DE-836C-AEBC263C0664}"/>
              </a:ext>
            </a:extLst>
          </p:cNvPr>
          <p:cNvSpPr txBox="1">
            <a:spLocks/>
          </p:cNvSpPr>
          <p:nvPr/>
        </p:nvSpPr>
        <p:spPr>
          <a:xfrm>
            <a:off x="326737" y="4962786"/>
            <a:ext cx="8542055" cy="38145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Esta ultima ecuación representa la ecuación de diferencia de aceleraciones de la forma </a:t>
            </a:r>
            <a:r>
              <a:rPr lang="es-AR" sz="1400" dirty="0">
                <a:highlight>
                  <a:srgbClr val="FFC000"/>
                </a:highlight>
                <a:latin typeface="Bahnschrift" panose="020B0502040204020203" pitchFamily="34" charset="0"/>
              </a:rPr>
              <a:t>A</a:t>
            </a:r>
            <a:r>
              <a:rPr lang="es-AR" sz="1400" baseline="-25000" dirty="0">
                <a:highlight>
                  <a:srgbClr val="FFC000"/>
                </a:highlight>
                <a:latin typeface="Bahnschrift" panose="020B0502040204020203" pitchFamily="34" charset="0"/>
              </a:rPr>
              <a:t>A</a:t>
            </a:r>
            <a:r>
              <a:rPr lang="es-AR" sz="1400" dirty="0">
                <a:highlight>
                  <a:srgbClr val="FFC000"/>
                </a:highlight>
                <a:latin typeface="Bahnschrift" panose="020B0502040204020203" pitchFamily="34" charset="0"/>
              </a:rPr>
              <a:t>+A</a:t>
            </a:r>
            <a:r>
              <a:rPr lang="es-AR" sz="1400" baseline="-25000" dirty="0">
                <a:highlight>
                  <a:srgbClr val="FFC000"/>
                </a:highlight>
                <a:latin typeface="Bahnschrift" panose="020B0502040204020203" pitchFamily="34" charset="0"/>
              </a:rPr>
              <a:t>BA</a:t>
            </a:r>
            <a:r>
              <a:rPr lang="es-AR" sz="1400" dirty="0">
                <a:highlight>
                  <a:srgbClr val="FFC000"/>
                </a:highlight>
                <a:latin typeface="Bahnschrift" panose="020B0502040204020203" pitchFamily="34" charset="0"/>
              </a:rPr>
              <a:t>-A</a:t>
            </a:r>
            <a:r>
              <a:rPr lang="es-AR" sz="1400" baseline="-25000" dirty="0">
                <a:highlight>
                  <a:srgbClr val="FFC000"/>
                </a:highlight>
                <a:latin typeface="Bahnschrift" panose="020B0502040204020203" pitchFamily="34" charset="0"/>
              </a:rPr>
              <a:t>B</a:t>
            </a:r>
            <a:r>
              <a:rPr lang="es-AR" sz="1400" dirty="0">
                <a:highlight>
                  <a:srgbClr val="FFC000"/>
                </a:highlight>
                <a:latin typeface="Bahnschrift" panose="020B0502040204020203" pitchFamily="34" charset="0"/>
              </a:rPr>
              <a:t>=0</a:t>
            </a:r>
            <a:r>
              <a:rPr lang="es-AR" sz="1400" dirty="0">
                <a:latin typeface="Bahnschrift" panose="020B0502040204020203" pitchFamily="34" charset="0"/>
              </a:rPr>
              <a:t>, donde se aprecian las componentes normales y tangenciales correspondiente a cada termino.</a:t>
            </a:r>
          </a:p>
        </p:txBody>
      </p:sp>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2316B466-098A-47CE-B0AF-0EB75FE4408A}"/>
                  </a:ext>
                </a:extLst>
              </p:cNvPr>
              <p:cNvSpPr txBox="1"/>
              <p:nvPr/>
            </p:nvSpPr>
            <p:spPr>
              <a:xfrm>
                <a:off x="1295309" y="5522760"/>
                <a:ext cx="6073988" cy="3726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𝐴</m:t>
                              </m:r>
                            </m:sub>
                            <m:sup>
                              <m:r>
                                <a:rPr lang="en-US" b="0" i="1" smtClean="0">
                                  <a:latin typeface="Cambria Math" panose="02040503050406030204" pitchFamily="18" charset="0"/>
                                  <a:ea typeface="Cambria Math" panose="02040503050406030204" pitchFamily="18" charset="0"/>
                                </a:rPr>
                                <m:t>𝑡</m:t>
                              </m:r>
                            </m:sup>
                          </m:sSubSup>
                          <m:r>
                            <a:rPr lang="en-US" b="0" i="1" smtClean="0">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𝐴</m:t>
                              </m:r>
                            </m:sub>
                            <m:sup>
                              <m:r>
                                <a:rPr lang="en-US" b="0" i="1" smtClean="0">
                                  <a:latin typeface="Cambria Math" panose="02040503050406030204" pitchFamily="18" charset="0"/>
                                  <a:ea typeface="Cambria Math" panose="02040503050406030204" pitchFamily="18" charset="0"/>
                                </a:rPr>
                                <m:t>𝑛</m:t>
                              </m:r>
                            </m:sup>
                          </m:sSubSup>
                        </m:e>
                      </m:d>
                      <m:r>
                        <a:rPr lang="en-US" b="0" i="1" smtClean="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rPr>
                          </m:ctrlPr>
                        </m:dPr>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𝐵</m:t>
                              </m:r>
                              <m:r>
                                <a:rPr lang="en-US" i="1">
                                  <a:latin typeface="Cambria Math" panose="02040503050406030204" pitchFamily="18" charset="0"/>
                                  <a:ea typeface="Cambria Math" panose="02040503050406030204" pitchFamily="18" charset="0"/>
                                </a:rPr>
                                <m:t>𝐴</m:t>
                              </m:r>
                            </m:sub>
                            <m:sup>
                              <m:r>
                                <a:rPr lang="en-US" i="1">
                                  <a:latin typeface="Cambria Math" panose="02040503050406030204" pitchFamily="18" charset="0"/>
                                  <a:ea typeface="Cambria Math" panose="02040503050406030204" pitchFamily="18" charset="0"/>
                                </a:rPr>
                                <m:t>𝑡</m:t>
                              </m:r>
                            </m:sup>
                          </m:sSubSup>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𝐵</m:t>
                              </m:r>
                              <m:r>
                                <a:rPr lang="en-US" i="1">
                                  <a:latin typeface="Cambria Math" panose="02040503050406030204" pitchFamily="18" charset="0"/>
                                  <a:ea typeface="Cambria Math" panose="02040503050406030204" pitchFamily="18" charset="0"/>
                                </a:rPr>
                                <m:t>𝐴</m:t>
                              </m:r>
                            </m:sub>
                            <m:sup>
                              <m:r>
                                <a:rPr lang="en-US" i="1">
                                  <a:latin typeface="Cambria Math" panose="02040503050406030204" pitchFamily="18" charset="0"/>
                                  <a:ea typeface="Cambria Math" panose="02040503050406030204" pitchFamily="18" charset="0"/>
                                </a:rPr>
                                <m:t>𝑛</m:t>
                              </m:r>
                            </m:sup>
                          </m:sSubSup>
                        </m:e>
                      </m:d>
                      <m:r>
                        <a:rPr lang="en-US" b="0" i="1" smtClean="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rPr>
                          </m:ctrlPr>
                        </m:dPr>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𝐵</m:t>
                              </m:r>
                            </m:sub>
                            <m:sup>
                              <m:r>
                                <a:rPr lang="en-US" i="1">
                                  <a:latin typeface="Cambria Math" panose="02040503050406030204" pitchFamily="18" charset="0"/>
                                  <a:ea typeface="Cambria Math" panose="02040503050406030204" pitchFamily="18" charset="0"/>
                                </a:rPr>
                                <m:t>𝑡</m:t>
                              </m:r>
                            </m:sup>
                          </m:sSubSup>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𝐵</m:t>
                              </m:r>
                            </m:sub>
                            <m:sup>
                              <m:r>
                                <a:rPr lang="en-US" i="1">
                                  <a:latin typeface="Cambria Math" panose="02040503050406030204" pitchFamily="18" charset="0"/>
                                  <a:ea typeface="Cambria Math" panose="02040503050406030204" pitchFamily="18" charset="0"/>
                                </a:rPr>
                                <m:t>𝑛</m:t>
                              </m:r>
                            </m:sup>
                          </m:sSubSup>
                        </m:e>
                      </m:d>
                      <m:r>
                        <a:rPr lang="en-US" b="0" i="1" smtClean="0">
                          <a:latin typeface="Cambria Math" panose="02040503050406030204" pitchFamily="18" charset="0"/>
                        </a:rPr>
                        <m:t>=0</m:t>
                      </m:r>
                    </m:oMath>
                  </m:oMathPara>
                </a14:m>
                <a:endParaRPr lang="es-AR" dirty="0"/>
              </a:p>
            </p:txBody>
          </p:sp>
        </mc:Choice>
        <mc:Fallback xmlns="">
          <p:sp>
            <p:nvSpPr>
              <p:cNvPr id="27" name="CuadroTexto 26">
                <a:extLst>
                  <a:ext uri="{FF2B5EF4-FFF2-40B4-BE49-F238E27FC236}">
                    <a16:creationId xmlns:a16="http://schemas.microsoft.com/office/drawing/2014/main" id="{2316B466-098A-47CE-B0AF-0EB75FE4408A}"/>
                  </a:ext>
                </a:extLst>
              </p:cNvPr>
              <p:cNvSpPr txBox="1">
                <a:spLocks noRot="1" noChangeAspect="1" noMove="1" noResize="1" noEditPoints="1" noAdjustHandles="1" noChangeArrowheads="1" noChangeShapeType="1" noTextEdit="1"/>
              </p:cNvSpPr>
              <p:nvPr/>
            </p:nvSpPr>
            <p:spPr>
              <a:xfrm>
                <a:off x="1295309" y="5522760"/>
                <a:ext cx="6073988" cy="372666"/>
              </a:xfrm>
              <a:prstGeom prst="rect">
                <a:avLst/>
              </a:prstGeom>
              <a:blipFill>
                <a:blip r:embed="rId8"/>
                <a:stretch>
                  <a:fillRect b="-3279"/>
                </a:stretch>
              </a:blipFill>
            </p:spPr>
            <p:txBody>
              <a:bodyPr/>
              <a:lstStyle/>
              <a:p>
                <a:r>
                  <a:rPr lang="es-AR">
                    <a:noFill/>
                  </a:rPr>
                  <a:t> </a:t>
                </a:r>
              </a:p>
            </p:txBody>
          </p:sp>
        </mc:Fallback>
      </mc:AlternateContent>
      <p:pic>
        <p:nvPicPr>
          <p:cNvPr id="29" name="Imagen 28">
            <a:extLst>
              <a:ext uri="{FF2B5EF4-FFF2-40B4-BE49-F238E27FC236}">
                <a16:creationId xmlns:a16="http://schemas.microsoft.com/office/drawing/2014/main" id="{8CEBB542-A23E-41DE-8004-D5376415A58D}"/>
              </a:ext>
            </a:extLst>
          </p:cNvPr>
          <p:cNvPicPr>
            <a:picLocks noChangeAspect="1"/>
          </p:cNvPicPr>
          <p:nvPr/>
        </p:nvPicPr>
        <p:blipFill rotWithShape="1">
          <a:blip r:embed="rId9"/>
          <a:srcRect l="72993" t="14893" r="2286" b="15132"/>
          <a:stretch/>
        </p:blipFill>
        <p:spPr>
          <a:xfrm>
            <a:off x="9140469" y="4441069"/>
            <a:ext cx="1970479" cy="2275413"/>
          </a:xfrm>
          <a:prstGeom prst="rect">
            <a:avLst/>
          </a:prstGeom>
        </p:spPr>
      </p:pic>
      <p:sp>
        <p:nvSpPr>
          <p:cNvPr id="30" name="Marcador de contenido 2">
            <a:extLst>
              <a:ext uri="{FF2B5EF4-FFF2-40B4-BE49-F238E27FC236}">
                <a16:creationId xmlns:a16="http://schemas.microsoft.com/office/drawing/2014/main" id="{D7EA3E9A-7558-471B-BB8F-8B160C4B6D12}"/>
              </a:ext>
            </a:extLst>
          </p:cNvPr>
          <p:cNvSpPr txBox="1">
            <a:spLocks/>
          </p:cNvSpPr>
          <p:nvPr/>
        </p:nvSpPr>
        <p:spPr>
          <a:xfrm>
            <a:off x="326736" y="5970787"/>
            <a:ext cx="8542055" cy="38145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Cada uno de los componentes de la aceleración en la ecuación anterior pueden apreciarse en solución obtenida a través del trazado grafico.</a:t>
            </a:r>
          </a:p>
        </p:txBody>
      </p:sp>
    </p:spTree>
    <p:extLst>
      <p:ext uri="{BB962C8B-B14F-4D97-AF65-F5344CB8AC3E}">
        <p14:creationId xmlns:p14="http://schemas.microsoft.com/office/powerpoint/2010/main" val="2470546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3" grpId="0"/>
      <p:bldP spid="15" grpId="0"/>
      <p:bldP spid="23" grpId="0"/>
      <p:bldP spid="27" grpId="0"/>
      <p:bldP spid="3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2CCAE51A-2BA3-4542-9556-57577F336225}"/>
              </a:ext>
            </a:extLst>
          </p:cNvPr>
          <p:cNvSpPr/>
          <p:nvPr/>
        </p:nvSpPr>
        <p:spPr>
          <a:xfrm>
            <a:off x="-1" y="853440"/>
            <a:ext cx="4332304"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9329529" cy="684362"/>
          </a:xfrm>
        </p:spPr>
        <p:txBody>
          <a:bodyPr>
            <a:normAutofit fontScale="90000"/>
          </a:bodyPr>
          <a:lstStyle/>
          <a:p>
            <a:r>
              <a:rPr lang="es-AR" sz="6000" b="1" dirty="0">
                <a:latin typeface="Bahnschrift" panose="020B0502040204020203" pitchFamily="34" charset="0"/>
              </a:rPr>
              <a:t>ANÁLISIS DE ACELERACIÓN</a:t>
            </a:r>
          </a:p>
        </p:txBody>
      </p:sp>
      <p:sp>
        <p:nvSpPr>
          <p:cNvPr id="3" name="Marcador de contenido 2"/>
          <p:cNvSpPr>
            <a:spLocks noGrp="1"/>
          </p:cNvSpPr>
          <p:nvPr>
            <p:ph idx="1"/>
          </p:nvPr>
        </p:nvSpPr>
        <p:spPr>
          <a:xfrm>
            <a:off x="116312" y="830016"/>
            <a:ext cx="4153847" cy="466124"/>
          </a:xfrm>
        </p:spPr>
        <p:txBody>
          <a:bodyPr>
            <a:normAutofit/>
          </a:bodyPr>
          <a:lstStyle/>
          <a:p>
            <a:pPr marL="0" indent="0">
              <a:buNone/>
            </a:pPr>
            <a:r>
              <a:rPr lang="es-AR" sz="2400" b="1" dirty="0">
                <a:latin typeface="Bahnschrift" panose="020B0502040204020203" pitchFamily="34" charset="0"/>
              </a:rPr>
              <a:t>DETERMINACIÓ</a:t>
            </a:r>
            <a:r>
              <a:rPr lang="en-US" sz="2400" b="1" dirty="0">
                <a:latin typeface="Bahnschrift" panose="020B0502040204020203" pitchFamily="34" charset="0"/>
              </a:rPr>
              <a:t>N ANAL</a:t>
            </a:r>
            <a:r>
              <a:rPr lang="es-AR" sz="2400" b="1" dirty="0">
                <a:latin typeface="Bahnschrift" panose="020B0502040204020203" pitchFamily="34" charset="0"/>
              </a:rPr>
              <a:t>Í</a:t>
            </a:r>
            <a:r>
              <a:rPr lang="en-US" sz="2400" b="1" dirty="0">
                <a:latin typeface="Bahnschrift" panose="020B0502040204020203" pitchFamily="34" charset="0"/>
              </a:rPr>
              <a:t>TICA</a:t>
            </a:r>
            <a:endParaRPr lang="es-AR" sz="2400" b="1" dirty="0">
              <a:latin typeface="Bahnschrift" panose="020B0502040204020203" pitchFamily="34" charset="0"/>
            </a:endParaRPr>
          </a:p>
        </p:txBody>
      </p:sp>
      <p:sp>
        <p:nvSpPr>
          <p:cNvPr id="4" name="Marcador de contenido 2">
            <a:extLst>
              <a:ext uri="{FF2B5EF4-FFF2-40B4-BE49-F238E27FC236}">
                <a16:creationId xmlns:a16="http://schemas.microsoft.com/office/drawing/2014/main" id="{6F29601B-6F87-4863-8F58-E656D3704523}"/>
              </a:ext>
            </a:extLst>
          </p:cNvPr>
          <p:cNvSpPr txBox="1">
            <a:spLocks/>
          </p:cNvSpPr>
          <p:nvPr/>
        </p:nvSpPr>
        <p:spPr>
          <a:xfrm>
            <a:off x="632265" y="131024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mc:AlternateContent xmlns:mc="http://schemas.openxmlformats.org/markup-compatibility/2006" xmlns:a14="http://schemas.microsoft.com/office/drawing/2010/main">
        <mc:Choice Requires="a14">
          <p:sp>
            <p:nvSpPr>
              <p:cNvPr id="18" name="Marcador de contenido 2">
                <a:extLst>
                  <a:ext uri="{FF2B5EF4-FFF2-40B4-BE49-F238E27FC236}">
                    <a16:creationId xmlns:a16="http://schemas.microsoft.com/office/drawing/2014/main" id="{DBC5DD57-6377-41E1-B4CA-6E5032B7A48B}"/>
                  </a:ext>
                </a:extLst>
              </p:cNvPr>
              <p:cNvSpPr txBox="1">
                <a:spLocks/>
              </p:cNvSpPr>
              <p:nvPr/>
            </p:nvSpPr>
            <p:spPr>
              <a:xfrm>
                <a:off x="326737" y="1279224"/>
                <a:ext cx="10647322" cy="1151596"/>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ea typeface="Cambria Math" panose="02040503050406030204" pitchFamily="18" charset="0"/>
                  </a:rPr>
                  <a:t>Las </a:t>
                </a:r>
                <a:r>
                  <a:rPr lang="es-AR" sz="1400" b="1" dirty="0">
                    <a:highlight>
                      <a:srgbClr val="FFC000"/>
                    </a:highlight>
                    <a:latin typeface="Bahnschrift" panose="020B0502040204020203" pitchFamily="34" charset="0"/>
                    <a:ea typeface="Cambria Math" panose="02040503050406030204" pitchFamily="18" charset="0"/>
                  </a:rPr>
                  <a:t>variables desconocidas</a:t>
                </a:r>
                <a:r>
                  <a:rPr lang="es-AR" sz="1400" dirty="0">
                    <a:highlight>
                      <a:srgbClr val="FFC000"/>
                    </a:highlight>
                    <a:latin typeface="Bahnschrift" panose="020B0502040204020203" pitchFamily="34" charset="0"/>
                    <a:ea typeface="Cambria Math" panose="02040503050406030204" pitchFamily="18" charset="0"/>
                  </a:rPr>
                  <a:t> </a:t>
                </a:r>
                <a:r>
                  <a:rPr lang="es-AR" sz="1400" dirty="0">
                    <a:latin typeface="Bahnschrift" panose="020B0502040204020203" pitchFamily="34" charset="0"/>
                    <a:ea typeface="Cambria Math" panose="02040503050406030204" pitchFamily="18" charset="0"/>
                  </a:rPr>
                  <a:t>en estas ecuaciones son </a:t>
                </a:r>
                <a14:m>
                  <m:oMath xmlns:m="http://schemas.openxmlformats.org/officeDocument/2006/math">
                    <m:sSub>
                      <m:sSubPr>
                        <m:ctrlPr>
                          <a:rPr lang="en-US" sz="1400" b="1" i="1">
                            <a:latin typeface="Cambria Math" panose="02040503050406030204" pitchFamily="18" charset="0"/>
                            <a:ea typeface="Cambria Math" panose="02040503050406030204" pitchFamily="18" charset="0"/>
                          </a:rPr>
                        </m:ctrlPr>
                      </m:sSubPr>
                      <m:e>
                        <m:r>
                          <a:rPr lang="en-US" sz="1400" b="1" i="1">
                            <a:latin typeface="Cambria Math" panose="02040503050406030204" pitchFamily="18" charset="0"/>
                            <a:ea typeface="Cambria Math" panose="02040503050406030204" pitchFamily="18" charset="0"/>
                          </a:rPr>
                          <m:t>𝜶</m:t>
                        </m:r>
                      </m:e>
                      <m:sub>
                        <m:r>
                          <a:rPr lang="en-US" sz="1400" b="1" i="1" smtClean="0">
                            <a:latin typeface="Cambria Math" panose="02040503050406030204" pitchFamily="18" charset="0"/>
                            <a:ea typeface="Cambria Math" panose="02040503050406030204" pitchFamily="18" charset="0"/>
                          </a:rPr>
                          <m:t>𝟑</m:t>
                        </m:r>
                      </m:sub>
                    </m:sSub>
                  </m:oMath>
                </a14:m>
                <a:r>
                  <a:rPr lang="es-AR" sz="1400" b="1" dirty="0">
                    <a:latin typeface="Bahnschrift" panose="020B0502040204020203" pitchFamily="34" charset="0"/>
                    <a:ea typeface="Cambria Math" panose="02040503050406030204" pitchFamily="18" charset="0"/>
                  </a:rPr>
                  <a:t> y </a:t>
                </a:r>
                <a14:m>
                  <m:oMath xmlns:m="http://schemas.openxmlformats.org/officeDocument/2006/math">
                    <m:sSub>
                      <m:sSubPr>
                        <m:ctrlPr>
                          <a:rPr lang="en-US" sz="1400" b="1" i="1">
                            <a:latin typeface="Cambria Math" panose="02040503050406030204" pitchFamily="18" charset="0"/>
                            <a:ea typeface="Cambria Math" panose="02040503050406030204" pitchFamily="18" charset="0"/>
                          </a:rPr>
                        </m:ctrlPr>
                      </m:sSubPr>
                      <m:e>
                        <m:r>
                          <a:rPr lang="en-US" sz="1400" b="1" i="1">
                            <a:latin typeface="Cambria Math" panose="02040503050406030204" pitchFamily="18" charset="0"/>
                            <a:ea typeface="Cambria Math" panose="02040503050406030204" pitchFamily="18" charset="0"/>
                          </a:rPr>
                          <m:t>𝜶</m:t>
                        </m:r>
                      </m:e>
                      <m:sub>
                        <m:r>
                          <a:rPr lang="en-US" sz="1400" b="1" i="1" smtClean="0">
                            <a:latin typeface="Cambria Math" panose="02040503050406030204" pitchFamily="18" charset="0"/>
                            <a:ea typeface="Cambria Math" panose="02040503050406030204" pitchFamily="18" charset="0"/>
                          </a:rPr>
                          <m:t>𝟒</m:t>
                        </m:r>
                      </m:sub>
                    </m:sSub>
                  </m:oMath>
                </a14:m>
                <a:r>
                  <a:rPr lang="es-AR" sz="1400" dirty="0">
                    <a:latin typeface="Bahnschrift" panose="020B0502040204020203" pitchFamily="34" charset="0"/>
                    <a:ea typeface="Cambria Math" panose="02040503050406030204" pitchFamily="18" charset="0"/>
                  </a:rPr>
                  <a:t>, siendo las </a:t>
                </a:r>
                <a:r>
                  <a:rPr lang="es-AR" sz="1400" dirty="0">
                    <a:highlight>
                      <a:srgbClr val="FFC000"/>
                    </a:highlight>
                    <a:latin typeface="Bahnschrift" panose="020B0502040204020203" pitchFamily="34" charset="0"/>
                    <a:ea typeface="Cambria Math" panose="02040503050406030204" pitchFamily="18" charset="0"/>
                  </a:rPr>
                  <a:t>variables conocidas</a:t>
                </a:r>
                <a:r>
                  <a:rPr lang="es-AR" sz="1400" dirty="0">
                    <a:latin typeface="Bahnschrift" panose="020B0502040204020203" pitchFamily="34" charset="0"/>
                    <a:ea typeface="Cambria Math" panose="02040503050406030204" pitchFamily="18" charset="0"/>
                  </a:rPr>
                  <a:t> las </a:t>
                </a:r>
                <a:r>
                  <a:rPr lang="es-AR" sz="1400" b="1" dirty="0">
                    <a:latin typeface="Bahnschrift" panose="020B0502040204020203" pitchFamily="34" charset="0"/>
                    <a:ea typeface="Cambria Math" panose="02040503050406030204" pitchFamily="18" charset="0"/>
                  </a:rPr>
                  <a:t>longitudes, ángulos y velocidades angulares de cada eslabón y la aceleración angular del eslabón de entrada </a:t>
                </a:r>
                <a14:m>
                  <m:oMath xmlns:m="http://schemas.openxmlformats.org/officeDocument/2006/math">
                    <m:sSub>
                      <m:sSubPr>
                        <m:ctrlPr>
                          <a:rPr lang="en-US" sz="1400" b="1" i="1">
                            <a:latin typeface="Cambria Math" panose="02040503050406030204" pitchFamily="18" charset="0"/>
                            <a:ea typeface="Cambria Math" panose="02040503050406030204" pitchFamily="18" charset="0"/>
                          </a:rPr>
                        </m:ctrlPr>
                      </m:sSubPr>
                      <m:e>
                        <m:r>
                          <a:rPr lang="en-US" sz="1400" b="1" i="1">
                            <a:latin typeface="Cambria Math" panose="02040503050406030204" pitchFamily="18" charset="0"/>
                            <a:ea typeface="Cambria Math" panose="02040503050406030204" pitchFamily="18" charset="0"/>
                          </a:rPr>
                          <m:t>𝜶</m:t>
                        </m:r>
                      </m:e>
                      <m:sub>
                        <m:r>
                          <a:rPr lang="en-US" sz="1400" b="1" i="1" smtClean="0">
                            <a:latin typeface="Cambria Math" panose="02040503050406030204" pitchFamily="18" charset="0"/>
                            <a:ea typeface="Cambria Math" panose="02040503050406030204" pitchFamily="18" charset="0"/>
                          </a:rPr>
                          <m:t>𝟐</m:t>
                        </m:r>
                      </m:sub>
                    </m:sSub>
                  </m:oMath>
                </a14:m>
                <a:r>
                  <a:rPr lang="es-AR" sz="1400" dirty="0">
                    <a:latin typeface="Bahnschrift" panose="020B0502040204020203" pitchFamily="34" charset="0"/>
                    <a:ea typeface="Cambria Math" panose="02040503050406030204" pitchFamily="18" charset="0"/>
                  </a:rPr>
                  <a:t>. </a:t>
                </a:r>
              </a:p>
              <a:p>
                <a:pPr algn="just">
                  <a:buFontTx/>
                  <a:buChar char="-"/>
                </a:pPr>
                <a:r>
                  <a:rPr lang="es-AR" sz="1400" dirty="0">
                    <a:latin typeface="Bahnschrift" panose="020B0502040204020203" pitchFamily="34" charset="0"/>
                  </a:rPr>
                  <a:t>Se deben encontrar entonces expresiones en las cuales se tenga a las variables desconocidas en función de las conocidas.</a:t>
                </a:r>
              </a:p>
            </p:txBody>
          </p:sp>
        </mc:Choice>
        <mc:Fallback xmlns="">
          <p:sp>
            <p:nvSpPr>
              <p:cNvPr id="18" name="Marcador de contenido 2">
                <a:extLst>
                  <a:ext uri="{FF2B5EF4-FFF2-40B4-BE49-F238E27FC236}">
                    <a16:creationId xmlns:a16="http://schemas.microsoft.com/office/drawing/2014/main" id="{DBC5DD57-6377-41E1-B4CA-6E5032B7A48B}"/>
                  </a:ext>
                </a:extLst>
              </p:cNvPr>
              <p:cNvSpPr txBox="1">
                <a:spLocks noRot="1" noChangeAspect="1" noMove="1" noResize="1" noEditPoints="1" noAdjustHandles="1" noChangeArrowheads="1" noChangeShapeType="1" noTextEdit="1"/>
              </p:cNvSpPr>
              <p:nvPr/>
            </p:nvSpPr>
            <p:spPr>
              <a:xfrm>
                <a:off x="326737" y="1279224"/>
                <a:ext cx="10647322" cy="1151596"/>
              </a:xfrm>
              <a:prstGeom prst="rect">
                <a:avLst/>
              </a:prstGeom>
              <a:blipFill>
                <a:blip r:embed="rId2"/>
                <a:stretch>
                  <a:fillRect t="-2116" r="-172"/>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616928FD-4BCB-4560-A128-E6B5D9F84900}"/>
                  </a:ext>
                </a:extLst>
              </p:cNvPr>
              <p:cNvSpPr txBox="1"/>
              <p:nvPr/>
            </p:nvSpPr>
            <p:spPr>
              <a:xfrm>
                <a:off x="1305305" y="2212440"/>
                <a:ext cx="421919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2</m:t>
                              </m:r>
                            </m:sub>
                          </m:sSub>
                        </m:e>
                      </m:d>
                    </m:oMath>
                  </m:oMathPara>
                </a14:m>
                <a:endParaRPr lang="es-AR" dirty="0"/>
              </a:p>
            </p:txBody>
          </p:sp>
        </mc:Choice>
        <mc:Fallback xmlns="">
          <p:sp>
            <p:nvSpPr>
              <p:cNvPr id="25" name="CuadroTexto 24">
                <a:extLst>
                  <a:ext uri="{FF2B5EF4-FFF2-40B4-BE49-F238E27FC236}">
                    <a16:creationId xmlns:a16="http://schemas.microsoft.com/office/drawing/2014/main" id="{616928FD-4BCB-4560-A128-E6B5D9F84900}"/>
                  </a:ext>
                </a:extLst>
              </p:cNvPr>
              <p:cNvSpPr txBox="1">
                <a:spLocks noRot="1" noChangeAspect="1" noMove="1" noResize="1" noEditPoints="1" noAdjustHandles="1" noChangeArrowheads="1" noChangeShapeType="1" noTextEdit="1"/>
              </p:cNvSpPr>
              <p:nvPr/>
            </p:nvSpPr>
            <p:spPr>
              <a:xfrm>
                <a:off x="1305305" y="2212440"/>
                <a:ext cx="4219195" cy="369332"/>
              </a:xfrm>
              <a:prstGeom prst="rect">
                <a:avLst/>
              </a:prstGeom>
              <a:blipFill>
                <a:blip r:embed="rId3"/>
                <a:stretch>
                  <a:fillRect b="-13115"/>
                </a:stretch>
              </a:blipFill>
            </p:spPr>
            <p:txBody>
              <a:bodyPr/>
              <a:lstStyle/>
              <a:p>
                <a:r>
                  <a:rPr lang="es-AR">
                    <a:noFill/>
                  </a:rPr>
                  <a:t> </a:t>
                </a:r>
              </a:p>
            </p:txBody>
          </p:sp>
        </mc:Fallback>
      </mc:AlternateContent>
      <p:sp>
        <p:nvSpPr>
          <p:cNvPr id="10" name="Marcador de contenido 2">
            <a:extLst>
              <a:ext uri="{FF2B5EF4-FFF2-40B4-BE49-F238E27FC236}">
                <a16:creationId xmlns:a16="http://schemas.microsoft.com/office/drawing/2014/main" id="{C50760E2-727C-44D6-A024-A8C3CCC098A9}"/>
              </a:ext>
            </a:extLst>
          </p:cNvPr>
          <p:cNvSpPr txBox="1">
            <a:spLocks/>
          </p:cNvSpPr>
          <p:nvPr/>
        </p:nvSpPr>
        <p:spPr>
          <a:xfrm>
            <a:off x="326738" y="2714351"/>
            <a:ext cx="10647322" cy="606992"/>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El procedimiento a seguir para encontrar estas ecuaciones es el mismo que para posición y velocidad, por lo que </a:t>
            </a:r>
            <a:r>
              <a:rPr lang="es-AR" sz="1400" dirty="0">
                <a:highlight>
                  <a:srgbClr val="FFC000"/>
                </a:highlight>
                <a:latin typeface="Bahnschrift" panose="020B0502040204020203" pitchFamily="34" charset="0"/>
              </a:rPr>
              <a:t>se introduce la identidad de Euler </a:t>
            </a:r>
            <a:r>
              <a:rPr lang="es-AR" sz="1400" dirty="0">
                <a:latin typeface="Bahnschrift" panose="020B0502040204020203" pitchFamily="34" charset="0"/>
              </a:rPr>
              <a:t>en la ecuación de aceleración.</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6DFE991B-3896-4363-B1E6-53556D2DE056}"/>
                  </a:ext>
                </a:extLst>
              </p:cNvPr>
              <p:cNvSpPr txBox="1"/>
              <p:nvPr/>
            </p:nvSpPr>
            <p:spPr>
              <a:xfrm>
                <a:off x="2" y="3242380"/>
                <a:ext cx="11258550" cy="6547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en-US" i="1" smtClean="0">
                              <a:latin typeface="Cambria Math" panose="02040503050406030204" pitchFamily="18" charset="0"/>
                              <a:ea typeface="Cambria Math" panose="02040503050406030204" pitchFamily="18" charset="0"/>
                            </a:rPr>
                            <m:t>𝑎</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𝑗</m:t>
                          </m:r>
                          <m:d>
                            <m:dPr>
                              <m:ctrlPr>
                                <a:rPr lang="en-US" i="1">
                                  <a:latin typeface="Cambria Math" panose="02040503050406030204" pitchFamily="18" charset="0"/>
                                  <a:ea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i="1">
                                  <a:latin typeface="Cambria Math" panose="02040503050406030204" pitchFamily="18" charset="0"/>
                                </a:rPr>
                                <m:t>+</m:t>
                              </m:r>
                              <m:r>
                                <a:rPr lang="en-US" i="1">
                                  <a:latin typeface="Cambria Math" panose="02040503050406030204" pitchFamily="18" charset="0"/>
                                </a:rPr>
                                <m:t>𝑗</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𝑎</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2</m:t>
                              </m:r>
                            </m:sub>
                            <m:sup>
                              <m:r>
                                <a:rPr lang="en-US" i="1">
                                  <a:latin typeface="Cambria Math" panose="02040503050406030204" pitchFamily="18" charset="0"/>
                                </a:rPr>
                                <m:t>2</m:t>
                              </m:r>
                            </m:sup>
                          </m:sSubSup>
                          <m:d>
                            <m:dPr>
                              <m:ctrlPr>
                                <a:rPr lang="en-US" i="1">
                                  <a:latin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i="1">
                                  <a:latin typeface="Cambria Math" panose="02040503050406030204" pitchFamily="18" charset="0"/>
                                </a:rPr>
                                <m:t>+</m:t>
                              </m:r>
                              <m:r>
                                <a:rPr lang="en-US" i="1">
                                  <a:latin typeface="Cambria Math" panose="02040503050406030204" pitchFamily="18" charset="0"/>
                                </a:rPr>
                                <m:t>𝑗</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e>
                          </m:d>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𝑏</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𝑗</m:t>
                          </m:r>
                          <m:d>
                            <m:dPr>
                              <m:ctrlPr>
                                <a:rPr lang="en-US" i="1">
                                  <a:latin typeface="Cambria Math" panose="02040503050406030204" pitchFamily="18" charset="0"/>
                                  <a:ea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r>
                                <a:rPr lang="en-US" i="1">
                                  <a:latin typeface="Cambria Math" panose="02040503050406030204" pitchFamily="18" charset="0"/>
                                </a:rPr>
                                <m:t>+</m:t>
                              </m:r>
                              <m:r>
                                <a:rPr lang="en-US" i="1">
                                  <a:latin typeface="Cambria Math" panose="02040503050406030204" pitchFamily="18" charset="0"/>
                                </a:rPr>
                                <m:t>𝑗</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𝑏</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3</m:t>
                              </m:r>
                            </m:sub>
                            <m:sup>
                              <m:r>
                                <a:rPr lang="en-US" i="1">
                                  <a:latin typeface="Cambria Math" panose="02040503050406030204" pitchFamily="18" charset="0"/>
                                </a:rPr>
                                <m:t>2</m:t>
                              </m:r>
                            </m:sup>
                          </m:sSubSup>
                          <m:d>
                            <m:dPr>
                              <m:ctrlPr>
                                <a:rPr lang="en-US" i="1">
                                  <a:latin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r>
                                <a:rPr lang="en-US" i="1">
                                  <a:latin typeface="Cambria Math" panose="02040503050406030204" pitchFamily="18" charset="0"/>
                                </a:rPr>
                                <m:t>+</m:t>
                              </m:r>
                              <m:r>
                                <a:rPr lang="en-US" i="1">
                                  <a:latin typeface="Cambria Math" panose="02040503050406030204" pitchFamily="18" charset="0"/>
                                </a:rPr>
                                <m:t>𝑗</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e>
                          </m:d>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𝑐</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4</m:t>
                          </m:r>
                        </m:sub>
                      </m:sSub>
                      <m:r>
                        <a:rPr lang="en-US" i="1">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4</m:t>
                              </m:r>
                            </m:sub>
                          </m:sSub>
                        </m:e>
                      </m:fun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4</m:t>
                              </m:r>
                            </m:sub>
                          </m:sSub>
                        </m:e>
                      </m:fun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𝑐</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4</m:t>
                          </m:r>
                        </m:sub>
                        <m:sup>
                          <m:r>
                            <a:rPr lang="en-US" i="1">
                              <a:latin typeface="Cambria Math" panose="02040503050406030204" pitchFamily="18" charset="0"/>
                            </a:rPr>
                            <m:t>2</m:t>
                          </m:r>
                        </m:sup>
                      </m:sSubSup>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4</m:t>
                              </m:r>
                            </m:sub>
                          </m:sSub>
                        </m:e>
                      </m:func>
                      <m:r>
                        <a:rPr lang="en-US" i="1">
                          <a:latin typeface="Cambria Math" panose="02040503050406030204" pitchFamily="18" charset="0"/>
                        </a:rPr>
                        <m:t>+</m:t>
                      </m:r>
                      <m:r>
                        <a:rPr lang="en-US" i="1">
                          <a:latin typeface="Cambria Math" panose="02040503050406030204" pitchFamily="18" charset="0"/>
                        </a:rPr>
                        <m:t>𝑗</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4</m:t>
                              </m:r>
                            </m:sub>
                          </m:sSub>
                        </m:e>
                      </m:func>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=0</m:t>
                      </m:r>
                    </m:oMath>
                  </m:oMathPara>
                </a14:m>
                <a:endParaRPr lang="es-AR" dirty="0"/>
              </a:p>
            </p:txBody>
          </p:sp>
        </mc:Choice>
        <mc:Fallback xmlns="">
          <p:sp>
            <p:nvSpPr>
              <p:cNvPr id="15" name="CuadroTexto 14">
                <a:extLst>
                  <a:ext uri="{FF2B5EF4-FFF2-40B4-BE49-F238E27FC236}">
                    <a16:creationId xmlns:a16="http://schemas.microsoft.com/office/drawing/2014/main" id="{6DFE991B-3896-4363-B1E6-53556D2DE056}"/>
                  </a:ext>
                </a:extLst>
              </p:cNvPr>
              <p:cNvSpPr txBox="1">
                <a:spLocks noRot="1" noChangeAspect="1" noMove="1" noResize="1" noEditPoints="1" noAdjustHandles="1" noChangeArrowheads="1" noChangeShapeType="1" noTextEdit="1"/>
              </p:cNvSpPr>
              <p:nvPr/>
            </p:nvSpPr>
            <p:spPr>
              <a:xfrm>
                <a:off x="2" y="3242380"/>
                <a:ext cx="11258550" cy="654731"/>
              </a:xfrm>
              <a:prstGeom prst="rect">
                <a:avLst/>
              </a:prstGeom>
              <a:blipFill>
                <a:blip r:embed="rId4"/>
                <a:stretch>
                  <a:fillRect b="-10280"/>
                </a:stretch>
              </a:blipFill>
            </p:spPr>
            <p:txBody>
              <a:bodyPr/>
              <a:lstStyle/>
              <a:p>
                <a:r>
                  <a:rPr lang="es-AR">
                    <a:noFill/>
                  </a:rPr>
                  <a:t> </a:t>
                </a:r>
              </a:p>
            </p:txBody>
          </p:sp>
        </mc:Fallback>
      </mc:AlternateContent>
      <p:sp>
        <p:nvSpPr>
          <p:cNvPr id="23" name="Marcador de contenido 2">
            <a:extLst>
              <a:ext uri="{FF2B5EF4-FFF2-40B4-BE49-F238E27FC236}">
                <a16:creationId xmlns:a16="http://schemas.microsoft.com/office/drawing/2014/main" id="{992DB169-1B1A-43DE-836C-AEBC263C0664}"/>
              </a:ext>
            </a:extLst>
          </p:cNvPr>
          <p:cNvSpPr txBox="1">
            <a:spLocks/>
          </p:cNvSpPr>
          <p:nvPr/>
        </p:nvSpPr>
        <p:spPr>
          <a:xfrm>
            <a:off x="326736" y="4006459"/>
            <a:ext cx="10647324" cy="38145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En cada termino de aceleración tangencial </a:t>
            </a:r>
            <a:r>
              <a:rPr lang="es-AR" sz="1400" dirty="0">
                <a:highlight>
                  <a:srgbClr val="FFC000"/>
                </a:highlight>
                <a:latin typeface="Bahnschrift" panose="020B0502040204020203" pitchFamily="34" charset="0"/>
              </a:rPr>
              <a:t>se introduce el operador j </a:t>
            </a:r>
            <a:r>
              <a:rPr lang="es-AR" sz="1400" dirty="0">
                <a:latin typeface="Bahnschrift" panose="020B0502040204020203" pitchFamily="34" charset="0"/>
              </a:rPr>
              <a:t>dentro del paréntesis. </a:t>
            </a:r>
          </a:p>
        </p:txBody>
      </p:sp>
      <p:sp>
        <p:nvSpPr>
          <p:cNvPr id="30" name="Marcador de contenido 2">
            <a:extLst>
              <a:ext uri="{FF2B5EF4-FFF2-40B4-BE49-F238E27FC236}">
                <a16:creationId xmlns:a16="http://schemas.microsoft.com/office/drawing/2014/main" id="{D7EA3E9A-7558-471B-BB8F-8B160C4B6D12}"/>
              </a:ext>
            </a:extLst>
          </p:cNvPr>
          <p:cNvSpPr txBox="1">
            <a:spLocks/>
          </p:cNvSpPr>
          <p:nvPr/>
        </p:nvSpPr>
        <p:spPr>
          <a:xfrm>
            <a:off x="326736" y="5189443"/>
            <a:ext cx="10647323" cy="507282"/>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A continuación se separa parte imaginaria de parte real para generar un sistema de ecuaciones lineales que permitan resolver y encontrar los valores de </a:t>
            </a:r>
            <a:r>
              <a:rPr lang="el-GR" sz="1400" dirty="0">
                <a:latin typeface="Cambria Math" panose="02040503050406030204" pitchFamily="18" charset="0"/>
                <a:ea typeface="Cambria Math" panose="02040503050406030204" pitchFamily="18" charset="0"/>
              </a:rPr>
              <a:t>α</a:t>
            </a:r>
            <a:r>
              <a:rPr lang="en-US" sz="1400" baseline="-25000" dirty="0">
                <a:latin typeface="Cambria Math" panose="02040503050406030204" pitchFamily="18" charset="0"/>
                <a:ea typeface="Cambria Math" panose="02040503050406030204" pitchFamily="18" charset="0"/>
              </a:rPr>
              <a:t>3</a:t>
            </a:r>
            <a:r>
              <a:rPr lang="es-AR" sz="1400" dirty="0">
                <a:latin typeface="Bahnschrift" panose="020B0502040204020203" pitchFamily="34" charset="0"/>
              </a:rPr>
              <a:t> y </a:t>
            </a:r>
            <a:r>
              <a:rPr lang="el-GR" sz="1400" dirty="0">
                <a:latin typeface="Cambria Math" panose="02040503050406030204" pitchFamily="18" charset="0"/>
                <a:ea typeface="Cambria Math" panose="02040503050406030204" pitchFamily="18" charset="0"/>
              </a:rPr>
              <a:t>α</a:t>
            </a:r>
            <a:r>
              <a:rPr lang="en-US" sz="1400" baseline="-25000" dirty="0">
                <a:latin typeface="Cambria Math" panose="02040503050406030204" pitchFamily="18" charset="0"/>
                <a:ea typeface="Cambria Math" panose="02040503050406030204" pitchFamily="18" charset="0"/>
              </a:rPr>
              <a:t>4</a:t>
            </a:r>
            <a:r>
              <a:rPr lang="en-US" sz="1400" dirty="0">
                <a:latin typeface="Cambria Math" panose="02040503050406030204" pitchFamily="18" charset="0"/>
                <a:ea typeface="Cambria Math" panose="02040503050406030204" pitchFamily="18" charset="0"/>
              </a:rPr>
              <a:t>.</a:t>
            </a:r>
            <a:endParaRPr lang="es-AR" sz="1400" dirty="0">
              <a:latin typeface="Bahnschrift" panose="020B0502040204020203" pitchFamily="34" charset="0"/>
            </a:endParaRP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3F30578B-B54B-40AE-8F60-5294C489C4B3}"/>
                  </a:ext>
                </a:extLst>
              </p:cNvPr>
              <p:cNvSpPr txBox="1"/>
              <p:nvPr/>
            </p:nvSpPr>
            <p:spPr>
              <a:xfrm>
                <a:off x="5499896" y="2212440"/>
                <a:ext cx="453352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2</m:t>
                              </m:r>
                            </m:sub>
                          </m:sSub>
                        </m:e>
                      </m:d>
                    </m:oMath>
                  </m:oMathPara>
                </a14:m>
                <a:endParaRPr lang="es-AR" dirty="0"/>
              </a:p>
            </p:txBody>
          </p:sp>
        </mc:Choice>
        <mc:Fallback xmlns="">
          <p:sp>
            <p:nvSpPr>
              <p:cNvPr id="6" name="CuadroTexto 5">
                <a:extLst>
                  <a:ext uri="{FF2B5EF4-FFF2-40B4-BE49-F238E27FC236}">
                    <a16:creationId xmlns:a16="http://schemas.microsoft.com/office/drawing/2014/main" id="{3F30578B-B54B-40AE-8F60-5294C489C4B3}"/>
                  </a:ext>
                </a:extLst>
              </p:cNvPr>
              <p:cNvSpPr txBox="1">
                <a:spLocks noRot="1" noChangeAspect="1" noMove="1" noResize="1" noEditPoints="1" noAdjustHandles="1" noChangeArrowheads="1" noChangeShapeType="1" noTextEdit="1"/>
              </p:cNvSpPr>
              <p:nvPr/>
            </p:nvSpPr>
            <p:spPr>
              <a:xfrm>
                <a:off x="5499896" y="2212440"/>
                <a:ext cx="4533520" cy="369332"/>
              </a:xfrm>
              <a:prstGeom prst="rect">
                <a:avLst/>
              </a:prstGeom>
              <a:blipFill>
                <a:blip r:embed="rId5"/>
                <a:stretch>
                  <a:fillRect b="-1311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90081B70-E654-4DA8-A3F3-9E3F45BA96DA}"/>
                  </a:ext>
                </a:extLst>
              </p:cNvPr>
              <p:cNvSpPr txBox="1"/>
              <p:nvPr/>
            </p:nvSpPr>
            <p:spPr>
              <a:xfrm>
                <a:off x="0" y="4387910"/>
                <a:ext cx="11258550" cy="6547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en-US" i="1" smtClean="0">
                              <a:latin typeface="Cambria Math" panose="02040503050406030204" pitchFamily="18" charset="0"/>
                              <a:ea typeface="Cambria Math" panose="02040503050406030204" pitchFamily="18" charset="0"/>
                            </a:rPr>
                            <m:t>𝑎</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2</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𝑎</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2</m:t>
                              </m:r>
                            </m:sub>
                            <m:sup>
                              <m:r>
                                <a:rPr lang="en-US" i="1">
                                  <a:latin typeface="Cambria Math" panose="02040503050406030204" pitchFamily="18" charset="0"/>
                                </a:rPr>
                                <m:t>2</m:t>
                              </m:r>
                            </m:sup>
                          </m:sSubSup>
                          <m:d>
                            <m:dPr>
                              <m:ctrlPr>
                                <a:rPr lang="en-US" i="1">
                                  <a:latin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i="1">
                                  <a:latin typeface="Cambria Math" panose="02040503050406030204" pitchFamily="18" charset="0"/>
                                </a:rPr>
                                <m:t>+</m:t>
                              </m:r>
                              <m:r>
                                <a:rPr lang="en-US" i="1">
                                  <a:latin typeface="Cambria Math" panose="02040503050406030204" pitchFamily="18" charset="0"/>
                                </a:rPr>
                                <m:t>𝑗</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e>
                          </m:d>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𝑏</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3</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𝑏</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3</m:t>
                              </m:r>
                            </m:sub>
                            <m:sup>
                              <m:r>
                                <a:rPr lang="en-US" i="1">
                                  <a:latin typeface="Cambria Math" panose="02040503050406030204" pitchFamily="18" charset="0"/>
                                </a:rPr>
                                <m:t>2</m:t>
                              </m:r>
                            </m:sup>
                          </m:sSubSup>
                          <m:d>
                            <m:dPr>
                              <m:ctrlPr>
                                <a:rPr lang="en-US" i="1">
                                  <a:latin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r>
                                <a:rPr lang="en-US" i="1">
                                  <a:latin typeface="Cambria Math" panose="02040503050406030204" pitchFamily="18" charset="0"/>
                                </a:rPr>
                                <m:t>+</m:t>
                              </m:r>
                              <m:r>
                                <a:rPr lang="en-US" i="1">
                                  <a:latin typeface="Cambria Math" panose="02040503050406030204" pitchFamily="18" charset="0"/>
                                </a:rPr>
                                <m:t>𝑗</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e>
                          </m:d>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𝑐</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e>
                      </m:fun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𝑐</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4</m:t>
                          </m:r>
                        </m:sub>
                        <m:sup>
                          <m:r>
                            <a:rPr lang="en-US" i="1">
                              <a:latin typeface="Cambria Math" panose="02040503050406030204" pitchFamily="18" charset="0"/>
                            </a:rPr>
                            <m:t>2</m:t>
                          </m:r>
                        </m:sup>
                      </m:sSubSup>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4</m:t>
                              </m:r>
                            </m:sub>
                          </m:sSub>
                        </m:e>
                      </m:func>
                      <m:r>
                        <a:rPr lang="en-US" i="1">
                          <a:latin typeface="Cambria Math" panose="02040503050406030204" pitchFamily="18" charset="0"/>
                        </a:rPr>
                        <m:t>+</m:t>
                      </m:r>
                      <m:r>
                        <a:rPr lang="en-US" i="1">
                          <a:latin typeface="Cambria Math" panose="02040503050406030204" pitchFamily="18" charset="0"/>
                        </a:rPr>
                        <m:t>𝑗</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4</m:t>
                              </m:r>
                            </m:sub>
                          </m:sSub>
                        </m:e>
                      </m:func>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=0</m:t>
                      </m:r>
                    </m:oMath>
                  </m:oMathPara>
                </a14:m>
                <a:endParaRPr lang="es-AR" dirty="0"/>
              </a:p>
            </p:txBody>
          </p:sp>
        </mc:Choice>
        <mc:Fallback xmlns="">
          <p:sp>
            <p:nvSpPr>
              <p:cNvPr id="22" name="CuadroTexto 21">
                <a:extLst>
                  <a:ext uri="{FF2B5EF4-FFF2-40B4-BE49-F238E27FC236}">
                    <a16:creationId xmlns:a16="http://schemas.microsoft.com/office/drawing/2014/main" id="{90081B70-E654-4DA8-A3F3-9E3F45BA96DA}"/>
                  </a:ext>
                </a:extLst>
              </p:cNvPr>
              <p:cNvSpPr txBox="1">
                <a:spLocks noRot="1" noChangeAspect="1" noMove="1" noResize="1" noEditPoints="1" noAdjustHandles="1" noChangeArrowheads="1" noChangeShapeType="1" noTextEdit="1"/>
              </p:cNvSpPr>
              <p:nvPr/>
            </p:nvSpPr>
            <p:spPr>
              <a:xfrm>
                <a:off x="0" y="4387910"/>
                <a:ext cx="11258550" cy="654731"/>
              </a:xfrm>
              <a:prstGeom prst="rect">
                <a:avLst/>
              </a:prstGeom>
              <a:blipFill>
                <a:blip r:embed="rId6"/>
                <a:stretch>
                  <a:fillRect b="-1028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84D89A44-A4F6-4D18-808E-B1FE3525CA7B}"/>
                  </a:ext>
                </a:extLst>
              </p:cNvPr>
              <p:cNvSpPr txBox="1"/>
              <p:nvPr/>
            </p:nvSpPr>
            <p:spPr>
              <a:xfrm>
                <a:off x="2327792" y="5713615"/>
                <a:ext cx="8239126" cy="3744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𝑎</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2</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𝑎</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2</m:t>
                          </m:r>
                        </m:sub>
                        <m:sup>
                          <m:r>
                            <a:rPr lang="en-US" i="1">
                              <a:latin typeface="Cambria Math" panose="02040503050406030204" pitchFamily="18" charset="0"/>
                            </a:rPr>
                            <m:t>2</m:t>
                          </m:r>
                        </m:sup>
                      </m:sSubSup>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3</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𝑏</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3</m:t>
                          </m:r>
                        </m:sub>
                        <m:sup>
                          <m:r>
                            <a:rPr lang="en-US" i="1">
                              <a:latin typeface="Cambria Math" panose="02040503050406030204" pitchFamily="18" charset="0"/>
                            </a:rPr>
                            <m:t>2</m:t>
                          </m:r>
                        </m:sup>
                      </m:sSubSup>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𝑐</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4</m:t>
                          </m:r>
                        </m:sub>
                      </m:sSub>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4</m:t>
                              </m:r>
                            </m:sub>
                          </m:sSub>
                        </m:e>
                      </m:func>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𝑐</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4</m:t>
                          </m:r>
                        </m:sub>
                        <m:sup>
                          <m:r>
                            <a:rPr lang="en-US" i="1">
                              <a:latin typeface="Cambria Math" panose="02040503050406030204" pitchFamily="18" charset="0"/>
                            </a:rPr>
                            <m:t>2</m:t>
                          </m:r>
                        </m:sup>
                      </m:sSubSup>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4</m:t>
                              </m:r>
                            </m:sub>
                          </m:sSub>
                        </m:e>
                      </m:func>
                      <m:r>
                        <a:rPr lang="en-US" b="0" i="1" smtClean="0">
                          <a:latin typeface="Cambria Math" panose="02040503050406030204" pitchFamily="18" charset="0"/>
                        </a:rPr>
                        <m:t>=0</m:t>
                      </m:r>
                    </m:oMath>
                  </m:oMathPara>
                </a14:m>
                <a:endParaRPr lang="es-AR" dirty="0"/>
              </a:p>
            </p:txBody>
          </p:sp>
        </mc:Choice>
        <mc:Fallback xmlns="">
          <p:sp>
            <p:nvSpPr>
              <p:cNvPr id="24" name="CuadroTexto 23">
                <a:extLst>
                  <a:ext uri="{FF2B5EF4-FFF2-40B4-BE49-F238E27FC236}">
                    <a16:creationId xmlns:a16="http://schemas.microsoft.com/office/drawing/2014/main" id="{84D89A44-A4F6-4D18-808E-B1FE3525CA7B}"/>
                  </a:ext>
                </a:extLst>
              </p:cNvPr>
              <p:cNvSpPr txBox="1">
                <a:spLocks noRot="1" noChangeAspect="1" noMove="1" noResize="1" noEditPoints="1" noAdjustHandles="1" noChangeArrowheads="1" noChangeShapeType="1" noTextEdit="1"/>
              </p:cNvSpPr>
              <p:nvPr/>
            </p:nvSpPr>
            <p:spPr>
              <a:xfrm>
                <a:off x="2327792" y="5713615"/>
                <a:ext cx="8239126" cy="374461"/>
              </a:xfrm>
              <a:prstGeom prst="rect">
                <a:avLst/>
              </a:prstGeom>
              <a:blipFill>
                <a:blip r:embed="rId7"/>
                <a:stretch>
                  <a:fillRect b="-161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51D9B1B5-FBB6-4E81-ADA7-7C1B6398EC13}"/>
                  </a:ext>
                </a:extLst>
              </p:cNvPr>
              <p:cNvSpPr txBox="1"/>
              <p:nvPr/>
            </p:nvSpPr>
            <p:spPr>
              <a:xfrm>
                <a:off x="2406770" y="6161578"/>
                <a:ext cx="8081171" cy="3744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𝑎</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2</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𝑎</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2</m:t>
                          </m:r>
                        </m:sub>
                        <m:sup>
                          <m:r>
                            <a:rPr lang="en-US" i="1">
                              <a:latin typeface="Cambria Math" panose="02040503050406030204" pitchFamily="18" charset="0"/>
                            </a:rPr>
                            <m:t>2</m:t>
                          </m:r>
                        </m:sup>
                      </m:sSubSup>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3</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𝑏</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3</m:t>
                          </m:r>
                        </m:sub>
                        <m:sup>
                          <m:r>
                            <a:rPr lang="en-US" i="1">
                              <a:latin typeface="Cambria Math" panose="02040503050406030204" pitchFamily="18" charset="0"/>
                            </a:rPr>
                            <m:t>2</m:t>
                          </m:r>
                        </m:sup>
                      </m:sSubSup>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𝑐</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4</m:t>
                          </m:r>
                        </m:sub>
                      </m:sSub>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4</m:t>
                              </m:r>
                            </m:sub>
                          </m:sSub>
                        </m:e>
                      </m:func>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𝑐</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4</m:t>
                          </m:r>
                        </m:sub>
                        <m:sup>
                          <m:r>
                            <a:rPr lang="en-US" i="1">
                              <a:latin typeface="Cambria Math" panose="02040503050406030204" pitchFamily="18" charset="0"/>
                            </a:rPr>
                            <m:t>2</m:t>
                          </m:r>
                        </m:sup>
                      </m:sSubSup>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4</m:t>
                              </m:r>
                            </m:sub>
                          </m:sSub>
                        </m:e>
                      </m:func>
                      <m:r>
                        <a:rPr lang="en-US" b="0" i="1" smtClean="0">
                          <a:latin typeface="Cambria Math" panose="02040503050406030204" pitchFamily="18" charset="0"/>
                        </a:rPr>
                        <m:t>=0</m:t>
                      </m:r>
                    </m:oMath>
                  </m:oMathPara>
                </a14:m>
                <a:endParaRPr lang="es-AR" dirty="0"/>
              </a:p>
            </p:txBody>
          </p:sp>
        </mc:Choice>
        <mc:Fallback xmlns="">
          <p:sp>
            <p:nvSpPr>
              <p:cNvPr id="28" name="CuadroTexto 27">
                <a:extLst>
                  <a:ext uri="{FF2B5EF4-FFF2-40B4-BE49-F238E27FC236}">
                    <a16:creationId xmlns:a16="http://schemas.microsoft.com/office/drawing/2014/main" id="{51D9B1B5-FBB6-4E81-ADA7-7C1B6398EC13}"/>
                  </a:ext>
                </a:extLst>
              </p:cNvPr>
              <p:cNvSpPr txBox="1">
                <a:spLocks noRot="1" noChangeAspect="1" noMove="1" noResize="1" noEditPoints="1" noAdjustHandles="1" noChangeArrowheads="1" noChangeShapeType="1" noTextEdit="1"/>
              </p:cNvSpPr>
              <p:nvPr/>
            </p:nvSpPr>
            <p:spPr>
              <a:xfrm>
                <a:off x="2406770" y="6161578"/>
                <a:ext cx="8081171" cy="374461"/>
              </a:xfrm>
              <a:prstGeom prst="rect">
                <a:avLst/>
              </a:prstGeom>
              <a:blipFill>
                <a:blip r:embed="rId8"/>
                <a:stretch>
                  <a:fillRect b="-3279"/>
                </a:stretch>
              </a:blipFill>
            </p:spPr>
            <p:txBody>
              <a:bodyPr/>
              <a:lstStyle/>
              <a:p>
                <a:r>
                  <a:rPr lang="es-AR">
                    <a:noFill/>
                  </a:rPr>
                  <a:t> </a:t>
                </a:r>
              </a:p>
            </p:txBody>
          </p:sp>
        </mc:Fallback>
      </mc:AlternateContent>
      <p:sp>
        <p:nvSpPr>
          <p:cNvPr id="11" name="Marcador de contenido 2">
            <a:extLst>
              <a:ext uri="{FF2B5EF4-FFF2-40B4-BE49-F238E27FC236}">
                <a16:creationId xmlns:a16="http://schemas.microsoft.com/office/drawing/2014/main" id="{C06D8A01-2279-4F9F-8BC4-B8107F7E2671}"/>
              </a:ext>
            </a:extLst>
          </p:cNvPr>
          <p:cNvSpPr txBox="1">
            <a:spLocks/>
          </p:cNvSpPr>
          <p:nvPr/>
        </p:nvSpPr>
        <p:spPr>
          <a:xfrm>
            <a:off x="562317" y="5746859"/>
            <a:ext cx="2225447"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PARTE REAL (X)</a:t>
            </a:r>
            <a:endParaRPr lang="en-US" sz="1600" dirty="0">
              <a:latin typeface="Bahnschrift" panose="020B0502040204020203" pitchFamily="34" charset="0"/>
              <a:sym typeface="Wingdings" panose="05000000000000000000" pitchFamily="2" charset="2"/>
            </a:endParaRPr>
          </a:p>
        </p:txBody>
      </p:sp>
      <p:sp>
        <p:nvSpPr>
          <p:cNvPr id="12" name="Marcador de contenido 2">
            <a:extLst>
              <a:ext uri="{FF2B5EF4-FFF2-40B4-BE49-F238E27FC236}">
                <a16:creationId xmlns:a16="http://schemas.microsoft.com/office/drawing/2014/main" id="{7289123C-58D2-4C12-895D-968A25B2C96A}"/>
              </a:ext>
            </a:extLst>
          </p:cNvPr>
          <p:cNvSpPr txBox="1">
            <a:spLocks/>
          </p:cNvSpPr>
          <p:nvPr/>
        </p:nvSpPr>
        <p:spPr>
          <a:xfrm>
            <a:off x="213241" y="6183596"/>
            <a:ext cx="2317073"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PARTE IMAGINARIA (Y)</a:t>
            </a:r>
            <a:endParaRPr lang="en-US" sz="1600" dirty="0">
              <a:latin typeface="Bahnschrift" panose="020B0502040204020203" pitchFamily="34" charset="0"/>
              <a:sym typeface="Wingdings" panose="05000000000000000000" pitchFamily="2" charset="2"/>
            </a:endParaRPr>
          </a:p>
        </p:txBody>
      </p:sp>
    </p:spTree>
    <p:extLst>
      <p:ext uri="{BB962C8B-B14F-4D97-AF65-F5344CB8AC3E}">
        <p14:creationId xmlns:p14="http://schemas.microsoft.com/office/powerpoint/2010/main" val="2347881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23" grpId="0"/>
      <p:bldP spid="30" grpId="0"/>
      <p:bldP spid="22" grpId="0"/>
      <p:bldP spid="24" grpId="0"/>
      <p:bldP spid="28" grpId="0"/>
      <p:bldP spid="11"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FD979FB6-F607-4DA7-9A00-EB7C9F7678F0}"/>
              </a:ext>
            </a:extLst>
          </p:cNvPr>
          <p:cNvPicPr>
            <a:picLocks noChangeAspect="1"/>
          </p:cNvPicPr>
          <p:nvPr/>
        </p:nvPicPr>
        <p:blipFill>
          <a:blip r:embed="rId2"/>
          <a:stretch>
            <a:fillRect/>
          </a:stretch>
        </p:blipFill>
        <p:spPr>
          <a:xfrm>
            <a:off x="4149167" y="1248495"/>
            <a:ext cx="7040510" cy="2787311"/>
          </a:xfrm>
          <a:prstGeom prst="rect">
            <a:avLst/>
          </a:prstGeom>
        </p:spPr>
      </p:pic>
      <p:sp>
        <p:nvSpPr>
          <p:cNvPr id="5" name="Rectángulo 4">
            <a:extLst>
              <a:ext uri="{FF2B5EF4-FFF2-40B4-BE49-F238E27FC236}">
                <a16:creationId xmlns:a16="http://schemas.microsoft.com/office/drawing/2014/main" id="{2CCAE51A-2BA3-4542-9556-57577F336225}"/>
              </a:ext>
            </a:extLst>
          </p:cNvPr>
          <p:cNvSpPr/>
          <p:nvPr/>
        </p:nvSpPr>
        <p:spPr>
          <a:xfrm>
            <a:off x="-1" y="853440"/>
            <a:ext cx="4332304"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9329529" cy="684362"/>
          </a:xfrm>
        </p:spPr>
        <p:txBody>
          <a:bodyPr>
            <a:normAutofit fontScale="90000"/>
          </a:bodyPr>
          <a:lstStyle/>
          <a:p>
            <a:r>
              <a:rPr lang="es-AR" sz="6000" b="1" dirty="0">
                <a:latin typeface="Bahnschrift" panose="020B0502040204020203" pitchFamily="34" charset="0"/>
              </a:rPr>
              <a:t>ANÁLISIS DE ACELERACIÓN</a:t>
            </a:r>
          </a:p>
        </p:txBody>
      </p:sp>
      <p:sp>
        <p:nvSpPr>
          <p:cNvPr id="3" name="Marcador de contenido 2"/>
          <p:cNvSpPr>
            <a:spLocks noGrp="1"/>
          </p:cNvSpPr>
          <p:nvPr>
            <p:ph idx="1"/>
          </p:nvPr>
        </p:nvSpPr>
        <p:spPr>
          <a:xfrm>
            <a:off x="116312" y="830016"/>
            <a:ext cx="4153847" cy="466124"/>
          </a:xfrm>
        </p:spPr>
        <p:txBody>
          <a:bodyPr>
            <a:normAutofit/>
          </a:bodyPr>
          <a:lstStyle/>
          <a:p>
            <a:pPr marL="0" indent="0">
              <a:buNone/>
            </a:pPr>
            <a:r>
              <a:rPr lang="es-AR" sz="2400" b="1" dirty="0">
                <a:latin typeface="Bahnschrift" panose="020B0502040204020203" pitchFamily="34" charset="0"/>
              </a:rPr>
              <a:t>DETERMINACIÓ</a:t>
            </a:r>
            <a:r>
              <a:rPr lang="en-US" sz="2400" b="1" dirty="0">
                <a:latin typeface="Bahnschrift" panose="020B0502040204020203" pitchFamily="34" charset="0"/>
              </a:rPr>
              <a:t>N ANAL</a:t>
            </a:r>
            <a:r>
              <a:rPr lang="es-AR" sz="2400" b="1" dirty="0">
                <a:latin typeface="Bahnschrift" panose="020B0502040204020203" pitchFamily="34" charset="0"/>
              </a:rPr>
              <a:t>Í</a:t>
            </a:r>
            <a:r>
              <a:rPr lang="en-US" sz="2400" b="1" dirty="0">
                <a:latin typeface="Bahnschrift" panose="020B0502040204020203" pitchFamily="34" charset="0"/>
              </a:rPr>
              <a:t>TICA</a:t>
            </a:r>
            <a:endParaRPr lang="es-AR" sz="2400" b="1" dirty="0">
              <a:latin typeface="Bahnschrift" panose="020B0502040204020203" pitchFamily="34" charset="0"/>
            </a:endParaRPr>
          </a:p>
        </p:txBody>
      </p:sp>
      <p:sp>
        <p:nvSpPr>
          <p:cNvPr id="4" name="Marcador de contenido 2">
            <a:extLst>
              <a:ext uri="{FF2B5EF4-FFF2-40B4-BE49-F238E27FC236}">
                <a16:creationId xmlns:a16="http://schemas.microsoft.com/office/drawing/2014/main" id="{6F29601B-6F87-4863-8F58-E656D3704523}"/>
              </a:ext>
            </a:extLst>
          </p:cNvPr>
          <p:cNvSpPr txBox="1">
            <a:spLocks/>
          </p:cNvSpPr>
          <p:nvPr/>
        </p:nvSpPr>
        <p:spPr>
          <a:xfrm>
            <a:off x="632265" y="131024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18" name="Marcador de contenido 2">
            <a:extLst>
              <a:ext uri="{FF2B5EF4-FFF2-40B4-BE49-F238E27FC236}">
                <a16:creationId xmlns:a16="http://schemas.microsoft.com/office/drawing/2014/main" id="{DBC5DD57-6377-41E1-B4CA-6E5032B7A48B}"/>
              </a:ext>
            </a:extLst>
          </p:cNvPr>
          <p:cNvSpPr txBox="1">
            <a:spLocks/>
          </p:cNvSpPr>
          <p:nvPr/>
        </p:nvSpPr>
        <p:spPr>
          <a:xfrm>
            <a:off x="326738" y="1766138"/>
            <a:ext cx="3597563" cy="159688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ea typeface="Cambria Math" panose="02040503050406030204" pitchFamily="18" charset="0"/>
              </a:rPr>
              <a:t>Se determinara la aceleración para el caso de mecanismo de manivela corredera con corrimiento.</a:t>
            </a:r>
          </a:p>
          <a:p>
            <a:pPr algn="just">
              <a:buFontTx/>
              <a:buChar char="-"/>
            </a:pPr>
            <a:r>
              <a:rPr lang="es-AR" sz="1400" dirty="0">
                <a:latin typeface="Bahnschrift" panose="020B0502040204020203" pitchFamily="34" charset="0"/>
                <a:ea typeface="Cambria Math" panose="02040503050406030204" pitchFamily="18" charset="0"/>
              </a:rPr>
              <a:t>Al igual que para el caso de cuadrilátero articulado, se comienza planteando la ecuación de lazo cerrado.</a:t>
            </a:r>
          </a:p>
        </p:txBody>
      </p:sp>
      <p:sp>
        <p:nvSpPr>
          <p:cNvPr id="12" name="Marcador de contenido 2">
            <a:extLst>
              <a:ext uri="{FF2B5EF4-FFF2-40B4-BE49-F238E27FC236}">
                <a16:creationId xmlns:a16="http://schemas.microsoft.com/office/drawing/2014/main" id="{7289123C-58D2-4C12-895D-968A25B2C96A}"/>
              </a:ext>
            </a:extLst>
          </p:cNvPr>
          <p:cNvSpPr txBox="1">
            <a:spLocks/>
          </p:cNvSpPr>
          <p:nvPr/>
        </p:nvSpPr>
        <p:spPr>
          <a:xfrm>
            <a:off x="83486" y="4249035"/>
            <a:ext cx="1157621"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POSICIÓN</a:t>
            </a:r>
            <a:endParaRPr lang="en-US" sz="1600" dirty="0">
              <a:latin typeface="Bahnschrift" panose="020B0502040204020203" pitchFamily="34" charset="0"/>
              <a:sym typeface="Wingdings" panose="05000000000000000000" pitchFamily="2" charset="2"/>
            </a:endParaRP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DF5F3E4A-BA43-46DB-B75D-AFDB9D1E11D6}"/>
                  </a:ext>
                </a:extLst>
              </p:cNvPr>
              <p:cNvSpPr txBox="1"/>
              <p:nvPr/>
            </p:nvSpPr>
            <p:spPr>
              <a:xfrm>
                <a:off x="1033782" y="3463577"/>
                <a:ext cx="231890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4</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=0</m:t>
                      </m:r>
                    </m:oMath>
                  </m:oMathPara>
                </a14:m>
                <a:endParaRPr lang="es-AR" dirty="0"/>
              </a:p>
            </p:txBody>
          </p:sp>
        </mc:Choice>
        <mc:Fallback xmlns="">
          <p:sp>
            <p:nvSpPr>
              <p:cNvPr id="8" name="CuadroTexto 7">
                <a:extLst>
                  <a:ext uri="{FF2B5EF4-FFF2-40B4-BE49-F238E27FC236}">
                    <a16:creationId xmlns:a16="http://schemas.microsoft.com/office/drawing/2014/main" id="{DF5F3E4A-BA43-46DB-B75D-AFDB9D1E11D6}"/>
                  </a:ext>
                </a:extLst>
              </p:cNvPr>
              <p:cNvSpPr txBox="1">
                <a:spLocks noRot="1" noChangeAspect="1" noMove="1" noResize="1" noEditPoints="1" noAdjustHandles="1" noChangeArrowheads="1" noChangeShapeType="1" noTextEdit="1"/>
              </p:cNvSpPr>
              <p:nvPr/>
            </p:nvSpPr>
            <p:spPr>
              <a:xfrm>
                <a:off x="1033782" y="3463577"/>
                <a:ext cx="2318905" cy="276999"/>
              </a:xfrm>
              <a:prstGeom prst="rect">
                <a:avLst/>
              </a:prstGeom>
              <a:blipFill>
                <a:blip r:embed="rId3"/>
                <a:stretch>
                  <a:fillRect l="-1842" r="-1579" b="-17391"/>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46BF9A20-0098-4C2D-B826-FABB93B12F6C}"/>
                  </a:ext>
                </a:extLst>
              </p:cNvPr>
              <p:cNvSpPr txBox="1"/>
              <p:nvPr/>
            </p:nvSpPr>
            <p:spPr>
              <a:xfrm>
                <a:off x="1068678" y="4236917"/>
                <a:ext cx="3721963" cy="3814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𝑎</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𝑑</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1</m:t>
                              </m:r>
                            </m:sub>
                          </m:sSub>
                        </m:sup>
                      </m:sSup>
                      <m:r>
                        <a:rPr lang="en-US" b="0" i="1" smtClean="0">
                          <a:latin typeface="Cambria Math" panose="02040503050406030204" pitchFamily="18" charset="0"/>
                        </a:rPr>
                        <m:t>=0</m:t>
                      </m:r>
                    </m:oMath>
                  </m:oMathPara>
                </a14:m>
                <a:endParaRPr lang="es-AR" dirty="0"/>
              </a:p>
            </p:txBody>
          </p:sp>
        </mc:Choice>
        <mc:Fallback xmlns="">
          <p:sp>
            <p:nvSpPr>
              <p:cNvPr id="13" name="CuadroTexto 12">
                <a:extLst>
                  <a:ext uri="{FF2B5EF4-FFF2-40B4-BE49-F238E27FC236}">
                    <a16:creationId xmlns:a16="http://schemas.microsoft.com/office/drawing/2014/main" id="{46BF9A20-0098-4C2D-B826-FABB93B12F6C}"/>
                  </a:ext>
                </a:extLst>
              </p:cNvPr>
              <p:cNvSpPr txBox="1">
                <a:spLocks noRot="1" noChangeAspect="1" noMove="1" noResize="1" noEditPoints="1" noAdjustHandles="1" noChangeArrowheads="1" noChangeShapeType="1" noTextEdit="1"/>
              </p:cNvSpPr>
              <p:nvPr/>
            </p:nvSpPr>
            <p:spPr>
              <a:xfrm>
                <a:off x="1068678" y="4236917"/>
                <a:ext cx="3721963" cy="381451"/>
              </a:xfrm>
              <a:prstGeom prst="rect">
                <a:avLst/>
              </a:prstGeom>
              <a:blipFill>
                <a:blip r:embed="rId4"/>
                <a:stretch>
                  <a:fillRect/>
                </a:stretch>
              </a:blipFill>
            </p:spPr>
            <p:txBody>
              <a:bodyPr/>
              <a:lstStyle/>
              <a:p>
                <a:r>
                  <a:rPr lang="es-AR">
                    <a:noFill/>
                  </a:rPr>
                  <a:t> </a:t>
                </a:r>
              </a:p>
            </p:txBody>
          </p:sp>
        </mc:Fallback>
      </mc:AlternateContent>
      <p:sp>
        <p:nvSpPr>
          <p:cNvPr id="27" name="Marcador de contenido 2">
            <a:extLst>
              <a:ext uri="{FF2B5EF4-FFF2-40B4-BE49-F238E27FC236}">
                <a16:creationId xmlns:a16="http://schemas.microsoft.com/office/drawing/2014/main" id="{244269AF-E4E1-4B0C-BAFA-96F7767FE6C4}"/>
              </a:ext>
            </a:extLst>
          </p:cNvPr>
          <p:cNvSpPr txBox="1">
            <a:spLocks/>
          </p:cNvSpPr>
          <p:nvPr/>
        </p:nvSpPr>
        <p:spPr>
          <a:xfrm>
            <a:off x="26336" y="4683558"/>
            <a:ext cx="1438275"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VELOCIDAD</a:t>
            </a:r>
            <a:endParaRPr lang="en-US" sz="1600" dirty="0">
              <a:latin typeface="Bahnschrift" panose="020B0502040204020203" pitchFamily="34" charset="0"/>
              <a:sym typeface="Wingdings" panose="05000000000000000000" pitchFamily="2" charset="2"/>
            </a:endParaRPr>
          </a:p>
        </p:txBody>
      </p:sp>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BFEB6657-B755-43C4-89AD-E77449126A1C}"/>
                  </a:ext>
                </a:extLst>
              </p:cNvPr>
              <p:cNvSpPr txBox="1"/>
              <p:nvPr/>
            </p:nvSpPr>
            <p:spPr>
              <a:xfrm>
                <a:off x="1153204" y="4630704"/>
                <a:ext cx="3721963" cy="3853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𝑗</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2</m:t>
                          </m:r>
                        </m:sub>
                      </m:sSub>
                      <m:r>
                        <a:rPr lang="en-US" i="1" smtClean="0">
                          <a:latin typeface="Cambria Math" panose="02040503050406030204" pitchFamily="18" charset="0"/>
                        </a:rPr>
                        <m:t>𝑎</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𝑗</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𝑏</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sup>
                      </m:sSup>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𝑑</m:t>
                          </m:r>
                        </m:e>
                      </m:acc>
                      <m:r>
                        <a:rPr lang="en-US" b="0" i="1" smtClean="0">
                          <a:latin typeface="Cambria Math" panose="02040503050406030204" pitchFamily="18" charset="0"/>
                        </a:rPr>
                        <m:t>=0</m:t>
                      </m:r>
                      <m:r>
                        <a:rPr lang="en-US" b="0" i="0"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oMath>
                  </m:oMathPara>
                </a14:m>
                <a:endParaRPr lang="es-AR" dirty="0"/>
              </a:p>
            </p:txBody>
          </p:sp>
        </mc:Choice>
        <mc:Fallback xmlns="">
          <p:sp>
            <p:nvSpPr>
              <p:cNvPr id="31" name="CuadroTexto 30">
                <a:extLst>
                  <a:ext uri="{FF2B5EF4-FFF2-40B4-BE49-F238E27FC236}">
                    <a16:creationId xmlns:a16="http://schemas.microsoft.com/office/drawing/2014/main" id="{BFEB6657-B755-43C4-89AD-E77449126A1C}"/>
                  </a:ext>
                </a:extLst>
              </p:cNvPr>
              <p:cNvSpPr txBox="1">
                <a:spLocks noRot="1" noChangeAspect="1" noMove="1" noResize="1" noEditPoints="1" noAdjustHandles="1" noChangeArrowheads="1" noChangeShapeType="1" noTextEdit="1"/>
              </p:cNvSpPr>
              <p:nvPr/>
            </p:nvSpPr>
            <p:spPr>
              <a:xfrm>
                <a:off x="1153204" y="4630704"/>
                <a:ext cx="3721963" cy="385362"/>
              </a:xfrm>
              <a:prstGeom prst="rect">
                <a:avLst/>
              </a:prstGeom>
              <a:blipFill>
                <a:blip r:embed="rId5"/>
                <a:stretch>
                  <a:fillRect b="-14286"/>
                </a:stretch>
              </a:blipFill>
            </p:spPr>
            <p:txBody>
              <a:bodyPr/>
              <a:lstStyle/>
              <a:p>
                <a:r>
                  <a:rPr lang="es-AR">
                    <a:noFill/>
                  </a:rPr>
                  <a:t> </a:t>
                </a:r>
              </a:p>
            </p:txBody>
          </p:sp>
        </mc:Fallback>
      </mc:AlternateContent>
      <p:sp>
        <p:nvSpPr>
          <p:cNvPr id="14" name="Marcador de contenido 2">
            <a:extLst>
              <a:ext uri="{FF2B5EF4-FFF2-40B4-BE49-F238E27FC236}">
                <a16:creationId xmlns:a16="http://schemas.microsoft.com/office/drawing/2014/main" id="{28B5367D-73C2-4868-AAC2-66224E597499}"/>
              </a:ext>
            </a:extLst>
          </p:cNvPr>
          <p:cNvSpPr txBox="1">
            <a:spLocks/>
          </p:cNvSpPr>
          <p:nvPr/>
        </p:nvSpPr>
        <p:spPr>
          <a:xfrm>
            <a:off x="4615761" y="4590245"/>
            <a:ext cx="6674533" cy="52087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r>
              <a:rPr lang="en-US" sz="1400" dirty="0">
                <a:latin typeface="Bahnschrift" panose="020B0502040204020203" pitchFamily="34" charset="0"/>
                <a:ea typeface="Cambria Math" panose="02040503050406030204" pitchFamily="18" charset="0"/>
              </a:rPr>
              <a:t>a</a:t>
            </a:r>
            <a:r>
              <a:rPr lang="es-AR" sz="1400" dirty="0">
                <a:latin typeface="Bahnschrift" panose="020B0502040204020203" pitchFamily="34" charset="0"/>
                <a:ea typeface="Cambria Math" panose="02040503050406030204" pitchFamily="18" charset="0"/>
              </a:rPr>
              <a:t>, b, c, θ</a:t>
            </a:r>
            <a:r>
              <a:rPr lang="es-AR" sz="1400" baseline="-25000" dirty="0">
                <a:latin typeface="Bahnschrift" panose="020B0502040204020203" pitchFamily="34" charset="0"/>
                <a:ea typeface="Cambria Math" panose="02040503050406030204" pitchFamily="18" charset="0"/>
              </a:rPr>
              <a:t>1</a:t>
            </a:r>
            <a:r>
              <a:rPr lang="es-AR" sz="1400" dirty="0">
                <a:latin typeface="Bahnschrift" panose="020B0502040204020203" pitchFamily="34" charset="0"/>
                <a:ea typeface="Cambria Math" panose="02040503050406030204" pitchFamily="18" charset="0"/>
              </a:rPr>
              <a:t> y θ</a:t>
            </a:r>
            <a:r>
              <a:rPr lang="es-AR" sz="1400" baseline="-25000" dirty="0">
                <a:latin typeface="Bahnschrift" panose="020B0502040204020203" pitchFamily="34" charset="0"/>
                <a:ea typeface="Cambria Math" panose="02040503050406030204" pitchFamily="18" charset="0"/>
              </a:rPr>
              <a:t>4</a:t>
            </a:r>
            <a:r>
              <a:rPr lang="es-AR" sz="1400" dirty="0">
                <a:latin typeface="Bahnschrift" panose="020B0502040204020203" pitchFamily="34" charset="0"/>
                <a:ea typeface="Cambria Math" panose="02040503050406030204" pitchFamily="18" charset="0"/>
              </a:rPr>
              <a:t> son constantes, mientras que d varia con el tiempo, y su derivada representa la velocidad de la corredera.</a:t>
            </a:r>
          </a:p>
        </p:txBody>
      </p:sp>
      <p:sp>
        <p:nvSpPr>
          <p:cNvPr id="33" name="Marcador de contenido 2">
            <a:extLst>
              <a:ext uri="{FF2B5EF4-FFF2-40B4-BE49-F238E27FC236}">
                <a16:creationId xmlns:a16="http://schemas.microsoft.com/office/drawing/2014/main" id="{A00CC26F-523B-472D-9C9E-8441A6766494}"/>
              </a:ext>
            </a:extLst>
          </p:cNvPr>
          <p:cNvSpPr txBox="1">
            <a:spLocks/>
          </p:cNvSpPr>
          <p:nvPr/>
        </p:nvSpPr>
        <p:spPr>
          <a:xfrm>
            <a:off x="26336" y="5111781"/>
            <a:ext cx="1695450"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ACELERACIÓN</a:t>
            </a:r>
            <a:endParaRPr lang="en-US" sz="1600" dirty="0">
              <a:latin typeface="Bahnschrift" panose="020B0502040204020203" pitchFamily="34" charset="0"/>
              <a:sym typeface="Wingdings" panose="05000000000000000000" pitchFamily="2" charset="2"/>
            </a:endParaRPr>
          </a:p>
        </p:txBody>
      </p:sp>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A476D338-D124-44BC-A02E-068EAE27C9AB}"/>
                  </a:ext>
                </a:extLst>
              </p:cNvPr>
              <p:cNvSpPr txBox="1"/>
              <p:nvPr/>
            </p:nvSpPr>
            <p:spPr>
              <a:xfrm>
                <a:off x="715751" y="5066214"/>
                <a:ext cx="7719832" cy="4076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𝑗𝑎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2</m:t>
                              </m:r>
                            </m:sub>
                          </m:sSub>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rPr>
                              </m:ctrlPr>
                            </m:sSupPr>
                            <m:e>
                              <m:r>
                                <a:rPr lang="en-US" i="1">
                                  <a:latin typeface="Cambria Math" panose="02040503050406030204" pitchFamily="18" charset="0"/>
                                </a:rPr>
                                <m:t>𝑗</m:t>
                              </m:r>
                            </m:e>
                            <m:sup>
                              <m:r>
                                <a:rPr lang="en-US" b="0" i="1" smtClean="0">
                                  <a:latin typeface="Cambria Math" panose="02040503050406030204" pitchFamily="18" charset="0"/>
                                </a:rPr>
                                <m:t>2</m:t>
                              </m:r>
                            </m:sup>
                          </m:sSup>
                          <m:r>
                            <a:rPr lang="en-US" i="1">
                              <a:latin typeface="Cambria Math" panose="02040503050406030204" pitchFamily="18" charset="0"/>
                            </a:rPr>
                            <m:t>𝑎</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𝜔</m:t>
                              </m:r>
                            </m:e>
                            <m:sub>
                              <m:r>
                                <a:rPr lang="en-US" i="1">
                                  <a:latin typeface="Cambria Math" panose="02040503050406030204" pitchFamily="18" charset="0"/>
                                </a:rPr>
                                <m:t>2</m:t>
                              </m:r>
                            </m:sub>
                            <m:sup>
                              <m:r>
                                <a:rPr lang="en-US" b="0" i="1" smtClean="0">
                                  <a:latin typeface="Cambria Math" panose="02040503050406030204" pitchFamily="18" charset="0"/>
                                </a:rPr>
                                <m:t>2</m:t>
                              </m:r>
                            </m:sup>
                          </m:sSub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sup>
                          </m:sSup>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rPr>
                            <m:t>𝑗</m:t>
                          </m:r>
                          <m:r>
                            <a:rPr lang="en-US" b="0" i="1" smtClean="0">
                              <a:latin typeface="Cambria Math" panose="02040503050406030204" pitchFamily="18" charset="0"/>
                            </a:rPr>
                            <m:t>𝑏</m:t>
                          </m:r>
                          <m:sSub>
                            <m:sSubPr>
                              <m:ctrlPr>
                                <a:rPr lang="en-US" i="1">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3</m:t>
                              </m:r>
                            </m:sub>
                          </m:sSub>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𝑗</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𝑏</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3</m:t>
                              </m:r>
                            </m:sub>
                            <m:sup>
                              <m:r>
                                <a:rPr lang="en-US" b="0" i="1" smtClean="0">
                                  <a:latin typeface="Cambria Math" panose="02040503050406030204" pitchFamily="18" charset="0"/>
                                  <a:ea typeface="Cambria Math" panose="02040503050406030204" pitchFamily="18" charset="0"/>
                                </a:rPr>
                                <m:t>2</m:t>
                              </m:r>
                            </m:sup>
                          </m:sSub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sup>
                          </m:sSup>
                        </m:e>
                      </m:d>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𝑑</m:t>
                          </m:r>
                        </m:e>
                      </m:acc>
                      <m:r>
                        <a:rPr lang="en-US" b="0" i="1" smtClean="0">
                          <a:latin typeface="Cambria Math" panose="02040503050406030204" pitchFamily="18" charset="0"/>
                        </a:rPr>
                        <m:t>=0</m:t>
                      </m:r>
                      <m:r>
                        <a:rPr lang="en-US" b="0" i="0" smtClean="0">
                          <a:latin typeface="Cambria Math" panose="02040503050406030204" pitchFamily="18" charset="0"/>
                        </a:rPr>
                        <m:t> </m:t>
                      </m:r>
                    </m:oMath>
                  </m:oMathPara>
                </a14:m>
                <a:endParaRPr lang="es-AR" dirty="0"/>
              </a:p>
            </p:txBody>
          </p:sp>
        </mc:Choice>
        <mc:Fallback xmlns="">
          <p:sp>
            <p:nvSpPr>
              <p:cNvPr id="34" name="CuadroTexto 33">
                <a:extLst>
                  <a:ext uri="{FF2B5EF4-FFF2-40B4-BE49-F238E27FC236}">
                    <a16:creationId xmlns:a16="http://schemas.microsoft.com/office/drawing/2014/main" id="{A476D338-D124-44BC-A02E-068EAE27C9AB}"/>
                  </a:ext>
                </a:extLst>
              </p:cNvPr>
              <p:cNvSpPr txBox="1">
                <a:spLocks noRot="1" noChangeAspect="1" noMove="1" noResize="1" noEditPoints="1" noAdjustHandles="1" noChangeArrowheads="1" noChangeShapeType="1" noTextEdit="1"/>
              </p:cNvSpPr>
              <p:nvPr/>
            </p:nvSpPr>
            <p:spPr>
              <a:xfrm>
                <a:off x="715751" y="5066214"/>
                <a:ext cx="7719832" cy="407612"/>
              </a:xfrm>
              <a:prstGeom prst="rect">
                <a:avLst/>
              </a:prstGeom>
              <a:blipFill>
                <a:blip r:embed="rId6"/>
                <a:stretch>
                  <a:fillRect b="-895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D72E57F1-6A9F-4703-A641-C8D4A7DAD953}"/>
                  </a:ext>
                </a:extLst>
              </p:cNvPr>
              <p:cNvSpPr txBox="1"/>
              <p:nvPr/>
            </p:nvSpPr>
            <p:spPr>
              <a:xfrm>
                <a:off x="1336027" y="5473826"/>
                <a:ext cx="6035235" cy="4076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2</m:t>
                              </m:r>
                            </m:sub>
                          </m:sSub>
                          <m:sSup>
                            <m:sSupPr>
                              <m:ctrlPr>
                                <a:rPr lang="en-US" i="1">
                                  <a:latin typeface="Cambria Math" panose="02040503050406030204" pitchFamily="18" charset="0"/>
                                </a:rPr>
                              </m:ctrlPr>
                            </m:sSupPr>
                            <m:e>
                              <m:r>
                                <a:rPr lang="en-US" b="0" i="1" smtClean="0">
                                  <a:latin typeface="Cambria Math" panose="02040503050406030204" pitchFamily="18" charset="0"/>
                                </a:rPr>
                                <m:t>𝑗</m:t>
                              </m:r>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𝑎</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𝜔</m:t>
                              </m:r>
                            </m:e>
                            <m:sub>
                              <m:r>
                                <a:rPr lang="en-US" i="1">
                                  <a:latin typeface="Cambria Math" panose="02040503050406030204" pitchFamily="18" charset="0"/>
                                </a:rPr>
                                <m:t>2</m:t>
                              </m:r>
                            </m:sub>
                            <m:sup>
                              <m:r>
                                <a:rPr lang="en-US" b="0" i="1" smtClean="0">
                                  <a:latin typeface="Cambria Math" panose="02040503050406030204" pitchFamily="18" charset="0"/>
                                </a:rPr>
                                <m:t>2</m:t>
                              </m:r>
                            </m:sup>
                          </m:sSub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sup>
                          </m:sSup>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rPr>
                            <m:t>𝑏</m:t>
                          </m:r>
                          <m:sSub>
                            <m:sSubPr>
                              <m:ctrlPr>
                                <a:rPr lang="en-US" i="1">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3</m:t>
                              </m:r>
                            </m:sub>
                          </m:sSub>
                          <m:r>
                            <a:rPr lang="en-US" b="0" i="1" smtClean="0">
                              <a:latin typeface="Cambria Math" panose="02040503050406030204" pitchFamily="18" charset="0"/>
                            </a:rPr>
                            <m:t>𝑗</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3</m:t>
                              </m:r>
                            </m:sub>
                            <m:sup>
                              <m:r>
                                <a:rPr lang="en-US" b="0" i="1" smtClean="0">
                                  <a:latin typeface="Cambria Math" panose="02040503050406030204" pitchFamily="18" charset="0"/>
                                  <a:ea typeface="Cambria Math" panose="02040503050406030204" pitchFamily="18" charset="0"/>
                                </a:rPr>
                                <m:t>2</m:t>
                              </m:r>
                            </m:sup>
                          </m:sSub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sup>
                          </m:sSup>
                        </m:e>
                      </m:d>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𝑑</m:t>
                          </m:r>
                        </m:e>
                      </m:acc>
                      <m:r>
                        <a:rPr lang="en-US" b="0" i="1" smtClean="0">
                          <a:latin typeface="Cambria Math" panose="02040503050406030204" pitchFamily="18" charset="0"/>
                        </a:rPr>
                        <m:t>=0</m:t>
                      </m:r>
                      <m:r>
                        <a:rPr lang="en-US" b="0" i="0" smtClean="0">
                          <a:latin typeface="Cambria Math" panose="02040503050406030204" pitchFamily="18" charset="0"/>
                        </a:rPr>
                        <m:t> </m:t>
                      </m:r>
                    </m:oMath>
                  </m:oMathPara>
                </a14:m>
                <a:endParaRPr lang="es-AR" dirty="0"/>
              </a:p>
            </p:txBody>
          </p:sp>
        </mc:Choice>
        <mc:Fallback xmlns="">
          <p:sp>
            <p:nvSpPr>
              <p:cNvPr id="17" name="CuadroTexto 16">
                <a:extLst>
                  <a:ext uri="{FF2B5EF4-FFF2-40B4-BE49-F238E27FC236}">
                    <a16:creationId xmlns:a16="http://schemas.microsoft.com/office/drawing/2014/main" id="{D72E57F1-6A9F-4703-A641-C8D4A7DAD953}"/>
                  </a:ext>
                </a:extLst>
              </p:cNvPr>
              <p:cNvSpPr txBox="1">
                <a:spLocks noRot="1" noChangeAspect="1" noMove="1" noResize="1" noEditPoints="1" noAdjustHandles="1" noChangeArrowheads="1" noChangeShapeType="1" noTextEdit="1"/>
              </p:cNvSpPr>
              <p:nvPr/>
            </p:nvSpPr>
            <p:spPr>
              <a:xfrm>
                <a:off x="1336027" y="5473826"/>
                <a:ext cx="6035235" cy="407612"/>
              </a:xfrm>
              <a:prstGeom prst="rect">
                <a:avLst/>
              </a:prstGeom>
              <a:blipFill>
                <a:blip r:embed="rId7"/>
                <a:stretch>
                  <a:fillRect b="-746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E0F5C8A5-63B6-452C-9D29-F4CE7D38800D}"/>
                  </a:ext>
                </a:extLst>
              </p:cNvPr>
              <p:cNvSpPr txBox="1"/>
              <p:nvPr/>
            </p:nvSpPr>
            <p:spPr>
              <a:xfrm>
                <a:off x="943653" y="5970167"/>
                <a:ext cx="8376123" cy="3726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𝐴</m:t>
                              </m:r>
                            </m:sub>
                            <m:sup>
                              <m:r>
                                <a:rPr lang="en-US" b="0" i="1" smtClean="0">
                                  <a:latin typeface="Cambria Math" panose="02040503050406030204" pitchFamily="18" charset="0"/>
                                  <a:ea typeface="Cambria Math" panose="02040503050406030204" pitchFamily="18" charset="0"/>
                                </a:rPr>
                                <m:t>𝑡</m:t>
                              </m:r>
                            </m:sup>
                          </m:sSubSup>
                          <m:r>
                            <a:rPr lang="en-US" b="0" i="1" smtClean="0">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𝐴</m:t>
                              </m:r>
                            </m:sub>
                            <m:sup>
                              <m:r>
                                <a:rPr lang="en-US" b="0" i="1" smtClean="0">
                                  <a:latin typeface="Cambria Math" panose="02040503050406030204" pitchFamily="18" charset="0"/>
                                  <a:ea typeface="Cambria Math" panose="02040503050406030204" pitchFamily="18" charset="0"/>
                                </a:rPr>
                                <m:t>𝑛</m:t>
                              </m:r>
                            </m:sup>
                          </m:sSubSup>
                        </m:e>
                      </m:d>
                      <m:r>
                        <a:rPr lang="en-US" b="0" i="1" smtClean="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rPr>
                          </m:ctrlPr>
                        </m:dPr>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𝐴𝐵</m:t>
                              </m:r>
                            </m:sub>
                            <m:sup>
                              <m:r>
                                <a:rPr lang="en-US" i="1">
                                  <a:latin typeface="Cambria Math" panose="02040503050406030204" pitchFamily="18" charset="0"/>
                                  <a:ea typeface="Cambria Math" panose="02040503050406030204" pitchFamily="18" charset="0"/>
                                </a:rPr>
                                <m:t>𝑡</m:t>
                              </m:r>
                            </m:sup>
                          </m:sSubSup>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𝐴𝐵</m:t>
                              </m:r>
                            </m:sub>
                            <m:sup>
                              <m:r>
                                <a:rPr lang="en-US" i="1">
                                  <a:latin typeface="Cambria Math" panose="02040503050406030204" pitchFamily="18" charset="0"/>
                                  <a:ea typeface="Cambria Math" panose="02040503050406030204" pitchFamily="18" charset="0"/>
                                </a:rPr>
                                <m:t>𝑛</m:t>
                              </m:r>
                            </m:sup>
                          </m:sSubSup>
                        </m:e>
                      </m:d>
                      <m:r>
                        <a:rPr lang="en-US" b="0" i="1" smtClean="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rPr>
                          </m:ctrlPr>
                        </m:dPr>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𝐵</m:t>
                              </m:r>
                            </m:sub>
                            <m:sup>
                              <m:r>
                                <a:rPr lang="en-US" i="1">
                                  <a:latin typeface="Cambria Math" panose="02040503050406030204" pitchFamily="18" charset="0"/>
                                  <a:ea typeface="Cambria Math" panose="02040503050406030204" pitchFamily="18" charset="0"/>
                                </a:rPr>
                                <m:t>𝑡</m:t>
                              </m:r>
                            </m:sup>
                          </m:sSubSup>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𝐵</m:t>
                              </m:r>
                            </m:sub>
                            <m:sup>
                              <m:r>
                                <a:rPr lang="en-US" i="1">
                                  <a:latin typeface="Cambria Math" panose="02040503050406030204" pitchFamily="18" charset="0"/>
                                  <a:ea typeface="Cambria Math" panose="02040503050406030204" pitchFamily="18" charset="0"/>
                                </a:rPr>
                                <m:t>𝑛</m:t>
                              </m:r>
                            </m:sup>
                          </m:sSubSup>
                        </m:e>
                      </m:d>
                      <m:r>
                        <a:rPr lang="en-US" b="0" i="1" smtClean="0">
                          <a:latin typeface="Cambria Math" panose="02040503050406030204" pitchFamily="18" charset="0"/>
                        </a:rPr>
                        <m:t>=0</m:t>
                      </m:r>
                      <m:r>
                        <a:rPr lang="en-US" b="0" i="0" smtClean="0">
                          <a:latin typeface="Cambria Math" panose="02040503050406030204" pitchFamily="18" charset="0"/>
                        </a:rPr>
                        <m:t>→</m:t>
                      </m:r>
                      <m:r>
                        <m:rPr>
                          <m:sty m:val="p"/>
                        </m:rPr>
                        <a:rPr lang="en-US" b="0" i="0" smtClean="0">
                          <a:latin typeface="Cambria Math" panose="02040503050406030204" pitchFamily="18" charset="0"/>
                        </a:rPr>
                        <m:t>Debido</m:t>
                      </m:r>
                      <m:r>
                        <a:rPr lang="en-US" b="0" i="0" smtClean="0">
                          <a:latin typeface="Cambria Math" panose="02040503050406030204" pitchFamily="18" charset="0"/>
                        </a:rPr>
                        <m:t> </m:t>
                      </m:r>
                      <m:r>
                        <m:rPr>
                          <m:sty m:val="p"/>
                        </m:rPr>
                        <a:rPr lang="en-US" b="0" i="0" smtClean="0">
                          <a:latin typeface="Cambria Math" panose="02040503050406030204" pitchFamily="18" charset="0"/>
                        </a:rPr>
                        <m:t>a</m:t>
                      </m:r>
                      <m:r>
                        <a:rPr lang="en-US" b="0" i="0" smtClean="0">
                          <a:latin typeface="Cambria Math" panose="02040503050406030204" pitchFamily="18" charset="0"/>
                        </a:rPr>
                        <m:t> </m:t>
                      </m:r>
                      <m:r>
                        <m:rPr>
                          <m:sty m:val="p"/>
                        </m:rPr>
                        <a:rPr lang="en-US" b="0" i="0" smtClean="0">
                          <a:latin typeface="Cambria Math" panose="02040503050406030204" pitchFamily="18" charset="0"/>
                        </a:rPr>
                        <m:t>que</m:t>
                      </m:r>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A</m:t>
                          </m:r>
                        </m:e>
                        <m:sub>
                          <m:r>
                            <m:rPr>
                              <m:sty m:val="p"/>
                            </m:rPr>
                            <a:rPr lang="en-US" b="0" i="0" smtClean="0">
                              <a:latin typeface="Cambria Math" panose="02040503050406030204" pitchFamily="18" charset="0"/>
                            </a:rPr>
                            <m:t>BA</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A</m:t>
                          </m:r>
                        </m:e>
                        <m:sub>
                          <m:r>
                            <m:rPr>
                              <m:sty m:val="p"/>
                            </m:rPr>
                            <a:rPr lang="en-US" b="0" i="0" smtClean="0">
                              <a:latin typeface="Cambria Math" panose="02040503050406030204" pitchFamily="18" charset="0"/>
                            </a:rPr>
                            <m:t>AB</m:t>
                          </m:r>
                        </m:sub>
                      </m:sSub>
                    </m:oMath>
                  </m:oMathPara>
                </a14:m>
                <a:endParaRPr lang="es-AR" dirty="0"/>
              </a:p>
            </p:txBody>
          </p:sp>
        </mc:Choice>
        <mc:Fallback xmlns="">
          <p:sp>
            <p:nvSpPr>
              <p:cNvPr id="37" name="CuadroTexto 36">
                <a:extLst>
                  <a:ext uri="{FF2B5EF4-FFF2-40B4-BE49-F238E27FC236}">
                    <a16:creationId xmlns:a16="http://schemas.microsoft.com/office/drawing/2014/main" id="{E0F5C8A5-63B6-452C-9D29-F4CE7D38800D}"/>
                  </a:ext>
                </a:extLst>
              </p:cNvPr>
              <p:cNvSpPr txBox="1">
                <a:spLocks noRot="1" noChangeAspect="1" noMove="1" noResize="1" noEditPoints="1" noAdjustHandles="1" noChangeArrowheads="1" noChangeShapeType="1" noTextEdit="1"/>
              </p:cNvSpPr>
              <p:nvPr/>
            </p:nvSpPr>
            <p:spPr>
              <a:xfrm>
                <a:off x="943653" y="5970167"/>
                <a:ext cx="8376123" cy="372666"/>
              </a:xfrm>
              <a:prstGeom prst="rect">
                <a:avLst/>
              </a:prstGeom>
              <a:blipFill>
                <a:blip r:embed="rId8"/>
                <a:stretch>
                  <a:fillRect b="-9836"/>
                </a:stretch>
              </a:blipFill>
            </p:spPr>
            <p:txBody>
              <a:bodyPr/>
              <a:lstStyle/>
              <a:p>
                <a:r>
                  <a:rPr lang="es-AR">
                    <a:noFill/>
                  </a:rPr>
                  <a:t> </a:t>
                </a:r>
              </a:p>
            </p:txBody>
          </p:sp>
        </mc:Fallback>
      </mc:AlternateContent>
      <p:sp>
        <p:nvSpPr>
          <p:cNvPr id="19" name="Marcador de contenido 2">
            <a:extLst>
              <a:ext uri="{FF2B5EF4-FFF2-40B4-BE49-F238E27FC236}">
                <a16:creationId xmlns:a16="http://schemas.microsoft.com/office/drawing/2014/main" id="{E9DEC608-14D8-4614-9FA5-3DDE7263E9A7}"/>
              </a:ext>
            </a:extLst>
          </p:cNvPr>
          <p:cNvSpPr txBox="1">
            <a:spLocks/>
          </p:cNvSpPr>
          <p:nvPr/>
        </p:nvSpPr>
        <p:spPr>
          <a:xfrm>
            <a:off x="-15805" y="1371232"/>
            <a:ext cx="3666652"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Font typeface="Arial" pitchFamily="34" charset="0"/>
              <a:buNone/>
            </a:pPr>
            <a:r>
              <a:rPr lang="en-US" b="1" dirty="0">
                <a:solidFill>
                  <a:srgbClr val="FFC000"/>
                </a:solidFill>
                <a:latin typeface="Bahnschrift" panose="020B0502040204020203" pitchFamily="34" charset="0"/>
              </a:rPr>
              <a:t>MANIVELA BIELA CORREDERA</a:t>
            </a:r>
            <a:endParaRPr lang="es-AR" b="1" dirty="0">
              <a:solidFill>
                <a:srgbClr val="FFC000"/>
              </a:solidFill>
              <a:latin typeface="Bahnschrift" panose="020B0502040204020203" pitchFamily="34" charset="0"/>
            </a:endParaRPr>
          </a:p>
        </p:txBody>
      </p:sp>
    </p:spTree>
    <p:extLst>
      <p:ext uri="{BB962C8B-B14F-4D97-AF65-F5344CB8AC3E}">
        <p14:creationId xmlns:p14="http://schemas.microsoft.com/office/powerpoint/2010/main" val="3876113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27" grpId="0"/>
      <p:bldP spid="31" grpId="0"/>
      <p:bldP spid="14" grpId="0"/>
      <p:bldP spid="33" grpId="0"/>
      <p:bldP spid="34" grpId="0"/>
      <p:bldP spid="17" grpId="0"/>
      <p:bldP spid="3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2CCAE51A-2BA3-4542-9556-57577F336225}"/>
              </a:ext>
            </a:extLst>
          </p:cNvPr>
          <p:cNvSpPr/>
          <p:nvPr/>
        </p:nvSpPr>
        <p:spPr>
          <a:xfrm>
            <a:off x="-1" y="853440"/>
            <a:ext cx="4332304"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9329529" cy="684362"/>
          </a:xfrm>
        </p:spPr>
        <p:txBody>
          <a:bodyPr>
            <a:normAutofit fontScale="90000"/>
          </a:bodyPr>
          <a:lstStyle/>
          <a:p>
            <a:r>
              <a:rPr lang="es-AR" sz="6000" b="1" dirty="0">
                <a:latin typeface="Bahnschrift" panose="020B0502040204020203" pitchFamily="34" charset="0"/>
              </a:rPr>
              <a:t>ANÁLISIS DE ACELERACIÓN</a:t>
            </a:r>
          </a:p>
        </p:txBody>
      </p:sp>
      <p:sp>
        <p:nvSpPr>
          <p:cNvPr id="3" name="Marcador de contenido 2"/>
          <p:cNvSpPr>
            <a:spLocks noGrp="1"/>
          </p:cNvSpPr>
          <p:nvPr>
            <p:ph idx="1"/>
          </p:nvPr>
        </p:nvSpPr>
        <p:spPr>
          <a:xfrm>
            <a:off x="116312" y="830016"/>
            <a:ext cx="4153847" cy="466124"/>
          </a:xfrm>
        </p:spPr>
        <p:txBody>
          <a:bodyPr>
            <a:normAutofit/>
          </a:bodyPr>
          <a:lstStyle/>
          <a:p>
            <a:pPr marL="0" indent="0">
              <a:buNone/>
            </a:pPr>
            <a:r>
              <a:rPr lang="es-AR" sz="2400" b="1" dirty="0">
                <a:latin typeface="Bahnschrift" panose="020B0502040204020203" pitchFamily="34" charset="0"/>
              </a:rPr>
              <a:t>DETERMINACIÓ</a:t>
            </a:r>
            <a:r>
              <a:rPr lang="en-US" sz="2400" b="1" dirty="0">
                <a:latin typeface="Bahnschrift" panose="020B0502040204020203" pitchFamily="34" charset="0"/>
              </a:rPr>
              <a:t>N ANAL</a:t>
            </a:r>
            <a:r>
              <a:rPr lang="es-AR" sz="2400" b="1" dirty="0">
                <a:latin typeface="Bahnschrift" panose="020B0502040204020203" pitchFamily="34" charset="0"/>
              </a:rPr>
              <a:t>Í</a:t>
            </a:r>
            <a:r>
              <a:rPr lang="en-US" sz="2400" b="1" dirty="0">
                <a:latin typeface="Bahnschrift" panose="020B0502040204020203" pitchFamily="34" charset="0"/>
              </a:rPr>
              <a:t>TICA</a:t>
            </a:r>
            <a:endParaRPr lang="es-AR" sz="2400" b="1" dirty="0">
              <a:latin typeface="Bahnschrift" panose="020B0502040204020203" pitchFamily="34" charset="0"/>
            </a:endParaRPr>
          </a:p>
        </p:txBody>
      </p:sp>
      <p:sp>
        <p:nvSpPr>
          <p:cNvPr id="4" name="Marcador de contenido 2">
            <a:extLst>
              <a:ext uri="{FF2B5EF4-FFF2-40B4-BE49-F238E27FC236}">
                <a16:creationId xmlns:a16="http://schemas.microsoft.com/office/drawing/2014/main" id="{6F29601B-6F87-4863-8F58-E656D3704523}"/>
              </a:ext>
            </a:extLst>
          </p:cNvPr>
          <p:cNvSpPr txBox="1">
            <a:spLocks/>
          </p:cNvSpPr>
          <p:nvPr/>
        </p:nvSpPr>
        <p:spPr>
          <a:xfrm>
            <a:off x="632265" y="131024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18" name="Marcador de contenido 2">
            <a:extLst>
              <a:ext uri="{FF2B5EF4-FFF2-40B4-BE49-F238E27FC236}">
                <a16:creationId xmlns:a16="http://schemas.microsoft.com/office/drawing/2014/main" id="{DBC5DD57-6377-41E1-B4CA-6E5032B7A48B}"/>
              </a:ext>
            </a:extLst>
          </p:cNvPr>
          <p:cNvSpPr txBox="1">
            <a:spLocks/>
          </p:cNvSpPr>
          <p:nvPr/>
        </p:nvSpPr>
        <p:spPr>
          <a:xfrm>
            <a:off x="326737" y="1413016"/>
            <a:ext cx="10541288" cy="1049317"/>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ea typeface="Cambria Math" panose="02040503050406030204" pitchFamily="18" charset="0"/>
              </a:rPr>
              <a:t>Cabe destacar que en este mecanismo el eslabón 4 posee TRASLACION PURA, por esta razón tiene </a:t>
            </a:r>
            <a:r>
              <a:rPr lang="el-GR" sz="1400" dirty="0">
                <a:latin typeface="Bahnschrift" panose="020B0502040204020203" pitchFamily="34" charset="0"/>
                <a:ea typeface="Cambria Math" panose="02040503050406030204" pitchFamily="18" charset="0"/>
              </a:rPr>
              <a:t>ω</a:t>
            </a:r>
            <a:r>
              <a:rPr lang="en-US" sz="1400" baseline="-25000" dirty="0">
                <a:latin typeface="Bahnschrift" panose="020B0502040204020203" pitchFamily="34" charset="0"/>
                <a:ea typeface="Cambria Math" panose="02040503050406030204" pitchFamily="18" charset="0"/>
              </a:rPr>
              <a:t>4</a:t>
            </a:r>
            <a:r>
              <a:rPr lang="en-US" sz="1400" dirty="0">
                <a:latin typeface="Bahnschrift" panose="020B0502040204020203" pitchFamily="34" charset="0"/>
                <a:ea typeface="Cambria Math" panose="02040503050406030204" pitchFamily="18" charset="0"/>
              </a:rPr>
              <a:t> y </a:t>
            </a:r>
            <a:r>
              <a:rPr lang="el-GR" sz="1400" dirty="0">
                <a:latin typeface="Bahnschrift" panose="020B0502040204020203" pitchFamily="34" charset="0"/>
                <a:ea typeface="Cambria Math" panose="02040503050406030204" pitchFamily="18" charset="0"/>
              </a:rPr>
              <a:t>α</a:t>
            </a:r>
            <a:r>
              <a:rPr lang="en-US" sz="1400" baseline="-25000" dirty="0">
                <a:latin typeface="Bahnschrift" panose="020B0502040204020203" pitchFamily="34" charset="0"/>
                <a:ea typeface="Cambria Math" panose="02040503050406030204" pitchFamily="18" charset="0"/>
              </a:rPr>
              <a:t>4</a:t>
            </a:r>
            <a:r>
              <a:rPr lang="es-AR" sz="1400" dirty="0">
                <a:latin typeface="Bahnschrift" panose="020B0502040204020203" pitchFamily="34" charset="0"/>
                <a:ea typeface="Cambria Math" panose="02040503050406030204" pitchFamily="18" charset="0"/>
              </a:rPr>
              <a:t> iguales a cero. Por lo tanto este eslabón posee solo un componente de aceleración lineal, la cual representa una de las incógnitas. La incógnita restante es la aceleración angular del eslabón 3.</a:t>
            </a:r>
          </a:p>
          <a:p>
            <a:pPr algn="just">
              <a:buFontTx/>
              <a:buChar char="-"/>
            </a:pPr>
            <a:r>
              <a:rPr lang="es-AR" sz="1400" dirty="0">
                <a:latin typeface="Bahnschrift" panose="020B0502040204020203" pitchFamily="34" charset="0"/>
                <a:ea typeface="Cambria Math" panose="02040503050406030204" pitchFamily="18" charset="0"/>
              </a:rPr>
              <a:t>Se introduce la identidad de Euler para así definir el sistema de ecuaciones y resolver el problema. </a:t>
            </a:r>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D72E57F1-6A9F-4703-A641-C8D4A7DAD953}"/>
                  </a:ext>
                </a:extLst>
              </p:cNvPr>
              <p:cNvSpPr txBox="1"/>
              <p:nvPr/>
            </p:nvSpPr>
            <p:spPr>
              <a:xfrm>
                <a:off x="2579763" y="2646006"/>
                <a:ext cx="6035235" cy="4076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2</m:t>
                              </m:r>
                            </m:sub>
                          </m:sSub>
                          <m:sSup>
                            <m:sSupPr>
                              <m:ctrlPr>
                                <a:rPr lang="en-US" i="1">
                                  <a:latin typeface="Cambria Math" panose="02040503050406030204" pitchFamily="18" charset="0"/>
                                </a:rPr>
                              </m:ctrlPr>
                            </m:sSupPr>
                            <m:e>
                              <m:r>
                                <a:rPr lang="en-US" b="0" i="1" smtClean="0">
                                  <a:latin typeface="Cambria Math" panose="02040503050406030204" pitchFamily="18" charset="0"/>
                                </a:rPr>
                                <m:t>𝑗</m:t>
                              </m:r>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𝑎</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𝜔</m:t>
                              </m:r>
                            </m:e>
                            <m:sub>
                              <m:r>
                                <a:rPr lang="en-US" i="1">
                                  <a:latin typeface="Cambria Math" panose="02040503050406030204" pitchFamily="18" charset="0"/>
                                </a:rPr>
                                <m:t>2</m:t>
                              </m:r>
                            </m:sub>
                            <m:sup>
                              <m:r>
                                <a:rPr lang="en-US" b="0" i="1" smtClean="0">
                                  <a:latin typeface="Cambria Math" panose="02040503050406030204" pitchFamily="18" charset="0"/>
                                </a:rPr>
                                <m:t>2</m:t>
                              </m:r>
                            </m:sup>
                          </m:sSub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sup>
                          </m:sSup>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rPr>
                            <m:t>𝑏</m:t>
                          </m:r>
                          <m:sSub>
                            <m:sSubPr>
                              <m:ctrlPr>
                                <a:rPr lang="en-US" i="1">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3</m:t>
                              </m:r>
                            </m:sub>
                          </m:sSub>
                          <m:r>
                            <a:rPr lang="en-US" b="0" i="1" smtClean="0">
                              <a:latin typeface="Cambria Math" panose="02040503050406030204" pitchFamily="18" charset="0"/>
                            </a:rPr>
                            <m:t>𝑗</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3</m:t>
                              </m:r>
                            </m:sub>
                            <m:sup>
                              <m:r>
                                <a:rPr lang="en-US" b="0" i="1" smtClean="0">
                                  <a:latin typeface="Cambria Math" panose="02040503050406030204" pitchFamily="18" charset="0"/>
                                  <a:ea typeface="Cambria Math" panose="02040503050406030204" pitchFamily="18" charset="0"/>
                                </a:rPr>
                                <m:t>2</m:t>
                              </m:r>
                            </m:sup>
                          </m:sSub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sup>
                          </m:sSup>
                        </m:e>
                      </m:d>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𝑑</m:t>
                          </m:r>
                        </m:e>
                      </m:acc>
                      <m:r>
                        <a:rPr lang="en-US" b="0" i="1" smtClean="0">
                          <a:latin typeface="Cambria Math" panose="02040503050406030204" pitchFamily="18" charset="0"/>
                        </a:rPr>
                        <m:t>=0</m:t>
                      </m:r>
                      <m:r>
                        <a:rPr lang="en-US" b="0" i="0" smtClean="0">
                          <a:latin typeface="Cambria Math" panose="02040503050406030204" pitchFamily="18" charset="0"/>
                        </a:rPr>
                        <m:t> </m:t>
                      </m:r>
                    </m:oMath>
                  </m:oMathPara>
                </a14:m>
                <a:endParaRPr lang="es-AR" dirty="0"/>
              </a:p>
            </p:txBody>
          </p:sp>
        </mc:Choice>
        <mc:Fallback xmlns="">
          <p:sp>
            <p:nvSpPr>
              <p:cNvPr id="17" name="CuadroTexto 16">
                <a:extLst>
                  <a:ext uri="{FF2B5EF4-FFF2-40B4-BE49-F238E27FC236}">
                    <a16:creationId xmlns:a16="http://schemas.microsoft.com/office/drawing/2014/main" id="{D72E57F1-6A9F-4703-A641-C8D4A7DAD953}"/>
                  </a:ext>
                </a:extLst>
              </p:cNvPr>
              <p:cNvSpPr txBox="1">
                <a:spLocks noRot="1" noChangeAspect="1" noMove="1" noResize="1" noEditPoints="1" noAdjustHandles="1" noChangeArrowheads="1" noChangeShapeType="1" noTextEdit="1"/>
              </p:cNvSpPr>
              <p:nvPr/>
            </p:nvSpPr>
            <p:spPr>
              <a:xfrm>
                <a:off x="2579763" y="2646006"/>
                <a:ext cx="6035235" cy="407612"/>
              </a:xfrm>
              <a:prstGeom prst="rect">
                <a:avLst/>
              </a:prstGeom>
              <a:blipFill>
                <a:blip r:embed="rId2"/>
                <a:stretch>
                  <a:fillRect b="-895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F8EC8FA7-128A-47F4-A447-AE099DFC7287}"/>
                  </a:ext>
                </a:extLst>
              </p:cNvPr>
              <p:cNvSpPr txBox="1"/>
              <p:nvPr/>
            </p:nvSpPr>
            <p:spPr>
              <a:xfrm>
                <a:off x="-31895" y="3015875"/>
                <a:ext cx="11258550" cy="3869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𝑎</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2</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𝑗</m:t>
                          </m:r>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𝑎</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2</m:t>
                          </m:r>
                        </m:sub>
                        <m:sup>
                          <m:r>
                            <a:rPr lang="en-US" i="1">
                              <a:latin typeface="Cambria Math" panose="02040503050406030204" pitchFamily="18" charset="0"/>
                            </a:rPr>
                            <m:t>2</m:t>
                          </m:r>
                        </m:sup>
                      </m:sSubSup>
                      <m:d>
                        <m:dPr>
                          <m:ctrlPr>
                            <a:rPr lang="en-US" i="1">
                              <a:latin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i="1">
                              <a:latin typeface="Cambria Math" panose="02040503050406030204" pitchFamily="18" charset="0"/>
                            </a:rPr>
                            <m:t>+</m:t>
                          </m:r>
                          <m:r>
                            <a:rPr lang="en-US" i="1">
                              <a:latin typeface="Cambria Math" panose="02040503050406030204" pitchFamily="18" charset="0"/>
                            </a:rPr>
                            <m:t>𝑗</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3</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𝑗</m:t>
                          </m:r>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e>
                      </m:d>
                      <m:r>
                        <a:rPr lang="en-US" b="0" i="1" smtClean="0">
                          <a:latin typeface="Cambria Math" panose="02040503050406030204" pitchFamily="18" charset="0"/>
                        </a:rPr>
                        <m:t>+</m:t>
                      </m:r>
                      <m:r>
                        <a:rPr lang="en-US" i="1">
                          <a:latin typeface="Cambria Math" panose="02040503050406030204" pitchFamily="18" charset="0"/>
                        </a:rPr>
                        <m:t>𝑏</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3</m:t>
                          </m:r>
                        </m:sub>
                        <m:sup>
                          <m:r>
                            <a:rPr lang="en-US" i="1">
                              <a:latin typeface="Cambria Math" panose="02040503050406030204" pitchFamily="18" charset="0"/>
                            </a:rPr>
                            <m:t>2</m:t>
                          </m:r>
                        </m:sup>
                      </m:sSubSup>
                      <m:d>
                        <m:dPr>
                          <m:ctrlPr>
                            <a:rPr lang="en-US" i="1">
                              <a:latin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r>
                            <a:rPr lang="en-US" i="1">
                              <a:latin typeface="Cambria Math" panose="02040503050406030204" pitchFamily="18" charset="0"/>
                            </a:rPr>
                            <m:t>+</m:t>
                          </m:r>
                          <m:r>
                            <a:rPr lang="en-US" i="1">
                              <a:latin typeface="Cambria Math" panose="02040503050406030204" pitchFamily="18" charset="0"/>
                            </a:rPr>
                            <m:t>𝑗</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e>
                      </m:d>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𝑑</m:t>
                          </m:r>
                        </m:e>
                      </m:ac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0</m:t>
                      </m:r>
                    </m:oMath>
                  </m:oMathPara>
                </a14:m>
                <a:endParaRPr lang="es-AR" dirty="0"/>
              </a:p>
            </p:txBody>
          </p:sp>
        </mc:Choice>
        <mc:Fallback xmlns="">
          <p:sp>
            <p:nvSpPr>
              <p:cNvPr id="21" name="CuadroTexto 20">
                <a:extLst>
                  <a:ext uri="{FF2B5EF4-FFF2-40B4-BE49-F238E27FC236}">
                    <a16:creationId xmlns:a16="http://schemas.microsoft.com/office/drawing/2014/main" id="{F8EC8FA7-128A-47F4-A447-AE099DFC7287}"/>
                  </a:ext>
                </a:extLst>
              </p:cNvPr>
              <p:cNvSpPr txBox="1">
                <a:spLocks noRot="1" noChangeAspect="1" noMove="1" noResize="1" noEditPoints="1" noAdjustHandles="1" noChangeArrowheads="1" noChangeShapeType="1" noTextEdit="1"/>
              </p:cNvSpPr>
              <p:nvPr/>
            </p:nvSpPr>
            <p:spPr>
              <a:xfrm>
                <a:off x="-31895" y="3015875"/>
                <a:ext cx="11258550" cy="386965"/>
              </a:xfrm>
              <a:prstGeom prst="rect">
                <a:avLst/>
              </a:prstGeom>
              <a:blipFill>
                <a:blip r:embed="rId3"/>
                <a:stretch>
                  <a:fillRect b="-1428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2BAA41F2-015E-43DC-83B6-A8882DA2D48C}"/>
                  </a:ext>
                </a:extLst>
              </p:cNvPr>
              <p:cNvSpPr txBox="1"/>
              <p:nvPr/>
            </p:nvSpPr>
            <p:spPr>
              <a:xfrm>
                <a:off x="2579764" y="3724269"/>
                <a:ext cx="7677191" cy="3869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𝑎</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2</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𝑎</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2</m:t>
                          </m:r>
                        </m:sub>
                        <m:sup>
                          <m:r>
                            <a:rPr lang="en-US" i="1">
                              <a:latin typeface="Cambria Math" panose="02040503050406030204" pitchFamily="18" charset="0"/>
                            </a:rPr>
                            <m:t>2</m:t>
                          </m:r>
                        </m:sup>
                      </m:sSubSup>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𝑏</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3</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r>
                        <a:rPr lang="en-US" b="0" i="1" smtClean="0">
                          <a:latin typeface="Cambria Math" panose="02040503050406030204" pitchFamily="18" charset="0"/>
                        </a:rPr>
                        <m:t>+</m:t>
                      </m:r>
                      <m:r>
                        <a:rPr lang="en-US" i="1">
                          <a:latin typeface="Cambria Math" panose="02040503050406030204" pitchFamily="18" charset="0"/>
                        </a:rPr>
                        <m:t>𝑏</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3</m:t>
                          </m:r>
                        </m:sub>
                        <m:sup>
                          <m:r>
                            <a:rPr lang="en-US" i="1">
                              <a:latin typeface="Cambria Math" panose="02040503050406030204" pitchFamily="18" charset="0"/>
                            </a:rPr>
                            <m:t>2</m:t>
                          </m:r>
                        </m:sup>
                      </m:sSubSup>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𝑑</m:t>
                          </m:r>
                        </m:e>
                      </m:acc>
                      <m:r>
                        <a:rPr lang="en-US" b="0" i="1" smtClean="0">
                          <a:latin typeface="Cambria Math" panose="02040503050406030204" pitchFamily="18" charset="0"/>
                        </a:rPr>
                        <m:t>=0→</m:t>
                      </m:r>
                      <m:r>
                        <a:rPr lang="en-US" b="0" i="1" smtClean="0">
                          <a:latin typeface="Cambria Math" panose="02040503050406030204" pitchFamily="18" charset="0"/>
                        </a:rPr>
                        <m:t>𝑠𝑒</m:t>
                      </m:r>
                      <m:r>
                        <a:rPr lang="en-US" b="0" i="1" smtClean="0">
                          <a:latin typeface="Cambria Math" panose="02040503050406030204" pitchFamily="18" charset="0"/>
                        </a:rPr>
                        <m:t> </m:t>
                      </m:r>
                      <m:r>
                        <a:rPr lang="en-US" b="0" i="1" smtClean="0">
                          <a:latin typeface="Cambria Math" panose="02040503050406030204" pitchFamily="18" charset="0"/>
                        </a:rPr>
                        <m:t>𝑑𝑒𝑠𝑝𝑒𝑗𝑎</m:t>
                      </m:r>
                      <m:r>
                        <a:rPr lang="en-US" b="0" i="1" smtClean="0">
                          <a:latin typeface="Cambria Math" panose="02040503050406030204" pitchFamily="18" charset="0"/>
                        </a:rPr>
                        <m:t>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𝑑</m:t>
                          </m:r>
                        </m:e>
                      </m:acc>
                    </m:oMath>
                  </m:oMathPara>
                </a14:m>
                <a:endParaRPr lang="es-AR" dirty="0"/>
              </a:p>
            </p:txBody>
          </p:sp>
        </mc:Choice>
        <mc:Fallback xmlns="">
          <p:sp>
            <p:nvSpPr>
              <p:cNvPr id="23" name="CuadroTexto 22">
                <a:extLst>
                  <a:ext uri="{FF2B5EF4-FFF2-40B4-BE49-F238E27FC236}">
                    <a16:creationId xmlns:a16="http://schemas.microsoft.com/office/drawing/2014/main" id="{2BAA41F2-015E-43DC-83B6-A8882DA2D48C}"/>
                  </a:ext>
                </a:extLst>
              </p:cNvPr>
              <p:cNvSpPr txBox="1">
                <a:spLocks noRot="1" noChangeAspect="1" noMove="1" noResize="1" noEditPoints="1" noAdjustHandles="1" noChangeArrowheads="1" noChangeShapeType="1" noTextEdit="1"/>
              </p:cNvSpPr>
              <p:nvPr/>
            </p:nvSpPr>
            <p:spPr>
              <a:xfrm>
                <a:off x="2579764" y="3724269"/>
                <a:ext cx="7677191" cy="386965"/>
              </a:xfrm>
              <a:prstGeom prst="rect">
                <a:avLst/>
              </a:prstGeom>
              <a:blipFill>
                <a:blip r:embed="rId4"/>
                <a:stretch>
                  <a:fillRect r="-2460" b="-1428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1A994ECD-057C-4005-80A6-0DA984F1522F}"/>
                  </a:ext>
                </a:extLst>
              </p:cNvPr>
              <p:cNvSpPr txBox="1"/>
              <p:nvPr/>
            </p:nvSpPr>
            <p:spPr>
              <a:xfrm>
                <a:off x="2579763" y="4186459"/>
                <a:ext cx="7250037" cy="3744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𝑎</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2</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𝑎</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2</m:t>
                          </m:r>
                        </m:sub>
                        <m:sup>
                          <m:r>
                            <a:rPr lang="en-US" i="1">
                              <a:latin typeface="Cambria Math" panose="02040503050406030204" pitchFamily="18" charset="0"/>
                            </a:rPr>
                            <m:t>2</m:t>
                          </m:r>
                        </m:sup>
                      </m:sSubSup>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𝑏</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3</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r>
                        <a:rPr lang="en-US" b="0" i="1" smtClean="0">
                          <a:latin typeface="Cambria Math" panose="02040503050406030204" pitchFamily="18" charset="0"/>
                        </a:rPr>
                        <m:t>+</m:t>
                      </m:r>
                      <m:r>
                        <a:rPr lang="en-US" i="1">
                          <a:latin typeface="Cambria Math" panose="02040503050406030204" pitchFamily="18" charset="0"/>
                        </a:rPr>
                        <m:t>𝑏</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3</m:t>
                          </m:r>
                        </m:sub>
                        <m:sup>
                          <m:r>
                            <a:rPr lang="en-US" i="1">
                              <a:latin typeface="Cambria Math" panose="02040503050406030204" pitchFamily="18" charset="0"/>
                            </a:rPr>
                            <m:t>2</m:t>
                          </m:r>
                        </m:sup>
                      </m:sSubSup>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r>
                        <a:rPr lang="en-US" b="0" i="1" smtClean="0">
                          <a:latin typeface="Cambria Math" panose="02040503050406030204" pitchFamily="18" charset="0"/>
                        </a:rPr>
                        <m:t>=0→</m:t>
                      </m:r>
                      <m:r>
                        <a:rPr lang="en-US" b="0" i="1" smtClean="0">
                          <a:latin typeface="Cambria Math" panose="02040503050406030204" pitchFamily="18" charset="0"/>
                        </a:rPr>
                        <m:t>𝑠𝑒</m:t>
                      </m:r>
                      <m:r>
                        <a:rPr lang="en-US" b="0" i="1" smtClean="0">
                          <a:latin typeface="Cambria Math" panose="02040503050406030204" pitchFamily="18" charset="0"/>
                        </a:rPr>
                        <m:t> </m:t>
                      </m:r>
                      <m:r>
                        <a:rPr lang="en-US" b="0" i="1" smtClean="0">
                          <a:latin typeface="Cambria Math" panose="02040503050406030204" pitchFamily="18" charset="0"/>
                        </a:rPr>
                        <m:t>𝑑𝑒𝑠𝑝𝑒𝑗𝑎</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3</m:t>
                          </m:r>
                        </m:sub>
                      </m:sSub>
                    </m:oMath>
                  </m:oMathPara>
                </a14:m>
                <a:endParaRPr lang="es-AR" dirty="0"/>
              </a:p>
            </p:txBody>
          </p:sp>
        </mc:Choice>
        <mc:Fallback xmlns="">
          <p:sp>
            <p:nvSpPr>
              <p:cNvPr id="24" name="CuadroTexto 23">
                <a:extLst>
                  <a:ext uri="{FF2B5EF4-FFF2-40B4-BE49-F238E27FC236}">
                    <a16:creationId xmlns:a16="http://schemas.microsoft.com/office/drawing/2014/main" id="{1A994ECD-057C-4005-80A6-0DA984F1522F}"/>
                  </a:ext>
                </a:extLst>
              </p:cNvPr>
              <p:cNvSpPr txBox="1">
                <a:spLocks noRot="1" noChangeAspect="1" noMove="1" noResize="1" noEditPoints="1" noAdjustHandles="1" noChangeArrowheads="1" noChangeShapeType="1" noTextEdit="1"/>
              </p:cNvSpPr>
              <p:nvPr/>
            </p:nvSpPr>
            <p:spPr>
              <a:xfrm>
                <a:off x="2579763" y="4186459"/>
                <a:ext cx="7250037" cy="374461"/>
              </a:xfrm>
              <a:prstGeom prst="rect">
                <a:avLst/>
              </a:prstGeom>
              <a:blipFill>
                <a:blip r:embed="rId5"/>
                <a:stretch>
                  <a:fillRect b="-14754"/>
                </a:stretch>
              </a:blipFill>
            </p:spPr>
            <p:txBody>
              <a:bodyPr/>
              <a:lstStyle/>
              <a:p>
                <a:r>
                  <a:rPr lang="es-AR">
                    <a:noFill/>
                  </a:rPr>
                  <a:t> </a:t>
                </a:r>
              </a:p>
            </p:txBody>
          </p:sp>
        </mc:Fallback>
      </mc:AlternateContent>
      <p:sp>
        <p:nvSpPr>
          <p:cNvPr id="25" name="Marcador de contenido 2">
            <a:extLst>
              <a:ext uri="{FF2B5EF4-FFF2-40B4-BE49-F238E27FC236}">
                <a16:creationId xmlns:a16="http://schemas.microsoft.com/office/drawing/2014/main" id="{E8CF1F7B-5B42-415F-870D-3EB272483DCA}"/>
              </a:ext>
            </a:extLst>
          </p:cNvPr>
          <p:cNvSpPr txBox="1">
            <a:spLocks/>
          </p:cNvSpPr>
          <p:nvPr/>
        </p:nvSpPr>
        <p:spPr>
          <a:xfrm>
            <a:off x="675814" y="3771292"/>
            <a:ext cx="2225447"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PARTE REAL (X)</a:t>
            </a:r>
            <a:endParaRPr lang="en-US" sz="1600" dirty="0">
              <a:latin typeface="Bahnschrift" panose="020B0502040204020203" pitchFamily="34" charset="0"/>
              <a:sym typeface="Wingdings" panose="05000000000000000000" pitchFamily="2" charset="2"/>
            </a:endParaRPr>
          </a:p>
        </p:txBody>
      </p:sp>
      <p:sp>
        <p:nvSpPr>
          <p:cNvPr id="26" name="Marcador de contenido 2">
            <a:extLst>
              <a:ext uri="{FF2B5EF4-FFF2-40B4-BE49-F238E27FC236}">
                <a16:creationId xmlns:a16="http://schemas.microsoft.com/office/drawing/2014/main" id="{BD0DBB16-DC5C-441B-B2AB-B9BF47810C97}"/>
              </a:ext>
            </a:extLst>
          </p:cNvPr>
          <p:cNvSpPr txBox="1">
            <a:spLocks/>
          </p:cNvSpPr>
          <p:nvPr/>
        </p:nvSpPr>
        <p:spPr>
          <a:xfrm>
            <a:off x="326738" y="4208029"/>
            <a:ext cx="2317073"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PARTE IMAGINARIA (Y)</a:t>
            </a:r>
            <a:endParaRPr lang="en-US" sz="1600" dirty="0">
              <a:latin typeface="Bahnschrift" panose="020B0502040204020203" pitchFamily="34" charset="0"/>
              <a:sym typeface="Wingdings" panose="05000000000000000000" pitchFamily="2" charset="2"/>
            </a:endParaRP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0B149768-44DA-4414-838A-B9A2A5BC9A26}"/>
                  </a:ext>
                </a:extLst>
              </p:cNvPr>
              <p:cNvSpPr txBox="1"/>
              <p:nvPr/>
            </p:nvSpPr>
            <p:spPr>
              <a:xfrm>
                <a:off x="2316382" y="4983181"/>
                <a:ext cx="4513043" cy="564578"/>
              </a:xfrm>
              <a:prstGeom prst="rect">
                <a:avLst/>
              </a:prstGeom>
              <a:noFill/>
            </p:spPr>
            <p:txBody>
              <a:bodyPr wrap="square">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3</m:t>
                        </m:r>
                      </m:sub>
                    </m:sSub>
                    <m:r>
                      <a:rPr lang="en-US" b="0" i="1" smtClean="0">
                        <a:latin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𝑎</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2</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𝑎</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2</m:t>
                            </m:r>
                          </m:sub>
                          <m:sup>
                            <m:r>
                              <a:rPr lang="en-US" i="1">
                                <a:latin typeface="Cambria Math" panose="02040503050406030204" pitchFamily="18" charset="0"/>
                              </a:rPr>
                              <m:t>2</m:t>
                            </m:r>
                          </m:sup>
                        </m:sSubSup>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i="1">
                            <a:latin typeface="Cambria Math" panose="02040503050406030204" pitchFamily="18" charset="0"/>
                          </a:rPr>
                          <m:t>+</m:t>
                        </m:r>
                        <m:r>
                          <a:rPr lang="en-US" i="1">
                            <a:latin typeface="Cambria Math" panose="02040503050406030204" pitchFamily="18" charset="0"/>
                          </a:rPr>
                          <m:t>𝑏</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3</m:t>
                            </m:r>
                          </m:sub>
                          <m:sup>
                            <m:r>
                              <a:rPr lang="en-US" i="1">
                                <a:latin typeface="Cambria Math" panose="02040503050406030204" pitchFamily="18" charset="0"/>
                              </a:rPr>
                              <m:t>2</m:t>
                            </m:r>
                          </m:sup>
                        </m:sSubSup>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num>
                      <m:den>
                        <m:r>
                          <a:rPr lang="en-US" i="1">
                            <a:latin typeface="Cambria Math" panose="02040503050406030204" pitchFamily="18" charset="0"/>
                            <a:ea typeface="Cambria Math" panose="02040503050406030204" pitchFamily="18" charset="0"/>
                          </a:rPr>
                          <m:t>𝑏</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3</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den>
                    </m:f>
                  </m:oMath>
                </a14:m>
                <a:r>
                  <a:rPr lang="es-AR" dirty="0"/>
                  <a:t> </a:t>
                </a:r>
              </a:p>
            </p:txBody>
          </p:sp>
        </mc:Choice>
        <mc:Fallback xmlns="">
          <p:sp>
            <p:nvSpPr>
              <p:cNvPr id="6" name="CuadroTexto 5">
                <a:extLst>
                  <a:ext uri="{FF2B5EF4-FFF2-40B4-BE49-F238E27FC236}">
                    <a16:creationId xmlns:a16="http://schemas.microsoft.com/office/drawing/2014/main" id="{0B149768-44DA-4414-838A-B9A2A5BC9A26}"/>
                  </a:ext>
                </a:extLst>
              </p:cNvPr>
              <p:cNvSpPr txBox="1">
                <a:spLocks noRot="1" noChangeAspect="1" noMove="1" noResize="1" noEditPoints="1" noAdjustHandles="1" noChangeArrowheads="1" noChangeShapeType="1" noTextEdit="1"/>
              </p:cNvSpPr>
              <p:nvPr/>
            </p:nvSpPr>
            <p:spPr>
              <a:xfrm>
                <a:off x="2316382" y="4983181"/>
                <a:ext cx="4513043" cy="564578"/>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BFAC56B7-EFA5-4C3E-99D5-6885A15D2F97}"/>
                  </a:ext>
                </a:extLst>
              </p:cNvPr>
              <p:cNvSpPr txBox="1"/>
              <p:nvPr/>
            </p:nvSpPr>
            <p:spPr>
              <a:xfrm>
                <a:off x="1303413" y="5547759"/>
                <a:ext cx="7677191" cy="3869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𝑑</m:t>
                          </m:r>
                        </m:e>
                      </m:acc>
                      <m:r>
                        <a:rPr lang="en-US" b="0"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𝑎</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2</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𝑎</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2</m:t>
                          </m:r>
                        </m:sub>
                        <m:sup>
                          <m:r>
                            <a:rPr lang="en-US" i="1">
                              <a:latin typeface="Cambria Math" panose="02040503050406030204" pitchFamily="18" charset="0"/>
                            </a:rPr>
                            <m:t>2</m:t>
                          </m:r>
                        </m:sup>
                      </m:sSubSup>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𝑏</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3</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r>
                        <a:rPr lang="en-US" b="0" i="1" smtClean="0">
                          <a:latin typeface="Cambria Math" panose="02040503050406030204" pitchFamily="18" charset="0"/>
                        </a:rPr>
                        <m:t>+</m:t>
                      </m:r>
                      <m:r>
                        <a:rPr lang="en-US" i="1">
                          <a:latin typeface="Cambria Math" panose="02040503050406030204" pitchFamily="18" charset="0"/>
                        </a:rPr>
                        <m:t>𝑏</m:t>
                      </m:r>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3</m:t>
                          </m:r>
                        </m:sub>
                        <m:sup>
                          <m:r>
                            <a:rPr lang="en-US" i="1">
                              <a:latin typeface="Cambria Math" panose="02040503050406030204" pitchFamily="18" charset="0"/>
                            </a:rPr>
                            <m:t>2</m:t>
                          </m:r>
                        </m:sup>
                      </m:sSubSup>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oMath>
                  </m:oMathPara>
                </a14:m>
                <a:endParaRPr lang="es-AR" dirty="0"/>
              </a:p>
            </p:txBody>
          </p:sp>
        </mc:Choice>
        <mc:Fallback xmlns="">
          <p:sp>
            <p:nvSpPr>
              <p:cNvPr id="10" name="CuadroTexto 9">
                <a:extLst>
                  <a:ext uri="{FF2B5EF4-FFF2-40B4-BE49-F238E27FC236}">
                    <a16:creationId xmlns:a16="http://schemas.microsoft.com/office/drawing/2014/main" id="{BFAC56B7-EFA5-4C3E-99D5-6885A15D2F97}"/>
                  </a:ext>
                </a:extLst>
              </p:cNvPr>
              <p:cNvSpPr txBox="1">
                <a:spLocks noRot="1" noChangeAspect="1" noMove="1" noResize="1" noEditPoints="1" noAdjustHandles="1" noChangeArrowheads="1" noChangeShapeType="1" noTextEdit="1"/>
              </p:cNvSpPr>
              <p:nvPr/>
            </p:nvSpPr>
            <p:spPr>
              <a:xfrm>
                <a:off x="1303413" y="5547759"/>
                <a:ext cx="7677191" cy="386965"/>
              </a:xfrm>
              <a:prstGeom prst="rect">
                <a:avLst/>
              </a:prstGeom>
              <a:blipFill>
                <a:blip r:embed="rId7"/>
                <a:stretch>
                  <a:fillRect b="-1563"/>
                </a:stretch>
              </a:blipFill>
            </p:spPr>
            <p:txBody>
              <a:bodyPr/>
              <a:lstStyle/>
              <a:p>
                <a:r>
                  <a:rPr lang="es-AR">
                    <a:noFill/>
                  </a:rPr>
                  <a:t> </a:t>
                </a:r>
              </a:p>
            </p:txBody>
          </p:sp>
        </mc:Fallback>
      </mc:AlternateContent>
    </p:spTree>
    <p:extLst>
      <p:ext uri="{BB962C8B-B14F-4D97-AF65-F5344CB8AC3E}">
        <p14:creationId xmlns:p14="http://schemas.microsoft.com/office/powerpoint/2010/main" val="4006961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3" grpId="0"/>
      <p:bldP spid="24" grpId="0"/>
      <p:bldP spid="25" grpId="0"/>
      <p:bldP spid="26" grpId="0"/>
      <p:bldP spid="6"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EFCB81FE-32C0-4EC8-9482-914B88FB573F}"/>
              </a:ext>
            </a:extLst>
          </p:cNvPr>
          <p:cNvPicPr>
            <a:picLocks noChangeAspect="1"/>
          </p:cNvPicPr>
          <p:nvPr/>
        </p:nvPicPr>
        <p:blipFill rotWithShape="1">
          <a:blip r:embed="rId2"/>
          <a:srcRect l="3485" r="36122"/>
          <a:stretch/>
        </p:blipFill>
        <p:spPr>
          <a:xfrm>
            <a:off x="6723605" y="1353117"/>
            <a:ext cx="4432477" cy="3132017"/>
          </a:xfrm>
          <a:prstGeom prst="rect">
            <a:avLst/>
          </a:prstGeom>
        </p:spPr>
      </p:pic>
      <p:sp>
        <p:nvSpPr>
          <p:cNvPr id="5" name="Rectángulo 4">
            <a:extLst>
              <a:ext uri="{FF2B5EF4-FFF2-40B4-BE49-F238E27FC236}">
                <a16:creationId xmlns:a16="http://schemas.microsoft.com/office/drawing/2014/main" id="{2CCAE51A-2BA3-4542-9556-57577F336225}"/>
              </a:ext>
            </a:extLst>
          </p:cNvPr>
          <p:cNvSpPr/>
          <p:nvPr/>
        </p:nvSpPr>
        <p:spPr>
          <a:xfrm>
            <a:off x="-1" y="853440"/>
            <a:ext cx="4332304"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9329529" cy="684362"/>
          </a:xfrm>
        </p:spPr>
        <p:txBody>
          <a:bodyPr>
            <a:normAutofit fontScale="90000"/>
          </a:bodyPr>
          <a:lstStyle/>
          <a:p>
            <a:r>
              <a:rPr lang="es-AR" sz="6000" b="1" dirty="0">
                <a:latin typeface="Bahnschrift" panose="020B0502040204020203" pitchFamily="34" charset="0"/>
              </a:rPr>
              <a:t>ANÁLISIS DE ACELERACIÓN</a:t>
            </a:r>
          </a:p>
        </p:txBody>
      </p:sp>
      <p:sp>
        <p:nvSpPr>
          <p:cNvPr id="3" name="Marcador de contenido 2"/>
          <p:cNvSpPr>
            <a:spLocks noGrp="1"/>
          </p:cNvSpPr>
          <p:nvPr>
            <p:ph idx="1"/>
          </p:nvPr>
        </p:nvSpPr>
        <p:spPr>
          <a:xfrm>
            <a:off x="116312" y="830016"/>
            <a:ext cx="4153847" cy="466124"/>
          </a:xfrm>
        </p:spPr>
        <p:txBody>
          <a:bodyPr>
            <a:normAutofit/>
          </a:bodyPr>
          <a:lstStyle/>
          <a:p>
            <a:pPr marL="0" indent="0">
              <a:buNone/>
            </a:pPr>
            <a:r>
              <a:rPr lang="es-AR" sz="2400" b="1" dirty="0">
                <a:latin typeface="Bahnschrift" panose="020B0502040204020203" pitchFamily="34" charset="0"/>
              </a:rPr>
              <a:t>DETERMINACIÓ</a:t>
            </a:r>
            <a:r>
              <a:rPr lang="en-US" sz="2400" b="1" dirty="0">
                <a:latin typeface="Bahnschrift" panose="020B0502040204020203" pitchFamily="34" charset="0"/>
              </a:rPr>
              <a:t>N ANAL</a:t>
            </a:r>
            <a:r>
              <a:rPr lang="es-AR" sz="2400" b="1" dirty="0">
                <a:latin typeface="Bahnschrift" panose="020B0502040204020203" pitchFamily="34" charset="0"/>
              </a:rPr>
              <a:t>Í</a:t>
            </a:r>
            <a:r>
              <a:rPr lang="en-US" sz="2400" b="1" dirty="0">
                <a:latin typeface="Bahnschrift" panose="020B0502040204020203" pitchFamily="34" charset="0"/>
              </a:rPr>
              <a:t>TICA</a:t>
            </a:r>
            <a:endParaRPr lang="es-AR" sz="2400" b="1" dirty="0">
              <a:latin typeface="Bahnschrift" panose="020B0502040204020203" pitchFamily="34" charset="0"/>
            </a:endParaRPr>
          </a:p>
        </p:txBody>
      </p:sp>
      <p:sp>
        <p:nvSpPr>
          <p:cNvPr id="4" name="Marcador de contenido 2">
            <a:extLst>
              <a:ext uri="{FF2B5EF4-FFF2-40B4-BE49-F238E27FC236}">
                <a16:creationId xmlns:a16="http://schemas.microsoft.com/office/drawing/2014/main" id="{6F29601B-6F87-4863-8F58-E656D3704523}"/>
              </a:ext>
            </a:extLst>
          </p:cNvPr>
          <p:cNvSpPr txBox="1">
            <a:spLocks/>
          </p:cNvSpPr>
          <p:nvPr/>
        </p:nvSpPr>
        <p:spPr>
          <a:xfrm>
            <a:off x="632265" y="131024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18" name="Marcador de contenido 2">
            <a:extLst>
              <a:ext uri="{FF2B5EF4-FFF2-40B4-BE49-F238E27FC236}">
                <a16:creationId xmlns:a16="http://schemas.microsoft.com/office/drawing/2014/main" id="{DBC5DD57-6377-41E1-B4CA-6E5032B7A48B}"/>
              </a:ext>
            </a:extLst>
          </p:cNvPr>
          <p:cNvSpPr txBox="1">
            <a:spLocks/>
          </p:cNvSpPr>
          <p:nvPr/>
        </p:nvSpPr>
        <p:spPr>
          <a:xfrm>
            <a:off x="326738" y="1766137"/>
            <a:ext cx="6293137" cy="2877337"/>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ea typeface="Cambria Math" panose="02040503050406030204" pitchFamily="18" charset="0"/>
              </a:rPr>
              <a:t>Obtenidas las aceleraciones angulares de todos los eslabones del mecanismo, puede calcularse la aceleración de un punto dentro del eslabón con una posición particular, por ejemplo, ser el centro de inercia del eslabón.</a:t>
            </a:r>
          </a:p>
          <a:p>
            <a:pPr algn="just">
              <a:buFontTx/>
              <a:buChar char="-"/>
            </a:pPr>
            <a:r>
              <a:rPr lang="es-AR" sz="1400" dirty="0">
                <a:latin typeface="Bahnschrift" panose="020B0502040204020203" pitchFamily="34" charset="0"/>
                <a:ea typeface="Cambria Math" panose="02040503050406030204" pitchFamily="18" charset="0"/>
              </a:rPr>
              <a:t>Se definen entonces 3 puntos S, P y U dentro de los eslabones, de los cuales desea conocerse la aceleración. La definición de la posición de estos puntos se realiza a través de un ángulo conocido dentro del eslabón, </a:t>
            </a:r>
            <a:r>
              <a:rPr lang="es-AR" sz="1400" dirty="0">
                <a:latin typeface="Cambria Math" panose="02040503050406030204" pitchFamily="18" charset="0"/>
                <a:ea typeface="Cambria Math" panose="02040503050406030204" pitchFamily="18" charset="0"/>
              </a:rPr>
              <a:t>δ</a:t>
            </a:r>
            <a:r>
              <a:rPr lang="es-AR" sz="1400" dirty="0">
                <a:latin typeface="Bahnschrift" panose="020B0502040204020203" pitchFamily="34" charset="0"/>
                <a:ea typeface="Cambria Math" panose="02040503050406030204" pitchFamily="18" charset="0"/>
              </a:rPr>
              <a:t> definido respecto de la línea que representa al eslabón en cada caso. </a:t>
            </a:r>
          </a:p>
          <a:p>
            <a:pPr algn="just">
              <a:buFontTx/>
              <a:buChar char="-"/>
            </a:pPr>
            <a:r>
              <a:rPr lang="es-AR" sz="1400" dirty="0">
                <a:latin typeface="Bahnschrift" panose="020B0502040204020203" pitchFamily="34" charset="0"/>
                <a:ea typeface="Cambria Math" panose="02040503050406030204" pitchFamily="18" charset="0"/>
              </a:rPr>
              <a:t>Por ejemplo, para definir la posición del punto S en el eslabón 2, se utiliza el vector R</a:t>
            </a:r>
            <a:r>
              <a:rPr lang="es-AR" sz="1400" baseline="-25000" dirty="0">
                <a:latin typeface="Bahnschrift" panose="020B0502040204020203" pitchFamily="34" charset="0"/>
                <a:ea typeface="Cambria Math" panose="02040503050406030204" pitchFamily="18" charset="0"/>
              </a:rPr>
              <a:t>SO2</a:t>
            </a:r>
            <a:r>
              <a:rPr lang="es-AR" sz="1400" dirty="0">
                <a:latin typeface="Bahnschrift" panose="020B0502040204020203" pitchFamily="34" charset="0"/>
                <a:ea typeface="Cambria Math" panose="02040503050406030204" pitchFamily="18" charset="0"/>
              </a:rPr>
              <a:t> que forma un ángulo </a:t>
            </a:r>
            <a:r>
              <a:rPr lang="es-AR" sz="1400" dirty="0">
                <a:latin typeface="Cambria Math" panose="02040503050406030204" pitchFamily="18" charset="0"/>
                <a:ea typeface="Cambria Math" panose="02040503050406030204" pitchFamily="18" charset="0"/>
              </a:rPr>
              <a:t>δ</a:t>
            </a:r>
            <a:r>
              <a:rPr lang="es-AR" sz="1400" baseline="-25000" dirty="0">
                <a:latin typeface="Cambria Math" panose="02040503050406030204" pitchFamily="18" charset="0"/>
                <a:ea typeface="Cambria Math" panose="02040503050406030204" pitchFamily="18" charset="0"/>
              </a:rPr>
              <a:t>2</a:t>
            </a:r>
            <a:r>
              <a:rPr lang="es-AR" sz="1400" dirty="0">
                <a:latin typeface="Bahnschrift" panose="020B0502040204020203" pitchFamily="34" charset="0"/>
                <a:ea typeface="Cambria Math" panose="02040503050406030204" pitchFamily="18" charset="0"/>
              </a:rPr>
              <a:t> respecto del vector R</a:t>
            </a:r>
            <a:r>
              <a:rPr lang="es-AR" sz="1400" baseline="-25000" dirty="0">
                <a:latin typeface="Bahnschrift" panose="020B0502040204020203" pitchFamily="34" charset="0"/>
                <a:ea typeface="Cambria Math" panose="02040503050406030204" pitchFamily="18" charset="0"/>
              </a:rPr>
              <a:t>AO2</a:t>
            </a:r>
            <a:r>
              <a:rPr lang="es-AR" sz="1400" dirty="0">
                <a:latin typeface="Bahnschrift" panose="020B0502040204020203" pitchFamily="34" charset="0"/>
                <a:ea typeface="Cambria Math" panose="02040503050406030204" pitchFamily="18" charset="0"/>
              </a:rPr>
              <a:t>.</a:t>
            </a:r>
          </a:p>
        </p:txBody>
      </p:sp>
      <p:sp>
        <p:nvSpPr>
          <p:cNvPr id="12" name="Marcador de contenido 2">
            <a:extLst>
              <a:ext uri="{FF2B5EF4-FFF2-40B4-BE49-F238E27FC236}">
                <a16:creationId xmlns:a16="http://schemas.microsoft.com/office/drawing/2014/main" id="{7289123C-58D2-4C12-895D-968A25B2C96A}"/>
              </a:ext>
            </a:extLst>
          </p:cNvPr>
          <p:cNvSpPr txBox="1">
            <a:spLocks/>
          </p:cNvSpPr>
          <p:nvPr/>
        </p:nvSpPr>
        <p:spPr>
          <a:xfrm>
            <a:off x="1464814" y="4980975"/>
            <a:ext cx="1157621"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POSICIÓN</a:t>
            </a:r>
            <a:endParaRPr lang="en-US" sz="1600" dirty="0">
              <a:latin typeface="Bahnschrift" panose="020B0502040204020203" pitchFamily="34" charset="0"/>
              <a:sym typeface="Wingdings" panose="05000000000000000000" pitchFamily="2" charset="2"/>
            </a:endParaRP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DF5F3E4A-BA43-46DB-B75D-AFDB9D1E11D6}"/>
                  </a:ext>
                </a:extLst>
              </p:cNvPr>
              <p:cNvSpPr txBox="1"/>
              <p:nvPr/>
            </p:nvSpPr>
            <p:spPr>
              <a:xfrm>
                <a:off x="2622435" y="4964884"/>
                <a:ext cx="5750099" cy="3203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𝑆</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𝑂</m:t>
                              </m:r>
                            </m:e>
                            <m:sub>
                              <m:r>
                                <a:rPr lang="en-US" b="0" i="1" smtClean="0">
                                  <a:latin typeface="Cambria Math" panose="02040503050406030204" pitchFamily="18" charset="0"/>
                                </a:rPr>
                                <m:t>2</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𝑆</m:t>
                          </m:r>
                        </m:sub>
                      </m:sSub>
                      <m:r>
                        <a:rPr lang="en-US" b="0" i="1" smtClean="0">
                          <a:latin typeface="Cambria Math" panose="02040503050406030204" pitchFamily="18" charset="0"/>
                        </a:rPr>
                        <m:t>=</m:t>
                      </m:r>
                      <m:r>
                        <a:rPr lang="en-US" b="0" i="1" smtClean="0">
                          <a:latin typeface="Cambria Math" panose="02040503050406030204" pitchFamily="18" charset="0"/>
                        </a:rPr>
                        <m:t>𝑠</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2</m:t>
                                  </m:r>
                                </m:sub>
                              </m:sSub>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2</m:t>
                                  </m:r>
                                </m:sub>
                              </m:sSub>
                            </m:e>
                          </m:d>
                        </m:e>
                      </m:func>
                      <m:r>
                        <a:rPr lang="en-US" b="0" i="1" smtClean="0">
                          <a:latin typeface="Cambria Math" panose="02040503050406030204" pitchFamily="18" charset="0"/>
                          <a:ea typeface="Cambria Math" panose="02040503050406030204" pitchFamily="18" charset="0"/>
                        </a:rPr>
                        <m:t>]</m:t>
                      </m:r>
                    </m:oMath>
                  </m:oMathPara>
                </a14:m>
                <a:endParaRPr lang="es-AR" dirty="0"/>
              </a:p>
            </p:txBody>
          </p:sp>
        </mc:Choice>
        <mc:Fallback xmlns="">
          <p:sp>
            <p:nvSpPr>
              <p:cNvPr id="8" name="CuadroTexto 7">
                <a:extLst>
                  <a:ext uri="{FF2B5EF4-FFF2-40B4-BE49-F238E27FC236}">
                    <a16:creationId xmlns:a16="http://schemas.microsoft.com/office/drawing/2014/main" id="{DF5F3E4A-BA43-46DB-B75D-AFDB9D1E11D6}"/>
                  </a:ext>
                </a:extLst>
              </p:cNvPr>
              <p:cNvSpPr txBox="1">
                <a:spLocks noRot="1" noChangeAspect="1" noMove="1" noResize="1" noEditPoints="1" noAdjustHandles="1" noChangeArrowheads="1" noChangeShapeType="1" noTextEdit="1"/>
              </p:cNvSpPr>
              <p:nvPr/>
            </p:nvSpPr>
            <p:spPr>
              <a:xfrm>
                <a:off x="2622435" y="4964884"/>
                <a:ext cx="5750099" cy="320344"/>
              </a:xfrm>
              <a:prstGeom prst="rect">
                <a:avLst/>
              </a:prstGeom>
              <a:blipFill>
                <a:blip r:embed="rId3"/>
                <a:stretch>
                  <a:fillRect l="-318" t="-3774" r="-1060" b="-26415"/>
                </a:stretch>
              </a:blipFill>
            </p:spPr>
            <p:txBody>
              <a:bodyPr/>
              <a:lstStyle/>
              <a:p>
                <a:r>
                  <a:rPr lang="es-AR">
                    <a:noFill/>
                  </a:rPr>
                  <a:t> </a:t>
                </a:r>
              </a:p>
            </p:txBody>
          </p:sp>
        </mc:Fallback>
      </mc:AlternateContent>
      <p:sp>
        <p:nvSpPr>
          <p:cNvPr id="27" name="Marcador de contenido 2">
            <a:extLst>
              <a:ext uri="{FF2B5EF4-FFF2-40B4-BE49-F238E27FC236}">
                <a16:creationId xmlns:a16="http://schemas.microsoft.com/office/drawing/2014/main" id="{244269AF-E4E1-4B0C-BAFA-96F7767FE6C4}"/>
              </a:ext>
            </a:extLst>
          </p:cNvPr>
          <p:cNvSpPr txBox="1">
            <a:spLocks/>
          </p:cNvSpPr>
          <p:nvPr/>
        </p:nvSpPr>
        <p:spPr>
          <a:xfrm>
            <a:off x="1237647" y="5410810"/>
            <a:ext cx="1438275"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VELOCIDAD</a:t>
            </a:r>
            <a:endParaRPr lang="en-US" sz="1600" dirty="0">
              <a:latin typeface="Bahnschrift" panose="020B0502040204020203" pitchFamily="34" charset="0"/>
              <a:sym typeface="Wingdings" panose="05000000000000000000" pitchFamily="2" charset="2"/>
            </a:endParaRPr>
          </a:p>
        </p:txBody>
      </p:sp>
      <p:sp>
        <p:nvSpPr>
          <p:cNvPr id="33" name="Marcador de contenido 2">
            <a:extLst>
              <a:ext uri="{FF2B5EF4-FFF2-40B4-BE49-F238E27FC236}">
                <a16:creationId xmlns:a16="http://schemas.microsoft.com/office/drawing/2014/main" id="{A00CC26F-523B-472D-9C9E-8441A6766494}"/>
              </a:ext>
            </a:extLst>
          </p:cNvPr>
          <p:cNvSpPr txBox="1">
            <a:spLocks/>
          </p:cNvSpPr>
          <p:nvPr/>
        </p:nvSpPr>
        <p:spPr>
          <a:xfrm>
            <a:off x="980472" y="5840645"/>
            <a:ext cx="1695450"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ACELERACIÓN</a:t>
            </a:r>
            <a:endParaRPr lang="en-US" sz="1600" dirty="0">
              <a:latin typeface="Bahnschrift" panose="020B0502040204020203" pitchFamily="34" charset="0"/>
              <a:sym typeface="Wingdings" panose="05000000000000000000" pitchFamily="2" charset="2"/>
            </a:endParaRPr>
          </a:p>
        </p:txBody>
      </p:sp>
      <p:sp>
        <p:nvSpPr>
          <p:cNvPr id="19" name="Marcador de contenido 2">
            <a:extLst>
              <a:ext uri="{FF2B5EF4-FFF2-40B4-BE49-F238E27FC236}">
                <a16:creationId xmlns:a16="http://schemas.microsoft.com/office/drawing/2014/main" id="{E9DEC608-14D8-4614-9FA5-3DDE7263E9A7}"/>
              </a:ext>
            </a:extLst>
          </p:cNvPr>
          <p:cNvSpPr txBox="1">
            <a:spLocks/>
          </p:cNvSpPr>
          <p:nvPr/>
        </p:nvSpPr>
        <p:spPr>
          <a:xfrm>
            <a:off x="-15805" y="1352182"/>
            <a:ext cx="3368492"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Font typeface="Arial" pitchFamily="34" charset="0"/>
              <a:buNone/>
            </a:pPr>
            <a:r>
              <a:rPr lang="en-US" b="1" dirty="0">
                <a:solidFill>
                  <a:srgbClr val="FFC000"/>
                </a:solidFill>
                <a:latin typeface="Bahnschrift" panose="020B0502040204020203" pitchFamily="34" charset="0"/>
              </a:rPr>
              <a:t>CUADRILATERO ARTICULADO</a:t>
            </a:r>
            <a:endParaRPr lang="es-AR" b="1" dirty="0">
              <a:solidFill>
                <a:srgbClr val="FFC000"/>
              </a:solidFill>
              <a:latin typeface="Bahnschrift" panose="020B0502040204020203" pitchFamily="34" charset="0"/>
            </a:endParaRP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F6CCFB71-7872-4934-BFCB-1D6C2FCD8E21}"/>
                  </a:ext>
                </a:extLst>
              </p:cNvPr>
              <p:cNvSpPr txBox="1"/>
              <p:nvPr/>
            </p:nvSpPr>
            <p:spPr>
              <a:xfrm>
                <a:off x="2619170" y="5383292"/>
                <a:ext cx="5821594" cy="2905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𝑆</m:t>
                          </m:r>
                        </m:sub>
                      </m:sSub>
                      <m:r>
                        <a:rPr lang="en-US" b="0" i="1" smtClean="0">
                          <a:latin typeface="Cambria Math" panose="02040503050406030204" pitchFamily="18" charset="0"/>
                        </a:rPr>
                        <m:t>=</m:t>
                      </m:r>
                      <m:r>
                        <a:rPr lang="en-US" b="0" i="1" smtClean="0">
                          <a:latin typeface="Cambria Math" panose="02040503050406030204" pitchFamily="18" charset="0"/>
                        </a:rPr>
                        <m:t>𝑗𝑠</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up>
                      </m:s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2</m:t>
                                  </m:r>
                                </m:sub>
                              </m:sSub>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2</m:t>
                                  </m:r>
                                </m:sub>
                              </m:sSub>
                            </m:e>
                          </m:d>
                        </m:e>
                      </m:func>
                      <m:r>
                        <a:rPr lang="en-US" b="0" i="1" smtClean="0">
                          <a:latin typeface="Cambria Math" panose="02040503050406030204" pitchFamily="18" charset="0"/>
                          <a:ea typeface="Cambria Math" panose="02040503050406030204" pitchFamily="18" charset="0"/>
                        </a:rPr>
                        <m:t>]</m:t>
                      </m:r>
                    </m:oMath>
                  </m:oMathPara>
                </a14:m>
                <a:endParaRPr lang="es-AR" dirty="0"/>
              </a:p>
            </p:txBody>
          </p:sp>
        </mc:Choice>
        <mc:Fallback xmlns="">
          <p:sp>
            <p:nvSpPr>
              <p:cNvPr id="10" name="CuadroTexto 9">
                <a:extLst>
                  <a:ext uri="{FF2B5EF4-FFF2-40B4-BE49-F238E27FC236}">
                    <a16:creationId xmlns:a16="http://schemas.microsoft.com/office/drawing/2014/main" id="{F6CCFB71-7872-4934-BFCB-1D6C2FCD8E21}"/>
                  </a:ext>
                </a:extLst>
              </p:cNvPr>
              <p:cNvSpPr txBox="1">
                <a:spLocks noRot="1" noChangeAspect="1" noMove="1" noResize="1" noEditPoints="1" noAdjustHandles="1" noChangeArrowheads="1" noChangeShapeType="1" noTextEdit="1"/>
              </p:cNvSpPr>
              <p:nvPr/>
            </p:nvSpPr>
            <p:spPr>
              <a:xfrm>
                <a:off x="2619170" y="5383292"/>
                <a:ext cx="5821594" cy="290529"/>
              </a:xfrm>
              <a:prstGeom prst="rect">
                <a:avLst/>
              </a:prstGeom>
              <a:blipFill>
                <a:blip r:embed="rId4"/>
                <a:stretch>
                  <a:fillRect l="-419" t="-4167" r="-942" b="-3958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5746EBC6-4E4C-4AAF-BC60-89A5A7152870}"/>
                  </a:ext>
                </a:extLst>
              </p:cNvPr>
              <p:cNvSpPr txBox="1"/>
              <p:nvPr/>
            </p:nvSpPr>
            <p:spPr>
              <a:xfrm>
                <a:off x="2519543" y="5847385"/>
                <a:ext cx="7719832" cy="57124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𝑆</m:t>
                          </m:r>
                        </m:sub>
                      </m:sSub>
                      <m:r>
                        <a:rPr lang="en-US" b="0" i="1" smtClean="0">
                          <a:latin typeface="Cambria Math" panose="02040503050406030204" pitchFamily="18" charset="0"/>
                        </a:rPr>
                        <m:t>=</m:t>
                      </m:r>
                      <m:r>
                        <a:rPr lang="en-US" b="0" i="1" smtClean="0">
                          <a:latin typeface="Cambria Math" panose="02040503050406030204" pitchFamily="18" charset="0"/>
                        </a:rPr>
                        <m:t>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2</m:t>
                          </m:r>
                        </m:sub>
                      </m:sSub>
                      <m:r>
                        <a:rPr lang="en-US" b="0" i="1" smtClean="0">
                          <a:latin typeface="Cambria Math" panose="02040503050406030204" pitchFamily="18" charset="0"/>
                        </a:rPr>
                        <m:t>𝑗</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2</m:t>
                          </m:r>
                        </m:sub>
                        <m:sup>
                          <m:r>
                            <a:rPr lang="en-US" b="0" i="1" smtClean="0">
                              <a:latin typeface="Cambria Math" panose="02040503050406030204" pitchFamily="18" charset="0"/>
                              <a:ea typeface="Cambria Math" panose="02040503050406030204" pitchFamily="18" charset="0"/>
                            </a:rPr>
                            <m:t>2</m:t>
                          </m:r>
                        </m:sup>
                      </m:sSub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2</m:t>
                          </m:r>
                        </m:sub>
                      </m:sSub>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2</m:t>
                                      </m:r>
                                    </m:sub>
                                  </m:sSub>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2</m:t>
                                      </m:r>
                                    </m:sub>
                                  </m:sSub>
                                </m:e>
                              </m:d>
                            </m:e>
                          </m:func>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2</m:t>
                          </m:r>
                        </m:sub>
                        <m:sup>
                          <m:r>
                            <a:rPr lang="en-US" b="0" i="1" smtClean="0">
                              <a:latin typeface="Cambria Math" panose="02040503050406030204" pitchFamily="18" charset="0"/>
                              <a:ea typeface="Cambria Math" panose="02040503050406030204" pitchFamily="18" charset="0"/>
                            </a:rPr>
                            <m:t>2</m:t>
                          </m:r>
                        </m:sup>
                      </m:sSubSup>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2</m:t>
                                  </m:r>
                                </m:sub>
                              </m:sSub>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2</m:t>
                                  </m:r>
                                </m:sub>
                              </m:sSub>
                            </m:e>
                          </m:d>
                        </m:e>
                      </m:func>
                      <m:r>
                        <a:rPr lang="en-US" b="0" i="1" smtClean="0">
                          <a:latin typeface="Cambria Math" panose="02040503050406030204" pitchFamily="18" charset="0"/>
                          <a:ea typeface="Cambria Math" panose="02040503050406030204" pitchFamily="18" charset="0"/>
                        </a:rPr>
                        <m:t>]</m:t>
                      </m:r>
                    </m:oMath>
                  </m:oMathPara>
                </a14:m>
                <a:endParaRPr lang="es-AR" dirty="0"/>
              </a:p>
            </p:txBody>
          </p:sp>
        </mc:Choice>
        <mc:Fallback xmlns="">
          <p:sp>
            <p:nvSpPr>
              <p:cNvPr id="11" name="CuadroTexto 10">
                <a:extLst>
                  <a:ext uri="{FF2B5EF4-FFF2-40B4-BE49-F238E27FC236}">
                    <a16:creationId xmlns:a16="http://schemas.microsoft.com/office/drawing/2014/main" id="{5746EBC6-4E4C-4AAF-BC60-89A5A7152870}"/>
                  </a:ext>
                </a:extLst>
              </p:cNvPr>
              <p:cNvSpPr txBox="1">
                <a:spLocks noRot="1" noChangeAspect="1" noMove="1" noResize="1" noEditPoints="1" noAdjustHandles="1" noChangeArrowheads="1" noChangeShapeType="1" noTextEdit="1"/>
              </p:cNvSpPr>
              <p:nvPr/>
            </p:nvSpPr>
            <p:spPr>
              <a:xfrm>
                <a:off x="2519543" y="5847385"/>
                <a:ext cx="7719832" cy="571247"/>
              </a:xfrm>
              <a:prstGeom prst="rect">
                <a:avLst/>
              </a:prstGeom>
              <a:blipFill>
                <a:blip r:embed="rId5"/>
                <a:stretch>
                  <a:fillRect t="-2128" b="-19149"/>
                </a:stretch>
              </a:blipFill>
            </p:spPr>
            <p:txBody>
              <a:bodyPr/>
              <a:lstStyle/>
              <a:p>
                <a:r>
                  <a:rPr lang="es-AR">
                    <a:noFill/>
                  </a:rPr>
                  <a:t> </a:t>
                </a:r>
              </a:p>
            </p:txBody>
          </p:sp>
        </mc:Fallback>
      </mc:AlternateContent>
      <p:sp>
        <p:nvSpPr>
          <p:cNvPr id="25" name="Título 1">
            <a:extLst>
              <a:ext uri="{FF2B5EF4-FFF2-40B4-BE49-F238E27FC236}">
                <a16:creationId xmlns:a16="http://schemas.microsoft.com/office/drawing/2014/main" id="{50AAAF99-1DD0-4917-AB1A-41BE210FB4FD}"/>
              </a:ext>
            </a:extLst>
          </p:cNvPr>
          <p:cNvSpPr txBox="1">
            <a:spLocks/>
          </p:cNvSpPr>
          <p:nvPr/>
        </p:nvSpPr>
        <p:spPr>
          <a:xfrm>
            <a:off x="59084" y="5165641"/>
            <a:ext cx="1223850" cy="684362"/>
          </a:xfrm>
          <a:prstGeom prst="rect">
            <a:avLst/>
          </a:prstGeom>
        </p:spPr>
        <p:txBody>
          <a:bodyPr vert="horz" lIns="91440" tIns="45720" rIns="91440" bIns="45720" rtlCol="0" anchor="b">
            <a:normAutofit fontScale="60000" lnSpcReduction="20000"/>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pPr algn="ctr"/>
            <a:r>
              <a:rPr lang="es-AR" sz="3100" b="1" dirty="0">
                <a:latin typeface="Bahnschrift" panose="020B0502040204020203" pitchFamily="34" charset="0"/>
              </a:rPr>
              <a:t>PUNTO</a:t>
            </a:r>
          </a:p>
          <a:p>
            <a:pPr algn="ctr"/>
            <a:r>
              <a:rPr lang="es-AR" sz="6000" b="1" dirty="0">
                <a:latin typeface="Bahnschrift" panose="020B0502040204020203" pitchFamily="34" charset="0"/>
              </a:rPr>
              <a:t>S</a:t>
            </a:r>
          </a:p>
        </p:txBody>
      </p:sp>
    </p:spTree>
    <p:extLst>
      <p:ext uri="{BB962C8B-B14F-4D97-AF65-F5344CB8AC3E}">
        <p14:creationId xmlns:p14="http://schemas.microsoft.com/office/powerpoint/2010/main" val="4021105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p:bldP spid="27" grpId="0"/>
      <p:bldP spid="33" grpId="0"/>
      <p:bldP spid="10" grpId="0"/>
      <p:bldP spid="11" grpId="0"/>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2CCAE51A-2BA3-4542-9556-57577F336225}"/>
              </a:ext>
            </a:extLst>
          </p:cNvPr>
          <p:cNvSpPr/>
          <p:nvPr/>
        </p:nvSpPr>
        <p:spPr>
          <a:xfrm>
            <a:off x="-1" y="853440"/>
            <a:ext cx="4332304"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9329529" cy="684362"/>
          </a:xfrm>
        </p:spPr>
        <p:txBody>
          <a:bodyPr>
            <a:normAutofit fontScale="90000"/>
          </a:bodyPr>
          <a:lstStyle/>
          <a:p>
            <a:r>
              <a:rPr lang="es-AR" sz="6000" b="1" dirty="0">
                <a:latin typeface="Bahnschrift" panose="020B0502040204020203" pitchFamily="34" charset="0"/>
              </a:rPr>
              <a:t>ANÁLISIS DE ACELERACIÓN</a:t>
            </a:r>
          </a:p>
        </p:txBody>
      </p:sp>
      <p:sp>
        <p:nvSpPr>
          <p:cNvPr id="3" name="Marcador de contenido 2"/>
          <p:cNvSpPr>
            <a:spLocks noGrp="1"/>
          </p:cNvSpPr>
          <p:nvPr>
            <p:ph idx="1"/>
          </p:nvPr>
        </p:nvSpPr>
        <p:spPr>
          <a:xfrm>
            <a:off x="116312" y="830016"/>
            <a:ext cx="4153847" cy="466124"/>
          </a:xfrm>
        </p:spPr>
        <p:txBody>
          <a:bodyPr>
            <a:normAutofit/>
          </a:bodyPr>
          <a:lstStyle/>
          <a:p>
            <a:pPr marL="0" indent="0">
              <a:buNone/>
            </a:pPr>
            <a:r>
              <a:rPr lang="es-AR" sz="2400" b="1" dirty="0">
                <a:latin typeface="Bahnschrift" panose="020B0502040204020203" pitchFamily="34" charset="0"/>
              </a:rPr>
              <a:t>DETERMINACIÓ</a:t>
            </a:r>
            <a:r>
              <a:rPr lang="en-US" sz="2400" b="1" dirty="0">
                <a:latin typeface="Bahnschrift" panose="020B0502040204020203" pitchFamily="34" charset="0"/>
              </a:rPr>
              <a:t>N ANAL</a:t>
            </a:r>
            <a:r>
              <a:rPr lang="es-AR" sz="2400" b="1" dirty="0">
                <a:latin typeface="Bahnschrift" panose="020B0502040204020203" pitchFamily="34" charset="0"/>
              </a:rPr>
              <a:t>Í</a:t>
            </a:r>
            <a:r>
              <a:rPr lang="en-US" sz="2400" b="1" dirty="0">
                <a:latin typeface="Bahnschrift" panose="020B0502040204020203" pitchFamily="34" charset="0"/>
              </a:rPr>
              <a:t>TICA</a:t>
            </a:r>
            <a:endParaRPr lang="es-AR" sz="2400" b="1" dirty="0">
              <a:latin typeface="Bahnschrift" panose="020B0502040204020203" pitchFamily="34" charset="0"/>
            </a:endParaRPr>
          </a:p>
        </p:txBody>
      </p:sp>
      <p:sp>
        <p:nvSpPr>
          <p:cNvPr id="4" name="Marcador de contenido 2">
            <a:extLst>
              <a:ext uri="{FF2B5EF4-FFF2-40B4-BE49-F238E27FC236}">
                <a16:creationId xmlns:a16="http://schemas.microsoft.com/office/drawing/2014/main" id="{6F29601B-6F87-4863-8F58-E656D3704523}"/>
              </a:ext>
            </a:extLst>
          </p:cNvPr>
          <p:cNvSpPr txBox="1">
            <a:spLocks/>
          </p:cNvSpPr>
          <p:nvPr/>
        </p:nvSpPr>
        <p:spPr>
          <a:xfrm>
            <a:off x="632265" y="131024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12" name="Marcador de contenido 2">
            <a:extLst>
              <a:ext uri="{FF2B5EF4-FFF2-40B4-BE49-F238E27FC236}">
                <a16:creationId xmlns:a16="http://schemas.microsoft.com/office/drawing/2014/main" id="{7289123C-58D2-4C12-895D-968A25B2C96A}"/>
              </a:ext>
            </a:extLst>
          </p:cNvPr>
          <p:cNvSpPr txBox="1">
            <a:spLocks/>
          </p:cNvSpPr>
          <p:nvPr/>
        </p:nvSpPr>
        <p:spPr>
          <a:xfrm>
            <a:off x="1762384" y="1816447"/>
            <a:ext cx="1157621"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POSICIÓN</a:t>
            </a:r>
            <a:endParaRPr lang="en-US" sz="1600" dirty="0">
              <a:latin typeface="Bahnschrift" panose="020B0502040204020203" pitchFamily="34" charset="0"/>
              <a:sym typeface="Wingdings" panose="05000000000000000000" pitchFamily="2" charset="2"/>
            </a:endParaRP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DF5F3E4A-BA43-46DB-B75D-AFDB9D1E11D6}"/>
                  </a:ext>
                </a:extLst>
              </p:cNvPr>
              <p:cNvSpPr txBox="1"/>
              <p:nvPr/>
            </p:nvSpPr>
            <p:spPr>
              <a:xfrm>
                <a:off x="2920005" y="1800356"/>
                <a:ext cx="5942268" cy="3203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𝑂</m:t>
                              </m:r>
                            </m:e>
                            <m:sub>
                              <m:r>
                                <a:rPr lang="en-US" b="0" i="1" smtClean="0">
                                  <a:latin typeface="Cambria Math" panose="02040503050406030204" pitchFamily="18" charset="0"/>
                                </a:rPr>
                                <m:t>4</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𝑈</m:t>
                          </m:r>
                        </m:sub>
                      </m:sSub>
                      <m:r>
                        <a:rPr lang="en-US" b="0" i="1" smtClean="0">
                          <a:latin typeface="Cambria Math" panose="02040503050406030204" pitchFamily="18" charset="0"/>
                        </a:rPr>
                        <m:t>=</m:t>
                      </m:r>
                      <m:r>
                        <a:rPr lang="en-US" b="0" i="1" smtClean="0">
                          <a:latin typeface="Cambria Math" panose="02040503050406030204" pitchFamily="18" charset="0"/>
                        </a:rPr>
                        <m:t>𝑢</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4</m:t>
                                  </m:r>
                                </m:sub>
                              </m:sSub>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4</m:t>
                                  </m:r>
                                </m:sub>
                              </m:sSub>
                            </m:e>
                          </m:d>
                        </m:e>
                      </m:func>
                      <m:r>
                        <a:rPr lang="en-US" b="0" i="1" smtClean="0">
                          <a:latin typeface="Cambria Math" panose="02040503050406030204" pitchFamily="18" charset="0"/>
                          <a:ea typeface="Cambria Math" panose="02040503050406030204" pitchFamily="18" charset="0"/>
                        </a:rPr>
                        <m:t>]</m:t>
                      </m:r>
                    </m:oMath>
                  </m:oMathPara>
                </a14:m>
                <a:endParaRPr lang="es-AR" dirty="0"/>
              </a:p>
            </p:txBody>
          </p:sp>
        </mc:Choice>
        <mc:Fallback xmlns="">
          <p:sp>
            <p:nvSpPr>
              <p:cNvPr id="8" name="CuadroTexto 7">
                <a:extLst>
                  <a:ext uri="{FF2B5EF4-FFF2-40B4-BE49-F238E27FC236}">
                    <a16:creationId xmlns:a16="http://schemas.microsoft.com/office/drawing/2014/main" id="{DF5F3E4A-BA43-46DB-B75D-AFDB9D1E11D6}"/>
                  </a:ext>
                </a:extLst>
              </p:cNvPr>
              <p:cNvSpPr txBox="1">
                <a:spLocks noRot="1" noChangeAspect="1" noMove="1" noResize="1" noEditPoints="1" noAdjustHandles="1" noChangeArrowheads="1" noChangeShapeType="1" noTextEdit="1"/>
              </p:cNvSpPr>
              <p:nvPr/>
            </p:nvSpPr>
            <p:spPr>
              <a:xfrm>
                <a:off x="2920005" y="1800356"/>
                <a:ext cx="5942268" cy="320344"/>
              </a:xfrm>
              <a:prstGeom prst="rect">
                <a:avLst/>
              </a:prstGeom>
              <a:blipFill>
                <a:blip r:embed="rId2"/>
                <a:stretch>
                  <a:fillRect t="-3774" r="-410" b="-26415"/>
                </a:stretch>
              </a:blipFill>
            </p:spPr>
            <p:txBody>
              <a:bodyPr/>
              <a:lstStyle/>
              <a:p>
                <a:r>
                  <a:rPr lang="es-AR">
                    <a:noFill/>
                  </a:rPr>
                  <a:t> </a:t>
                </a:r>
              </a:p>
            </p:txBody>
          </p:sp>
        </mc:Fallback>
      </mc:AlternateContent>
      <p:sp>
        <p:nvSpPr>
          <p:cNvPr id="27" name="Marcador de contenido 2">
            <a:extLst>
              <a:ext uri="{FF2B5EF4-FFF2-40B4-BE49-F238E27FC236}">
                <a16:creationId xmlns:a16="http://schemas.microsoft.com/office/drawing/2014/main" id="{244269AF-E4E1-4B0C-BAFA-96F7767FE6C4}"/>
              </a:ext>
            </a:extLst>
          </p:cNvPr>
          <p:cNvSpPr txBox="1">
            <a:spLocks/>
          </p:cNvSpPr>
          <p:nvPr/>
        </p:nvSpPr>
        <p:spPr>
          <a:xfrm>
            <a:off x="1535217" y="2246282"/>
            <a:ext cx="1438275"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VELOCIDAD</a:t>
            </a:r>
            <a:endParaRPr lang="en-US" sz="1600" dirty="0">
              <a:latin typeface="Bahnschrift" panose="020B0502040204020203" pitchFamily="34" charset="0"/>
              <a:sym typeface="Wingdings" panose="05000000000000000000" pitchFamily="2" charset="2"/>
            </a:endParaRPr>
          </a:p>
        </p:txBody>
      </p:sp>
      <p:sp>
        <p:nvSpPr>
          <p:cNvPr id="33" name="Marcador de contenido 2">
            <a:extLst>
              <a:ext uri="{FF2B5EF4-FFF2-40B4-BE49-F238E27FC236}">
                <a16:creationId xmlns:a16="http://schemas.microsoft.com/office/drawing/2014/main" id="{A00CC26F-523B-472D-9C9E-8441A6766494}"/>
              </a:ext>
            </a:extLst>
          </p:cNvPr>
          <p:cNvSpPr txBox="1">
            <a:spLocks/>
          </p:cNvSpPr>
          <p:nvPr/>
        </p:nvSpPr>
        <p:spPr>
          <a:xfrm>
            <a:off x="1278042" y="2676117"/>
            <a:ext cx="1695450"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ACELERACIÓN</a:t>
            </a:r>
            <a:endParaRPr lang="en-US" sz="1600" dirty="0">
              <a:latin typeface="Bahnschrift" panose="020B0502040204020203" pitchFamily="34" charset="0"/>
              <a:sym typeface="Wingdings" panose="05000000000000000000" pitchFamily="2" charset="2"/>
            </a:endParaRPr>
          </a:p>
        </p:txBody>
      </p:sp>
      <p:sp>
        <p:nvSpPr>
          <p:cNvPr id="19" name="Marcador de contenido 2">
            <a:extLst>
              <a:ext uri="{FF2B5EF4-FFF2-40B4-BE49-F238E27FC236}">
                <a16:creationId xmlns:a16="http://schemas.microsoft.com/office/drawing/2014/main" id="{E9DEC608-14D8-4614-9FA5-3DDE7263E9A7}"/>
              </a:ext>
            </a:extLst>
          </p:cNvPr>
          <p:cNvSpPr txBox="1">
            <a:spLocks/>
          </p:cNvSpPr>
          <p:nvPr/>
        </p:nvSpPr>
        <p:spPr>
          <a:xfrm>
            <a:off x="-15805" y="1352182"/>
            <a:ext cx="3368492"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Font typeface="Arial" pitchFamily="34" charset="0"/>
              <a:buNone/>
            </a:pPr>
            <a:r>
              <a:rPr lang="en-US" b="1" dirty="0">
                <a:solidFill>
                  <a:srgbClr val="FFC000"/>
                </a:solidFill>
                <a:latin typeface="Bahnschrift" panose="020B0502040204020203" pitchFamily="34" charset="0"/>
              </a:rPr>
              <a:t>CUADRILATERO ARTICULADO</a:t>
            </a:r>
            <a:endParaRPr lang="es-AR" b="1" dirty="0">
              <a:solidFill>
                <a:srgbClr val="FFC000"/>
              </a:solidFill>
              <a:latin typeface="Bahnschrift" panose="020B0502040204020203" pitchFamily="34" charset="0"/>
            </a:endParaRP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F6CCFB71-7872-4934-BFCB-1D6C2FCD8E21}"/>
                  </a:ext>
                </a:extLst>
              </p:cNvPr>
              <p:cNvSpPr txBox="1"/>
              <p:nvPr/>
            </p:nvSpPr>
            <p:spPr>
              <a:xfrm>
                <a:off x="2916740" y="2218764"/>
                <a:ext cx="5960157" cy="2905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𝑈</m:t>
                          </m:r>
                        </m:sub>
                      </m:sSub>
                      <m:r>
                        <a:rPr lang="en-US" b="0" i="1" smtClean="0">
                          <a:latin typeface="Cambria Math" panose="02040503050406030204" pitchFamily="18" charset="0"/>
                        </a:rPr>
                        <m:t>=</m:t>
                      </m:r>
                      <m:r>
                        <a:rPr lang="en-US" b="0" i="1" smtClean="0">
                          <a:latin typeface="Cambria Math" panose="02040503050406030204" pitchFamily="18" charset="0"/>
                        </a:rPr>
                        <m:t>𝑗𝑢</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up>
                      </m:s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4</m:t>
                                  </m:r>
                                </m:sub>
                              </m:sSub>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4</m:t>
                                  </m:r>
                                </m:sub>
                              </m:sSub>
                            </m:e>
                          </m:d>
                        </m:e>
                      </m:func>
                      <m:r>
                        <a:rPr lang="en-US" b="0" i="1" smtClean="0">
                          <a:latin typeface="Cambria Math" panose="02040503050406030204" pitchFamily="18" charset="0"/>
                          <a:ea typeface="Cambria Math" panose="02040503050406030204" pitchFamily="18" charset="0"/>
                        </a:rPr>
                        <m:t>]</m:t>
                      </m:r>
                    </m:oMath>
                  </m:oMathPara>
                </a14:m>
                <a:endParaRPr lang="es-AR" dirty="0"/>
              </a:p>
            </p:txBody>
          </p:sp>
        </mc:Choice>
        <mc:Fallback xmlns="">
          <p:sp>
            <p:nvSpPr>
              <p:cNvPr id="10" name="CuadroTexto 9">
                <a:extLst>
                  <a:ext uri="{FF2B5EF4-FFF2-40B4-BE49-F238E27FC236}">
                    <a16:creationId xmlns:a16="http://schemas.microsoft.com/office/drawing/2014/main" id="{F6CCFB71-7872-4934-BFCB-1D6C2FCD8E21}"/>
                  </a:ext>
                </a:extLst>
              </p:cNvPr>
              <p:cNvSpPr txBox="1">
                <a:spLocks noRot="1" noChangeAspect="1" noMove="1" noResize="1" noEditPoints="1" noAdjustHandles="1" noChangeArrowheads="1" noChangeShapeType="1" noTextEdit="1"/>
              </p:cNvSpPr>
              <p:nvPr/>
            </p:nvSpPr>
            <p:spPr>
              <a:xfrm>
                <a:off x="2916740" y="2218764"/>
                <a:ext cx="5960157" cy="290529"/>
              </a:xfrm>
              <a:prstGeom prst="rect">
                <a:avLst/>
              </a:prstGeom>
              <a:blipFill>
                <a:blip r:embed="rId3"/>
                <a:stretch>
                  <a:fillRect t="-4167" r="-307" b="-3750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5746EBC6-4E4C-4AAF-BC60-89A5A7152870}"/>
                  </a:ext>
                </a:extLst>
              </p:cNvPr>
              <p:cNvSpPr txBox="1"/>
              <p:nvPr/>
            </p:nvSpPr>
            <p:spPr>
              <a:xfrm>
                <a:off x="2817113" y="2682857"/>
                <a:ext cx="7719832" cy="5704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𝑈</m:t>
                          </m:r>
                        </m:sub>
                      </m:sSub>
                      <m:r>
                        <a:rPr lang="en-US" b="0" i="1" smtClean="0">
                          <a:latin typeface="Cambria Math" panose="02040503050406030204" pitchFamily="18" charset="0"/>
                        </a:rPr>
                        <m:t>=</m:t>
                      </m:r>
                      <m:r>
                        <a:rPr lang="en-US" b="0" i="1" smtClean="0">
                          <a:latin typeface="Cambria Math" panose="02040503050406030204" pitchFamily="18" charset="0"/>
                        </a:rPr>
                        <m:t>𝑢</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4</m:t>
                          </m:r>
                        </m:sub>
                      </m:sSub>
                      <m:r>
                        <a:rPr lang="en-US" b="0" i="1" smtClean="0">
                          <a:latin typeface="Cambria Math" panose="02040503050406030204" pitchFamily="18" charset="0"/>
                        </a:rPr>
                        <m:t>𝑗</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4</m:t>
                          </m:r>
                        </m:sub>
                        <m:sup>
                          <m:r>
                            <a:rPr lang="en-US" b="0" i="1" smtClean="0">
                              <a:latin typeface="Cambria Math" panose="02040503050406030204" pitchFamily="18" charset="0"/>
                              <a:ea typeface="Cambria Math" panose="02040503050406030204" pitchFamily="18" charset="0"/>
                            </a:rPr>
                            <m:t>2</m:t>
                          </m:r>
                        </m:sup>
                      </m:sSub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4</m:t>
                              </m:r>
                            </m:sub>
                          </m:sSub>
                          <m:r>
                            <a:rPr lang="en-US" i="1">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4</m:t>
                          </m:r>
                        </m:sub>
                      </m:sSub>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4</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4</m:t>
                                      </m:r>
                                    </m:sub>
                                  </m:sSub>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d>
                                <m:dPr>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4</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4</m:t>
                                      </m:r>
                                    </m:sub>
                                  </m:sSub>
                                </m:e>
                              </m:d>
                            </m:e>
                          </m:func>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4</m:t>
                          </m:r>
                        </m:sub>
                        <m:sup>
                          <m:r>
                            <a:rPr lang="en-US" b="0" i="1" smtClean="0">
                              <a:latin typeface="Cambria Math" panose="02040503050406030204" pitchFamily="18" charset="0"/>
                              <a:ea typeface="Cambria Math" panose="02040503050406030204" pitchFamily="18" charset="0"/>
                            </a:rPr>
                            <m:t>2</m:t>
                          </m:r>
                        </m:sup>
                      </m:sSubSup>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4</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4</m:t>
                                  </m:r>
                                </m:sub>
                              </m:sSub>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4</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4</m:t>
                                  </m:r>
                                </m:sub>
                              </m:sSub>
                            </m:e>
                          </m:d>
                        </m:e>
                      </m:func>
                      <m:r>
                        <a:rPr lang="en-US" b="0" i="1" smtClean="0">
                          <a:latin typeface="Cambria Math" panose="02040503050406030204" pitchFamily="18" charset="0"/>
                          <a:ea typeface="Cambria Math" panose="02040503050406030204" pitchFamily="18" charset="0"/>
                        </a:rPr>
                        <m:t>]</m:t>
                      </m:r>
                    </m:oMath>
                  </m:oMathPara>
                </a14:m>
                <a:endParaRPr lang="es-AR" dirty="0"/>
              </a:p>
            </p:txBody>
          </p:sp>
        </mc:Choice>
        <mc:Fallback xmlns="">
          <p:sp>
            <p:nvSpPr>
              <p:cNvPr id="11" name="CuadroTexto 10">
                <a:extLst>
                  <a:ext uri="{FF2B5EF4-FFF2-40B4-BE49-F238E27FC236}">
                    <a16:creationId xmlns:a16="http://schemas.microsoft.com/office/drawing/2014/main" id="{5746EBC6-4E4C-4AAF-BC60-89A5A7152870}"/>
                  </a:ext>
                </a:extLst>
              </p:cNvPr>
              <p:cNvSpPr txBox="1">
                <a:spLocks noRot="1" noChangeAspect="1" noMove="1" noResize="1" noEditPoints="1" noAdjustHandles="1" noChangeArrowheads="1" noChangeShapeType="1" noTextEdit="1"/>
              </p:cNvSpPr>
              <p:nvPr/>
            </p:nvSpPr>
            <p:spPr>
              <a:xfrm>
                <a:off x="2817113" y="2682857"/>
                <a:ext cx="7719832" cy="570477"/>
              </a:xfrm>
              <a:prstGeom prst="rect">
                <a:avLst/>
              </a:prstGeom>
              <a:blipFill>
                <a:blip r:embed="rId4"/>
                <a:stretch>
                  <a:fillRect t="-2128" b="-19149"/>
                </a:stretch>
              </a:blipFill>
            </p:spPr>
            <p:txBody>
              <a:bodyPr/>
              <a:lstStyle/>
              <a:p>
                <a:r>
                  <a:rPr lang="es-AR">
                    <a:noFill/>
                  </a:rPr>
                  <a:t> </a:t>
                </a:r>
              </a:p>
            </p:txBody>
          </p:sp>
        </mc:Fallback>
      </mc:AlternateContent>
      <p:sp>
        <p:nvSpPr>
          <p:cNvPr id="25" name="Título 1">
            <a:extLst>
              <a:ext uri="{FF2B5EF4-FFF2-40B4-BE49-F238E27FC236}">
                <a16:creationId xmlns:a16="http://schemas.microsoft.com/office/drawing/2014/main" id="{50AAAF99-1DD0-4917-AB1A-41BE210FB4FD}"/>
              </a:ext>
            </a:extLst>
          </p:cNvPr>
          <p:cNvSpPr txBox="1">
            <a:spLocks/>
          </p:cNvSpPr>
          <p:nvPr/>
        </p:nvSpPr>
        <p:spPr>
          <a:xfrm>
            <a:off x="356654" y="2001113"/>
            <a:ext cx="1223850" cy="684362"/>
          </a:xfrm>
          <a:prstGeom prst="rect">
            <a:avLst/>
          </a:prstGeom>
        </p:spPr>
        <p:txBody>
          <a:bodyPr vert="horz" lIns="91440" tIns="45720" rIns="91440" bIns="45720" rtlCol="0" anchor="b">
            <a:normAutofit fontScale="60000" lnSpcReduction="20000"/>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pPr algn="ctr"/>
            <a:r>
              <a:rPr lang="es-AR" sz="3100" b="1" dirty="0">
                <a:latin typeface="Bahnschrift" panose="020B0502040204020203" pitchFamily="34" charset="0"/>
              </a:rPr>
              <a:t>PUNTO</a:t>
            </a:r>
          </a:p>
          <a:p>
            <a:pPr algn="ctr"/>
            <a:r>
              <a:rPr lang="es-AR" sz="6000" b="1" dirty="0">
                <a:latin typeface="Bahnschrift" panose="020B0502040204020203" pitchFamily="34" charset="0"/>
              </a:rPr>
              <a:t>U</a:t>
            </a:r>
          </a:p>
        </p:txBody>
      </p:sp>
      <p:sp>
        <p:nvSpPr>
          <p:cNvPr id="17" name="Marcador de contenido 2">
            <a:extLst>
              <a:ext uri="{FF2B5EF4-FFF2-40B4-BE49-F238E27FC236}">
                <a16:creationId xmlns:a16="http://schemas.microsoft.com/office/drawing/2014/main" id="{09BF4DC0-A3A7-4E35-84DF-D0AE4A79DF5E}"/>
              </a:ext>
            </a:extLst>
          </p:cNvPr>
          <p:cNvSpPr txBox="1">
            <a:spLocks/>
          </p:cNvSpPr>
          <p:nvPr/>
        </p:nvSpPr>
        <p:spPr>
          <a:xfrm>
            <a:off x="1762384" y="4852911"/>
            <a:ext cx="1157621"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POSICIÓN</a:t>
            </a:r>
            <a:endParaRPr lang="en-US" sz="1600" dirty="0">
              <a:latin typeface="Bahnschrift" panose="020B0502040204020203" pitchFamily="34" charset="0"/>
              <a:sym typeface="Wingdings" panose="05000000000000000000" pitchFamily="2" charset="2"/>
            </a:endParaRP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D8BCA3EC-E55D-461D-9D58-13472A74844E}"/>
                  </a:ext>
                </a:extLst>
              </p:cNvPr>
              <p:cNvSpPr txBox="1"/>
              <p:nvPr/>
            </p:nvSpPr>
            <p:spPr>
              <a:xfrm>
                <a:off x="2920005" y="4836820"/>
                <a:ext cx="7131376" cy="2902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𝑃𝐴</m:t>
                          </m:r>
                        </m:sub>
                      </m:sSub>
                      <m:r>
                        <a:rPr lang="en-US" b="0" i="1" smtClean="0">
                          <a:latin typeface="Cambria Math" panose="02040503050406030204" pitchFamily="18" charset="0"/>
                        </a:rPr>
                        <m:t>=</m:t>
                      </m:r>
                      <m:r>
                        <a:rPr lang="en-US" b="0" i="1" smtClean="0">
                          <a:latin typeface="Cambria Math" panose="02040503050406030204" pitchFamily="18" charset="0"/>
                        </a:rPr>
                        <m:t>𝑝</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d>
                        <m:dPr>
                          <m:begChr m:val="["/>
                          <m:endChr m:val="]"/>
                          <m:ctrlPr>
                            <a:rPr lang="en-US" b="0" i="1" smtClean="0">
                              <a:latin typeface="Cambria Math" panose="02040503050406030204" pitchFamily="18" charset="0"/>
                              <a:ea typeface="Cambria Math" panose="02040503050406030204" pitchFamily="18" charset="0"/>
                            </a:rPr>
                          </m:ctrlPr>
                        </m:dPr>
                        <m:e>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d>
                                <m:dPr>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3</m:t>
                                      </m:r>
                                    </m:sub>
                                  </m:sSub>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3</m:t>
                                      </m:r>
                                    </m:sub>
                                  </m:sSub>
                                </m:e>
                              </m:d>
                            </m:e>
                          </m:func>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𝑃</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𝐴</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𝑃𝐴</m:t>
                          </m:r>
                        </m:sub>
                      </m:sSub>
                    </m:oMath>
                  </m:oMathPara>
                </a14:m>
                <a:endParaRPr lang="es-AR" dirty="0"/>
              </a:p>
            </p:txBody>
          </p:sp>
        </mc:Choice>
        <mc:Fallback xmlns="">
          <p:sp>
            <p:nvSpPr>
              <p:cNvPr id="20" name="CuadroTexto 19">
                <a:extLst>
                  <a:ext uri="{FF2B5EF4-FFF2-40B4-BE49-F238E27FC236}">
                    <a16:creationId xmlns:a16="http://schemas.microsoft.com/office/drawing/2014/main" id="{D8BCA3EC-E55D-461D-9D58-13472A74844E}"/>
                  </a:ext>
                </a:extLst>
              </p:cNvPr>
              <p:cNvSpPr txBox="1">
                <a:spLocks noRot="1" noChangeAspect="1" noMove="1" noResize="1" noEditPoints="1" noAdjustHandles="1" noChangeArrowheads="1" noChangeShapeType="1" noTextEdit="1"/>
              </p:cNvSpPr>
              <p:nvPr/>
            </p:nvSpPr>
            <p:spPr>
              <a:xfrm>
                <a:off x="2920005" y="4836820"/>
                <a:ext cx="7131376" cy="290208"/>
              </a:xfrm>
              <a:prstGeom prst="rect">
                <a:avLst/>
              </a:prstGeom>
              <a:blipFill>
                <a:blip r:embed="rId5"/>
                <a:stretch>
                  <a:fillRect t="-4167" b="-35417"/>
                </a:stretch>
              </a:blipFill>
            </p:spPr>
            <p:txBody>
              <a:bodyPr/>
              <a:lstStyle/>
              <a:p>
                <a:r>
                  <a:rPr lang="es-AR">
                    <a:noFill/>
                  </a:rPr>
                  <a:t> </a:t>
                </a:r>
              </a:p>
            </p:txBody>
          </p:sp>
        </mc:Fallback>
      </mc:AlternateContent>
      <p:sp>
        <p:nvSpPr>
          <p:cNvPr id="21" name="Marcador de contenido 2">
            <a:extLst>
              <a:ext uri="{FF2B5EF4-FFF2-40B4-BE49-F238E27FC236}">
                <a16:creationId xmlns:a16="http://schemas.microsoft.com/office/drawing/2014/main" id="{69459496-BC2A-4973-9291-CEBD1AE4D48D}"/>
              </a:ext>
            </a:extLst>
          </p:cNvPr>
          <p:cNvSpPr txBox="1">
            <a:spLocks/>
          </p:cNvSpPr>
          <p:nvPr/>
        </p:nvSpPr>
        <p:spPr>
          <a:xfrm>
            <a:off x="1535217" y="5282746"/>
            <a:ext cx="1438275"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VELOCIDAD</a:t>
            </a:r>
            <a:endParaRPr lang="en-US" sz="1600" dirty="0">
              <a:latin typeface="Bahnschrift" panose="020B0502040204020203" pitchFamily="34" charset="0"/>
              <a:sym typeface="Wingdings" panose="05000000000000000000" pitchFamily="2" charset="2"/>
            </a:endParaRPr>
          </a:p>
        </p:txBody>
      </p:sp>
      <p:sp>
        <p:nvSpPr>
          <p:cNvPr id="22" name="Marcador de contenido 2">
            <a:extLst>
              <a:ext uri="{FF2B5EF4-FFF2-40B4-BE49-F238E27FC236}">
                <a16:creationId xmlns:a16="http://schemas.microsoft.com/office/drawing/2014/main" id="{9A011CED-4E05-4519-A33A-D1A07D28B441}"/>
              </a:ext>
            </a:extLst>
          </p:cNvPr>
          <p:cNvSpPr txBox="1">
            <a:spLocks/>
          </p:cNvSpPr>
          <p:nvPr/>
        </p:nvSpPr>
        <p:spPr>
          <a:xfrm>
            <a:off x="1278042" y="5712581"/>
            <a:ext cx="1695450"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ACELERACIÓN</a:t>
            </a:r>
            <a:endParaRPr lang="en-US" sz="1600" dirty="0">
              <a:latin typeface="Bahnschrift" panose="020B0502040204020203" pitchFamily="34" charset="0"/>
              <a:sym typeface="Wingdings" panose="05000000000000000000" pitchFamily="2" charset="2"/>
            </a:endParaRP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73FCCF74-B22F-40EC-A1A7-208DDF41AB30}"/>
                  </a:ext>
                </a:extLst>
              </p:cNvPr>
              <p:cNvSpPr txBox="1"/>
              <p:nvPr/>
            </p:nvSpPr>
            <p:spPr>
              <a:xfrm>
                <a:off x="2916740" y="5255228"/>
                <a:ext cx="7790531" cy="2902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𝑃𝐴</m:t>
                          </m:r>
                        </m:sub>
                      </m:sSub>
                      <m:r>
                        <a:rPr lang="en-US" b="0" i="1" smtClean="0">
                          <a:latin typeface="Cambria Math" panose="02040503050406030204" pitchFamily="18" charset="0"/>
                        </a:rPr>
                        <m:t>=</m:t>
                      </m:r>
                      <m:r>
                        <a:rPr lang="en-US" b="0" i="1" smtClean="0">
                          <a:latin typeface="Cambria Math" panose="02040503050406030204" pitchFamily="18" charset="0"/>
                        </a:rPr>
                        <m:t>𝑗𝑝</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sup>
                      </m:s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3</m:t>
                          </m:r>
                        </m:sub>
                      </m:sSub>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3</m:t>
                                      </m:r>
                                    </m:sub>
                                  </m:sSub>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d>
                                <m:dPr>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3</m:t>
                                      </m:r>
                                    </m:sub>
                                  </m:sSub>
                                </m:e>
                              </m:d>
                            </m:e>
                          </m:func>
                        </m:e>
                      </m:d>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𝑃</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𝐴</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𝑃𝐴</m:t>
                          </m:r>
                        </m:sub>
                      </m:sSub>
                    </m:oMath>
                  </m:oMathPara>
                </a14:m>
                <a:endParaRPr lang="es-AR" dirty="0"/>
              </a:p>
            </p:txBody>
          </p:sp>
        </mc:Choice>
        <mc:Fallback xmlns="">
          <p:sp>
            <p:nvSpPr>
              <p:cNvPr id="23" name="CuadroTexto 22">
                <a:extLst>
                  <a:ext uri="{FF2B5EF4-FFF2-40B4-BE49-F238E27FC236}">
                    <a16:creationId xmlns:a16="http://schemas.microsoft.com/office/drawing/2014/main" id="{73FCCF74-B22F-40EC-A1A7-208DDF41AB30}"/>
                  </a:ext>
                </a:extLst>
              </p:cNvPr>
              <p:cNvSpPr txBox="1">
                <a:spLocks noRot="1" noChangeAspect="1" noMove="1" noResize="1" noEditPoints="1" noAdjustHandles="1" noChangeArrowheads="1" noChangeShapeType="1" noTextEdit="1"/>
              </p:cNvSpPr>
              <p:nvPr/>
            </p:nvSpPr>
            <p:spPr>
              <a:xfrm>
                <a:off x="2916740" y="5255228"/>
                <a:ext cx="7790531" cy="290208"/>
              </a:xfrm>
              <a:prstGeom prst="rect">
                <a:avLst/>
              </a:prstGeom>
              <a:blipFill>
                <a:blip r:embed="rId6"/>
                <a:stretch>
                  <a:fillRect t="-4167" b="-3541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68869209-9F90-4AEB-8222-A1643965F79B}"/>
                  </a:ext>
                </a:extLst>
              </p:cNvPr>
              <p:cNvSpPr txBox="1"/>
              <p:nvPr/>
            </p:nvSpPr>
            <p:spPr>
              <a:xfrm>
                <a:off x="2817113" y="5719321"/>
                <a:ext cx="7719832" cy="85093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𝑃𝐴</m:t>
                          </m:r>
                        </m:sub>
                      </m:sSub>
                      <m:r>
                        <a:rPr lang="en-US" b="0" i="1" smtClean="0">
                          <a:latin typeface="Cambria Math" panose="02040503050406030204" pitchFamily="18" charset="0"/>
                        </a:rPr>
                        <m:t>=</m:t>
                      </m:r>
                      <m:r>
                        <a:rPr lang="en-US" b="0" i="1" smtClean="0">
                          <a:latin typeface="Cambria Math" panose="02040503050406030204" pitchFamily="18" charset="0"/>
                        </a:rPr>
                        <m:t>𝑝</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3</m:t>
                          </m:r>
                        </m:sub>
                      </m:sSub>
                      <m:r>
                        <a:rPr lang="en-US" b="0" i="1" smtClean="0">
                          <a:latin typeface="Cambria Math" panose="02040503050406030204" pitchFamily="18" charset="0"/>
                        </a:rPr>
                        <m:t>𝑗</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3</m:t>
                          </m:r>
                        </m:sub>
                        <m:sup>
                          <m:r>
                            <a:rPr lang="en-US" b="0" i="1" smtClean="0">
                              <a:latin typeface="Cambria Math" panose="02040503050406030204" pitchFamily="18" charset="0"/>
                              <a:ea typeface="Cambria Math" panose="02040503050406030204" pitchFamily="18" charset="0"/>
                            </a:rPr>
                            <m:t>2</m:t>
                          </m:r>
                        </m:sup>
                      </m:sSub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3</m:t>
                          </m:r>
                        </m:sub>
                      </m:sSub>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3</m:t>
                                      </m:r>
                                    </m:sub>
                                  </m:sSub>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d>
                                <m:dPr>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3</m:t>
                                      </m:r>
                                    </m:sub>
                                  </m:sSub>
                                </m:e>
                              </m:d>
                            </m:e>
                          </m:func>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3</m:t>
                          </m:r>
                        </m:sub>
                        <m:sup>
                          <m:r>
                            <a:rPr lang="en-US" b="0" i="1" smtClean="0">
                              <a:latin typeface="Cambria Math" panose="02040503050406030204" pitchFamily="18" charset="0"/>
                              <a:ea typeface="Cambria Math" panose="02040503050406030204" pitchFamily="18" charset="0"/>
                            </a:rPr>
                            <m:t>2</m:t>
                          </m:r>
                        </m:sup>
                      </m:sSubSup>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3</m:t>
                                  </m:r>
                                </m:sub>
                              </m:sSub>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3</m:t>
                                  </m:r>
                                </m:sub>
                              </m:sSub>
                            </m:e>
                          </m:d>
                        </m:e>
                      </m:func>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𝑃</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𝐴</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𝑃𝐴</m:t>
                          </m:r>
                        </m:sub>
                      </m:sSub>
                    </m:oMath>
                  </m:oMathPara>
                </a14:m>
                <a:endParaRPr lang="es-AR" dirty="0"/>
              </a:p>
            </p:txBody>
          </p:sp>
        </mc:Choice>
        <mc:Fallback xmlns="">
          <p:sp>
            <p:nvSpPr>
              <p:cNvPr id="24" name="CuadroTexto 23">
                <a:extLst>
                  <a:ext uri="{FF2B5EF4-FFF2-40B4-BE49-F238E27FC236}">
                    <a16:creationId xmlns:a16="http://schemas.microsoft.com/office/drawing/2014/main" id="{68869209-9F90-4AEB-8222-A1643965F79B}"/>
                  </a:ext>
                </a:extLst>
              </p:cNvPr>
              <p:cNvSpPr txBox="1">
                <a:spLocks noRot="1" noChangeAspect="1" noMove="1" noResize="1" noEditPoints="1" noAdjustHandles="1" noChangeArrowheads="1" noChangeShapeType="1" noTextEdit="1"/>
              </p:cNvSpPr>
              <p:nvPr/>
            </p:nvSpPr>
            <p:spPr>
              <a:xfrm>
                <a:off x="2817113" y="5719321"/>
                <a:ext cx="7719832" cy="850939"/>
              </a:xfrm>
              <a:prstGeom prst="rect">
                <a:avLst/>
              </a:prstGeom>
              <a:blipFill>
                <a:blip r:embed="rId7"/>
                <a:stretch>
                  <a:fillRect t="-1429" b="-5714"/>
                </a:stretch>
              </a:blipFill>
            </p:spPr>
            <p:txBody>
              <a:bodyPr/>
              <a:lstStyle/>
              <a:p>
                <a:r>
                  <a:rPr lang="es-AR">
                    <a:noFill/>
                  </a:rPr>
                  <a:t> </a:t>
                </a:r>
              </a:p>
            </p:txBody>
          </p:sp>
        </mc:Fallback>
      </mc:AlternateContent>
      <p:sp>
        <p:nvSpPr>
          <p:cNvPr id="26" name="Título 1">
            <a:extLst>
              <a:ext uri="{FF2B5EF4-FFF2-40B4-BE49-F238E27FC236}">
                <a16:creationId xmlns:a16="http://schemas.microsoft.com/office/drawing/2014/main" id="{F8ECD35A-A0E7-484F-ADD1-21FD1EAF18E9}"/>
              </a:ext>
            </a:extLst>
          </p:cNvPr>
          <p:cNvSpPr txBox="1">
            <a:spLocks/>
          </p:cNvSpPr>
          <p:nvPr/>
        </p:nvSpPr>
        <p:spPr>
          <a:xfrm>
            <a:off x="356654" y="5037577"/>
            <a:ext cx="1223850" cy="684362"/>
          </a:xfrm>
          <a:prstGeom prst="rect">
            <a:avLst/>
          </a:prstGeom>
        </p:spPr>
        <p:txBody>
          <a:bodyPr vert="horz" lIns="91440" tIns="45720" rIns="91440" bIns="45720" rtlCol="0" anchor="b">
            <a:normAutofit fontScale="60000" lnSpcReduction="20000"/>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pPr algn="ctr"/>
            <a:r>
              <a:rPr lang="es-AR" sz="3100" b="1" dirty="0">
                <a:latin typeface="Bahnschrift" panose="020B0502040204020203" pitchFamily="34" charset="0"/>
              </a:rPr>
              <a:t>PUNTO</a:t>
            </a:r>
          </a:p>
          <a:p>
            <a:pPr algn="ctr"/>
            <a:r>
              <a:rPr lang="es-AR" sz="6000" b="1" dirty="0">
                <a:latin typeface="Bahnschrift" panose="020B0502040204020203" pitchFamily="34" charset="0"/>
              </a:rPr>
              <a:t>P</a:t>
            </a:r>
          </a:p>
        </p:txBody>
      </p:sp>
      <p:sp>
        <p:nvSpPr>
          <p:cNvPr id="7" name="Marcador de contenido 2">
            <a:extLst>
              <a:ext uri="{FF2B5EF4-FFF2-40B4-BE49-F238E27FC236}">
                <a16:creationId xmlns:a16="http://schemas.microsoft.com/office/drawing/2014/main" id="{D5835072-9729-455D-91E1-EAE68E296D41}"/>
              </a:ext>
            </a:extLst>
          </p:cNvPr>
          <p:cNvSpPr txBox="1">
            <a:spLocks/>
          </p:cNvSpPr>
          <p:nvPr/>
        </p:nvSpPr>
        <p:spPr>
          <a:xfrm>
            <a:off x="356654" y="3466965"/>
            <a:ext cx="10572845" cy="112879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ea typeface="Cambria Math" panose="02040503050406030204" pitchFamily="18" charset="0"/>
              </a:rPr>
              <a:t>Para hallar la aceleración del punto P en el eslabón 3 se aplicara la ecuación de diferencia de aceleraciones, partiendo de la aceleración del punto A, A</a:t>
            </a:r>
            <a:r>
              <a:rPr lang="es-AR" sz="1400" baseline="-25000" dirty="0">
                <a:latin typeface="Bahnschrift" panose="020B0502040204020203" pitchFamily="34" charset="0"/>
                <a:ea typeface="Cambria Math" panose="02040503050406030204" pitchFamily="18" charset="0"/>
              </a:rPr>
              <a:t>A</a:t>
            </a:r>
            <a:r>
              <a:rPr lang="es-AR" sz="1400" dirty="0">
                <a:latin typeface="Bahnschrift" panose="020B0502040204020203" pitchFamily="34" charset="0"/>
                <a:ea typeface="Cambria Math" panose="02040503050406030204" pitchFamily="18" charset="0"/>
              </a:rPr>
              <a:t> mas la aceleración del punto P respecto de A, A</a:t>
            </a:r>
            <a:r>
              <a:rPr lang="es-AR" sz="1400" baseline="-25000" dirty="0">
                <a:latin typeface="Bahnschrift" panose="020B0502040204020203" pitchFamily="34" charset="0"/>
                <a:ea typeface="Cambria Math" panose="02040503050406030204" pitchFamily="18" charset="0"/>
              </a:rPr>
              <a:t>PA</a:t>
            </a:r>
            <a:r>
              <a:rPr lang="es-AR" sz="1400" dirty="0">
                <a:latin typeface="Bahnschrift" panose="020B0502040204020203" pitchFamily="34" charset="0"/>
                <a:ea typeface="Cambria Math" panose="02040503050406030204" pitchFamily="18" charset="0"/>
              </a:rPr>
              <a:t>. </a:t>
            </a:r>
          </a:p>
          <a:p>
            <a:pPr algn="just">
              <a:buFontTx/>
              <a:buChar char="-"/>
            </a:pPr>
            <a:r>
              <a:rPr lang="es-AR" sz="1400" dirty="0">
                <a:latin typeface="Bahnschrift" panose="020B0502040204020203" pitchFamily="34" charset="0"/>
                <a:ea typeface="Cambria Math" panose="02040503050406030204" pitchFamily="18" charset="0"/>
              </a:rPr>
              <a:t>La posición del punto P se define a través del vector R</a:t>
            </a:r>
            <a:r>
              <a:rPr lang="es-AR" sz="1400" baseline="-25000" dirty="0">
                <a:latin typeface="Bahnschrift" panose="020B0502040204020203" pitchFamily="34" charset="0"/>
                <a:ea typeface="Cambria Math" panose="02040503050406030204" pitchFamily="18" charset="0"/>
              </a:rPr>
              <a:t>PA</a:t>
            </a:r>
            <a:r>
              <a:rPr lang="es-AR" sz="1400" dirty="0">
                <a:latin typeface="Bahnschrift" panose="020B0502040204020203" pitchFamily="34" charset="0"/>
                <a:ea typeface="Cambria Math" panose="02040503050406030204" pitchFamily="18" charset="0"/>
              </a:rPr>
              <a:t>, quien a su vez esta determinado por el ángulo interior </a:t>
            </a:r>
            <a:r>
              <a:rPr lang="el-GR" sz="1400" dirty="0">
                <a:latin typeface="Cambria Math" panose="02040503050406030204" pitchFamily="18" charset="0"/>
                <a:ea typeface="Cambria Math" panose="02040503050406030204" pitchFamily="18" charset="0"/>
              </a:rPr>
              <a:t>δ</a:t>
            </a:r>
            <a:r>
              <a:rPr lang="en-US" sz="1400" baseline="-25000" dirty="0">
                <a:latin typeface="Cambria Math" panose="02040503050406030204" pitchFamily="18" charset="0"/>
                <a:ea typeface="Cambria Math" panose="02040503050406030204" pitchFamily="18" charset="0"/>
              </a:rPr>
              <a:t>3</a:t>
            </a:r>
            <a:r>
              <a:rPr lang="en-US" sz="1400" dirty="0">
                <a:latin typeface="Cambria Math" panose="02040503050406030204" pitchFamily="18" charset="0"/>
                <a:ea typeface="Cambria Math" panose="02040503050406030204" pitchFamily="18" charset="0"/>
              </a:rPr>
              <a:t> </a:t>
            </a:r>
            <a:r>
              <a:rPr lang="es-AR" sz="1400" dirty="0">
                <a:latin typeface="Bahnschrift" panose="020B0502040204020203" pitchFamily="34" charset="0"/>
                <a:ea typeface="Cambria Math" panose="02040503050406030204" pitchFamily="18" charset="0"/>
              </a:rPr>
              <a:t>y del ángulo del eslabón 3 θ</a:t>
            </a:r>
            <a:r>
              <a:rPr lang="es-AR" sz="1400" baseline="-25000" dirty="0">
                <a:latin typeface="Bahnschrift" panose="020B0502040204020203" pitchFamily="34" charset="0"/>
                <a:ea typeface="Cambria Math" panose="02040503050406030204" pitchFamily="18" charset="0"/>
              </a:rPr>
              <a:t>3</a:t>
            </a:r>
            <a:r>
              <a:rPr lang="es-AR" sz="1400" dirty="0">
                <a:latin typeface="Bahnschrift" panose="020B0502040204020203" pitchFamily="34" charset="0"/>
                <a:ea typeface="Cambria Math" panose="02040503050406030204" pitchFamily="18" charset="0"/>
              </a:rPr>
              <a:t>.</a:t>
            </a:r>
          </a:p>
        </p:txBody>
      </p:sp>
    </p:spTree>
    <p:extLst>
      <p:ext uri="{BB962C8B-B14F-4D97-AF65-F5344CB8AC3E}">
        <p14:creationId xmlns:p14="http://schemas.microsoft.com/office/powerpoint/2010/main" val="1712884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p:bldP spid="27" grpId="0"/>
      <p:bldP spid="33" grpId="0"/>
      <p:bldP spid="10" grpId="0"/>
      <p:bldP spid="11" grpId="0"/>
      <p:bldP spid="25" grpId="0"/>
      <p:bldP spid="17" grpId="0"/>
      <p:bldP spid="20" grpId="0"/>
      <p:bldP spid="21" grpId="0"/>
      <p:bldP spid="22" grpId="0"/>
      <p:bldP spid="23" grpId="0"/>
      <p:bldP spid="24" grpId="0"/>
      <p:bldP spid="26" grpId="0"/>
      <p:bldP spid="7" grpId="0"/>
    </p:bldLst>
  </p:timing>
</p:sld>
</file>

<file path=ppt/theme/theme1.xml><?xml version="1.0" encoding="utf-8"?>
<a:theme xmlns:a="http://schemas.openxmlformats.org/drawingml/2006/main" name="Vista">
  <a:themeElements>
    <a:clrScheme name="Amarillo">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ista">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TM03457515[[fn=Vista]]</Template>
  <TotalTime>43407</TotalTime>
  <Words>3490</Words>
  <Application>Microsoft Office PowerPoint</Application>
  <PresentationFormat>Panorámica</PresentationFormat>
  <Paragraphs>226</Paragraphs>
  <Slides>16</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Arial</vt:lpstr>
      <vt:lpstr>Bahnschrift</vt:lpstr>
      <vt:lpstr>Calibri</vt:lpstr>
      <vt:lpstr>Cambria Math</vt:lpstr>
      <vt:lpstr>Wingdings 2</vt:lpstr>
      <vt:lpstr>Vista</vt:lpstr>
      <vt:lpstr>ANÁLISIS DE ACELERACIÓN</vt:lpstr>
      <vt:lpstr>ANÁLISIS DE ACELERACIÓN</vt:lpstr>
      <vt:lpstr>ANÁLISIS DE ACELERACIÓN</vt:lpstr>
      <vt:lpstr>ANÁLISIS DE ACELERACIÓN</vt:lpstr>
      <vt:lpstr>ANÁLISIS DE ACELERACIÓN</vt:lpstr>
      <vt:lpstr>ANÁLISIS DE ACELERACIÓN</vt:lpstr>
      <vt:lpstr>ANÁLISIS DE ACELERACIÓN</vt:lpstr>
      <vt:lpstr>ANÁLISIS DE ACELERACIÓN</vt:lpstr>
      <vt:lpstr>ANÁLISIS DE ACELERACIÓN</vt:lpstr>
      <vt:lpstr>ANÁLISIS DE ACELERACIÓN</vt:lpstr>
      <vt:lpstr>ANÁLISIS DE ACELERACIÓN</vt:lpstr>
      <vt:lpstr>ANÁLISIS DE ACELERACIÓN</vt:lpstr>
      <vt:lpstr>ANÁLISIS DE ACELERACIÓN</vt:lpstr>
      <vt:lpstr>ANÁLISIS DE ACELERACIÓN</vt:lpstr>
      <vt:lpstr>ANÁLISIS DE ACELERACIÓN</vt:lpstr>
      <vt:lpstr>ANÁLISIS DE ACELERACIÓN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MECANISMOS DE TRANSMISIÓN POR ROTACIÓN</dc:title>
  <dc:creator>franco laciar lara</dc:creator>
  <cp:lastModifiedBy>manu galdeano</cp:lastModifiedBy>
  <cp:revision>432</cp:revision>
  <dcterms:created xsi:type="dcterms:W3CDTF">2018-03-24T20:56:14Z</dcterms:created>
  <dcterms:modified xsi:type="dcterms:W3CDTF">2020-10-26T21:42:05Z</dcterms:modified>
</cp:coreProperties>
</file>